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  <p:sldMasterId id="2147483672" r:id="rId3"/>
    <p:sldMasterId id="2147483686" r:id="rId4"/>
  </p:sldMasterIdLst>
  <p:notesMasterIdLst>
    <p:notesMasterId r:id="rId53"/>
  </p:notesMasterIdLst>
  <p:sldIdLst>
    <p:sldId id="256" r:id="rId5"/>
    <p:sldId id="310" r:id="rId6"/>
    <p:sldId id="322" r:id="rId7"/>
    <p:sldId id="328" r:id="rId8"/>
    <p:sldId id="329" r:id="rId9"/>
    <p:sldId id="418" r:id="rId10"/>
    <p:sldId id="419" r:id="rId11"/>
    <p:sldId id="337" r:id="rId12"/>
    <p:sldId id="416" r:id="rId13"/>
    <p:sldId id="360" r:id="rId14"/>
    <p:sldId id="266" r:id="rId15"/>
    <p:sldId id="364" r:id="rId16"/>
    <p:sldId id="417" r:id="rId17"/>
    <p:sldId id="413" r:id="rId18"/>
    <p:sldId id="267" r:id="rId19"/>
    <p:sldId id="271" r:id="rId20"/>
    <p:sldId id="357" r:id="rId21"/>
    <p:sldId id="369" r:id="rId22"/>
    <p:sldId id="371" r:id="rId23"/>
    <p:sldId id="296" r:id="rId24"/>
    <p:sldId id="280" r:id="rId25"/>
    <p:sldId id="414" r:id="rId26"/>
    <p:sldId id="401" r:id="rId27"/>
    <p:sldId id="341" r:id="rId28"/>
    <p:sldId id="314" r:id="rId29"/>
    <p:sldId id="316" r:id="rId30"/>
    <p:sldId id="389" r:id="rId31"/>
    <p:sldId id="390" r:id="rId32"/>
    <p:sldId id="336" r:id="rId33"/>
    <p:sldId id="373" r:id="rId34"/>
    <p:sldId id="346" r:id="rId35"/>
    <p:sldId id="362" r:id="rId36"/>
    <p:sldId id="415" r:id="rId37"/>
    <p:sldId id="394" r:id="rId38"/>
    <p:sldId id="391" r:id="rId39"/>
    <p:sldId id="403" r:id="rId40"/>
    <p:sldId id="404" r:id="rId41"/>
    <p:sldId id="405" r:id="rId42"/>
    <p:sldId id="406" r:id="rId43"/>
    <p:sldId id="407" r:id="rId44"/>
    <p:sldId id="408" r:id="rId45"/>
    <p:sldId id="409" r:id="rId46"/>
    <p:sldId id="410" r:id="rId47"/>
    <p:sldId id="411" r:id="rId48"/>
    <p:sldId id="399" r:id="rId49"/>
    <p:sldId id="400" r:id="rId50"/>
    <p:sldId id="378" r:id="rId51"/>
    <p:sldId id="379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FF00"/>
    <a:srgbClr val="FF0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717" autoAdjust="0"/>
    <p:restoredTop sz="78614" autoAdjust="0"/>
  </p:normalViewPr>
  <p:slideViewPr>
    <p:cSldViewPr>
      <p:cViewPr varScale="1">
        <p:scale>
          <a:sx n="106" d="100"/>
          <a:sy n="106" d="100"/>
        </p:scale>
        <p:origin x="206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31" d="100"/>
          <a:sy n="31" d="100"/>
        </p:scale>
        <p:origin x="-164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BA807CA-694C-4F7C-9D93-A7355D2274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87976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92AD15-0484-4A3A-889A-1B200159790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4290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071D4A-E278-45D4-949A-C5275D47AD8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81787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6A2A7A-11AC-4C9A-B1D9-593721174F5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2950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D1A98D-904D-4901-B6B5-27BBD796571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97493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F652-3AC1-4C73-BA32-A541BE1CFE8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93367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578066-07DC-4C1B-8DE2-473C08D0780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2875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83BD96-7704-4BAF-B195-D59A13B9951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4359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BFB051-5193-4FDE-99B3-F6F1ABB38B8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7099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FC0676-D2D3-45F3-A522-E471BED0E2D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05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002B08-419A-4C1C-9A48-9380A13E6FA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4534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AF212C-ADAC-4847-B8D0-12DEE78ABA8A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1813"/>
            <a:ext cx="5026025" cy="4116387"/>
          </a:xfrm>
        </p:spPr>
        <p:txBody>
          <a:bodyPr lIns="91575" tIns="45788" rIns="91575" bIns="45788"/>
          <a:lstStyle/>
          <a:p>
            <a:r>
              <a:rPr lang="en-US" altLang="en-US"/>
              <a:t>qqqqqqqqq</a:t>
            </a:r>
          </a:p>
        </p:txBody>
      </p:sp>
    </p:spTree>
    <p:extLst>
      <p:ext uri="{BB962C8B-B14F-4D97-AF65-F5344CB8AC3E}">
        <p14:creationId xmlns:p14="http://schemas.microsoft.com/office/powerpoint/2010/main" val="228003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967446-BD7B-455D-A7B5-C1A988792060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1813"/>
            <a:ext cx="5026025" cy="4116387"/>
          </a:xfrm>
        </p:spPr>
        <p:txBody>
          <a:bodyPr lIns="84408" tIns="42204" rIns="84408" bIns="42204"/>
          <a:lstStyle/>
          <a:p>
            <a:pPr>
              <a:buFontTx/>
              <a:buChar char="•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25988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533369-5ACB-4F69-87AB-502C1DC0C464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3357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9926BE-4F20-4DC5-87E5-7FB9CCD96EB6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406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1CE3CC-F71C-409C-ADB5-ABC354620A8E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6805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C53253-7250-4C84-B677-D0F67455DD7B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1189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7AF2F7-21C3-4157-88B2-7B1F7C44312F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9876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A604AD-C904-47CB-A433-0D2EEED03216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928930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4D9539-4C13-4BFE-B74D-2A66B12F4A2A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870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684512-4DF1-46C3-99B7-FAE9B4503F10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96580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8DE103-5759-46A2-AE95-EF4B7A7EB18A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4604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792E2D-590E-474E-BE0E-0C951C2EDA8C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96126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A604AD-C904-47CB-A433-0D2EEED03216}" type="slidenum">
              <a:rPr lang="en-US" altLang="en-US">
                <a:solidFill>
                  <a:prstClr val="black"/>
                </a:solidFill>
              </a:rPr>
              <a:pPr/>
              <a:t>23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741299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47E486-EC64-45BA-AE26-1B53BED4FB07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5624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931D09-8A35-46CC-B5B2-AA988CC83B29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36959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BB7E5E-B1E5-4E39-A728-B5D74EBF7DE0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64678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A807CA-694C-4F7C-9D93-A7355D2274D6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40175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5CB003-FFB9-4C38-8590-9A2A5542672C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22203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CA270C-264A-43DD-860E-D0C483C169EB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934001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C1BBC8-4ED0-4751-A93C-30B01D7F21B2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98078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8759A8-FCFB-413F-ABE5-983F2771CCE9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78087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8759A8-FCFB-413F-ABE5-983F2771CCE9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8715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8759A8-FCFB-413F-ABE5-983F2771CCE9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04262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A604AD-C904-47CB-A433-0D2EEED03216}" type="slidenum">
              <a:rPr lang="en-US" altLang="en-US">
                <a:solidFill>
                  <a:prstClr val="black"/>
                </a:solidFill>
              </a:rPr>
              <a:pPr/>
              <a:t>45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96174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A604AD-C904-47CB-A433-0D2EEED03216}" type="slidenum">
              <a:rPr lang="en-US" altLang="en-US">
                <a:solidFill>
                  <a:prstClr val="black"/>
                </a:solidFill>
              </a:rPr>
              <a:pPr/>
              <a:t>46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09067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789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82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7D12FC-6B3C-45D6-93D6-77C03F2C36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4470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D04E9-8B5D-4463-AD21-D7BCE20E5B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0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E8157F-B704-4056-BDF5-E9399A456D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856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BD24AE-7D5B-47A5-8F32-D18E81624A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746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ADFB84-7F2B-4FDD-AE49-EB7CDD9032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713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E2C56B-7743-40B6-9BC0-2615280557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99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107089-83DE-4D58-984F-50C3574D6B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365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1F8A-56F2-467A-85F3-4096059049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76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29769A-BF76-4E20-9C7F-F3DE384AD7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448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1B3506-9640-4737-AEF9-A6EA2EF157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59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2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2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8986AE-0126-4441-B820-3AAA85104B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1671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7D12FC-6B3C-45D6-93D6-77C03F2C368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338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D04E9-8B5D-4463-AD21-D7BCE20E5B1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52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E8157F-B704-4056-BDF5-E9399A456D6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240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BD24AE-7D5B-47A5-8F32-D18E81624A8A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946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ADFB84-7F2B-4FDD-AE49-EB7CDD9032B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37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E2C56B-7743-40B6-9BC0-2615280557E5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186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107089-83DE-4D58-984F-50C3574D6BB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097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1F8A-56F2-467A-85F3-40960590497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4054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29769A-BF76-4E20-9C7F-F3DE384AD79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6132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1B3506-9640-4737-AEF9-A6EA2EF1579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917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2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2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8986AE-0126-4441-B820-3AAA85104BBA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34335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27232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10645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1784" y="2906317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69885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00150"/>
            <a:ext cx="3759200" cy="4914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00150"/>
            <a:ext cx="3759200" cy="4914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24332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087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087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6548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13475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4559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272655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4705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29719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17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17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95480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0434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8170" y="246460"/>
            <a:ext cx="1934633" cy="58685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7921" y="246460"/>
            <a:ext cx="5607049" cy="586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51890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17" y="246460"/>
            <a:ext cx="7721600" cy="6869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200150"/>
            <a:ext cx="37592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00150"/>
            <a:ext cx="37592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77522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17" y="246460"/>
            <a:ext cx="7721600" cy="6869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200150"/>
            <a:ext cx="37592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73600" y="1200150"/>
            <a:ext cx="37592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73600" y="3714750"/>
            <a:ext cx="37592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5440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45EAD-5831-4664-8DDB-8D544A04BE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7089486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E33F4-E4F6-44F4-B10E-39CE88EF8D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5002584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5D1CB-6936-46E9-8547-2C16C082E8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8685903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346254-3696-43C4-A9AF-A07382708F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5959413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3C7A98-D042-4DFD-A6D7-B1E84F03AC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2243211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9FFAD4-B7F5-4019-95C1-384CA63C00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7322662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724AE1-FB9D-453A-B3B9-2D62BD5C0D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076723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BE784-AC0C-4E47-BE6E-E6251D1CA4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2629526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A48AC-123C-4439-9CA6-1D280DAFED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6461360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223B94-DAA7-48A4-8E0B-2BD6FB776E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462535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3119D5-AA2F-4F17-9262-05B6F76D04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025379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2DECA3C-BD12-44AA-BD3F-C375CCBECCE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2DECA3C-BD12-44AA-BD3F-C375CCBECCE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57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7917" y="246460"/>
            <a:ext cx="7721600" cy="68699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00150"/>
            <a:ext cx="7721600" cy="4914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7188200" y="6628212"/>
            <a:ext cx="1828800" cy="1357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rIns="0"/>
          <a:lstStyle/>
          <a:p>
            <a:pPr algn="r"/>
            <a:fld id="{184F9423-1A22-4278-B872-090FE2D2A6B6}" type="slidenum">
              <a:rPr lang="he-IL" sz="14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53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>
          <a:solidFill>
            <a:srgbClr val="114FFB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>
          <a:solidFill>
            <a:srgbClr val="114FFB"/>
          </a:solidFill>
          <a:latin typeface="Arial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>
          <a:solidFill>
            <a:srgbClr val="114FFB"/>
          </a:solidFill>
          <a:latin typeface="Arial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>
          <a:solidFill>
            <a:srgbClr val="114FFB"/>
          </a:solidFill>
          <a:latin typeface="Arial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>
          <a:solidFill>
            <a:srgbClr val="114FFB"/>
          </a:solidFill>
          <a:latin typeface="Arial" pitchFamily="34" charset="0"/>
        </a:defRPr>
      </a:lvl5pPr>
      <a:lvl6pPr marL="457200" algn="ctr" rtl="1" eaLnBrk="0" fontAlgn="base" hangingPunct="0">
        <a:spcBef>
          <a:spcPct val="0"/>
        </a:spcBef>
        <a:spcAft>
          <a:spcPct val="0"/>
        </a:spcAft>
        <a:defRPr sz="3600">
          <a:solidFill>
            <a:srgbClr val="114FFB"/>
          </a:solidFill>
          <a:latin typeface="Arial" pitchFamily="34" charset="0"/>
        </a:defRPr>
      </a:lvl6pPr>
      <a:lvl7pPr marL="914400" algn="ctr" rtl="1" eaLnBrk="0" fontAlgn="base" hangingPunct="0">
        <a:spcBef>
          <a:spcPct val="0"/>
        </a:spcBef>
        <a:spcAft>
          <a:spcPct val="0"/>
        </a:spcAft>
        <a:defRPr sz="3600">
          <a:solidFill>
            <a:srgbClr val="114FFB"/>
          </a:solidFill>
          <a:latin typeface="Arial" pitchFamily="34" charset="0"/>
        </a:defRPr>
      </a:lvl7pPr>
      <a:lvl8pPr marL="1371600" algn="ctr" rtl="1" eaLnBrk="0" fontAlgn="base" hangingPunct="0">
        <a:spcBef>
          <a:spcPct val="0"/>
        </a:spcBef>
        <a:spcAft>
          <a:spcPct val="0"/>
        </a:spcAft>
        <a:defRPr sz="3600">
          <a:solidFill>
            <a:srgbClr val="114FFB"/>
          </a:solidFill>
          <a:latin typeface="Arial" pitchFamily="34" charset="0"/>
        </a:defRPr>
      </a:lvl8pPr>
      <a:lvl9pPr marL="1828800" algn="ctr" rtl="1" eaLnBrk="0" fontAlgn="base" hangingPunct="0">
        <a:spcBef>
          <a:spcPct val="0"/>
        </a:spcBef>
        <a:spcAft>
          <a:spcPct val="0"/>
        </a:spcAft>
        <a:defRPr sz="3600">
          <a:solidFill>
            <a:srgbClr val="114FFB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77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+mn-cs"/>
              </a:defRPr>
            </a:lvl1pPr>
          </a:lstStyle>
          <a:p>
            <a:endParaRPr lang="en-US" altLang="en-US"/>
          </a:p>
        </p:txBody>
      </p:sp>
      <p:sp>
        <p:nvSpPr>
          <p:cNvPr id="1177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+mn-cs"/>
              </a:defRPr>
            </a:lvl1pPr>
          </a:lstStyle>
          <a:p>
            <a:endParaRPr lang="en-US" altLang="en-US"/>
          </a:p>
        </p:txBody>
      </p:sp>
      <p:sp>
        <p:nvSpPr>
          <p:cNvPr id="1177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  <a:cs typeface="+mn-cs"/>
              </a:defRPr>
            </a:lvl1pPr>
          </a:lstStyle>
          <a:p>
            <a:fld id="{0C979610-C0E5-4B2F-8D64-0366D77022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51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izmann.ac.il/math/seminar-subscrib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9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11" Type="http://schemas.openxmlformats.org/officeDocument/2006/relationships/image" Target="../media/image5.png"/><Relationship Id="rId5" Type="http://schemas.openxmlformats.org/officeDocument/2006/relationships/image" Target="../media/image2.jpeg"/><Relationship Id="rId10" Type="http://schemas.openxmlformats.org/officeDocument/2006/relationships/slide" Target="slide10.xml"/><Relationship Id="rId4" Type="http://schemas.openxmlformats.org/officeDocument/2006/relationships/slide" Target="slide8.xml"/><Relationship Id="rId9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slide" Target="slide4.xml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C:\Users\Michal\Weizmann%20Institute%20Dropbox\Michal%20Irani\Courses\Course-Intro-2026_2027\airport.avi" TargetMode="External"/><Relationship Id="rId1" Type="http://schemas.microsoft.com/office/2007/relationships/media" Target="file:///C:\Users\Michal\Weizmann%20Institute%20Dropbox\Michal%20Irani\Courses\Course-Intro-2026_2027\airport.avi" TargetMode="Externa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media" Target="file:///C:\Users\Michal\Weizmann%20Institute%20Dropbox\Michal%20Irani\Courses\Course-Intro-2026_2027\MICHNO~1.AVI" TargetMode="External"/><Relationship Id="rId7" Type="http://schemas.openxmlformats.org/officeDocument/2006/relationships/image" Target="../media/image11.png"/><Relationship Id="rId2" Type="http://schemas.openxmlformats.org/officeDocument/2006/relationships/video" Target="file:///C:\Users\Michal\Weizmann%20Institute%20Dropbox\Michal%20Irani\Courses\Course-Intro-2026_2027\MICHSE~1.AVI" TargetMode="External"/><Relationship Id="rId1" Type="http://schemas.microsoft.com/office/2007/relationships/media" Target="file:///C:\Users\Michal\Weizmann%20Institute%20Dropbox\Michal%20Irani\Courses\Course-Intro-2026_2027\MICHSE~1.AVI" TargetMode="Externa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video" Target="file:///C:\Users\Michal\Weizmann%20Institute%20Dropbox\Michal%20Irani\Courses\Course-Intro-2026_2027\MICHNO~1.AVI" TargetMode="External"/><Relationship Id="rId9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slide" Target="slide4.xml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28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37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6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38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.bin"/><Relationship Id="rId18" Type="http://schemas.openxmlformats.org/officeDocument/2006/relationships/image" Target="../media/image46.wmf"/><Relationship Id="rId26" Type="http://schemas.openxmlformats.org/officeDocument/2006/relationships/image" Target="../media/image50.wmf"/><Relationship Id="rId3" Type="http://schemas.openxmlformats.org/officeDocument/2006/relationships/oleObject" Target="../embeddings/oleObject12.bin"/><Relationship Id="rId21" Type="http://schemas.openxmlformats.org/officeDocument/2006/relationships/oleObject" Target="../embeddings/oleObject21.bin"/><Relationship Id="rId34" Type="http://schemas.openxmlformats.org/officeDocument/2006/relationships/image" Target="../media/image54.wmf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19.bin"/><Relationship Id="rId25" Type="http://schemas.openxmlformats.org/officeDocument/2006/relationships/oleObject" Target="../embeddings/oleObject23.bin"/><Relationship Id="rId33" Type="http://schemas.openxmlformats.org/officeDocument/2006/relationships/oleObject" Target="../embeddings/oleObject27.bin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29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49.wmf"/><Relationship Id="rId32" Type="http://schemas.openxmlformats.org/officeDocument/2006/relationships/image" Target="../media/image53.wmf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28" Type="http://schemas.openxmlformats.org/officeDocument/2006/relationships/image" Target="../media/image51.wmf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20.bin"/><Relationship Id="rId31" Type="http://schemas.openxmlformats.org/officeDocument/2006/relationships/oleObject" Target="../embeddings/oleObject26.bin"/><Relationship Id="rId4" Type="http://schemas.openxmlformats.org/officeDocument/2006/relationships/image" Target="../media/image39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44.wmf"/><Relationship Id="rId22" Type="http://schemas.openxmlformats.org/officeDocument/2006/relationships/image" Target="../media/image48.wmf"/><Relationship Id="rId27" Type="http://schemas.openxmlformats.org/officeDocument/2006/relationships/oleObject" Target="../embeddings/oleObject24.bin"/><Relationship Id="rId30" Type="http://schemas.openxmlformats.org/officeDocument/2006/relationships/image" Target="../media/image52.wmf"/><Relationship Id="rId8" Type="http://schemas.openxmlformats.org/officeDocument/2006/relationships/image" Target="../media/image4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55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38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5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oleObject" Target="../embeddings/oleObject30.bin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29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emf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Relationship Id="rId30" Type="http://schemas.openxmlformats.org/officeDocument/2006/relationships/image" Target="../media/image82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0.png"/><Relationship Id="rId5" Type="http://schemas.openxmlformats.org/officeDocument/2006/relationships/image" Target="../media/image620.png"/><Relationship Id="rId4" Type="http://schemas.openxmlformats.org/officeDocument/2006/relationships/image" Target="../media/image6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0.png"/><Relationship Id="rId4" Type="http://schemas.openxmlformats.org/officeDocument/2006/relationships/image" Target="../media/image6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microsoft.com/office/2007/relationships/hdphoto" Target="../media/hdphoto1.wdp"/><Relationship Id="rId4" Type="http://schemas.openxmlformats.org/officeDocument/2006/relationships/image" Target="../media/image9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8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2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1.png"/><Relationship Id="rId7" Type="http://schemas.openxmlformats.org/officeDocument/2006/relationships/image" Target="../media/image8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30.png"/><Relationship Id="rId5" Type="http://schemas.openxmlformats.org/officeDocument/2006/relationships/image" Target="../media/image820.png"/><Relationship Id="rId4" Type="http://schemas.openxmlformats.org/officeDocument/2006/relationships/image" Target="../media/image8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112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6133" y="692696"/>
            <a:ext cx="914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Introduction to Computer Vision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6133" y="2348880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lvl="0" algn="ctr"/>
            <a:r>
              <a:rPr kumimoji="0" lang="en-US" altLang="en-US" sz="2800" b="0" i="0" u="none" strike="noStrike" kern="1200" cap="none" spc="-5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Michal Irani,  Meirav Galun,  Ronen Basri</a:t>
            </a:r>
            <a:r>
              <a:rPr lang="en-US" altLang="en-US" sz="2800" spc="-50" dirty="0">
                <a:solidFill>
                  <a:srgbClr val="000099"/>
                </a:solidFill>
              </a:rPr>
              <a:t>,  Shai Bagon</a:t>
            </a:r>
            <a:endParaRPr kumimoji="0" lang="en-US" altLang="en-US" sz="2800" b="0" i="0" u="none" strike="noStrike" kern="1200" cap="none" spc="-5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95536" y="4293096"/>
            <a:ext cx="8424936" cy="122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Teaching Assistants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Yuval Golbari,   Daniel Benaroya,   Eliya Olkhovsky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1948329" y="-27384"/>
            <a:ext cx="519655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A few announcements</a:t>
            </a:r>
          </a:p>
        </p:txBody>
      </p:sp>
      <p:sp>
        <p:nvSpPr>
          <p:cNvPr id="62476" name="Rectangle 12"/>
          <p:cNvSpPr>
            <a:spLocks noChangeArrowheads="1"/>
          </p:cNvSpPr>
          <p:nvPr/>
        </p:nvSpPr>
        <p:spPr bwMode="auto">
          <a:xfrm>
            <a:off x="0" y="1484784"/>
            <a:ext cx="9144000" cy="4152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44450" rIns="0" bIns="4445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Course website – on Moodle</a:t>
            </a:r>
            <a:b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</a:b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(schedule, lesson slides, exercises, announcements, </a:t>
            </a:r>
            <a:r>
              <a:rPr lang="en-US" altLang="en-US" dirty="0">
                <a:solidFill>
                  <a:srgbClr val="000000"/>
                </a:solidFill>
                <a:latin typeface="Times New Roman"/>
              </a:rPr>
              <a:t>recordings,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etc.)</a:t>
            </a:r>
            <a:b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</a:br>
            <a:b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</a:b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+mn-ea"/>
                <a:cs typeface="+mn-cs"/>
              </a:rPr>
              <a:t>Visio</a:t>
            </a:r>
            <a:r>
              <a:rPr kumimoji="0" lang="en-US" altLang="en-US" sz="2400" b="1" i="1" u="none" strike="noStrike" kern="1200" cap="none" spc="3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+mn-ea"/>
                <a:cs typeface="+mn-cs"/>
              </a:rPr>
              <a:t>n&amp;</a:t>
            </a:r>
            <a:r>
              <a:rPr kumimoji="0" lang="en-US" alt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+mn-ea"/>
                <a:cs typeface="+mn-cs"/>
              </a:rPr>
              <a:t>A</a:t>
            </a:r>
            <a:r>
              <a:rPr kumimoji="0" lang="en-US" altLang="en-US" sz="2400" b="1" i="1" u="none" strike="noStrike" kern="1200" cap="none" spc="3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+mn-ea"/>
                <a:cs typeface="+mn-cs"/>
              </a:rPr>
              <a:t>I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+mn-ea"/>
                <a:cs typeface="+mn-cs"/>
              </a:rPr>
              <a:t>Seminar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: 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(not for credit, but highly recommended)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Thursdays at 12:15-13:15 </a:t>
            </a:r>
            <a:b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</a:b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To be added to mailing list </a:t>
            </a:r>
            <a:r>
              <a:rPr kumimoji="0" lang="en-IL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–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visit SEMINAR-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SIGNUP</a:t>
            </a:r>
            <a:r>
              <a:rPr kumimoji="0" lang="en-IL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page:</a:t>
            </a:r>
            <a:b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</a:br>
            <a:r>
              <a:rPr kumimoji="0" lang="en-IL" sz="24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https://www.weizmann.ac.il/math/seminar-subscribe</a:t>
            </a:r>
            <a:endParaRPr kumimoji="0" lang="en-US" sz="2400" b="0" i="1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  <a:p>
            <a:pPr marL="1257300" marR="0" lvl="2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b="1" dirty="0">
                <a:solidFill>
                  <a:srgbClr val="FF0000"/>
                </a:solidFill>
                <a:latin typeface="Times New Roman"/>
                <a:sym typeface="Wingdings" panose="05000000000000000000" pitchFamily="2" charset="2"/>
              </a:rPr>
              <a:t>1</a:t>
            </a:r>
            <a:r>
              <a:rPr lang="en-US" b="1" baseline="30000" dirty="0">
                <a:solidFill>
                  <a:srgbClr val="FF0000"/>
                </a:solidFill>
                <a:latin typeface="Times New Roman"/>
                <a:sym typeface="Wingdings" panose="05000000000000000000" pitchFamily="2" charset="2"/>
              </a:rPr>
              <a:t>st</a:t>
            </a:r>
            <a:r>
              <a:rPr lang="en-US" b="1" dirty="0">
                <a:solidFill>
                  <a:srgbClr val="FF0000"/>
                </a:solidFill>
                <a:latin typeface="Times New Roman"/>
                <a:sym typeface="Wingdings" panose="05000000000000000000" pitchFamily="2" charset="2"/>
              </a:rPr>
              <a:t> meeting this year – on Thursday Oct 22 (this week).</a:t>
            </a:r>
            <a:br>
              <a:rPr lang="en-US" b="1" dirty="0">
                <a:solidFill>
                  <a:srgbClr val="FF0000"/>
                </a:solidFill>
                <a:latin typeface="Times New Roman"/>
                <a:sym typeface="Wingdings" panose="05000000000000000000" pitchFamily="2" charset="2"/>
              </a:rPr>
            </a:br>
            <a:endParaRPr lang="en-US" b="1" dirty="0">
              <a:solidFill>
                <a:srgbClr val="FF0000"/>
              </a:solidFill>
              <a:latin typeface="Times New Roman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2" descr="Weizmann_Einstein_sitting"/>
          <p:cNvPicPr>
            <a:picLocks noChangeAspect="1" noChangeArrowheads="1"/>
          </p:cNvPicPr>
          <p:nvPr/>
        </p:nvPicPr>
        <p:blipFill>
          <a:blip r:embed="rId3" cstate="print">
            <a:lum bright="8000" contras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66"/>
          <a:stretch>
            <a:fillRect/>
          </a:stretch>
        </p:blipFill>
        <p:spPr bwMode="auto">
          <a:xfrm>
            <a:off x="323850" y="188913"/>
            <a:ext cx="3125788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7" name="Rectangle 3"/>
          <p:cNvSpPr>
            <a:spLocks noChangeArrowheads="1"/>
          </p:cNvSpPr>
          <p:nvPr/>
        </p:nvSpPr>
        <p:spPr bwMode="auto">
          <a:xfrm>
            <a:off x="2884488" y="214313"/>
            <a:ext cx="5791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sz="4400">
                <a:solidFill>
                  <a:schemeClr val="accent2"/>
                </a:solidFill>
                <a:latin typeface="Comic Sans MS" pitchFamily="66" charset="0"/>
                <a:cs typeface="Arial" charset="0"/>
              </a:defRPr>
            </a:lvl1pPr>
            <a:lvl2pPr algn="ctr">
              <a:defRPr sz="4400">
                <a:solidFill>
                  <a:schemeClr val="accent2"/>
                </a:solidFill>
                <a:latin typeface="Comic Sans MS" pitchFamily="66" charset="0"/>
                <a:cs typeface="Arial" charset="0"/>
              </a:defRPr>
            </a:lvl2pPr>
            <a:lvl3pPr algn="ctr">
              <a:defRPr sz="4400">
                <a:solidFill>
                  <a:schemeClr val="accent2"/>
                </a:solidFill>
                <a:latin typeface="Comic Sans MS" pitchFamily="66" charset="0"/>
                <a:cs typeface="Arial" charset="0"/>
              </a:defRPr>
            </a:lvl3pPr>
            <a:lvl4pPr algn="ctr">
              <a:defRPr sz="4400">
                <a:solidFill>
                  <a:schemeClr val="accent2"/>
                </a:solidFill>
                <a:latin typeface="Comic Sans MS" pitchFamily="66" charset="0"/>
                <a:cs typeface="Arial" charset="0"/>
              </a:defRPr>
            </a:lvl4pPr>
            <a:lvl5pPr algn="ctr">
              <a:defRPr sz="4400">
                <a:solidFill>
                  <a:schemeClr val="accent2"/>
                </a:solidFill>
                <a:latin typeface="Comic Sans MS" pitchFamily="66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Comic Sans MS" pitchFamily="66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Comic Sans MS" pitchFamily="66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Comic Sans MS" pitchFamily="66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Comic Sans MS" pitchFamily="66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Digital Image</a:t>
            </a:r>
            <a:endParaRPr kumimoji="0" lang="en-US" altLang="he-IL" sz="4400" b="1" i="0" u="none" strike="noStrike" kern="1200" cap="none" spc="0" normalizeH="0" baseline="0" noProof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mic Sans MS" pitchFamily="66" charset="0"/>
              <a:ea typeface="+mn-ea"/>
              <a:cs typeface="Arial" charset="0"/>
            </a:endParaRPr>
          </a:p>
        </p:txBody>
      </p:sp>
      <p:grpSp>
        <p:nvGrpSpPr>
          <p:cNvPr id="118788" name="Group 4"/>
          <p:cNvGrpSpPr>
            <a:grpSpLocks/>
          </p:cNvGrpSpPr>
          <p:nvPr/>
        </p:nvGrpSpPr>
        <p:grpSpPr bwMode="auto">
          <a:xfrm>
            <a:off x="4716463" y="2551113"/>
            <a:ext cx="3055937" cy="969962"/>
            <a:chOff x="3152" y="1277"/>
            <a:chExt cx="1925" cy="611"/>
          </a:xfrm>
        </p:grpSpPr>
        <p:sp>
          <p:nvSpPr>
            <p:cNvPr id="118789" name="Rectangle 5"/>
            <p:cNvSpPr>
              <a:spLocks noChangeArrowheads="1"/>
            </p:cNvSpPr>
            <p:nvPr/>
          </p:nvSpPr>
          <p:spPr bwMode="auto">
            <a:xfrm>
              <a:off x="3152" y="1360"/>
              <a:ext cx="1925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 algn="ctr">
                <a:defRPr sz="4400">
                  <a:solidFill>
                    <a:schemeClr val="accent2"/>
                  </a:solidFill>
                  <a:latin typeface="Comic Sans MS" pitchFamily="66" charset="0"/>
                  <a:cs typeface="Arial" charset="0"/>
                </a:defRPr>
              </a:lvl1pPr>
              <a:lvl2pPr algn="ctr">
                <a:defRPr sz="4400">
                  <a:solidFill>
                    <a:schemeClr val="accent2"/>
                  </a:solidFill>
                  <a:latin typeface="Comic Sans MS" pitchFamily="66" charset="0"/>
                  <a:cs typeface="Arial" charset="0"/>
                </a:defRPr>
              </a:lvl2pPr>
              <a:lvl3pPr algn="ctr">
                <a:defRPr sz="4400">
                  <a:solidFill>
                    <a:schemeClr val="accent2"/>
                  </a:solidFill>
                  <a:latin typeface="Comic Sans MS" pitchFamily="66" charset="0"/>
                  <a:cs typeface="Arial" charset="0"/>
                </a:defRPr>
              </a:lvl3pPr>
              <a:lvl4pPr algn="ctr">
                <a:defRPr sz="4400">
                  <a:solidFill>
                    <a:schemeClr val="accent2"/>
                  </a:solidFill>
                  <a:latin typeface="Comic Sans MS" pitchFamily="66" charset="0"/>
                  <a:cs typeface="Arial" charset="0"/>
                </a:defRPr>
              </a:lvl4pPr>
              <a:lvl5pPr algn="ctr">
                <a:defRPr sz="4400">
                  <a:solidFill>
                    <a:schemeClr val="accent2"/>
                  </a:solidFill>
                  <a:latin typeface="Comic Sans MS" pitchFamily="66" charset="0"/>
                  <a:cs typeface="Arial" charset="0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accent2"/>
                  </a:solidFill>
                  <a:latin typeface="Comic Sans MS" pitchFamily="66" charset="0"/>
                  <a:cs typeface="Arial" charset="0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accent2"/>
                  </a:solidFill>
                  <a:latin typeface="Comic Sans MS" pitchFamily="66" charset="0"/>
                  <a:cs typeface="Arial" charset="0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accent2"/>
                  </a:solidFill>
                  <a:latin typeface="Comic Sans MS" pitchFamily="66" charset="0"/>
                  <a:cs typeface="Arial" charset="0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accent2"/>
                  </a:solidFill>
                  <a:latin typeface="Comic Sans MS" pitchFamily="66" charset="0"/>
                  <a:cs typeface="Arial" charset="0"/>
                </a:defRPr>
              </a:lvl9pPr>
            </a:lstStyle>
            <a:p>
              <a:pPr marL="0" marR="0" lvl="0" indent="0" algn="l" defTabSz="914400" rtl="1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1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Pixels</a:t>
              </a:r>
              <a:r>
                <a:rPr kumimoji="0" lang="en-US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:</a:t>
              </a:r>
              <a:br>
                <a:rPr kumimoji="0" lang="en-US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</a:br>
              <a:r>
                <a:rPr kumimoji="0" lang="en-US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0    = Black</a:t>
              </a:r>
              <a:br>
                <a:rPr kumimoji="0" lang="en-US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</a:br>
              <a:br>
                <a:rPr kumimoji="0" lang="he-IL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</a:br>
              <a:r>
                <a:rPr kumimoji="0" lang="en-US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255 = White</a:t>
              </a:r>
              <a:endParaRPr kumimoji="0" lang="en-US" altLang="he-IL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18790" name="Line 6"/>
            <p:cNvSpPr>
              <a:spLocks noChangeShapeType="1"/>
            </p:cNvSpPr>
            <p:nvPr/>
          </p:nvSpPr>
          <p:spPr bwMode="auto">
            <a:xfrm>
              <a:off x="3288" y="1277"/>
              <a:ext cx="0" cy="27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</a:endParaRPr>
            </a:p>
          </p:txBody>
        </p:sp>
      </p:grpSp>
      <p:sp>
        <p:nvSpPr>
          <p:cNvPr id="118791" name="Rectangle 7"/>
          <p:cNvSpPr>
            <a:spLocks noChangeArrowheads="1"/>
          </p:cNvSpPr>
          <p:nvPr/>
        </p:nvSpPr>
        <p:spPr bwMode="auto">
          <a:xfrm>
            <a:off x="2730500" y="704850"/>
            <a:ext cx="185738" cy="13176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/>
            </a:endParaRPr>
          </a:p>
        </p:txBody>
      </p:sp>
      <p:grpSp>
        <p:nvGrpSpPr>
          <p:cNvPr id="118792" name="Group 8"/>
          <p:cNvGrpSpPr>
            <a:grpSpLocks/>
          </p:cNvGrpSpPr>
          <p:nvPr/>
        </p:nvGrpSpPr>
        <p:grpSpPr bwMode="auto">
          <a:xfrm>
            <a:off x="942975" y="692150"/>
            <a:ext cx="7605713" cy="6049963"/>
            <a:chOff x="594" y="436"/>
            <a:chExt cx="4791" cy="3811"/>
          </a:xfrm>
        </p:grpSpPr>
        <p:sp>
          <p:nvSpPr>
            <p:cNvPr id="118793" name="Rectangle 9"/>
            <p:cNvSpPr>
              <a:spLocks noChangeArrowheads="1"/>
            </p:cNvSpPr>
            <p:nvPr/>
          </p:nvSpPr>
          <p:spPr bwMode="auto">
            <a:xfrm>
              <a:off x="597" y="2471"/>
              <a:ext cx="4778" cy="177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Arial" charset="0"/>
                </a:rPr>
                <a:t>   137     74    52      16   128   217   207   221   220   179   188   193   195   189   188   193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Arial" charset="0"/>
                </a:rPr>
                <a:t>     73     64    23      68   228   243   225   120     94   138   140   116   210   173   162   142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Arial" charset="0"/>
                </a:rPr>
                <a:t>     29     59    43    246   246   151     99     74   185   188   214   205   127   138   203   186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Arial" charset="0"/>
                </a:rPr>
                <a:t>     65     19   187   244   170     37   153   255   233   245   255   236   252   182   123   197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Arial" charset="0"/>
                </a:rPr>
                <a:t>     30     72   255   118     20   232   235   218   184     50     41       9     55   147   207   110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Arial" charset="0"/>
                </a:rPr>
                <a:t>     19   139   108     42   244   253   130     75       5   207     40     73     31     81     11   181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Arial" charset="0"/>
                </a:rPr>
                <a:t>     42   147     69   235   187     81   222   236     59     62       4     55       0   141     81       9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Arial" charset="0"/>
                </a:rPr>
                <a:t>     33   111   231   139     67   217   255   240     20   119   155   158     39     91     84     15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Arial" charset="0"/>
                </a:rPr>
                <a:t>     76   251   160     71   195   255   241   255   255     55     54     80   176   188   245   231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Arial" charset="0"/>
                </a:rPr>
                <a:t>   255   155   103   237   224   240   255   253   250   255   248   243   247   227   194   137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Arial" charset="0"/>
                </a:rPr>
                <a:t>   237   239   255   222   220   219   205   191   203   206   180   168   147   140     96     85</a:t>
              </a:r>
            </a:p>
          </p:txBody>
        </p:sp>
        <p:sp>
          <p:nvSpPr>
            <p:cNvPr id="118794" name="Line 10"/>
            <p:cNvSpPr>
              <a:spLocks noChangeShapeType="1"/>
            </p:cNvSpPr>
            <p:nvPr/>
          </p:nvSpPr>
          <p:spPr bwMode="auto">
            <a:xfrm flipH="1">
              <a:off x="594" y="436"/>
              <a:ext cx="1116" cy="204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</a:endParaRPr>
            </a:p>
          </p:txBody>
        </p:sp>
        <p:sp>
          <p:nvSpPr>
            <p:cNvPr id="118795" name="Line 11"/>
            <p:cNvSpPr>
              <a:spLocks noChangeShapeType="1"/>
            </p:cNvSpPr>
            <p:nvPr/>
          </p:nvSpPr>
          <p:spPr bwMode="auto">
            <a:xfrm>
              <a:off x="1837" y="436"/>
              <a:ext cx="3548" cy="204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B157055-48CF-98AD-19C9-715A375E1E56}"/>
              </a:ext>
            </a:extLst>
          </p:cNvPr>
          <p:cNvSpPr txBox="1"/>
          <p:nvPr/>
        </p:nvSpPr>
        <p:spPr>
          <a:xfrm>
            <a:off x="2123728" y="5226223"/>
            <a:ext cx="302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Photometric Stereo</a:t>
            </a:r>
            <a:endParaRPr lang="en-IL" dirty="0"/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-1836713" y="2996952"/>
            <a:ext cx="10657184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80000" tIns="44450" rIns="0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                       Patch-based methods – Shai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(1 lesson)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AutoShape 1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F0BC68B-7AA1-79BF-EED6-9B025F969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838" y="3079244"/>
            <a:ext cx="533400" cy="3048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-1836713" y="3357770"/>
            <a:ext cx="9160178" cy="575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0" tIns="44450" rIns="0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                       Boundaries &amp; Segmentation – Shai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(1 lesson)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2" name="AutoShape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CA4FE73-B11E-9D72-4F72-A5C65D073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838" y="3567343"/>
            <a:ext cx="533400" cy="3048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-1817281" y="2348880"/>
            <a:ext cx="6507207" cy="575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0" tIns="44450" rIns="0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                       Lighting  -</a:t>
            </a:r>
            <a:r>
              <a:rPr kumimoji="0" lang="en-US" altLang="en-US" sz="24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Ronen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(2 lessons)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17BFCA-FCEC-F1D5-0EF8-8FE05928140A}"/>
              </a:ext>
            </a:extLst>
          </p:cNvPr>
          <p:cNvGrpSpPr>
            <a:grpSpLocks noChangeAspect="1"/>
          </p:cNvGrpSpPr>
          <p:nvPr/>
        </p:nvGrpSpPr>
        <p:grpSpPr>
          <a:xfrm>
            <a:off x="2344827" y="3933056"/>
            <a:ext cx="5727141" cy="1242888"/>
            <a:chOff x="4783689" y="799137"/>
            <a:chExt cx="3587306" cy="778507"/>
          </a:xfrm>
        </p:grpSpPr>
        <p:pic>
          <p:nvPicPr>
            <p:cNvPr id="4" name="Picture 3" descr="obj012_P00A+020E-10">
              <a:extLst>
                <a:ext uri="{FF2B5EF4-FFF2-40B4-BE49-F238E27FC236}">
                  <a16:creationId xmlns:a16="http://schemas.microsoft.com/office/drawing/2014/main" id="{50915625-A1A6-4496-42A2-DB9D0E101D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68" t="22244" r="19783" b="11089"/>
            <a:stretch>
              <a:fillRect/>
            </a:stretch>
          </p:blipFill>
          <p:spPr bwMode="auto">
            <a:xfrm>
              <a:off x="4783689" y="890570"/>
              <a:ext cx="730327" cy="687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obj012_P00A-085E+20">
              <a:extLst>
                <a:ext uri="{FF2B5EF4-FFF2-40B4-BE49-F238E27FC236}">
                  <a16:creationId xmlns:a16="http://schemas.microsoft.com/office/drawing/2014/main" id="{02CFD266-1618-3F0C-0A20-12236CC381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68" t="23622" r="20818" b="13911"/>
            <a:stretch>
              <a:fillRect/>
            </a:stretch>
          </p:blipFill>
          <p:spPr bwMode="auto">
            <a:xfrm>
              <a:off x="5646620" y="885877"/>
              <a:ext cx="765061" cy="68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CD8E6A-33D5-73B6-2D3F-A7EFF2815C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429" t="32857" r="8571" b="8095"/>
            <a:stretch>
              <a:fillRect/>
            </a:stretch>
          </p:blipFill>
          <p:spPr bwMode="auto">
            <a:xfrm>
              <a:off x="6994275" y="799137"/>
              <a:ext cx="1376720" cy="762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DF31B138-BA60-E789-A166-71CF24714124}"/>
                </a:ext>
              </a:extLst>
            </p:cNvPr>
            <p:cNvSpPr/>
            <p:nvPr/>
          </p:nvSpPr>
          <p:spPr bwMode="auto">
            <a:xfrm>
              <a:off x="6632354" y="1052736"/>
              <a:ext cx="341948" cy="25076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L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52244" name="Rectangle 20"/>
          <p:cNvSpPr>
            <a:spLocks noChangeArrowheads="1"/>
          </p:cNvSpPr>
          <p:nvPr/>
        </p:nvSpPr>
        <p:spPr bwMode="auto">
          <a:xfrm>
            <a:off x="-1836713" y="887700"/>
            <a:ext cx="10088765" cy="547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0" tIns="44450" rIns="0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                      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Fourier Transform &amp; Applications - Michal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(2 lessons)</a:t>
            </a:r>
          </a:p>
        </p:txBody>
      </p:sp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242200" y="116632"/>
            <a:ext cx="662944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Topics covered in the course</a:t>
            </a: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-1817281" y="1852711"/>
            <a:ext cx="8811556" cy="575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0" tIns="44450" rIns="0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                       Motion &amp; Video analysis – Michal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(2 lessons)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2296" name="Rectangle 72"/>
          <p:cNvSpPr>
            <a:spLocks noChangeArrowheads="1"/>
          </p:cNvSpPr>
          <p:nvPr/>
        </p:nvSpPr>
        <p:spPr bwMode="auto">
          <a:xfrm>
            <a:off x="-1836713" y="1363278"/>
            <a:ext cx="9792979" cy="575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0" tIns="44450" rIns="0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                       Geometry, Stereo, 3D Structure - Meirav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(4 lessons)</a:t>
            </a:r>
          </a:p>
        </p:txBody>
      </p:sp>
      <p:sp>
        <p:nvSpPr>
          <p:cNvPr id="52305" name="Rectangle 81"/>
          <p:cNvSpPr>
            <a:spLocks noChangeArrowheads="1"/>
          </p:cNvSpPr>
          <p:nvPr/>
        </p:nvSpPr>
        <p:spPr bwMode="auto">
          <a:xfrm>
            <a:off x="125147" y="-15195"/>
            <a:ext cx="55656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</a:t>
            </a: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200147" y="4088676"/>
            <a:ext cx="8784976" cy="1013098"/>
          </a:xfrm>
          <a:prstGeom prst="rect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80000" tIns="44450" rIns="0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·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2 programming exercises (Python)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-- SUBMIT IN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PAIRS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·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2 theoretical exercises               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-- SUBMIT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INDIVIDUALLY</a:t>
            </a:r>
            <a:endParaRPr kumimoji="0" lang="en-US" altLang="en-US" sz="2000" b="1" i="0" u="sng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·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EXAM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139" y="5312943"/>
            <a:ext cx="8908357" cy="1554272"/>
          </a:xfrm>
          <a:prstGeom prst="rect">
            <a:avLst/>
          </a:prstGeom>
          <a:solidFill>
            <a:srgbClr val="FFCC6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2-point Practical Deep-Learning course (</a:t>
            </a:r>
            <a:r>
              <a:rPr lang="en-US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hands-on exercises) 	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given in parallel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by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Meirav Galun, Tali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Dekel, Shai Bagon.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</a:b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Both courses  (“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Intro-to-Computer-Vision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”</a:t>
            </a:r>
            <a:r>
              <a:rPr kumimoji="0" lang="en-US" sz="2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&amp;  “</a:t>
            </a:r>
            <a:r>
              <a:rPr kumimoji="0" lang="en-US" sz="2200" b="1" i="1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DL course</a:t>
            </a:r>
            <a:r>
              <a:rPr kumimoji="0" lang="en-US" sz="2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”</a:t>
            </a:r>
            <a:r>
              <a:rPr kumimoji="0" lang="en-US" sz="2200" b="1" i="0" u="none" strike="noStrike" kern="1200" cap="none" normalizeH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  <a:r>
              <a:rPr kumimoji="0" lang="en-US" sz="2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br>
              <a:rPr kumimoji="0" lang="en-US" sz="2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</a:br>
            <a:r>
              <a:rPr lang="en-US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a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 </a:t>
            </a:r>
            <a:r>
              <a:rPr kumimoji="0" lang="en-US" sz="2200" b="1" i="1" u="sng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prerequisites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for taking the “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ADLV course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” (Semester2)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10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0DF0ACE1-3CAC-FFAC-DD9F-3DF17253D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3270" y="2095068"/>
            <a:ext cx="533400" cy="3048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AutoShape 17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99CE1AE9-B937-99A3-CF13-372128F38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838" y="1617206"/>
            <a:ext cx="533400" cy="3048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AutoShape 14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311CCB5D-162F-7C69-6BCE-3C3961E0C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637" y="6525344"/>
            <a:ext cx="533400" cy="3048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15" name="Picture 4" descr="junk1">
            <a:extLst>
              <a:ext uri="{FF2B5EF4-FFF2-40B4-BE49-F238E27FC236}">
                <a16:creationId xmlns:a16="http://schemas.microsoft.com/office/drawing/2014/main" id="{EA7E8B48-A85E-56C4-01A4-72A193B8954C}"/>
              </a:ext>
            </a:extLst>
          </p:cNvPr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134" y="836712"/>
            <a:ext cx="893370" cy="719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94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2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uiExpand="1" build="p" autoUpdateAnimBg="0"/>
      <p:bldP spid="11" grpId="0" animBg="1"/>
      <p:bldP spid="23" grpId="0" uiExpand="1" build="p" autoUpdateAnimBg="0"/>
      <p:bldP spid="12" grpId="0" uiExpand="1" animBg="1"/>
      <p:bldP spid="52231" grpId="0" uiExpand="1" build="p" autoUpdateAnimBg="0"/>
      <p:bldP spid="52244" grpId="0" uiExpand="1" build="p" autoUpdateAnimBg="0"/>
      <p:bldP spid="52227" grpId="0" uiExpand="1" build="p" autoUpdateAnimBg="0"/>
      <p:bldP spid="52296" grpId="0" uiExpand="1" build="p" autoUpdateAnimBg="0"/>
      <p:bldP spid="52305" grpId="0" uiExpand="1" build="p"/>
      <p:bldP spid="21" grpId="0" animBg="1"/>
      <p:bldP spid="22" grpId="0" uiExpand="1" build="p" animBg="1"/>
      <p:bldP spid="9" grpId="0" uiExpand="1" animBg="1"/>
      <p:bldP spid="10" grpId="0" uiExpand="1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Eye_camera"/>
          <p:cNvPicPr>
            <a:picLocks noChangeAspect="1" noChangeArrowheads="1"/>
          </p:cNvPicPr>
          <p:nvPr/>
        </p:nvPicPr>
        <p:blipFill rotWithShape="1">
          <a:blip r:embed="rId5">
            <a:lum bright="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60" r="56915"/>
          <a:stretch>
            <a:fillRect/>
          </a:stretch>
        </p:blipFill>
        <p:spPr bwMode="auto">
          <a:xfrm>
            <a:off x="1281112" y="3561557"/>
            <a:ext cx="4679156" cy="3107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Eye_camera"/>
          <p:cNvPicPr>
            <a:picLocks noChangeAspect="1" noChangeArrowheads="1"/>
          </p:cNvPicPr>
          <p:nvPr/>
        </p:nvPicPr>
        <p:blipFill rotWithShape="1">
          <a:blip r:embed="rId5">
            <a:lum bright="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87"/>
          <a:stretch>
            <a:fillRect/>
          </a:stretch>
        </p:blipFill>
        <p:spPr bwMode="auto">
          <a:xfrm>
            <a:off x="3694112" y="3240812"/>
            <a:ext cx="5486400" cy="2174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3" name="Freeform 11"/>
          <p:cNvSpPr>
            <a:spLocks/>
          </p:cNvSpPr>
          <p:nvPr/>
        </p:nvSpPr>
        <p:spPr bwMode="auto">
          <a:xfrm>
            <a:off x="2627312" y="4827862"/>
            <a:ext cx="1724025" cy="1557338"/>
          </a:xfrm>
          <a:custGeom>
            <a:avLst/>
            <a:gdLst>
              <a:gd name="T0" fmla="*/ 46 w 724"/>
              <a:gd name="T1" fmla="*/ 654 h 654"/>
              <a:gd name="T2" fmla="*/ 46 w 724"/>
              <a:gd name="T3" fmla="*/ 288 h 654"/>
              <a:gd name="T4" fmla="*/ 0 w 724"/>
              <a:gd name="T5" fmla="*/ 241 h 654"/>
              <a:gd name="T6" fmla="*/ 54 w 724"/>
              <a:gd name="T7" fmla="*/ 210 h 654"/>
              <a:gd name="T8" fmla="*/ 670 w 724"/>
              <a:gd name="T9" fmla="*/ 0 h 654"/>
              <a:gd name="T10" fmla="*/ 670 w 724"/>
              <a:gd name="T11" fmla="*/ 39 h 654"/>
              <a:gd name="T12" fmla="*/ 693 w 724"/>
              <a:gd name="T13" fmla="*/ 70 h 654"/>
              <a:gd name="T14" fmla="*/ 717 w 724"/>
              <a:gd name="T15" fmla="*/ 124 h 654"/>
              <a:gd name="T16" fmla="*/ 724 w 724"/>
              <a:gd name="T17" fmla="*/ 210 h 654"/>
              <a:gd name="T18" fmla="*/ 475 w 724"/>
              <a:gd name="T19" fmla="*/ 381 h 654"/>
              <a:gd name="T20" fmla="*/ 46 w 724"/>
              <a:gd name="T21" fmla="*/ 654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24" h="654">
                <a:moveTo>
                  <a:pt x="46" y="654"/>
                </a:moveTo>
                <a:lnTo>
                  <a:pt x="46" y="288"/>
                </a:lnTo>
                <a:lnTo>
                  <a:pt x="0" y="241"/>
                </a:lnTo>
                <a:lnTo>
                  <a:pt x="54" y="210"/>
                </a:lnTo>
                <a:lnTo>
                  <a:pt x="670" y="0"/>
                </a:lnTo>
                <a:lnTo>
                  <a:pt x="670" y="39"/>
                </a:lnTo>
                <a:lnTo>
                  <a:pt x="693" y="70"/>
                </a:lnTo>
                <a:lnTo>
                  <a:pt x="717" y="124"/>
                </a:lnTo>
                <a:lnTo>
                  <a:pt x="724" y="210"/>
                </a:lnTo>
                <a:lnTo>
                  <a:pt x="475" y="381"/>
                </a:lnTo>
                <a:lnTo>
                  <a:pt x="46" y="654"/>
                </a:lnTo>
                <a:close/>
              </a:path>
            </a:pathLst>
          </a:custGeom>
          <a:solidFill>
            <a:srgbClr val="FFDE7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86" name="AutoShape 14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29600" y="6324600"/>
            <a:ext cx="533400" cy="3048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B9C3A0-9C7F-86A0-717E-D9290D9A1DE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354782" y="3275783"/>
            <a:ext cx="2876550" cy="2085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C528F4-7203-F58D-6E20-2FC4C9D2DAE8}"/>
              </a:ext>
            </a:extLst>
          </p:cNvPr>
          <p:cNvSpPr txBox="1"/>
          <p:nvPr/>
        </p:nvSpPr>
        <p:spPr>
          <a:xfrm>
            <a:off x="3833900" y="3680683"/>
            <a:ext cx="1242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Stereo</a:t>
            </a:r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F2789-6C68-2963-A89A-C52233A767CF}"/>
              </a:ext>
            </a:extLst>
          </p:cNvPr>
          <p:cNvSpPr txBox="1"/>
          <p:nvPr/>
        </p:nvSpPr>
        <p:spPr>
          <a:xfrm>
            <a:off x="4709120" y="516890"/>
            <a:ext cx="1728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Structure from Motion</a:t>
            </a:r>
            <a:endParaRPr lang="en-IL" dirty="0"/>
          </a:p>
        </p:txBody>
      </p:sp>
      <p:pic>
        <p:nvPicPr>
          <p:cNvPr id="2" name="prvs2">
            <a:hlinkClick r:id="" action="ppaction://media"/>
            <a:extLst>
              <a:ext uri="{FF2B5EF4-FFF2-40B4-BE49-F238E27FC236}">
                <a16:creationId xmlns:a16="http://schemas.microsoft.com/office/drawing/2014/main" id="{7AD55711-0BF4-96F0-C429-45A6FD8149F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99592" y="424856"/>
            <a:ext cx="3535290" cy="265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1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308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3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083" grpId="0" animBg="1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304800"/>
            <a:ext cx="7772400" cy="1143000"/>
          </a:xfrm>
        </p:spPr>
        <p:txBody>
          <a:bodyPr/>
          <a:lstStyle/>
          <a:p>
            <a:r>
              <a:rPr lang="en-US" altLang="en-US" b="1" dirty="0">
                <a:solidFill>
                  <a:srgbClr val="D60093"/>
                </a:solidFill>
              </a:rPr>
              <a:t>Panoramic Mosaic Image</a:t>
            </a:r>
            <a:endParaRPr lang="en-US" altLang="en-US" dirty="0"/>
          </a:p>
        </p:txBody>
      </p:sp>
      <p:pic>
        <p:nvPicPr>
          <p:cNvPr id="53251" name="airport.avi">
            <a:hlinkClick r:id="" action="ppaction://media"/>
          </p:cNvPr>
          <p:cNvPicPr>
            <a:picLocks noChangeAspect="1" noChangeArrowheads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127000" y="838200"/>
            <a:ext cx="2660650" cy="169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2757488" y="839788"/>
            <a:ext cx="1195387" cy="896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Original video clip</a:t>
            </a:r>
          </a:p>
        </p:txBody>
      </p:sp>
      <p:grpSp>
        <p:nvGrpSpPr>
          <p:cNvPr id="53253" name="Group 5"/>
          <p:cNvGrpSpPr>
            <a:grpSpLocks/>
          </p:cNvGrpSpPr>
          <p:nvPr/>
        </p:nvGrpSpPr>
        <p:grpSpPr bwMode="auto">
          <a:xfrm>
            <a:off x="-430213" y="2163763"/>
            <a:ext cx="9896476" cy="4765675"/>
            <a:chOff x="-271" y="1363"/>
            <a:chExt cx="6234" cy="3002"/>
          </a:xfrm>
        </p:grpSpPr>
        <p:pic>
          <p:nvPicPr>
            <p:cNvPr id="53254" name="Picture 6" descr="airport_smos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71" y="1636"/>
              <a:ext cx="6234" cy="27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255" name="Text Box 7"/>
            <p:cNvSpPr txBox="1">
              <a:spLocks noChangeArrowheads="1"/>
            </p:cNvSpPr>
            <p:nvPr/>
          </p:nvSpPr>
          <p:spPr bwMode="auto">
            <a:xfrm>
              <a:off x="3752" y="1363"/>
              <a:ext cx="1983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Generated Mosaic image</a:t>
              </a:r>
              <a:endPara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041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390" fill="hold"/>
                                        <p:tgtEl>
                                          <p:spTgt spid="532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9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3251"/>
                </p:tgtEl>
              </p:cMediaNode>
            </p:video>
          </p:childTnLst>
        </p:cTn>
      </p:par>
    </p:tnLst>
    <p:bldLst>
      <p:bldP spid="53250" grpId="0"/>
      <p:bldP spid="532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MICHSE~1.AVI">
            <a:hlinkClick r:id="" action="ppaction://media"/>
          </p:cNvPr>
          <p:cNvPicPr>
            <a:picLocks noChangeAspect="1" noChangeArrowheads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763588" y="1447800"/>
            <a:ext cx="3429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75" name="MICHNO~1.AVI">
            <a:hlinkClick r:id="" action="ppaction://media"/>
          </p:cNvPr>
          <p:cNvPicPr>
            <a:picLocks noChangeAspect="1" noChangeArrowheads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4826000" y="1447800"/>
            <a:ext cx="3429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681038" y="1074738"/>
            <a:ext cx="11938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Original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681038" y="5786438"/>
            <a:ext cx="11620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Outliers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7064375" y="1058863"/>
            <a:ext cx="11938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Original</a:t>
            </a:r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6650038" y="5786438"/>
            <a:ext cx="15970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Synthesized</a:t>
            </a:r>
          </a:p>
        </p:txBody>
      </p:sp>
      <p:sp>
        <p:nvSpPr>
          <p:cNvPr id="54280" name="Rectangle 8"/>
          <p:cNvSpPr>
            <a:spLocks noChangeArrowheads="1"/>
          </p:cNvSpPr>
          <p:nvPr/>
        </p:nvSpPr>
        <p:spPr bwMode="auto">
          <a:xfrm>
            <a:off x="152400" y="152400"/>
            <a:ext cx="8966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Video Removal</a:t>
            </a:r>
            <a:endParaRPr kumimoji="0" lang="en-US" altLang="he-IL" sz="4400" b="0" i="0" u="none" strike="noStrike" kern="1200" cap="none" spc="0" normalizeH="0" baseline="0" noProof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4281" name="AutoShape 9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29600" y="6324600"/>
            <a:ext cx="533400" cy="3048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98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4800" fill="hold"/>
                                        <p:tgtEl>
                                          <p:spTgt spid="542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4800" fill="hold"/>
                                        <p:tgtEl>
                                          <p:spTgt spid="542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23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4274"/>
                </p:tgtEl>
              </p:cMediaNode>
            </p:video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42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 nodeType="clickPar">
                      <p:stCondLst>
                        <p:cond delay="0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542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274"/>
                  </p:tgtEl>
                </p:cond>
              </p:nextCondLst>
            </p:seq>
            <p:video>
              <p:cMediaNode>
                <p:cTn id="29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4275"/>
                </p:tgtEl>
              </p:cMediaNode>
            </p:video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542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 nodeType="clickPar">
                      <p:stCondLst>
                        <p:cond delay="0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4" dur="1" fill="hold"/>
                                        <p:tgtEl>
                                          <p:spTgt spid="542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275"/>
                  </p:tgtEl>
                </p:cond>
              </p:nextCondLst>
            </p:seq>
          </p:childTnLst>
        </p:cTn>
      </p:par>
    </p:tnLst>
    <p:bldLst>
      <p:bldP spid="54278" grpId="0" autoUpdateAnimBg="0"/>
      <p:bldP spid="5427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 bwMode="auto">
          <a:xfrm>
            <a:off x="971600" y="917985"/>
            <a:ext cx="3384376" cy="64807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292080" y="908720"/>
            <a:ext cx="2664296" cy="64807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grpSp>
        <p:nvGrpSpPr>
          <p:cNvPr id="16" name="Group 2"/>
          <p:cNvGrpSpPr>
            <a:grpSpLocks/>
          </p:cNvGrpSpPr>
          <p:nvPr/>
        </p:nvGrpSpPr>
        <p:grpSpPr bwMode="auto">
          <a:xfrm>
            <a:off x="467544" y="1844824"/>
            <a:ext cx="8320087" cy="1428750"/>
            <a:chOff x="461" y="2412"/>
            <a:chExt cx="5241" cy="900"/>
          </a:xfrm>
        </p:grpSpPr>
        <p:pic>
          <p:nvPicPr>
            <p:cNvPr id="17" name="Picture 3" descr="seg132_v68cth_PES__10_inpu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" y="2412"/>
              <a:ext cx="642" cy="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seg222_v68cth_PES__10_input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7" y="2412"/>
              <a:ext cx="678" cy="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5" descr="seg06_v64m2_PES__09_input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9" y="2412"/>
              <a:ext cx="1116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6" descr="seg25_v68cth_PES__09_input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3" y="2412"/>
              <a:ext cx="900" cy="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7" descr="seg171_v68cth_PES__10_input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2" y="2412"/>
              <a:ext cx="900" cy="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Picture 5" descr="seg06_v64m2_PES__09_inpu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531" y="1844824"/>
            <a:ext cx="17716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036496" cy="1143000"/>
          </a:xfrm>
        </p:spPr>
        <p:txBody>
          <a:bodyPr/>
          <a:lstStyle/>
          <a:p>
            <a:r>
              <a:rPr lang="en-US" altLang="en-US" dirty="0"/>
              <a:t>Segmentation and Boundaries</a:t>
            </a:r>
          </a:p>
        </p:txBody>
      </p:sp>
      <p:pic>
        <p:nvPicPr>
          <p:cNvPr id="22" name="Picture 10" descr="seg132_v68cth_PES__10_color_seg_f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445024"/>
            <a:ext cx="10191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1" descr="seg25_v68cth_PES__08_color_seg_f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219" y="3432324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2" descr="seg222_v68cth_PES__09_color_seg_f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456" y="3445024"/>
            <a:ext cx="107632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3" descr="seg06_v64s_PES__10_color_seg_f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819" y="3105299"/>
            <a:ext cx="1757362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9" descr="seg171_v68cth_PES__10_color_seg_f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881" y="3445024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Freeform 26"/>
          <p:cNvSpPr>
            <a:spLocks noChangeAspect="1"/>
          </p:cNvSpPr>
          <p:nvPr/>
        </p:nvSpPr>
        <p:spPr bwMode="auto">
          <a:xfrm>
            <a:off x="3670735" y="2088233"/>
            <a:ext cx="1554372" cy="785137"/>
          </a:xfrm>
          <a:custGeom>
            <a:avLst/>
            <a:gdLst>
              <a:gd name="T0" fmla="*/ 68 w 2346"/>
              <a:gd name="T1" fmla="*/ 222 h 1185"/>
              <a:gd name="T2" fmla="*/ 215 w 2346"/>
              <a:gd name="T3" fmla="*/ 174 h 1185"/>
              <a:gd name="T4" fmla="*/ 437 w 2346"/>
              <a:gd name="T5" fmla="*/ 141 h 1185"/>
              <a:gd name="T6" fmla="*/ 683 w 2346"/>
              <a:gd name="T7" fmla="*/ 135 h 1185"/>
              <a:gd name="T8" fmla="*/ 905 w 2346"/>
              <a:gd name="T9" fmla="*/ 153 h 1185"/>
              <a:gd name="T10" fmla="*/ 1082 w 2346"/>
              <a:gd name="T11" fmla="*/ 198 h 1185"/>
              <a:gd name="T12" fmla="*/ 1100 w 2346"/>
              <a:gd name="T13" fmla="*/ 114 h 1185"/>
              <a:gd name="T14" fmla="*/ 1175 w 2346"/>
              <a:gd name="T15" fmla="*/ 6 h 1185"/>
              <a:gd name="T16" fmla="*/ 1274 w 2346"/>
              <a:gd name="T17" fmla="*/ 78 h 1185"/>
              <a:gd name="T18" fmla="*/ 1295 w 2346"/>
              <a:gd name="T19" fmla="*/ 177 h 1185"/>
              <a:gd name="T20" fmla="*/ 1463 w 2346"/>
              <a:gd name="T21" fmla="*/ 147 h 1185"/>
              <a:gd name="T22" fmla="*/ 1712 w 2346"/>
              <a:gd name="T23" fmla="*/ 114 h 1185"/>
              <a:gd name="T24" fmla="*/ 1973 w 2346"/>
              <a:gd name="T25" fmla="*/ 126 h 1185"/>
              <a:gd name="T26" fmla="*/ 2180 w 2346"/>
              <a:gd name="T27" fmla="*/ 156 h 1185"/>
              <a:gd name="T28" fmla="*/ 2318 w 2346"/>
              <a:gd name="T29" fmla="*/ 240 h 1185"/>
              <a:gd name="T30" fmla="*/ 2336 w 2346"/>
              <a:gd name="T31" fmla="*/ 351 h 1185"/>
              <a:gd name="T32" fmla="*/ 2258 w 2346"/>
              <a:gd name="T33" fmla="*/ 441 h 1185"/>
              <a:gd name="T34" fmla="*/ 2141 w 2346"/>
              <a:gd name="T35" fmla="*/ 519 h 1185"/>
              <a:gd name="T36" fmla="*/ 2030 w 2346"/>
              <a:gd name="T37" fmla="*/ 582 h 1185"/>
              <a:gd name="T38" fmla="*/ 1979 w 2346"/>
              <a:gd name="T39" fmla="*/ 654 h 1185"/>
              <a:gd name="T40" fmla="*/ 1886 w 2346"/>
              <a:gd name="T41" fmla="*/ 741 h 1185"/>
              <a:gd name="T42" fmla="*/ 1796 w 2346"/>
              <a:gd name="T43" fmla="*/ 777 h 1185"/>
              <a:gd name="T44" fmla="*/ 1733 w 2346"/>
              <a:gd name="T45" fmla="*/ 936 h 1185"/>
              <a:gd name="T46" fmla="*/ 1616 w 2346"/>
              <a:gd name="T47" fmla="*/ 1047 h 1185"/>
              <a:gd name="T48" fmla="*/ 1526 w 2346"/>
              <a:gd name="T49" fmla="*/ 1113 h 1185"/>
              <a:gd name="T50" fmla="*/ 1448 w 2346"/>
              <a:gd name="T51" fmla="*/ 1116 h 1185"/>
              <a:gd name="T52" fmla="*/ 1370 w 2346"/>
              <a:gd name="T53" fmla="*/ 1176 h 1185"/>
              <a:gd name="T54" fmla="*/ 1223 w 2346"/>
              <a:gd name="T55" fmla="*/ 1158 h 1185"/>
              <a:gd name="T56" fmla="*/ 1154 w 2346"/>
              <a:gd name="T57" fmla="*/ 1017 h 1185"/>
              <a:gd name="T58" fmla="*/ 1109 w 2346"/>
              <a:gd name="T59" fmla="*/ 1134 h 1185"/>
              <a:gd name="T60" fmla="*/ 962 w 2346"/>
              <a:gd name="T61" fmla="*/ 1173 h 1185"/>
              <a:gd name="T62" fmla="*/ 833 w 2346"/>
              <a:gd name="T63" fmla="*/ 1119 h 1185"/>
              <a:gd name="T64" fmla="*/ 737 w 2346"/>
              <a:gd name="T65" fmla="*/ 1077 h 1185"/>
              <a:gd name="T66" fmla="*/ 659 w 2346"/>
              <a:gd name="T67" fmla="*/ 1005 h 1185"/>
              <a:gd name="T68" fmla="*/ 551 w 2346"/>
              <a:gd name="T69" fmla="*/ 924 h 1185"/>
              <a:gd name="T70" fmla="*/ 521 w 2346"/>
              <a:gd name="T71" fmla="*/ 813 h 1185"/>
              <a:gd name="T72" fmla="*/ 425 w 2346"/>
              <a:gd name="T73" fmla="*/ 735 h 1185"/>
              <a:gd name="T74" fmla="*/ 317 w 2346"/>
              <a:gd name="T75" fmla="*/ 642 h 1185"/>
              <a:gd name="T76" fmla="*/ 257 w 2346"/>
              <a:gd name="T77" fmla="*/ 567 h 1185"/>
              <a:gd name="T78" fmla="*/ 146 w 2346"/>
              <a:gd name="T79" fmla="*/ 519 h 1185"/>
              <a:gd name="T80" fmla="*/ 35 w 2346"/>
              <a:gd name="T81" fmla="*/ 411 h 1185"/>
              <a:gd name="T82" fmla="*/ 5 w 2346"/>
              <a:gd name="T83" fmla="*/ 285 h 1185"/>
              <a:gd name="T84" fmla="*/ 68 w 2346"/>
              <a:gd name="T85" fmla="*/ 222 h 1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46" h="1185">
                <a:moveTo>
                  <a:pt x="68" y="222"/>
                </a:moveTo>
                <a:cubicBezTo>
                  <a:pt x="103" y="203"/>
                  <a:pt x="154" y="187"/>
                  <a:pt x="215" y="174"/>
                </a:cubicBezTo>
                <a:cubicBezTo>
                  <a:pt x="276" y="161"/>
                  <a:pt x="359" y="147"/>
                  <a:pt x="437" y="141"/>
                </a:cubicBezTo>
                <a:cubicBezTo>
                  <a:pt x="515" y="135"/>
                  <a:pt x="605" y="133"/>
                  <a:pt x="683" y="135"/>
                </a:cubicBezTo>
                <a:cubicBezTo>
                  <a:pt x="761" y="137"/>
                  <a:pt x="839" y="143"/>
                  <a:pt x="905" y="153"/>
                </a:cubicBezTo>
                <a:cubicBezTo>
                  <a:pt x="971" y="163"/>
                  <a:pt x="1050" y="204"/>
                  <a:pt x="1082" y="198"/>
                </a:cubicBezTo>
                <a:cubicBezTo>
                  <a:pt x="1114" y="192"/>
                  <a:pt x="1084" y="146"/>
                  <a:pt x="1100" y="114"/>
                </a:cubicBezTo>
                <a:cubicBezTo>
                  <a:pt x="1116" y="82"/>
                  <a:pt x="1146" y="12"/>
                  <a:pt x="1175" y="6"/>
                </a:cubicBezTo>
                <a:cubicBezTo>
                  <a:pt x="1204" y="0"/>
                  <a:pt x="1254" y="49"/>
                  <a:pt x="1274" y="78"/>
                </a:cubicBezTo>
                <a:cubicBezTo>
                  <a:pt x="1294" y="107"/>
                  <a:pt x="1263" y="165"/>
                  <a:pt x="1295" y="177"/>
                </a:cubicBezTo>
                <a:cubicBezTo>
                  <a:pt x="1327" y="189"/>
                  <a:pt x="1394" y="157"/>
                  <a:pt x="1463" y="147"/>
                </a:cubicBezTo>
                <a:cubicBezTo>
                  <a:pt x="1532" y="137"/>
                  <a:pt x="1627" y="117"/>
                  <a:pt x="1712" y="114"/>
                </a:cubicBezTo>
                <a:cubicBezTo>
                  <a:pt x="1797" y="111"/>
                  <a:pt x="1895" y="119"/>
                  <a:pt x="1973" y="126"/>
                </a:cubicBezTo>
                <a:cubicBezTo>
                  <a:pt x="2051" y="133"/>
                  <a:pt x="2122" y="137"/>
                  <a:pt x="2180" y="156"/>
                </a:cubicBezTo>
                <a:cubicBezTo>
                  <a:pt x="2238" y="175"/>
                  <a:pt x="2292" y="207"/>
                  <a:pt x="2318" y="240"/>
                </a:cubicBezTo>
                <a:cubicBezTo>
                  <a:pt x="2344" y="273"/>
                  <a:pt x="2346" y="318"/>
                  <a:pt x="2336" y="351"/>
                </a:cubicBezTo>
                <a:cubicBezTo>
                  <a:pt x="2326" y="384"/>
                  <a:pt x="2290" y="413"/>
                  <a:pt x="2258" y="441"/>
                </a:cubicBezTo>
                <a:cubicBezTo>
                  <a:pt x="2226" y="469"/>
                  <a:pt x="2179" y="496"/>
                  <a:pt x="2141" y="519"/>
                </a:cubicBezTo>
                <a:cubicBezTo>
                  <a:pt x="2103" y="542"/>
                  <a:pt x="2057" y="559"/>
                  <a:pt x="2030" y="582"/>
                </a:cubicBezTo>
                <a:cubicBezTo>
                  <a:pt x="2003" y="605"/>
                  <a:pt x="2003" y="628"/>
                  <a:pt x="1979" y="654"/>
                </a:cubicBezTo>
                <a:cubicBezTo>
                  <a:pt x="1955" y="680"/>
                  <a:pt x="1916" y="721"/>
                  <a:pt x="1886" y="741"/>
                </a:cubicBezTo>
                <a:cubicBezTo>
                  <a:pt x="1856" y="761"/>
                  <a:pt x="1822" y="745"/>
                  <a:pt x="1796" y="777"/>
                </a:cubicBezTo>
                <a:cubicBezTo>
                  <a:pt x="1770" y="809"/>
                  <a:pt x="1763" y="891"/>
                  <a:pt x="1733" y="936"/>
                </a:cubicBezTo>
                <a:cubicBezTo>
                  <a:pt x="1703" y="981"/>
                  <a:pt x="1650" y="1018"/>
                  <a:pt x="1616" y="1047"/>
                </a:cubicBezTo>
                <a:cubicBezTo>
                  <a:pt x="1582" y="1076"/>
                  <a:pt x="1554" y="1102"/>
                  <a:pt x="1526" y="1113"/>
                </a:cubicBezTo>
                <a:cubicBezTo>
                  <a:pt x="1498" y="1124"/>
                  <a:pt x="1474" y="1105"/>
                  <a:pt x="1448" y="1116"/>
                </a:cubicBezTo>
                <a:cubicBezTo>
                  <a:pt x="1422" y="1127"/>
                  <a:pt x="1407" y="1169"/>
                  <a:pt x="1370" y="1176"/>
                </a:cubicBezTo>
                <a:cubicBezTo>
                  <a:pt x="1333" y="1183"/>
                  <a:pt x="1259" y="1185"/>
                  <a:pt x="1223" y="1158"/>
                </a:cubicBezTo>
                <a:cubicBezTo>
                  <a:pt x="1187" y="1131"/>
                  <a:pt x="1173" y="1021"/>
                  <a:pt x="1154" y="1017"/>
                </a:cubicBezTo>
                <a:cubicBezTo>
                  <a:pt x="1135" y="1013"/>
                  <a:pt x="1141" y="1108"/>
                  <a:pt x="1109" y="1134"/>
                </a:cubicBezTo>
                <a:cubicBezTo>
                  <a:pt x="1077" y="1160"/>
                  <a:pt x="1008" y="1175"/>
                  <a:pt x="962" y="1173"/>
                </a:cubicBezTo>
                <a:cubicBezTo>
                  <a:pt x="916" y="1171"/>
                  <a:pt x="870" y="1135"/>
                  <a:pt x="833" y="1119"/>
                </a:cubicBezTo>
                <a:cubicBezTo>
                  <a:pt x="796" y="1103"/>
                  <a:pt x="766" y="1096"/>
                  <a:pt x="737" y="1077"/>
                </a:cubicBezTo>
                <a:cubicBezTo>
                  <a:pt x="708" y="1058"/>
                  <a:pt x="690" y="1030"/>
                  <a:pt x="659" y="1005"/>
                </a:cubicBezTo>
                <a:cubicBezTo>
                  <a:pt x="628" y="980"/>
                  <a:pt x="574" y="956"/>
                  <a:pt x="551" y="924"/>
                </a:cubicBezTo>
                <a:cubicBezTo>
                  <a:pt x="528" y="892"/>
                  <a:pt x="542" y="844"/>
                  <a:pt x="521" y="813"/>
                </a:cubicBezTo>
                <a:cubicBezTo>
                  <a:pt x="500" y="782"/>
                  <a:pt x="459" y="763"/>
                  <a:pt x="425" y="735"/>
                </a:cubicBezTo>
                <a:cubicBezTo>
                  <a:pt x="391" y="707"/>
                  <a:pt x="345" y="670"/>
                  <a:pt x="317" y="642"/>
                </a:cubicBezTo>
                <a:cubicBezTo>
                  <a:pt x="289" y="614"/>
                  <a:pt x="285" y="587"/>
                  <a:pt x="257" y="567"/>
                </a:cubicBezTo>
                <a:cubicBezTo>
                  <a:pt x="229" y="547"/>
                  <a:pt x="183" y="545"/>
                  <a:pt x="146" y="519"/>
                </a:cubicBezTo>
                <a:cubicBezTo>
                  <a:pt x="109" y="493"/>
                  <a:pt x="58" y="450"/>
                  <a:pt x="35" y="411"/>
                </a:cubicBezTo>
                <a:cubicBezTo>
                  <a:pt x="12" y="372"/>
                  <a:pt x="0" y="316"/>
                  <a:pt x="5" y="285"/>
                </a:cubicBezTo>
                <a:cubicBezTo>
                  <a:pt x="10" y="254"/>
                  <a:pt x="33" y="241"/>
                  <a:pt x="68" y="222"/>
                </a:cubicBezTo>
                <a:close/>
              </a:path>
            </a:pathLst>
          </a:custGeom>
          <a:noFill/>
          <a:ln w="762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" name="AutoShape 9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29600" y="6324600"/>
            <a:ext cx="533400" cy="3048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9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6 -0.22407 L -4.44444E-6 -1.48148E-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11204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-0.25301 L 0.00121 0.00232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12755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-0.18287 L 0.00486 0.00833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956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-0.2331 L 0.00191 0.00232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1175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-0.24213 L 4.72222E-6 3.7037E-7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5" grpId="0" animBg="1"/>
      <p:bldP spid="5" grpId="1" animBg="1"/>
      <p:bldP spid="27" grpId="0" animBg="1"/>
      <p:bldP spid="2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18"/>
          <p:cNvSpPr>
            <a:spLocks noChangeArrowheads="1"/>
          </p:cNvSpPr>
          <p:nvPr/>
        </p:nvSpPr>
        <p:spPr bwMode="auto">
          <a:xfrm>
            <a:off x="1907704" y="2530624"/>
            <a:ext cx="5184576" cy="1063625"/>
          </a:xfrm>
          <a:prstGeom prst="rect">
            <a:avLst/>
          </a:prstGeom>
          <a:solidFill>
            <a:srgbClr val="FFFF00"/>
          </a:solidFill>
          <a:ln w="38100" algn="ctr">
            <a:solidFill>
              <a:srgbClr val="D6009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3" name="Rectangle 13"/>
          <p:cNvSpPr>
            <a:spLocks noChangeArrowheads="1"/>
          </p:cNvSpPr>
          <p:nvPr/>
        </p:nvSpPr>
        <p:spPr bwMode="auto">
          <a:xfrm>
            <a:off x="192087" y="1277217"/>
            <a:ext cx="8815388" cy="17494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marR="0" lvl="0" indent="-34290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Exploit </a:t>
            </a: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internal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 data redundancy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(inside a </a:t>
            </a: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single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 image or video)</a:t>
            </a:r>
          </a:p>
          <a:p>
            <a:pPr marL="342900" marR="0" lvl="0" indent="-342900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D60093"/>
                </a:solidFill>
                <a:latin typeface="Comic Sans MS" pitchFamily="66" charset="0"/>
                <a:cs typeface="Arial" charset="0"/>
              </a:rPr>
              <a:t>    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		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  <a:sym typeface="Wingdings" pitchFamily="2" charset="2"/>
              </a:rPr>
              <a:t> Complex visual inference</a:t>
            </a:r>
          </a:p>
          <a:p>
            <a:pPr marL="342900" marR="0" lvl="0" indent="-342900" algn="l" defTabSz="914400" rtl="0" eaLnBrk="1" fontAlgn="base" latinLnBrk="0" hangingPunct="1">
              <a:lnSpc>
                <a:spcPct val="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D60093"/>
              </a:solidFill>
              <a:effectLst/>
              <a:uLnTx/>
              <a:uFillTx/>
              <a:latin typeface="Comic Sans MS" pitchFamily="66" charset="0"/>
              <a:ea typeface="+mn-ea"/>
              <a:cs typeface="Arial" charset="0"/>
              <a:sym typeface="Wingdings" pitchFamily="2" charset="2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No prior examples!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D60093"/>
              </a:solidFill>
              <a:effectLst/>
              <a:uLnTx/>
              <a:uFillTx/>
              <a:latin typeface="Comic Sans MS" pitchFamily="66" charset="0"/>
              <a:ea typeface="+mn-ea"/>
              <a:cs typeface="Arial" charset="0"/>
              <a:sym typeface="Wingdings" pitchFamily="2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            </a:t>
            </a:r>
          </a:p>
        </p:txBody>
      </p:sp>
      <p:sp>
        <p:nvSpPr>
          <p:cNvPr id="109572" name="Line 20"/>
          <p:cNvSpPr>
            <a:spLocks/>
          </p:cNvSpPr>
          <p:nvPr/>
        </p:nvSpPr>
        <p:spPr bwMode="auto">
          <a:xfrm>
            <a:off x="307975" y="149449"/>
            <a:ext cx="84582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9574" name="Text Box 15"/>
          <p:cNvSpPr txBox="1">
            <a:spLocks noChangeArrowheads="1"/>
          </p:cNvSpPr>
          <p:nvPr/>
        </p:nvSpPr>
        <p:spPr bwMode="auto">
          <a:xfrm>
            <a:off x="5127625" y="403449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109577" name="Text Box 4"/>
          <p:cNvSpPr txBox="1">
            <a:spLocks noChangeArrowheads="1"/>
          </p:cNvSpPr>
          <p:nvPr/>
        </p:nvSpPr>
        <p:spPr bwMode="auto">
          <a:xfrm>
            <a:off x="1668463" y="468537"/>
            <a:ext cx="1676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Input</a:t>
            </a:r>
          </a:p>
        </p:txBody>
      </p:sp>
      <p:sp>
        <p:nvSpPr>
          <p:cNvPr id="109581" name="AutoShape 13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29600" y="5892552"/>
            <a:ext cx="533400" cy="3048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" name="Text Box 4"/>
          <p:cNvSpPr txBox="1">
            <a:spLocks noChangeArrowheads="1"/>
          </p:cNvSpPr>
          <p:nvPr/>
        </p:nvSpPr>
        <p:spPr bwMode="auto">
          <a:xfrm>
            <a:off x="179512" y="573559"/>
            <a:ext cx="8827963" cy="461665"/>
          </a:xfrm>
          <a:prstGeom prst="rect">
            <a:avLst/>
          </a:prstGeom>
          <a:solidFill>
            <a:srgbClr val="D60093"/>
          </a:solidFill>
          <a:ln w="3175" algn="ctr">
            <a:solidFill>
              <a:srgbClr val="333399">
                <a:lumMod val="75000"/>
              </a:srgb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Learning </a:t>
            </a:r>
            <a:r>
              <a:rPr kumimoji="0" lang="en-IL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  <a:sym typeface="Wingdings" panose="05000000000000000000" pitchFamily="2" charset="2"/>
              </a:rPr>
              <a:t>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  <a:sym typeface="Wingdings" panose="05000000000000000000" pitchFamily="2" charset="2"/>
              </a:rPr>
              <a:t> 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  <a:sym typeface="Wingdings" panose="05000000000000000000" pitchFamily="2" charset="2"/>
              </a:rPr>
              <a:t>Usually requires 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mic Sans MS" pitchFamily="66" charset="0"/>
                <a:ea typeface="+mn-ea"/>
                <a:cs typeface="Arial" charset="0"/>
                <a:sym typeface="Wingdings" panose="05000000000000000000" pitchFamily="2" charset="2"/>
              </a:rPr>
              <a:t>LOTS of training data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mic Sans MS" pitchFamily="66" charset="0"/>
              <a:ea typeface="+mn-ea"/>
              <a:cs typeface="Arial" charset="0"/>
            </a:endParaRPr>
          </a:p>
        </p:txBody>
      </p:sp>
      <p:sp>
        <p:nvSpPr>
          <p:cNvPr id="41" name="Line 5"/>
          <p:cNvSpPr>
            <a:spLocks noChangeShapeType="1"/>
          </p:cNvSpPr>
          <p:nvPr/>
        </p:nvSpPr>
        <p:spPr bwMode="auto">
          <a:xfrm>
            <a:off x="4664075" y="295747"/>
            <a:ext cx="3748088" cy="1189037"/>
          </a:xfrm>
          <a:prstGeom prst="line">
            <a:avLst/>
          </a:prstGeom>
          <a:noFill/>
          <a:ln w="76200">
            <a:solidFill>
              <a:srgbClr val="333399">
                <a:lumMod val="75000"/>
              </a:srgb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2" name="Line 6"/>
          <p:cNvSpPr>
            <a:spLocks noChangeShapeType="1"/>
          </p:cNvSpPr>
          <p:nvPr/>
        </p:nvSpPr>
        <p:spPr bwMode="auto">
          <a:xfrm flipH="1">
            <a:off x="4664075" y="294159"/>
            <a:ext cx="3657600" cy="1177925"/>
          </a:xfrm>
          <a:prstGeom prst="line">
            <a:avLst/>
          </a:prstGeom>
          <a:noFill/>
          <a:ln w="76200">
            <a:solidFill>
              <a:srgbClr val="26267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44" name="Picture 6" descr="house_lena_Gord_de_Verdon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8" t="9512" r="43489" b="4126"/>
          <a:stretch/>
        </p:blipFill>
        <p:spPr bwMode="auto">
          <a:xfrm>
            <a:off x="411480" y="2276872"/>
            <a:ext cx="3475037" cy="448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ctangle 10"/>
          <p:cNvSpPr>
            <a:spLocks noChangeArrowheads="1"/>
          </p:cNvSpPr>
          <p:nvPr/>
        </p:nvSpPr>
        <p:spPr bwMode="auto">
          <a:xfrm>
            <a:off x="1452882" y="2708344"/>
            <a:ext cx="274638" cy="274638"/>
          </a:xfrm>
          <a:prstGeom prst="rect">
            <a:avLst/>
          </a:prstGeom>
          <a:noFill/>
          <a:ln w="571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6" name="Rectangle 11"/>
          <p:cNvSpPr>
            <a:spLocks noChangeArrowheads="1"/>
          </p:cNvSpPr>
          <p:nvPr/>
        </p:nvSpPr>
        <p:spPr bwMode="auto">
          <a:xfrm>
            <a:off x="2391095" y="4506982"/>
            <a:ext cx="328612" cy="330200"/>
          </a:xfrm>
          <a:prstGeom prst="rect">
            <a:avLst/>
          </a:prstGeom>
          <a:noFill/>
          <a:ln w="57150" algn="ctr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1835470" y="2687707"/>
            <a:ext cx="274637" cy="274637"/>
          </a:xfrm>
          <a:prstGeom prst="rect">
            <a:avLst/>
          </a:prstGeom>
          <a:noFill/>
          <a:ln w="571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8" name="Rectangle 18"/>
          <p:cNvSpPr>
            <a:spLocks noChangeAspect="1" noChangeArrowheads="1"/>
          </p:cNvSpPr>
          <p:nvPr/>
        </p:nvSpPr>
        <p:spPr bwMode="auto">
          <a:xfrm>
            <a:off x="2489520" y="5375344"/>
            <a:ext cx="822325" cy="827088"/>
          </a:xfrm>
          <a:prstGeom prst="rect">
            <a:avLst/>
          </a:prstGeom>
          <a:noFill/>
          <a:ln w="57150" algn="ctr">
            <a:solidFill>
              <a:srgbClr val="00FF0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9" name="Line 28"/>
          <p:cNvSpPr>
            <a:spLocks noChangeShapeType="1"/>
          </p:cNvSpPr>
          <p:nvPr/>
        </p:nvSpPr>
        <p:spPr bwMode="auto">
          <a:xfrm>
            <a:off x="2392682" y="4851469"/>
            <a:ext cx="100013" cy="515938"/>
          </a:xfrm>
          <a:prstGeom prst="line">
            <a:avLst/>
          </a:prstGeom>
          <a:noFill/>
          <a:ln w="38100">
            <a:solidFill>
              <a:srgbClr val="00FF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0" name="Line 29"/>
          <p:cNvSpPr>
            <a:spLocks noChangeShapeType="1"/>
          </p:cNvSpPr>
          <p:nvPr/>
        </p:nvSpPr>
        <p:spPr bwMode="auto">
          <a:xfrm>
            <a:off x="2738757" y="4843532"/>
            <a:ext cx="538163" cy="492125"/>
          </a:xfrm>
          <a:prstGeom prst="line">
            <a:avLst/>
          </a:prstGeom>
          <a:noFill/>
          <a:ln w="38100">
            <a:solidFill>
              <a:srgbClr val="00FF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1" name="Rectangle 30"/>
          <p:cNvSpPr>
            <a:spLocks noChangeArrowheads="1"/>
          </p:cNvSpPr>
          <p:nvPr/>
        </p:nvSpPr>
        <p:spPr bwMode="auto">
          <a:xfrm>
            <a:off x="2226445" y="2678852"/>
            <a:ext cx="274638" cy="274638"/>
          </a:xfrm>
          <a:prstGeom prst="rect">
            <a:avLst/>
          </a:prstGeom>
          <a:noFill/>
          <a:ln w="571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pSp>
        <p:nvGrpSpPr>
          <p:cNvPr id="52" name="Group 51"/>
          <p:cNvGrpSpPr>
            <a:grpSpLocks/>
          </p:cNvGrpSpPr>
          <p:nvPr/>
        </p:nvGrpSpPr>
        <p:grpSpPr bwMode="auto">
          <a:xfrm>
            <a:off x="4405312" y="3452247"/>
            <a:ext cx="4175125" cy="1644650"/>
            <a:chOff x="3158490" y="4966335"/>
            <a:chExt cx="4175760" cy="1644973"/>
          </a:xfrm>
        </p:grpSpPr>
        <p:sp>
          <p:nvSpPr>
            <p:cNvPr id="53" name="Freeform 52"/>
            <p:cNvSpPr/>
            <p:nvPr/>
          </p:nvSpPr>
          <p:spPr>
            <a:xfrm>
              <a:off x="4133363" y="4967923"/>
              <a:ext cx="3200887" cy="1643385"/>
            </a:xfrm>
            <a:custGeom>
              <a:avLst/>
              <a:gdLst>
                <a:gd name="connsiteX0" fmla="*/ 0 w 3200400"/>
                <a:gd name="connsiteY0" fmla="*/ 1643063 h 1643063"/>
                <a:gd name="connsiteX1" fmla="*/ 3200400 w 3200400"/>
                <a:gd name="connsiteY1" fmla="*/ 776288 h 1643063"/>
                <a:gd name="connsiteX2" fmla="*/ 3200400 w 3200400"/>
                <a:gd name="connsiteY2" fmla="*/ 0 h 1643063"/>
                <a:gd name="connsiteX3" fmla="*/ 0 w 3200400"/>
                <a:gd name="connsiteY3" fmla="*/ 866775 h 1643063"/>
                <a:gd name="connsiteX4" fmla="*/ 0 w 3200400"/>
                <a:gd name="connsiteY4" fmla="*/ 1643063 h 1643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0400" h="1643063">
                  <a:moveTo>
                    <a:pt x="0" y="1643063"/>
                  </a:moveTo>
                  <a:lnTo>
                    <a:pt x="3200400" y="776288"/>
                  </a:lnTo>
                  <a:lnTo>
                    <a:pt x="3200400" y="0"/>
                  </a:lnTo>
                  <a:lnTo>
                    <a:pt x="0" y="866775"/>
                  </a:lnTo>
                  <a:lnTo>
                    <a:pt x="0" y="1643063"/>
                  </a:lnTo>
                  <a:close/>
                </a:path>
              </a:pathLst>
            </a:custGeom>
            <a:solidFill>
              <a:srgbClr val="000000">
                <a:lumMod val="20000"/>
                <a:lumOff val="80000"/>
              </a:srgbClr>
            </a:solidFill>
            <a:ln w="381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Arial"/>
              </a:endParaRPr>
            </a:p>
          </p:txBody>
        </p:sp>
        <p:sp>
          <p:nvSpPr>
            <p:cNvPr id="54" name="Freeform 53"/>
            <p:cNvSpPr/>
            <p:nvPr/>
          </p:nvSpPr>
          <p:spPr>
            <a:xfrm>
              <a:off x="3158490" y="4966335"/>
              <a:ext cx="4153532" cy="866945"/>
            </a:xfrm>
            <a:custGeom>
              <a:avLst/>
              <a:gdLst>
                <a:gd name="connsiteX0" fmla="*/ 952500 w 4152900"/>
                <a:gd name="connsiteY0" fmla="*/ 866775 h 866775"/>
                <a:gd name="connsiteX1" fmla="*/ 4152900 w 4152900"/>
                <a:gd name="connsiteY1" fmla="*/ 0 h 866775"/>
                <a:gd name="connsiteX2" fmla="*/ 3200400 w 4152900"/>
                <a:gd name="connsiteY2" fmla="*/ 0 h 866775"/>
                <a:gd name="connsiteX3" fmla="*/ 0 w 4152900"/>
                <a:gd name="connsiteY3" fmla="*/ 866775 h 866775"/>
                <a:gd name="connsiteX4" fmla="*/ 952500 w 4152900"/>
                <a:gd name="connsiteY4" fmla="*/ 866775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2900" h="866775">
                  <a:moveTo>
                    <a:pt x="952500" y="866775"/>
                  </a:moveTo>
                  <a:lnTo>
                    <a:pt x="4152900" y="0"/>
                  </a:lnTo>
                  <a:lnTo>
                    <a:pt x="3200400" y="0"/>
                  </a:lnTo>
                  <a:lnTo>
                    <a:pt x="0" y="866775"/>
                  </a:lnTo>
                  <a:lnTo>
                    <a:pt x="952500" y="866775"/>
                  </a:lnTo>
                  <a:close/>
                </a:path>
              </a:pathLst>
            </a:custGeom>
            <a:solidFill>
              <a:srgbClr val="000000">
                <a:lumMod val="20000"/>
                <a:lumOff val="80000"/>
              </a:srgbClr>
            </a:solidFill>
            <a:ln w="381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Arial"/>
              </a:endParaRPr>
            </a:p>
          </p:txBody>
        </p:sp>
      </p:grpSp>
      <p:grpSp>
        <p:nvGrpSpPr>
          <p:cNvPr id="55" name="Group 54"/>
          <p:cNvGrpSpPr>
            <a:grpSpLocks/>
          </p:cNvGrpSpPr>
          <p:nvPr/>
        </p:nvGrpSpPr>
        <p:grpSpPr bwMode="auto">
          <a:xfrm>
            <a:off x="4279897" y="2647637"/>
            <a:ext cx="1350963" cy="1439862"/>
            <a:chOff x="1744077" y="4267200"/>
            <a:chExt cx="1350673" cy="1439535"/>
          </a:xfrm>
        </p:grpSpPr>
        <p:sp>
          <p:nvSpPr>
            <p:cNvPr id="56" name="TextBox 226"/>
            <p:cNvSpPr txBox="1">
              <a:spLocks noChangeArrowheads="1"/>
            </p:cNvSpPr>
            <p:nvPr/>
          </p:nvSpPr>
          <p:spPr bwMode="auto">
            <a:xfrm>
              <a:off x="1744077" y="4267200"/>
              <a:ext cx="2032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rPr>
                <a:t>y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 flipV="1">
              <a:off x="1920252" y="5235355"/>
              <a:ext cx="1041176" cy="272988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  <p:sp>
          <p:nvSpPr>
            <p:cNvPr id="58" name="TextBox 240"/>
            <p:cNvSpPr txBox="1">
              <a:spLocks noChangeArrowheads="1"/>
            </p:cNvSpPr>
            <p:nvPr/>
          </p:nvSpPr>
          <p:spPr bwMode="auto">
            <a:xfrm rot="-871707">
              <a:off x="2011391" y="4846703"/>
              <a:ext cx="108335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rPr>
                <a:t>time</a:t>
              </a: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V="1">
              <a:off x="1920252" y="4717948"/>
              <a:ext cx="0" cy="804679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  <p:cxnSp>
          <p:nvCxnSpPr>
            <p:cNvPr id="60" name="Straight Arrow Connector 59"/>
            <p:cNvCxnSpPr/>
            <p:nvPr/>
          </p:nvCxnSpPr>
          <p:spPr>
            <a:xfrm>
              <a:off x="1899619" y="5516278"/>
              <a:ext cx="812626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  <p:sp>
          <p:nvSpPr>
            <p:cNvPr id="61" name="TextBox 244"/>
            <p:cNvSpPr txBox="1">
              <a:spLocks noChangeArrowheads="1"/>
            </p:cNvSpPr>
            <p:nvPr/>
          </p:nvSpPr>
          <p:spPr bwMode="auto">
            <a:xfrm>
              <a:off x="2703340" y="5245070"/>
              <a:ext cx="1561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omic Sans MS" pitchFamily="66" charset="0"/>
                  <a:cs typeface="Arial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rPr>
                <a:t>x</a:t>
              </a:r>
            </a:p>
          </p:txBody>
        </p:sp>
      </p:grpSp>
      <p:sp>
        <p:nvSpPr>
          <p:cNvPr id="62" name="TextBox 61"/>
          <p:cNvSpPr txBox="1">
            <a:spLocks noChangeArrowheads="1"/>
          </p:cNvSpPr>
          <p:nvPr/>
        </p:nvSpPr>
        <p:spPr bwMode="auto">
          <a:xfrm rot="20558850">
            <a:off x="7110413" y="3735867"/>
            <a:ext cx="1211262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Video</a:t>
            </a:r>
          </a:p>
        </p:txBody>
      </p:sp>
      <p:pic>
        <p:nvPicPr>
          <p:cNvPr id="63" name="Fan_pyr1_xvid.avi">
            <a:hlinkClick r:id="" action="ppaction://media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774" y="4338072"/>
            <a:ext cx="1016000" cy="7620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Arc 63"/>
          <p:cNvSpPr/>
          <p:nvPr/>
        </p:nvSpPr>
        <p:spPr>
          <a:xfrm rot="4438192" flipV="1">
            <a:off x="5939631" y="4334103"/>
            <a:ext cx="457200" cy="582613"/>
          </a:xfrm>
          <a:prstGeom prst="arc">
            <a:avLst>
              <a:gd name="adj1" fmla="val 16512714"/>
              <a:gd name="adj2" fmla="val 6314200"/>
            </a:avLst>
          </a:prstGeom>
          <a:noFill/>
          <a:ln w="38100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/>
              <a:ea typeface="+mn-ea"/>
              <a:cs typeface="Arial"/>
            </a:endParaRPr>
          </a:p>
        </p:txBody>
      </p:sp>
      <p:sp>
        <p:nvSpPr>
          <p:cNvPr id="65" name="Cube 64"/>
          <p:cNvSpPr/>
          <p:nvPr/>
        </p:nvSpPr>
        <p:spPr>
          <a:xfrm>
            <a:off x="6157117" y="4074307"/>
            <a:ext cx="319269" cy="622918"/>
          </a:xfrm>
          <a:prstGeom prst="cube">
            <a:avLst>
              <a:gd name="adj" fmla="val 46400"/>
            </a:avLst>
          </a:prstGeom>
          <a:solidFill>
            <a:srgbClr val="FF0000"/>
          </a:solidFill>
          <a:ln w="3175" cap="flat" cmpd="sng" algn="ctr">
            <a:solidFill>
              <a:srgbClr val="000000"/>
            </a:solidFill>
            <a:prstDash val="solid"/>
          </a:ln>
          <a:effectLst/>
          <a:scene3d>
            <a:camera prst="orthographicFront">
              <a:rot lat="3900000" lon="21599973" rev="0"/>
            </a:camera>
            <a:lightRig rig="threePt" dir="t"/>
          </a:scene3d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mic Sans MS"/>
              <a:ea typeface="+mn-ea"/>
              <a:cs typeface="Arial"/>
            </a:endParaRPr>
          </a:p>
        </p:txBody>
      </p:sp>
      <p:sp>
        <p:nvSpPr>
          <p:cNvPr id="66" name="Cube 65"/>
          <p:cNvSpPr/>
          <p:nvPr/>
        </p:nvSpPr>
        <p:spPr>
          <a:xfrm>
            <a:off x="5648952" y="4242935"/>
            <a:ext cx="319269" cy="622918"/>
          </a:xfrm>
          <a:prstGeom prst="cube">
            <a:avLst>
              <a:gd name="adj" fmla="val 46400"/>
            </a:avLst>
          </a:prstGeom>
          <a:solidFill>
            <a:srgbClr val="FF0000"/>
          </a:solidFill>
          <a:ln w="3175" cap="flat" cmpd="sng" algn="ctr">
            <a:solidFill>
              <a:srgbClr val="000000"/>
            </a:solidFill>
            <a:prstDash val="solid"/>
          </a:ln>
          <a:effectLst/>
          <a:scene3d>
            <a:camera prst="orthographicFront">
              <a:rot lat="3900000" lon="21599973" rev="0"/>
            </a:camera>
            <a:lightRig rig="threePt" dir="t"/>
          </a:scene3d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mic Sans MS"/>
              <a:ea typeface="+mn-ea"/>
              <a:cs typeface="Arial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251521" y="3330821"/>
            <a:ext cx="3777568" cy="752599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lIns="0" tIns="90000" r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True for </a:t>
            </a:r>
            <a:r>
              <a:rPr kumimoji="0" lang="en-US" sz="2400" b="0" i="0" u="sng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most</a:t>
            </a:r>
            <a:r>
              <a:rPr kumimoji="0" lang="en-US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 5x5 patches in </a:t>
            </a:r>
            <a:r>
              <a:rPr kumimoji="0" lang="en-US" sz="2400" b="0" i="0" u="sng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any</a:t>
            </a:r>
            <a:r>
              <a:rPr kumimoji="0" lang="en-US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 natural image</a:t>
            </a:r>
          </a:p>
        </p:txBody>
      </p:sp>
      <p:sp>
        <p:nvSpPr>
          <p:cNvPr id="70" name="Content Placeholder 2"/>
          <p:cNvSpPr txBox="1">
            <a:spLocks/>
          </p:cNvSpPr>
          <p:nvPr/>
        </p:nvSpPr>
        <p:spPr>
          <a:xfrm>
            <a:off x="1420752" y="3812198"/>
            <a:ext cx="6607632" cy="229202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marR="0" lvl="1" indent="-285750" algn="l" defTabSz="914400" rtl="0" eaLnBrk="1" fontAlgn="auto" latinLnBrk="0" hangingPunct="1">
              <a:lnSpc>
                <a:spcPts val="2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Image/video completion</a:t>
            </a:r>
          </a:p>
          <a:p>
            <a:pPr marL="742950" marR="0" lvl="1" indent="-285750" algn="l" defTabSz="914400" rtl="0" eaLnBrk="1" fontAlgn="auto" latinLnBrk="0" hangingPunct="1">
              <a:lnSpc>
                <a:spcPts val="2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Image </a:t>
            </a:r>
            <a:r>
              <a:rPr kumimoji="0" lang="en-US" sz="2400" b="0" i="0" u="none" strike="noStrike" kern="1200" cap="none" spc="-4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denoising</a:t>
            </a:r>
            <a:endParaRPr kumimoji="0" lang="en-US" sz="2400" b="0" i="0" u="none" strike="noStrike" kern="1200" cap="none" spc="-4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mic Sans MS" pitchFamily="66" charset="0"/>
              <a:ea typeface="+mn-ea"/>
              <a:cs typeface="Arial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ts val="2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Visual summaries</a:t>
            </a:r>
          </a:p>
          <a:p>
            <a:pPr marL="742950" marR="0" lvl="1" indent="-285750" algn="l" defTabSz="914400" rtl="0" eaLnBrk="1" fontAlgn="auto" latinLnBrk="0" hangingPunct="1">
              <a:lnSpc>
                <a:spcPts val="2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Super-Resolution (in space &amp; time)</a:t>
            </a:r>
          </a:p>
          <a:p>
            <a:pPr marL="742950" marR="0" lvl="1" indent="-285750" algn="l" defTabSz="914400" rtl="0" eaLnBrk="1" fontAlgn="auto" latinLnBrk="0" hangingPunct="1">
              <a:lnSpc>
                <a:spcPts val="2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Image </a:t>
            </a:r>
            <a:r>
              <a:rPr kumimoji="0" lang="en-US" sz="2400" b="0" i="0" u="none" strike="noStrike" kern="1200" cap="none" spc="-4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deblurring</a:t>
            </a:r>
            <a:endParaRPr kumimoji="0" lang="en-US" sz="2400" b="0" i="0" u="none" strike="noStrike" kern="1200" cap="none" spc="-4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mic Sans MS" pitchFamily="66" charset="0"/>
              <a:ea typeface="+mn-ea"/>
              <a:cs typeface="Arial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ts val="2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Image </a:t>
            </a:r>
            <a:r>
              <a:rPr kumimoji="0" lang="en-US" sz="2400" b="0" i="0" u="none" strike="noStrike" kern="1200" cap="none" spc="-4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dehazing</a:t>
            </a:r>
            <a:r>
              <a:rPr kumimoji="0" lang="en-US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,</a:t>
            </a:r>
          </a:p>
          <a:p>
            <a:pPr marL="742950" marR="0" lvl="1" indent="-285750" algn="l" defTabSz="914400" rtl="0" eaLnBrk="1" fontAlgn="auto" latinLnBrk="0" hangingPunct="1">
              <a:lnSpc>
                <a:spcPts val="2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Image compression </a:t>
            </a:r>
            <a:r>
              <a:rPr kumimoji="0" lang="en-IL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charset="0"/>
              </a:rPr>
              <a:t>…</a:t>
            </a:r>
            <a:endParaRPr kumimoji="0" lang="en-US" sz="2400" b="0" i="0" u="none" strike="noStrike" kern="1200" cap="none" spc="-4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mic Sans MS" pitchFamily="66" charset="0"/>
              <a:ea typeface="+mn-ea"/>
              <a:cs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44939" y="3945136"/>
            <a:ext cx="1913856" cy="83099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mic Sans MS" pitchFamily="66" charset="0"/>
                <a:ea typeface="+mn-ea"/>
                <a:cs typeface="Arial" charset="0"/>
              </a:rPr>
              <a:t>INTERNAL LEARNING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83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5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5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500"/>
                            </p:stCondLst>
                            <p:childTnLst>
                              <p:par>
                                <p:cTn id="14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3" grpId="0" uiExpand="1" build="allAtOnce"/>
      <p:bldP spid="109581" grpId="0" animBg="1"/>
      <p:bldP spid="41" grpId="0" animBg="1"/>
      <p:bldP spid="42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7" grpId="2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1" grpId="2" animBg="1"/>
      <p:bldP spid="62" grpId="0"/>
      <p:bldP spid="62" grpId="1"/>
      <p:bldP spid="64" grpId="0" animBg="1"/>
      <p:bldP spid="65" grpId="0" animBg="1"/>
      <p:bldP spid="66" grpId="0" animBg="1"/>
      <p:bldP spid="67" grpId="0" animBg="1"/>
      <p:bldP spid="67" grpId="1" animBg="1"/>
      <p:bldP spid="70" grpId="0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393701"/>
            <a:ext cx="7721600" cy="855663"/>
          </a:xfrm>
        </p:spPr>
        <p:txBody>
          <a:bodyPr/>
          <a:lstStyle/>
          <a:p>
            <a:r>
              <a:rPr lang="en-US" altLang="en-US" b="1"/>
              <a:t>The Fourier Transform</a:t>
            </a:r>
          </a:p>
        </p:txBody>
      </p:sp>
      <p:pic>
        <p:nvPicPr>
          <p:cNvPr id="115715" name="Picture 3" descr="fourier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39" y="1636715"/>
            <a:ext cx="2322512" cy="279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16" name="Picture 4" descr="junk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913" y="1635127"/>
            <a:ext cx="2322512" cy="279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2838449" y="5165725"/>
            <a:ext cx="35189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latin typeface="Arial" charset="0"/>
              </a:rPr>
              <a:t>Jean Baptiste Joseph Fourier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reeform 2"/>
          <p:cNvSpPr>
            <a:spLocks/>
          </p:cNvSpPr>
          <p:nvPr/>
        </p:nvSpPr>
        <p:spPr bwMode="auto">
          <a:xfrm>
            <a:off x="2107543" y="1447802"/>
            <a:ext cx="2620963" cy="612775"/>
          </a:xfrm>
          <a:custGeom>
            <a:avLst/>
            <a:gdLst>
              <a:gd name="T0" fmla="*/ 0 w 1238"/>
              <a:gd name="T1" fmla="*/ 214 h 321"/>
              <a:gd name="T2" fmla="*/ 53 w 1238"/>
              <a:gd name="T3" fmla="*/ 0 h 321"/>
              <a:gd name="T4" fmla="*/ 373 w 1238"/>
              <a:gd name="T5" fmla="*/ 0 h 321"/>
              <a:gd name="T6" fmla="*/ 459 w 1238"/>
              <a:gd name="T7" fmla="*/ 320 h 321"/>
              <a:gd name="T8" fmla="*/ 789 w 1238"/>
              <a:gd name="T9" fmla="*/ 320 h 321"/>
              <a:gd name="T10" fmla="*/ 875 w 1238"/>
              <a:gd name="T11" fmla="*/ 11 h 321"/>
              <a:gd name="T12" fmla="*/ 1195 w 1238"/>
              <a:gd name="T13" fmla="*/ 11 h 321"/>
              <a:gd name="T14" fmla="*/ 1237 w 1238"/>
              <a:gd name="T15" fmla="*/ 214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38" h="321">
                <a:moveTo>
                  <a:pt x="0" y="214"/>
                </a:moveTo>
                <a:lnTo>
                  <a:pt x="53" y="0"/>
                </a:lnTo>
                <a:lnTo>
                  <a:pt x="373" y="0"/>
                </a:lnTo>
                <a:lnTo>
                  <a:pt x="459" y="320"/>
                </a:lnTo>
                <a:lnTo>
                  <a:pt x="789" y="320"/>
                </a:lnTo>
                <a:lnTo>
                  <a:pt x="875" y="11"/>
                </a:lnTo>
                <a:lnTo>
                  <a:pt x="1195" y="11"/>
                </a:lnTo>
                <a:lnTo>
                  <a:pt x="1237" y="214"/>
                </a:lnTo>
              </a:path>
            </a:pathLst>
          </a:custGeom>
          <a:noFill/>
          <a:ln w="28575" cap="rnd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2" name="Rectangle 46"/>
          <p:cNvSpPr>
            <a:spLocks noChangeArrowheads="1"/>
          </p:cNvSpPr>
          <p:nvPr/>
        </p:nvSpPr>
        <p:spPr bwMode="auto">
          <a:xfrm>
            <a:off x="4988857" y="1500188"/>
            <a:ext cx="447239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>
                <a:latin typeface="Arial" charset="0"/>
              </a:rPr>
              <a:t>= 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5486402" y="2276477"/>
            <a:ext cx="2597151" cy="593725"/>
            <a:chOff x="2634" y="1550"/>
            <a:chExt cx="1227" cy="499"/>
          </a:xfrm>
        </p:grpSpPr>
        <p:sp>
          <p:nvSpPr>
            <p:cNvPr id="14340" name="Freeform 4"/>
            <p:cNvSpPr>
              <a:spLocks/>
            </p:cNvSpPr>
            <p:nvPr/>
          </p:nvSpPr>
          <p:spPr bwMode="auto">
            <a:xfrm>
              <a:off x="2634" y="1550"/>
              <a:ext cx="395" cy="250"/>
            </a:xfrm>
            <a:custGeom>
              <a:avLst/>
              <a:gdLst>
                <a:gd name="T0" fmla="*/ 4 w 395"/>
                <a:gd name="T1" fmla="*/ 241 h 250"/>
                <a:gd name="T2" fmla="*/ 11 w 395"/>
                <a:gd name="T3" fmla="*/ 232 h 250"/>
                <a:gd name="T4" fmla="*/ 15 w 395"/>
                <a:gd name="T5" fmla="*/ 222 h 250"/>
                <a:gd name="T6" fmla="*/ 19 w 395"/>
                <a:gd name="T7" fmla="*/ 213 h 250"/>
                <a:gd name="T8" fmla="*/ 26 w 395"/>
                <a:gd name="T9" fmla="*/ 205 h 250"/>
                <a:gd name="T10" fmla="*/ 30 w 395"/>
                <a:gd name="T11" fmla="*/ 195 h 250"/>
                <a:gd name="T12" fmla="*/ 34 w 395"/>
                <a:gd name="T13" fmla="*/ 186 h 250"/>
                <a:gd name="T14" fmla="*/ 41 w 395"/>
                <a:gd name="T15" fmla="*/ 176 h 250"/>
                <a:gd name="T16" fmla="*/ 45 w 395"/>
                <a:gd name="T17" fmla="*/ 168 h 250"/>
                <a:gd name="T18" fmla="*/ 48 w 395"/>
                <a:gd name="T19" fmla="*/ 159 h 250"/>
                <a:gd name="T20" fmla="*/ 56 w 395"/>
                <a:gd name="T21" fmla="*/ 151 h 250"/>
                <a:gd name="T22" fmla="*/ 60 w 395"/>
                <a:gd name="T23" fmla="*/ 141 h 250"/>
                <a:gd name="T24" fmla="*/ 63 w 395"/>
                <a:gd name="T25" fmla="*/ 133 h 250"/>
                <a:gd name="T26" fmla="*/ 67 w 395"/>
                <a:gd name="T27" fmla="*/ 125 h 250"/>
                <a:gd name="T28" fmla="*/ 74 w 395"/>
                <a:gd name="T29" fmla="*/ 117 h 250"/>
                <a:gd name="T30" fmla="*/ 78 w 395"/>
                <a:gd name="T31" fmla="*/ 109 h 250"/>
                <a:gd name="T32" fmla="*/ 82 w 395"/>
                <a:gd name="T33" fmla="*/ 101 h 250"/>
                <a:gd name="T34" fmla="*/ 89 w 395"/>
                <a:gd name="T35" fmla="*/ 93 h 250"/>
                <a:gd name="T36" fmla="*/ 93 w 395"/>
                <a:gd name="T37" fmla="*/ 87 h 250"/>
                <a:gd name="T38" fmla="*/ 97 w 395"/>
                <a:gd name="T39" fmla="*/ 79 h 250"/>
                <a:gd name="T40" fmla="*/ 104 w 395"/>
                <a:gd name="T41" fmla="*/ 73 h 250"/>
                <a:gd name="T42" fmla="*/ 108 w 395"/>
                <a:gd name="T43" fmla="*/ 66 h 250"/>
                <a:gd name="T44" fmla="*/ 112 w 395"/>
                <a:gd name="T45" fmla="*/ 60 h 250"/>
                <a:gd name="T46" fmla="*/ 119 w 395"/>
                <a:gd name="T47" fmla="*/ 54 h 250"/>
                <a:gd name="T48" fmla="*/ 123 w 395"/>
                <a:gd name="T49" fmla="*/ 47 h 250"/>
                <a:gd name="T50" fmla="*/ 130 w 395"/>
                <a:gd name="T51" fmla="*/ 41 h 250"/>
                <a:gd name="T52" fmla="*/ 138 w 395"/>
                <a:gd name="T53" fmla="*/ 35 h 250"/>
                <a:gd name="T54" fmla="*/ 145 w 395"/>
                <a:gd name="T55" fmla="*/ 28 h 250"/>
                <a:gd name="T56" fmla="*/ 152 w 395"/>
                <a:gd name="T57" fmla="*/ 22 h 250"/>
                <a:gd name="T58" fmla="*/ 160 w 395"/>
                <a:gd name="T59" fmla="*/ 15 h 250"/>
                <a:gd name="T60" fmla="*/ 171 w 395"/>
                <a:gd name="T61" fmla="*/ 9 h 250"/>
                <a:gd name="T62" fmla="*/ 186 w 395"/>
                <a:gd name="T63" fmla="*/ 3 h 250"/>
                <a:gd name="T64" fmla="*/ 201 w 395"/>
                <a:gd name="T65" fmla="*/ 0 h 250"/>
                <a:gd name="T66" fmla="*/ 216 w 395"/>
                <a:gd name="T67" fmla="*/ 1 h 250"/>
                <a:gd name="T68" fmla="*/ 231 w 395"/>
                <a:gd name="T69" fmla="*/ 4 h 250"/>
                <a:gd name="T70" fmla="*/ 245 w 395"/>
                <a:gd name="T71" fmla="*/ 11 h 250"/>
                <a:gd name="T72" fmla="*/ 257 w 395"/>
                <a:gd name="T73" fmla="*/ 17 h 250"/>
                <a:gd name="T74" fmla="*/ 264 w 395"/>
                <a:gd name="T75" fmla="*/ 23 h 250"/>
                <a:gd name="T76" fmla="*/ 271 w 395"/>
                <a:gd name="T77" fmla="*/ 30 h 250"/>
                <a:gd name="T78" fmla="*/ 279 w 395"/>
                <a:gd name="T79" fmla="*/ 36 h 250"/>
                <a:gd name="T80" fmla="*/ 283 w 395"/>
                <a:gd name="T81" fmla="*/ 43 h 250"/>
                <a:gd name="T82" fmla="*/ 290 w 395"/>
                <a:gd name="T83" fmla="*/ 49 h 250"/>
                <a:gd name="T84" fmla="*/ 294 w 395"/>
                <a:gd name="T85" fmla="*/ 55 h 250"/>
                <a:gd name="T86" fmla="*/ 301 w 395"/>
                <a:gd name="T87" fmla="*/ 62 h 250"/>
                <a:gd name="T88" fmla="*/ 305 w 395"/>
                <a:gd name="T89" fmla="*/ 68 h 250"/>
                <a:gd name="T90" fmla="*/ 309 w 395"/>
                <a:gd name="T91" fmla="*/ 74 h 250"/>
                <a:gd name="T92" fmla="*/ 312 w 395"/>
                <a:gd name="T93" fmla="*/ 81 h 250"/>
                <a:gd name="T94" fmla="*/ 320 w 395"/>
                <a:gd name="T95" fmla="*/ 89 h 250"/>
                <a:gd name="T96" fmla="*/ 323 w 395"/>
                <a:gd name="T97" fmla="*/ 95 h 250"/>
                <a:gd name="T98" fmla="*/ 327 w 395"/>
                <a:gd name="T99" fmla="*/ 103 h 250"/>
                <a:gd name="T100" fmla="*/ 335 w 395"/>
                <a:gd name="T101" fmla="*/ 111 h 250"/>
                <a:gd name="T102" fmla="*/ 338 w 395"/>
                <a:gd name="T103" fmla="*/ 119 h 250"/>
                <a:gd name="T104" fmla="*/ 342 w 395"/>
                <a:gd name="T105" fmla="*/ 127 h 250"/>
                <a:gd name="T106" fmla="*/ 349 w 395"/>
                <a:gd name="T107" fmla="*/ 135 h 250"/>
                <a:gd name="T108" fmla="*/ 353 w 395"/>
                <a:gd name="T109" fmla="*/ 143 h 250"/>
                <a:gd name="T110" fmla="*/ 357 w 395"/>
                <a:gd name="T111" fmla="*/ 152 h 250"/>
                <a:gd name="T112" fmla="*/ 364 w 395"/>
                <a:gd name="T113" fmla="*/ 160 h 250"/>
                <a:gd name="T114" fmla="*/ 368 w 395"/>
                <a:gd name="T115" fmla="*/ 170 h 250"/>
                <a:gd name="T116" fmla="*/ 372 w 395"/>
                <a:gd name="T117" fmla="*/ 178 h 250"/>
                <a:gd name="T118" fmla="*/ 379 w 395"/>
                <a:gd name="T119" fmla="*/ 187 h 250"/>
                <a:gd name="T120" fmla="*/ 383 w 395"/>
                <a:gd name="T121" fmla="*/ 197 h 250"/>
                <a:gd name="T122" fmla="*/ 387 w 395"/>
                <a:gd name="T123" fmla="*/ 206 h 250"/>
                <a:gd name="T124" fmla="*/ 394 w 395"/>
                <a:gd name="T125" fmla="*/ 21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5" h="250">
                  <a:moveTo>
                    <a:pt x="0" y="249"/>
                  </a:moveTo>
                  <a:lnTo>
                    <a:pt x="4" y="246"/>
                  </a:lnTo>
                  <a:lnTo>
                    <a:pt x="4" y="245"/>
                  </a:lnTo>
                  <a:lnTo>
                    <a:pt x="4" y="241"/>
                  </a:lnTo>
                  <a:lnTo>
                    <a:pt x="8" y="240"/>
                  </a:lnTo>
                  <a:lnTo>
                    <a:pt x="8" y="237"/>
                  </a:lnTo>
                  <a:lnTo>
                    <a:pt x="8" y="235"/>
                  </a:lnTo>
                  <a:lnTo>
                    <a:pt x="11" y="232"/>
                  </a:lnTo>
                  <a:lnTo>
                    <a:pt x="11" y="230"/>
                  </a:lnTo>
                  <a:lnTo>
                    <a:pt x="11" y="227"/>
                  </a:lnTo>
                  <a:lnTo>
                    <a:pt x="15" y="225"/>
                  </a:lnTo>
                  <a:lnTo>
                    <a:pt x="15" y="222"/>
                  </a:lnTo>
                  <a:lnTo>
                    <a:pt x="15" y="221"/>
                  </a:lnTo>
                  <a:lnTo>
                    <a:pt x="19" y="218"/>
                  </a:lnTo>
                  <a:lnTo>
                    <a:pt x="19" y="216"/>
                  </a:lnTo>
                  <a:lnTo>
                    <a:pt x="19" y="213"/>
                  </a:lnTo>
                  <a:lnTo>
                    <a:pt x="22" y="211"/>
                  </a:lnTo>
                  <a:lnTo>
                    <a:pt x="22" y="210"/>
                  </a:lnTo>
                  <a:lnTo>
                    <a:pt x="22" y="206"/>
                  </a:lnTo>
                  <a:lnTo>
                    <a:pt x="26" y="205"/>
                  </a:lnTo>
                  <a:lnTo>
                    <a:pt x="26" y="202"/>
                  </a:lnTo>
                  <a:lnTo>
                    <a:pt x="26" y="200"/>
                  </a:lnTo>
                  <a:lnTo>
                    <a:pt x="30" y="197"/>
                  </a:lnTo>
                  <a:lnTo>
                    <a:pt x="30" y="195"/>
                  </a:lnTo>
                  <a:lnTo>
                    <a:pt x="30" y="192"/>
                  </a:lnTo>
                  <a:lnTo>
                    <a:pt x="34" y="190"/>
                  </a:lnTo>
                  <a:lnTo>
                    <a:pt x="34" y="189"/>
                  </a:lnTo>
                  <a:lnTo>
                    <a:pt x="34" y="186"/>
                  </a:lnTo>
                  <a:lnTo>
                    <a:pt x="37" y="184"/>
                  </a:lnTo>
                  <a:lnTo>
                    <a:pt x="37" y="181"/>
                  </a:lnTo>
                  <a:lnTo>
                    <a:pt x="37" y="179"/>
                  </a:lnTo>
                  <a:lnTo>
                    <a:pt x="41" y="176"/>
                  </a:lnTo>
                  <a:lnTo>
                    <a:pt x="41" y="175"/>
                  </a:lnTo>
                  <a:lnTo>
                    <a:pt x="41" y="173"/>
                  </a:lnTo>
                  <a:lnTo>
                    <a:pt x="45" y="170"/>
                  </a:lnTo>
                  <a:lnTo>
                    <a:pt x="45" y="168"/>
                  </a:lnTo>
                  <a:lnTo>
                    <a:pt x="45" y="165"/>
                  </a:lnTo>
                  <a:lnTo>
                    <a:pt x="48" y="163"/>
                  </a:lnTo>
                  <a:lnTo>
                    <a:pt x="48" y="162"/>
                  </a:lnTo>
                  <a:lnTo>
                    <a:pt x="48" y="159"/>
                  </a:lnTo>
                  <a:lnTo>
                    <a:pt x="52" y="157"/>
                  </a:lnTo>
                  <a:lnTo>
                    <a:pt x="52" y="155"/>
                  </a:lnTo>
                  <a:lnTo>
                    <a:pt x="52" y="152"/>
                  </a:lnTo>
                  <a:lnTo>
                    <a:pt x="56" y="151"/>
                  </a:lnTo>
                  <a:lnTo>
                    <a:pt x="56" y="148"/>
                  </a:lnTo>
                  <a:lnTo>
                    <a:pt x="56" y="146"/>
                  </a:lnTo>
                  <a:lnTo>
                    <a:pt x="60" y="144"/>
                  </a:lnTo>
                  <a:lnTo>
                    <a:pt x="60" y="141"/>
                  </a:lnTo>
                  <a:lnTo>
                    <a:pt x="60" y="140"/>
                  </a:lnTo>
                  <a:lnTo>
                    <a:pt x="63" y="138"/>
                  </a:lnTo>
                  <a:lnTo>
                    <a:pt x="63" y="135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7" y="130"/>
                  </a:lnTo>
                  <a:lnTo>
                    <a:pt x="67" y="127"/>
                  </a:lnTo>
                  <a:lnTo>
                    <a:pt x="67" y="125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9"/>
                  </a:lnTo>
                  <a:lnTo>
                    <a:pt x="74" y="117"/>
                  </a:lnTo>
                  <a:lnTo>
                    <a:pt x="74" y="116"/>
                  </a:lnTo>
                  <a:lnTo>
                    <a:pt x="74" y="113"/>
                  </a:lnTo>
                  <a:lnTo>
                    <a:pt x="78" y="111"/>
                  </a:lnTo>
                  <a:lnTo>
                    <a:pt x="78" y="109"/>
                  </a:lnTo>
                  <a:lnTo>
                    <a:pt x="78" y="108"/>
                  </a:lnTo>
                  <a:lnTo>
                    <a:pt x="82" y="106"/>
                  </a:lnTo>
                  <a:lnTo>
                    <a:pt x="82" y="103"/>
                  </a:lnTo>
                  <a:lnTo>
                    <a:pt x="82" y="101"/>
                  </a:lnTo>
                  <a:lnTo>
                    <a:pt x="86" y="100"/>
                  </a:lnTo>
                  <a:lnTo>
                    <a:pt x="86" y="98"/>
                  </a:lnTo>
                  <a:lnTo>
                    <a:pt x="86" y="97"/>
                  </a:lnTo>
                  <a:lnTo>
                    <a:pt x="89" y="93"/>
                  </a:lnTo>
                  <a:lnTo>
                    <a:pt x="89" y="92"/>
                  </a:lnTo>
                  <a:lnTo>
                    <a:pt x="89" y="90"/>
                  </a:lnTo>
                  <a:lnTo>
                    <a:pt x="93" y="89"/>
                  </a:lnTo>
                  <a:lnTo>
                    <a:pt x="93" y="87"/>
                  </a:lnTo>
                  <a:lnTo>
                    <a:pt x="93" y="85"/>
                  </a:lnTo>
                  <a:lnTo>
                    <a:pt x="97" y="84"/>
                  </a:lnTo>
                  <a:lnTo>
                    <a:pt x="97" y="82"/>
                  </a:lnTo>
                  <a:lnTo>
                    <a:pt x="97" y="79"/>
                  </a:lnTo>
                  <a:lnTo>
                    <a:pt x="100" y="78"/>
                  </a:lnTo>
                  <a:lnTo>
                    <a:pt x="100" y="76"/>
                  </a:lnTo>
                  <a:lnTo>
                    <a:pt x="100" y="74"/>
                  </a:lnTo>
                  <a:lnTo>
                    <a:pt x="104" y="73"/>
                  </a:lnTo>
                  <a:lnTo>
                    <a:pt x="104" y="71"/>
                  </a:lnTo>
                  <a:lnTo>
                    <a:pt x="104" y="70"/>
                  </a:lnTo>
                  <a:lnTo>
                    <a:pt x="108" y="68"/>
                  </a:lnTo>
                  <a:lnTo>
                    <a:pt x="108" y="66"/>
                  </a:lnTo>
                  <a:lnTo>
                    <a:pt x="108" y="65"/>
                  </a:lnTo>
                  <a:lnTo>
                    <a:pt x="112" y="63"/>
                  </a:lnTo>
                  <a:lnTo>
                    <a:pt x="112" y="62"/>
                  </a:lnTo>
                  <a:lnTo>
                    <a:pt x="112" y="60"/>
                  </a:lnTo>
                  <a:lnTo>
                    <a:pt x="115" y="58"/>
                  </a:lnTo>
                  <a:lnTo>
                    <a:pt x="115" y="57"/>
                  </a:lnTo>
                  <a:lnTo>
                    <a:pt x="115" y="55"/>
                  </a:lnTo>
                  <a:lnTo>
                    <a:pt x="119" y="54"/>
                  </a:lnTo>
                  <a:lnTo>
                    <a:pt x="119" y="52"/>
                  </a:lnTo>
                  <a:lnTo>
                    <a:pt x="123" y="50"/>
                  </a:lnTo>
                  <a:lnTo>
                    <a:pt x="123" y="49"/>
                  </a:lnTo>
                  <a:lnTo>
                    <a:pt x="123" y="47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30" y="43"/>
                  </a:lnTo>
                  <a:lnTo>
                    <a:pt x="130" y="41"/>
                  </a:lnTo>
                  <a:lnTo>
                    <a:pt x="130" y="39"/>
                  </a:lnTo>
                  <a:lnTo>
                    <a:pt x="134" y="38"/>
                  </a:lnTo>
                  <a:lnTo>
                    <a:pt x="134" y="36"/>
                  </a:lnTo>
                  <a:lnTo>
                    <a:pt x="138" y="35"/>
                  </a:lnTo>
                  <a:lnTo>
                    <a:pt x="138" y="33"/>
                  </a:lnTo>
                  <a:lnTo>
                    <a:pt x="141" y="31"/>
                  </a:lnTo>
                  <a:lnTo>
                    <a:pt x="141" y="30"/>
                  </a:lnTo>
                  <a:lnTo>
                    <a:pt x="145" y="28"/>
                  </a:lnTo>
                  <a:lnTo>
                    <a:pt x="145" y="27"/>
                  </a:lnTo>
                  <a:lnTo>
                    <a:pt x="149" y="25"/>
                  </a:lnTo>
                  <a:lnTo>
                    <a:pt x="149" y="23"/>
                  </a:lnTo>
                  <a:lnTo>
                    <a:pt x="152" y="22"/>
                  </a:lnTo>
                  <a:lnTo>
                    <a:pt x="152" y="20"/>
                  </a:lnTo>
                  <a:lnTo>
                    <a:pt x="156" y="19"/>
                  </a:lnTo>
                  <a:lnTo>
                    <a:pt x="156" y="17"/>
                  </a:lnTo>
                  <a:lnTo>
                    <a:pt x="160" y="15"/>
                  </a:lnTo>
                  <a:lnTo>
                    <a:pt x="164" y="14"/>
                  </a:lnTo>
                  <a:lnTo>
                    <a:pt x="164" y="12"/>
                  </a:lnTo>
                  <a:lnTo>
                    <a:pt x="167" y="11"/>
                  </a:lnTo>
                  <a:lnTo>
                    <a:pt x="171" y="9"/>
                  </a:lnTo>
                  <a:lnTo>
                    <a:pt x="175" y="8"/>
                  </a:lnTo>
                  <a:lnTo>
                    <a:pt x="178" y="6"/>
                  </a:lnTo>
                  <a:lnTo>
                    <a:pt x="182" y="4"/>
                  </a:lnTo>
                  <a:lnTo>
                    <a:pt x="186" y="3"/>
                  </a:lnTo>
                  <a:lnTo>
                    <a:pt x="190" y="1"/>
                  </a:lnTo>
                  <a:lnTo>
                    <a:pt x="193" y="1"/>
                  </a:lnTo>
                  <a:lnTo>
                    <a:pt x="197" y="0"/>
                  </a:lnTo>
                  <a:lnTo>
                    <a:pt x="201" y="0"/>
                  </a:lnTo>
                  <a:lnTo>
                    <a:pt x="204" y="0"/>
                  </a:lnTo>
                  <a:lnTo>
                    <a:pt x="208" y="0"/>
                  </a:lnTo>
                  <a:lnTo>
                    <a:pt x="212" y="0"/>
                  </a:lnTo>
                  <a:lnTo>
                    <a:pt x="216" y="1"/>
                  </a:lnTo>
                  <a:lnTo>
                    <a:pt x="219" y="1"/>
                  </a:lnTo>
                  <a:lnTo>
                    <a:pt x="223" y="3"/>
                  </a:lnTo>
                  <a:lnTo>
                    <a:pt x="227" y="3"/>
                  </a:lnTo>
                  <a:lnTo>
                    <a:pt x="231" y="4"/>
                  </a:lnTo>
                  <a:lnTo>
                    <a:pt x="234" y="6"/>
                  </a:lnTo>
                  <a:lnTo>
                    <a:pt x="238" y="8"/>
                  </a:lnTo>
                  <a:lnTo>
                    <a:pt x="242" y="9"/>
                  </a:lnTo>
                  <a:lnTo>
                    <a:pt x="245" y="11"/>
                  </a:lnTo>
                  <a:lnTo>
                    <a:pt x="249" y="12"/>
                  </a:lnTo>
                  <a:lnTo>
                    <a:pt x="249" y="14"/>
                  </a:lnTo>
                  <a:lnTo>
                    <a:pt x="253" y="15"/>
                  </a:lnTo>
                  <a:lnTo>
                    <a:pt x="257" y="17"/>
                  </a:lnTo>
                  <a:lnTo>
                    <a:pt x="257" y="19"/>
                  </a:lnTo>
                  <a:lnTo>
                    <a:pt x="260" y="20"/>
                  </a:lnTo>
                  <a:lnTo>
                    <a:pt x="260" y="22"/>
                  </a:lnTo>
                  <a:lnTo>
                    <a:pt x="264" y="23"/>
                  </a:lnTo>
                  <a:lnTo>
                    <a:pt x="264" y="25"/>
                  </a:lnTo>
                  <a:lnTo>
                    <a:pt x="268" y="27"/>
                  </a:lnTo>
                  <a:lnTo>
                    <a:pt x="268" y="28"/>
                  </a:lnTo>
                  <a:lnTo>
                    <a:pt x="271" y="30"/>
                  </a:lnTo>
                  <a:lnTo>
                    <a:pt x="271" y="31"/>
                  </a:lnTo>
                  <a:lnTo>
                    <a:pt x="275" y="33"/>
                  </a:lnTo>
                  <a:lnTo>
                    <a:pt x="275" y="35"/>
                  </a:lnTo>
                  <a:lnTo>
                    <a:pt x="279" y="36"/>
                  </a:lnTo>
                  <a:lnTo>
                    <a:pt x="279" y="38"/>
                  </a:lnTo>
                  <a:lnTo>
                    <a:pt x="283" y="39"/>
                  </a:lnTo>
                  <a:lnTo>
                    <a:pt x="283" y="41"/>
                  </a:lnTo>
                  <a:lnTo>
                    <a:pt x="283" y="43"/>
                  </a:lnTo>
                  <a:lnTo>
                    <a:pt x="286" y="44"/>
                  </a:lnTo>
                  <a:lnTo>
                    <a:pt x="286" y="46"/>
                  </a:lnTo>
                  <a:lnTo>
                    <a:pt x="290" y="47"/>
                  </a:lnTo>
                  <a:lnTo>
                    <a:pt x="290" y="49"/>
                  </a:lnTo>
                  <a:lnTo>
                    <a:pt x="290" y="50"/>
                  </a:lnTo>
                  <a:lnTo>
                    <a:pt x="294" y="52"/>
                  </a:lnTo>
                  <a:lnTo>
                    <a:pt x="294" y="54"/>
                  </a:lnTo>
                  <a:lnTo>
                    <a:pt x="294" y="55"/>
                  </a:lnTo>
                  <a:lnTo>
                    <a:pt x="297" y="57"/>
                  </a:lnTo>
                  <a:lnTo>
                    <a:pt x="297" y="58"/>
                  </a:lnTo>
                  <a:lnTo>
                    <a:pt x="297" y="60"/>
                  </a:lnTo>
                  <a:lnTo>
                    <a:pt x="301" y="62"/>
                  </a:lnTo>
                  <a:lnTo>
                    <a:pt x="301" y="63"/>
                  </a:lnTo>
                  <a:lnTo>
                    <a:pt x="301" y="65"/>
                  </a:lnTo>
                  <a:lnTo>
                    <a:pt x="305" y="66"/>
                  </a:lnTo>
                  <a:lnTo>
                    <a:pt x="305" y="68"/>
                  </a:lnTo>
                  <a:lnTo>
                    <a:pt x="305" y="70"/>
                  </a:lnTo>
                  <a:lnTo>
                    <a:pt x="309" y="71"/>
                  </a:lnTo>
                  <a:lnTo>
                    <a:pt x="309" y="73"/>
                  </a:lnTo>
                  <a:lnTo>
                    <a:pt x="309" y="74"/>
                  </a:lnTo>
                  <a:lnTo>
                    <a:pt x="309" y="76"/>
                  </a:lnTo>
                  <a:lnTo>
                    <a:pt x="312" y="78"/>
                  </a:lnTo>
                  <a:lnTo>
                    <a:pt x="312" y="79"/>
                  </a:lnTo>
                  <a:lnTo>
                    <a:pt x="312" y="81"/>
                  </a:lnTo>
                  <a:lnTo>
                    <a:pt x="316" y="82"/>
                  </a:lnTo>
                  <a:lnTo>
                    <a:pt x="316" y="84"/>
                  </a:lnTo>
                  <a:lnTo>
                    <a:pt x="316" y="85"/>
                  </a:lnTo>
                  <a:lnTo>
                    <a:pt x="320" y="89"/>
                  </a:lnTo>
                  <a:lnTo>
                    <a:pt x="320" y="90"/>
                  </a:lnTo>
                  <a:lnTo>
                    <a:pt x="320" y="92"/>
                  </a:lnTo>
                  <a:lnTo>
                    <a:pt x="323" y="93"/>
                  </a:lnTo>
                  <a:lnTo>
                    <a:pt x="323" y="95"/>
                  </a:lnTo>
                  <a:lnTo>
                    <a:pt x="323" y="97"/>
                  </a:lnTo>
                  <a:lnTo>
                    <a:pt x="327" y="100"/>
                  </a:lnTo>
                  <a:lnTo>
                    <a:pt x="327" y="101"/>
                  </a:lnTo>
                  <a:lnTo>
                    <a:pt x="327" y="103"/>
                  </a:lnTo>
                  <a:lnTo>
                    <a:pt x="331" y="105"/>
                  </a:lnTo>
                  <a:lnTo>
                    <a:pt x="331" y="106"/>
                  </a:lnTo>
                  <a:lnTo>
                    <a:pt x="331" y="109"/>
                  </a:lnTo>
                  <a:lnTo>
                    <a:pt x="335" y="111"/>
                  </a:lnTo>
                  <a:lnTo>
                    <a:pt x="335" y="113"/>
                  </a:lnTo>
                  <a:lnTo>
                    <a:pt x="335" y="114"/>
                  </a:lnTo>
                  <a:lnTo>
                    <a:pt x="338" y="116"/>
                  </a:lnTo>
                  <a:lnTo>
                    <a:pt x="338" y="119"/>
                  </a:lnTo>
                  <a:lnTo>
                    <a:pt x="338" y="120"/>
                  </a:lnTo>
                  <a:lnTo>
                    <a:pt x="342" y="122"/>
                  </a:lnTo>
                  <a:lnTo>
                    <a:pt x="342" y="125"/>
                  </a:lnTo>
                  <a:lnTo>
                    <a:pt x="342" y="127"/>
                  </a:lnTo>
                  <a:lnTo>
                    <a:pt x="346" y="128"/>
                  </a:lnTo>
                  <a:lnTo>
                    <a:pt x="346" y="130"/>
                  </a:lnTo>
                  <a:lnTo>
                    <a:pt x="346" y="133"/>
                  </a:lnTo>
                  <a:lnTo>
                    <a:pt x="349" y="135"/>
                  </a:lnTo>
                  <a:lnTo>
                    <a:pt x="349" y="136"/>
                  </a:lnTo>
                  <a:lnTo>
                    <a:pt x="349" y="140"/>
                  </a:lnTo>
                  <a:lnTo>
                    <a:pt x="353" y="141"/>
                  </a:lnTo>
                  <a:lnTo>
                    <a:pt x="353" y="143"/>
                  </a:lnTo>
                  <a:lnTo>
                    <a:pt x="353" y="146"/>
                  </a:lnTo>
                  <a:lnTo>
                    <a:pt x="357" y="148"/>
                  </a:lnTo>
                  <a:lnTo>
                    <a:pt x="357" y="149"/>
                  </a:lnTo>
                  <a:lnTo>
                    <a:pt x="357" y="152"/>
                  </a:lnTo>
                  <a:lnTo>
                    <a:pt x="361" y="154"/>
                  </a:lnTo>
                  <a:lnTo>
                    <a:pt x="361" y="155"/>
                  </a:lnTo>
                  <a:lnTo>
                    <a:pt x="361" y="159"/>
                  </a:lnTo>
                  <a:lnTo>
                    <a:pt x="364" y="160"/>
                  </a:lnTo>
                  <a:lnTo>
                    <a:pt x="364" y="163"/>
                  </a:lnTo>
                  <a:lnTo>
                    <a:pt x="364" y="165"/>
                  </a:lnTo>
                  <a:lnTo>
                    <a:pt x="368" y="167"/>
                  </a:lnTo>
                  <a:lnTo>
                    <a:pt x="368" y="170"/>
                  </a:lnTo>
                  <a:lnTo>
                    <a:pt x="368" y="171"/>
                  </a:lnTo>
                  <a:lnTo>
                    <a:pt x="372" y="175"/>
                  </a:lnTo>
                  <a:lnTo>
                    <a:pt x="372" y="176"/>
                  </a:lnTo>
                  <a:lnTo>
                    <a:pt x="372" y="178"/>
                  </a:lnTo>
                  <a:lnTo>
                    <a:pt x="375" y="181"/>
                  </a:lnTo>
                  <a:lnTo>
                    <a:pt x="375" y="183"/>
                  </a:lnTo>
                  <a:lnTo>
                    <a:pt x="375" y="186"/>
                  </a:lnTo>
                  <a:lnTo>
                    <a:pt x="379" y="187"/>
                  </a:lnTo>
                  <a:lnTo>
                    <a:pt x="379" y="189"/>
                  </a:lnTo>
                  <a:lnTo>
                    <a:pt x="379" y="192"/>
                  </a:lnTo>
                  <a:lnTo>
                    <a:pt x="383" y="194"/>
                  </a:lnTo>
                  <a:lnTo>
                    <a:pt x="383" y="197"/>
                  </a:lnTo>
                  <a:lnTo>
                    <a:pt x="383" y="198"/>
                  </a:lnTo>
                  <a:lnTo>
                    <a:pt x="387" y="202"/>
                  </a:lnTo>
                  <a:lnTo>
                    <a:pt x="387" y="203"/>
                  </a:lnTo>
                  <a:lnTo>
                    <a:pt x="387" y="206"/>
                  </a:lnTo>
                  <a:lnTo>
                    <a:pt x="390" y="208"/>
                  </a:lnTo>
                  <a:lnTo>
                    <a:pt x="390" y="211"/>
                  </a:lnTo>
                  <a:lnTo>
                    <a:pt x="390" y="213"/>
                  </a:lnTo>
                  <a:lnTo>
                    <a:pt x="394" y="214"/>
                  </a:lnTo>
                  <a:lnTo>
                    <a:pt x="394" y="218"/>
                  </a:lnTo>
                  <a:lnTo>
                    <a:pt x="394" y="219"/>
                  </a:lnTo>
                </a:path>
              </a:pathLst>
            </a:custGeom>
            <a:noFill/>
            <a:ln w="28575" cap="rnd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1" name="Freeform 5"/>
            <p:cNvSpPr>
              <a:spLocks/>
            </p:cNvSpPr>
            <p:nvPr/>
          </p:nvSpPr>
          <p:spPr bwMode="auto">
            <a:xfrm>
              <a:off x="3028" y="1769"/>
              <a:ext cx="398" cy="280"/>
            </a:xfrm>
            <a:custGeom>
              <a:avLst/>
              <a:gdLst>
                <a:gd name="T0" fmla="*/ 4 w 398"/>
                <a:gd name="T1" fmla="*/ 8 h 280"/>
                <a:gd name="T2" fmla="*/ 11 w 398"/>
                <a:gd name="T3" fmla="*/ 18 h 280"/>
                <a:gd name="T4" fmla="*/ 15 w 398"/>
                <a:gd name="T5" fmla="*/ 27 h 280"/>
                <a:gd name="T6" fmla="*/ 19 w 398"/>
                <a:gd name="T7" fmla="*/ 35 h 280"/>
                <a:gd name="T8" fmla="*/ 26 w 398"/>
                <a:gd name="T9" fmla="*/ 45 h 280"/>
                <a:gd name="T10" fmla="*/ 30 w 398"/>
                <a:gd name="T11" fmla="*/ 54 h 280"/>
                <a:gd name="T12" fmla="*/ 33 w 398"/>
                <a:gd name="T13" fmla="*/ 64 h 280"/>
                <a:gd name="T14" fmla="*/ 37 w 398"/>
                <a:gd name="T15" fmla="*/ 73 h 280"/>
                <a:gd name="T16" fmla="*/ 45 w 398"/>
                <a:gd name="T17" fmla="*/ 83 h 280"/>
                <a:gd name="T18" fmla="*/ 48 w 398"/>
                <a:gd name="T19" fmla="*/ 91 h 280"/>
                <a:gd name="T20" fmla="*/ 52 w 398"/>
                <a:gd name="T21" fmla="*/ 100 h 280"/>
                <a:gd name="T22" fmla="*/ 59 w 398"/>
                <a:gd name="T23" fmla="*/ 110 h 280"/>
                <a:gd name="T24" fmla="*/ 63 w 398"/>
                <a:gd name="T25" fmla="*/ 118 h 280"/>
                <a:gd name="T26" fmla="*/ 67 w 398"/>
                <a:gd name="T27" fmla="*/ 127 h 280"/>
                <a:gd name="T28" fmla="*/ 74 w 398"/>
                <a:gd name="T29" fmla="*/ 135 h 280"/>
                <a:gd name="T30" fmla="*/ 78 w 398"/>
                <a:gd name="T31" fmla="*/ 143 h 280"/>
                <a:gd name="T32" fmla="*/ 82 w 398"/>
                <a:gd name="T33" fmla="*/ 153 h 280"/>
                <a:gd name="T34" fmla="*/ 89 w 398"/>
                <a:gd name="T35" fmla="*/ 161 h 280"/>
                <a:gd name="T36" fmla="*/ 93 w 398"/>
                <a:gd name="T37" fmla="*/ 169 h 280"/>
                <a:gd name="T38" fmla="*/ 97 w 398"/>
                <a:gd name="T39" fmla="*/ 175 h 280"/>
                <a:gd name="T40" fmla="*/ 104 w 398"/>
                <a:gd name="T41" fmla="*/ 183 h 280"/>
                <a:gd name="T42" fmla="*/ 108 w 398"/>
                <a:gd name="T43" fmla="*/ 191 h 280"/>
                <a:gd name="T44" fmla="*/ 111 w 398"/>
                <a:gd name="T45" fmla="*/ 197 h 280"/>
                <a:gd name="T46" fmla="*/ 119 w 398"/>
                <a:gd name="T47" fmla="*/ 204 h 280"/>
                <a:gd name="T48" fmla="*/ 123 w 398"/>
                <a:gd name="T49" fmla="*/ 212 h 280"/>
                <a:gd name="T50" fmla="*/ 126 w 398"/>
                <a:gd name="T51" fmla="*/ 218 h 280"/>
                <a:gd name="T52" fmla="*/ 134 w 398"/>
                <a:gd name="T53" fmla="*/ 224 h 280"/>
                <a:gd name="T54" fmla="*/ 137 w 398"/>
                <a:gd name="T55" fmla="*/ 231 h 280"/>
                <a:gd name="T56" fmla="*/ 145 w 398"/>
                <a:gd name="T57" fmla="*/ 237 h 280"/>
                <a:gd name="T58" fmla="*/ 152 w 398"/>
                <a:gd name="T59" fmla="*/ 244 h 280"/>
                <a:gd name="T60" fmla="*/ 160 w 398"/>
                <a:gd name="T61" fmla="*/ 250 h 280"/>
                <a:gd name="T62" fmla="*/ 163 w 398"/>
                <a:gd name="T63" fmla="*/ 256 h 280"/>
                <a:gd name="T64" fmla="*/ 175 w 398"/>
                <a:gd name="T65" fmla="*/ 263 h 280"/>
                <a:gd name="T66" fmla="*/ 186 w 398"/>
                <a:gd name="T67" fmla="*/ 269 h 280"/>
                <a:gd name="T68" fmla="*/ 201 w 398"/>
                <a:gd name="T69" fmla="*/ 275 h 280"/>
                <a:gd name="T70" fmla="*/ 215 w 398"/>
                <a:gd name="T71" fmla="*/ 279 h 280"/>
                <a:gd name="T72" fmla="*/ 230 w 398"/>
                <a:gd name="T73" fmla="*/ 277 h 280"/>
                <a:gd name="T74" fmla="*/ 245 w 398"/>
                <a:gd name="T75" fmla="*/ 274 h 280"/>
                <a:gd name="T76" fmla="*/ 260 w 398"/>
                <a:gd name="T77" fmla="*/ 267 h 280"/>
                <a:gd name="T78" fmla="*/ 271 w 398"/>
                <a:gd name="T79" fmla="*/ 261 h 280"/>
                <a:gd name="T80" fmla="*/ 279 w 398"/>
                <a:gd name="T81" fmla="*/ 255 h 280"/>
                <a:gd name="T82" fmla="*/ 286 w 398"/>
                <a:gd name="T83" fmla="*/ 248 h 280"/>
                <a:gd name="T84" fmla="*/ 290 w 398"/>
                <a:gd name="T85" fmla="*/ 242 h 280"/>
                <a:gd name="T86" fmla="*/ 297 w 398"/>
                <a:gd name="T87" fmla="*/ 236 h 280"/>
                <a:gd name="T88" fmla="*/ 305 w 398"/>
                <a:gd name="T89" fmla="*/ 229 h 280"/>
                <a:gd name="T90" fmla="*/ 308 w 398"/>
                <a:gd name="T91" fmla="*/ 223 h 280"/>
                <a:gd name="T92" fmla="*/ 316 w 398"/>
                <a:gd name="T93" fmla="*/ 217 h 280"/>
                <a:gd name="T94" fmla="*/ 319 w 398"/>
                <a:gd name="T95" fmla="*/ 210 h 280"/>
                <a:gd name="T96" fmla="*/ 323 w 398"/>
                <a:gd name="T97" fmla="*/ 202 h 280"/>
                <a:gd name="T98" fmla="*/ 331 w 398"/>
                <a:gd name="T99" fmla="*/ 196 h 280"/>
                <a:gd name="T100" fmla="*/ 334 w 398"/>
                <a:gd name="T101" fmla="*/ 189 h 280"/>
                <a:gd name="T102" fmla="*/ 338 w 398"/>
                <a:gd name="T103" fmla="*/ 182 h 280"/>
                <a:gd name="T104" fmla="*/ 345 w 398"/>
                <a:gd name="T105" fmla="*/ 174 h 280"/>
                <a:gd name="T106" fmla="*/ 349 w 398"/>
                <a:gd name="T107" fmla="*/ 166 h 280"/>
                <a:gd name="T108" fmla="*/ 353 w 398"/>
                <a:gd name="T109" fmla="*/ 158 h 280"/>
                <a:gd name="T110" fmla="*/ 360 w 398"/>
                <a:gd name="T111" fmla="*/ 150 h 280"/>
                <a:gd name="T112" fmla="*/ 364 w 398"/>
                <a:gd name="T113" fmla="*/ 142 h 280"/>
                <a:gd name="T114" fmla="*/ 368 w 398"/>
                <a:gd name="T115" fmla="*/ 134 h 280"/>
                <a:gd name="T116" fmla="*/ 375 w 398"/>
                <a:gd name="T117" fmla="*/ 124 h 280"/>
                <a:gd name="T118" fmla="*/ 379 w 398"/>
                <a:gd name="T119" fmla="*/ 116 h 280"/>
                <a:gd name="T120" fmla="*/ 383 w 398"/>
                <a:gd name="T121" fmla="*/ 107 h 280"/>
                <a:gd name="T122" fmla="*/ 390 w 398"/>
                <a:gd name="T123" fmla="*/ 99 h 280"/>
                <a:gd name="T124" fmla="*/ 394 w 398"/>
                <a:gd name="T125" fmla="*/ 8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8" h="280">
                  <a:moveTo>
                    <a:pt x="0" y="0"/>
                  </a:moveTo>
                  <a:lnTo>
                    <a:pt x="4" y="3"/>
                  </a:lnTo>
                  <a:lnTo>
                    <a:pt x="4" y="5"/>
                  </a:lnTo>
                  <a:lnTo>
                    <a:pt x="4" y="8"/>
                  </a:lnTo>
                  <a:lnTo>
                    <a:pt x="7" y="10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19"/>
                  </a:lnTo>
                  <a:lnTo>
                    <a:pt x="11" y="22"/>
                  </a:lnTo>
                  <a:lnTo>
                    <a:pt x="15" y="24"/>
                  </a:lnTo>
                  <a:lnTo>
                    <a:pt x="15" y="27"/>
                  </a:lnTo>
                  <a:lnTo>
                    <a:pt x="15" y="29"/>
                  </a:lnTo>
                  <a:lnTo>
                    <a:pt x="19" y="30"/>
                  </a:lnTo>
                  <a:lnTo>
                    <a:pt x="19" y="34"/>
                  </a:lnTo>
                  <a:lnTo>
                    <a:pt x="19" y="35"/>
                  </a:lnTo>
                  <a:lnTo>
                    <a:pt x="22" y="38"/>
                  </a:lnTo>
                  <a:lnTo>
                    <a:pt x="22" y="40"/>
                  </a:lnTo>
                  <a:lnTo>
                    <a:pt x="22" y="43"/>
                  </a:lnTo>
                  <a:lnTo>
                    <a:pt x="26" y="45"/>
                  </a:lnTo>
                  <a:lnTo>
                    <a:pt x="26" y="48"/>
                  </a:lnTo>
                  <a:lnTo>
                    <a:pt x="26" y="49"/>
                  </a:lnTo>
                  <a:lnTo>
                    <a:pt x="30" y="53"/>
                  </a:lnTo>
                  <a:lnTo>
                    <a:pt x="30" y="54"/>
                  </a:lnTo>
                  <a:lnTo>
                    <a:pt x="30" y="57"/>
                  </a:lnTo>
                  <a:lnTo>
                    <a:pt x="33" y="59"/>
                  </a:lnTo>
                  <a:lnTo>
                    <a:pt x="33" y="62"/>
                  </a:lnTo>
                  <a:lnTo>
                    <a:pt x="33" y="64"/>
                  </a:lnTo>
                  <a:lnTo>
                    <a:pt x="37" y="67"/>
                  </a:lnTo>
                  <a:lnTo>
                    <a:pt x="37" y="69"/>
                  </a:lnTo>
                  <a:lnTo>
                    <a:pt x="37" y="70"/>
                  </a:lnTo>
                  <a:lnTo>
                    <a:pt x="37" y="73"/>
                  </a:lnTo>
                  <a:lnTo>
                    <a:pt x="41" y="75"/>
                  </a:lnTo>
                  <a:lnTo>
                    <a:pt x="41" y="78"/>
                  </a:lnTo>
                  <a:lnTo>
                    <a:pt x="41" y="80"/>
                  </a:lnTo>
                  <a:lnTo>
                    <a:pt x="45" y="83"/>
                  </a:lnTo>
                  <a:lnTo>
                    <a:pt x="45" y="84"/>
                  </a:lnTo>
                  <a:lnTo>
                    <a:pt x="45" y="88"/>
                  </a:lnTo>
                  <a:lnTo>
                    <a:pt x="48" y="89"/>
                  </a:lnTo>
                  <a:lnTo>
                    <a:pt x="48" y="91"/>
                  </a:lnTo>
                  <a:lnTo>
                    <a:pt x="48" y="94"/>
                  </a:lnTo>
                  <a:lnTo>
                    <a:pt x="52" y="96"/>
                  </a:lnTo>
                  <a:lnTo>
                    <a:pt x="52" y="99"/>
                  </a:lnTo>
                  <a:lnTo>
                    <a:pt x="52" y="100"/>
                  </a:lnTo>
                  <a:lnTo>
                    <a:pt x="56" y="104"/>
                  </a:lnTo>
                  <a:lnTo>
                    <a:pt x="56" y="105"/>
                  </a:lnTo>
                  <a:lnTo>
                    <a:pt x="56" y="107"/>
                  </a:lnTo>
                  <a:lnTo>
                    <a:pt x="59" y="110"/>
                  </a:lnTo>
                  <a:lnTo>
                    <a:pt x="59" y="112"/>
                  </a:lnTo>
                  <a:lnTo>
                    <a:pt x="59" y="115"/>
                  </a:lnTo>
                  <a:lnTo>
                    <a:pt x="63" y="116"/>
                  </a:lnTo>
                  <a:lnTo>
                    <a:pt x="63" y="118"/>
                  </a:lnTo>
                  <a:lnTo>
                    <a:pt x="63" y="121"/>
                  </a:lnTo>
                  <a:lnTo>
                    <a:pt x="67" y="123"/>
                  </a:lnTo>
                  <a:lnTo>
                    <a:pt x="67" y="124"/>
                  </a:lnTo>
                  <a:lnTo>
                    <a:pt x="67" y="127"/>
                  </a:lnTo>
                  <a:lnTo>
                    <a:pt x="71" y="129"/>
                  </a:lnTo>
                  <a:lnTo>
                    <a:pt x="71" y="131"/>
                  </a:lnTo>
                  <a:lnTo>
                    <a:pt x="71" y="134"/>
                  </a:lnTo>
                  <a:lnTo>
                    <a:pt x="74" y="135"/>
                  </a:lnTo>
                  <a:lnTo>
                    <a:pt x="74" y="137"/>
                  </a:lnTo>
                  <a:lnTo>
                    <a:pt x="74" y="140"/>
                  </a:lnTo>
                  <a:lnTo>
                    <a:pt x="78" y="142"/>
                  </a:lnTo>
                  <a:lnTo>
                    <a:pt x="78" y="143"/>
                  </a:lnTo>
                  <a:lnTo>
                    <a:pt x="78" y="147"/>
                  </a:lnTo>
                  <a:lnTo>
                    <a:pt x="82" y="148"/>
                  </a:lnTo>
                  <a:lnTo>
                    <a:pt x="82" y="150"/>
                  </a:lnTo>
                  <a:lnTo>
                    <a:pt x="82" y="153"/>
                  </a:lnTo>
                  <a:lnTo>
                    <a:pt x="85" y="154"/>
                  </a:lnTo>
                  <a:lnTo>
                    <a:pt x="85" y="156"/>
                  </a:lnTo>
                  <a:lnTo>
                    <a:pt x="85" y="158"/>
                  </a:lnTo>
                  <a:lnTo>
                    <a:pt x="89" y="161"/>
                  </a:lnTo>
                  <a:lnTo>
                    <a:pt x="89" y="162"/>
                  </a:lnTo>
                  <a:lnTo>
                    <a:pt x="89" y="164"/>
                  </a:lnTo>
                  <a:lnTo>
                    <a:pt x="93" y="166"/>
                  </a:lnTo>
                  <a:lnTo>
                    <a:pt x="93" y="169"/>
                  </a:lnTo>
                  <a:lnTo>
                    <a:pt x="93" y="170"/>
                  </a:lnTo>
                  <a:lnTo>
                    <a:pt x="97" y="172"/>
                  </a:lnTo>
                  <a:lnTo>
                    <a:pt x="97" y="174"/>
                  </a:lnTo>
                  <a:lnTo>
                    <a:pt x="97" y="175"/>
                  </a:lnTo>
                  <a:lnTo>
                    <a:pt x="100" y="178"/>
                  </a:lnTo>
                  <a:lnTo>
                    <a:pt x="100" y="180"/>
                  </a:lnTo>
                  <a:lnTo>
                    <a:pt x="100" y="182"/>
                  </a:lnTo>
                  <a:lnTo>
                    <a:pt x="104" y="183"/>
                  </a:lnTo>
                  <a:lnTo>
                    <a:pt x="104" y="185"/>
                  </a:lnTo>
                  <a:lnTo>
                    <a:pt x="104" y="186"/>
                  </a:lnTo>
                  <a:lnTo>
                    <a:pt x="108" y="189"/>
                  </a:lnTo>
                  <a:lnTo>
                    <a:pt x="108" y="191"/>
                  </a:lnTo>
                  <a:lnTo>
                    <a:pt x="108" y="193"/>
                  </a:lnTo>
                  <a:lnTo>
                    <a:pt x="111" y="194"/>
                  </a:lnTo>
                  <a:lnTo>
                    <a:pt x="111" y="196"/>
                  </a:lnTo>
                  <a:lnTo>
                    <a:pt x="111" y="197"/>
                  </a:lnTo>
                  <a:lnTo>
                    <a:pt x="115" y="199"/>
                  </a:lnTo>
                  <a:lnTo>
                    <a:pt x="115" y="201"/>
                  </a:lnTo>
                  <a:lnTo>
                    <a:pt x="115" y="202"/>
                  </a:lnTo>
                  <a:lnTo>
                    <a:pt x="119" y="204"/>
                  </a:lnTo>
                  <a:lnTo>
                    <a:pt x="119" y="207"/>
                  </a:lnTo>
                  <a:lnTo>
                    <a:pt x="119" y="209"/>
                  </a:lnTo>
                  <a:lnTo>
                    <a:pt x="123" y="210"/>
                  </a:lnTo>
                  <a:lnTo>
                    <a:pt x="123" y="212"/>
                  </a:lnTo>
                  <a:lnTo>
                    <a:pt x="123" y="213"/>
                  </a:lnTo>
                  <a:lnTo>
                    <a:pt x="126" y="215"/>
                  </a:lnTo>
                  <a:lnTo>
                    <a:pt x="126" y="217"/>
                  </a:lnTo>
                  <a:lnTo>
                    <a:pt x="126" y="218"/>
                  </a:lnTo>
                  <a:lnTo>
                    <a:pt x="130" y="220"/>
                  </a:lnTo>
                  <a:lnTo>
                    <a:pt x="130" y="221"/>
                  </a:lnTo>
                  <a:lnTo>
                    <a:pt x="134" y="223"/>
                  </a:lnTo>
                  <a:lnTo>
                    <a:pt x="134" y="224"/>
                  </a:lnTo>
                  <a:lnTo>
                    <a:pt x="134" y="226"/>
                  </a:lnTo>
                  <a:lnTo>
                    <a:pt x="137" y="228"/>
                  </a:lnTo>
                  <a:lnTo>
                    <a:pt x="137" y="229"/>
                  </a:lnTo>
                  <a:lnTo>
                    <a:pt x="137" y="231"/>
                  </a:lnTo>
                  <a:lnTo>
                    <a:pt x="141" y="232"/>
                  </a:lnTo>
                  <a:lnTo>
                    <a:pt x="141" y="234"/>
                  </a:lnTo>
                  <a:lnTo>
                    <a:pt x="145" y="236"/>
                  </a:lnTo>
                  <a:lnTo>
                    <a:pt x="145" y="237"/>
                  </a:lnTo>
                  <a:lnTo>
                    <a:pt x="145" y="239"/>
                  </a:lnTo>
                  <a:lnTo>
                    <a:pt x="149" y="240"/>
                  </a:lnTo>
                  <a:lnTo>
                    <a:pt x="149" y="242"/>
                  </a:lnTo>
                  <a:lnTo>
                    <a:pt x="152" y="244"/>
                  </a:lnTo>
                  <a:lnTo>
                    <a:pt x="152" y="245"/>
                  </a:lnTo>
                  <a:lnTo>
                    <a:pt x="156" y="247"/>
                  </a:lnTo>
                  <a:lnTo>
                    <a:pt x="156" y="248"/>
                  </a:lnTo>
                  <a:lnTo>
                    <a:pt x="160" y="250"/>
                  </a:lnTo>
                  <a:lnTo>
                    <a:pt x="160" y="252"/>
                  </a:lnTo>
                  <a:lnTo>
                    <a:pt x="160" y="253"/>
                  </a:lnTo>
                  <a:lnTo>
                    <a:pt x="163" y="255"/>
                  </a:lnTo>
                  <a:lnTo>
                    <a:pt x="163" y="256"/>
                  </a:lnTo>
                  <a:lnTo>
                    <a:pt x="167" y="258"/>
                  </a:lnTo>
                  <a:lnTo>
                    <a:pt x="171" y="259"/>
                  </a:lnTo>
                  <a:lnTo>
                    <a:pt x="171" y="261"/>
                  </a:lnTo>
                  <a:lnTo>
                    <a:pt x="175" y="263"/>
                  </a:lnTo>
                  <a:lnTo>
                    <a:pt x="175" y="264"/>
                  </a:lnTo>
                  <a:lnTo>
                    <a:pt x="178" y="266"/>
                  </a:lnTo>
                  <a:lnTo>
                    <a:pt x="182" y="267"/>
                  </a:lnTo>
                  <a:lnTo>
                    <a:pt x="186" y="269"/>
                  </a:lnTo>
                  <a:lnTo>
                    <a:pt x="189" y="271"/>
                  </a:lnTo>
                  <a:lnTo>
                    <a:pt x="193" y="272"/>
                  </a:lnTo>
                  <a:lnTo>
                    <a:pt x="197" y="274"/>
                  </a:lnTo>
                  <a:lnTo>
                    <a:pt x="201" y="275"/>
                  </a:lnTo>
                  <a:lnTo>
                    <a:pt x="204" y="277"/>
                  </a:lnTo>
                  <a:lnTo>
                    <a:pt x="208" y="277"/>
                  </a:lnTo>
                  <a:lnTo>
                    <a:pt x="212" y="279"/>
                  </a:lnTo>
                  <a:lnTo>
                    <a:pt x="215" y="279"/>
                  </a:lnTo>
                  <a:lnTo>
                    <a:pt x="219" y="279"/>
                  </a:lnTo>
                  <a:lnTo>
                    <a:pt x="223" y="279"/>
                  </a:lnTo>
                  <a:lnTo>
                    <a:pt x="227" y="279"/>
                  </a:lnTo>
                  <a:lnTo>
                    <a:pt x="230" y="277"/>
                  </a:lnTo>
                  <a:lnTo>
                    <a:pt x="234" y="277"/>
                  </a:lnTo>
                  <a:lnTo>
                    <a:pt x="238" y="275"/>
                  </a:lnTo>
                  <a:lnTo>
                    <a:pt x="241" y="275"/>
                  </a:lnTo>
                  <a:lnTo>
                    <a:pt x="245" y="274"/>
                  </a:lnTo>
                  <a:lnTo>
                    <a:pt x="249" y="272"/>
                  </a:lnTo>
                  <a:lnTo>
                    <a:pt x="253" y="271"/>
                  </a:lnTo>
                  <a:lnTo>
                    <a:pt x="256" y="269"/>
                  </a:lnTo>
                  <a:lnTo>
                    <a:pt x="260" y="267"/>
                  </a:lnTo>
                  <a:lnTo>
                    <a:pt x="264" y="266"/>
                  </a:lnTo>
                  <a:lnTo>
                    <a:pt x="267" y="264"/>
                  </a:lnTo>
                  <a:lnTo>
                    <a:pt x="267" y="263"/>
                  </a:lnTo>
                  <a:lnTo>
                    <a:pt x="271" y="261"/>
                  </a:lnTo>
                  <a:lnTo>
                    <a:pt x="271" y="259"/>
                  </a:lnTo>
                  <a:lnTo>
                    <a:pt x="275" y="258"/>
                  </a:lnTo>
                  <a:lnTo>
                    <a:pt x="279" y="256"/>
                  </a:lnTo>
                  <a:lnTo>
                    <a:pt x="279" y="255"/>
                  </a:lnTo>
                  <a:lnTo>
                    <a:pt x="282" y="253"/>
                  </a:lnTo>
                  <a:lnTo>
                    <a:pt x="282" y="252"/>
                  </a:lnTo>
                  <a:lnTo>
                    <a:pt x="282" y="250"/>
                  </a:lnTo>
                  <a:lnTo>
                    <a:pt x="286" y="248"/>
                  </a:lnTo>
                  <a:lnTo>
                    <a:pt x="286" y="247"/>
                  </a:lnTo>
                  <a:lnTo>
                    <a:pt x="290" y="245"/>
                  </a:lnTo>
                  <a:lnTo>
                    <a:pt x="290" y="244"/>
                  </a:lnTo>
                  <a:lnTo>
                    <a:pt x="290" y="242"/>
                  </a:lnTo>
                  <a:lnTo>
                    <a:pt x="293" y="240"/>
                  </a:lnTo>
                  <a:lnTo>
                    <a:pt x="293" y="239"/>
                  </a:lnTo>
                  <a:lnTo>
                    <a:pt x="297" y="237"/>
                  </a:lnTo>
                  <a:lnTo>
                    <a:pt x="297" y="236"/>
                  </a:lnTo>
                  <a:lnTo>
                    <a:pt x="301" y="234"/>
                  </a:lnTo>
                  <a:lnTo>
                    <a:pt x="301" y="232"/>
                  </a:lnTo>
                  <a:lnTo>
                    <a:pt x="301" y="231"/>
                  </a:lnTo>
                  <a:lnTo>
                    <a:pt x="305" y="229"/>
                  </a:lnTo>
                  <a:lnTo>
                    <a:pt x="305" y="228"/>
                  </a:lnTo>
                  <a:lnTo>
                    <a:pt x="305" y="226"/>
                  </a:lnTo>
                  <a:lnTo>
                    <a:pt x="308" y="224"/>
                  </a:lnTo>
                  <a:lnTo>
                    <a:pt x="308" y="223"/>
                  </a:lnTo>
                  <a:lnTo>
                    <a:pt x="308" y="221"/>
                  </a:lnTo>
                  <a:lnTo>
                    <a:pt x="312" y="220"/>
                  </a:lnTo>
                  <a:lnTo>
                    <a:pt x="312" y="218"/>
                  </a:lnTo>
                  <a:lnTo>
                    <a:pt x="316" y="217"/>
                  </a:lnTo>
                  <a:lnTo>
                    <a:pt x="316" y="215"/>
                  </a:lnTo>
                  <a:lnTo>
                    <a:pt x="316" y="213"/>
                  </a:lnTo>
                  <a:lnTo>
                    <a:pt x="319" y="212"/>
                  </a:lnTo>
                  <a:lnTo>
                    <a:pt x="319" y="210"/>
                  </a:lnTo>
                  <a:lnTo>
                    <a:pt x="319" y="209"/>
                  </a:lnTo>
                  <a:lnTo>
                    <a:pt x="323" y="207"/>
                  </a:lnTo>
                  <a:lnTo>
                    <a:pt x="323" y="204"/>
                  </a:lnTo>
                  <a:lnTo>
                    <a:pt x="323" y="202"/>
                  </a:lnTo>
                  <a:lnTo>
                    <a:pt x="327" y="201"/>
                  </a:lnTo>
                  <a:lnTo>
                    <a:pt x="327" y="199"/>
                  </a:lnTo>
                  <a:lnTo>
                    <a:pt x="327" y="197"/>
                  </a:lnTo>
                  <a:lnTo>
                    <a:pt x="331" y="196"/>
                  </a:lnTo>
                  <a:lnTo>
                    <a:pt x="331" y="194"/>
                  </a:lnTo>
                  <a:lnTo>
                    <a:pt x="331" y="193"/>
                  </a:lnTo>
                  <a:lnTo>
                    <a:pt x="334" y="191"/>
                  </a:lnTo>
                  <a:lnTo>
                    <a:pt x="334" y="189"/>
                  </a:lnTo>
                  <a:lnTo>
                    <a:pt x="334" y="186"/>
                  </a:lnTo>
                  <a:lnTo>
                    <a:pt x="338" y="185"/>
                  </a:lnTo>
                  <a:lnTo>
                    <a:pt x="338" y="183"/>
                  </a:lnTo>
                  <a:lnTo>
                    <a:pt x="338" y="182"/>
                  </a:lnTo>
                  <a:lnTo>
                    <a:pt x="342" y="180"/>
                  </a:lnTo>
                  <a:lnTo>
                    <a:pt x="342" y="178"/>
                  </a:lnTo>
                  <a:lnTo>
                    <a:pt x="342" y="175"/>
                  </a:lnTo>
                  <a:lnTo>
                    <a:pt x="345" y="174"/>
                  </a:lnTo>
                  <a:lnTo>
                    <a:pt x="345" y="172"/>
                  </a:lnTo>
                  <a:lnTo>
                    <a:pt x="345" y="170"/>
                  </a:lnTo>
                  <a:lnTo>
                    <a:pt x="349" y="169"/>
                  </a:lnTo>
                  <a:lnTo>
                    <a:pt x="349" y="166"/>
                  </a:lnTo>
                  <a:lnTo>
                    <a:pt x="349" y="164"/>
                  </a:lnTo>
                  <a:lnTo>
                    <a:pt x="353" y="162"/>
                  </a:lnTo>
                  <a:lnTo>
                    <a:pt x="353" y="161"/>
                  </a:lnTo>
                  <a:lnTo>
                    <a:pt x="353" y="158"/>
                  </a:lnTo>
                  <a:lnTo>
                    <a:pt x="357" y="156"/>
                  </a:lnTo>
                  <a:lnTo>
                    <a:pt x="357" y="154"/>
                  </a:lnTo>
                  <a:lnTo>
                    <a:pt x="357" y="153"/>
                  </a:lnTo>
                  <a:lnTo>
                    <a:pt x="360" y="150"/>
                  </a:lnTo>
                  <a:lnTo>
                    <a:pt x="360" y="148"/>
                  </a:lnTo>
                  <a:lnTo>
                    <a:pt x="360" y="147"/>
                  </a:lnTo>
                  <a:lnTo>
                    <a:pt x="364" y="143"/>
                  </a:lnTo>
                  <a:lnTo>
                    <a:pt x="364" y="142"/>
                  </a:lnTo>
                  <a:lnTo>
                    <a:pt x="364" y="140"/>
                  </a:lnTo>
                  <a:lnTo>
                    <a:pt x="368" y="137"/>
                  </a:lnTo>
                  <a:lnTo>
                    <a:pt x="368" y="135"/>
                  </a:lnTo>
                  <a:lnTo>
                    <a:pt x="368" y="134"/>
                  </a:lnTo>
                  <a:lnTo>
                    <a:pt x="371" y="131"/>
                  </a:lnTo>
                  <a:lnTo>
                    <a:pt x="371" y="129"/>
                  </a:lnTo>
                  <a:lnTo>
                    <a:pt x="371" y="127"/>
                  </a:lnTo>
                  <a:lnTo>
                    <a:pt x="375" y="124"/>
                  </a:lnTo>
                  <a:lnTo>
                    <a:pt x="375" y="123"/>
                  </a:lnTo>
                  <a:lnTo>
                    <a:pt x="375" y="121"/>
                  </a:lnTo>
                  <a:lnTo>
                    <a:pt x="379" y="118"/>
                  </a:lnTo>
                  <a:lnTo>
                    <a:pt x="379" y="116"/>
                  </a:lnTo>
                  <a:lnTo>
                    <a:pt x="379" y="115"/>
                  </a:lnTo>
                  <a:lnTo>
                    <a:pt x="383" y="112"/>
                  </a:lnTo>
                  <a:lnTo>
                    <a:pt x="383" y="110"/>
                  </a:lnTo>
                  <a:lnTo>
                    <a:pt x="383" y="107"/>
                  </a:lnTo>
                  <a:lnTo>
                    <a:pt x="386" y="105"/>
                  </a:lnTo>
                  <a:lnTo>
                    <a:pt x="386" y="104"/>
                  </a:lnTo>
                  <a:lnTo>
                    <a:pt x="386" y="100"/>
                  </a:lnTo>
                  <a:lnTo>
                    <a:pt x="390" y="99"/>
                  </a:lnTo>
                  <a:lnTo>
                    <a:pt x="390" y="96"/>
                  </a:lnTo>
                  <a:lnTo>
                    <a:pt x="390" y="94"/>
                  </a:lnTo>
                  <a:lnTo>
                    <a:pt x="394" y="91"/>
                  </a:lnTo>
                  <a:lnTo>
                    <a:pt x="394" y="89"/>
                  </a:lnTo>
                  <a:lnTo>
                    <a:pt x="394" y="88"/>
                  </a:lnTo>
                  <a:lnTo>
                    <a:pt x="397" y="84"/>
                  </a:lnTo>
                </a:path>
              </a:pathLst>
            </a:custGeom>
            <a:noFill/>
            <a:ln w="28575" cap="rnd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6"/>
            <p:cNvSpPr>
              <a:spLocks/>
            </p:cNvSpPr>
            <p:nvPr/>
          </p:nvSpPr>
          <p:spPr bwMode="auto">
            <a:xfrm>
              <a:off x="3425" y="1550"/>
              <a:ext cx="392" cy="304"/>
            </a:xfrm>
            <a:custGeom>
              <a:avLst/>
              <a:gdLst>
                <a:gd name="T0" fmla="*/ 4 w 392"/>
                <a:gd name="T1" fmla="*/ 297 h 304"/>
                <a:gd name="T2" fmla="*/ 8 w 392"/>
                <a:gd name="T3" fmla="*/ 288 h 304"/>
                <a:gd name="T4" fmla="*/ 12 w 392"/>
                <a:gd name="T5" fmla="*/ 278 h 304"/>
                <a:gd name="T6" fmla="*/ 15 w 392"/>
                <a:gd name="T7" fmla="*/ 268 h 304"/>
                <a:gd name="T8" fmla="*/ 23 w 392"/>
                <a:gd name="T9" fmla="*/ 259 h 304"/>
                <a:gd name="T10" fmla="*/ 26 w 392"/>
                <a:gd name="T11" fmla="*/ 249 h 304"/>
                <a:gd name="T12" fmla="*/ 30 w 392"/>
                <a:gd name="T13" fmla="*/ 241 h 304"/>
                <a:gd name="T14" fmla="*/ 38 w 392"/>
                <a:gd name="T15" fmla="*/ 232 h 304"/>
                <a:gd name="T16" fmla="*/ 41 w 392"/>
                <a:gd name="T17" fmla="*/ 222 h 304"/>
                <a:gd name="T18" fmla="*/ 45 w 392"/>
                <a:gd name="T19" fmla="*/ 213 h 304"/>
                <a:gd name="T20" fmla="*/ 52 w 392"/>
                <a:gd name="T21" fmla="*/ 203 h 304"/>
                <a:gd name="T22" fmla="*/ 56 w 392"/>
                <a:gd name="T23" fmla="*/ 194 h 304"/>
                <a:gd name="T24" fmla="*/ 60 w 392"/>
                <a:gd name="T25" fmla="*/ 186 h 304"/>
                <a:gd name="T26" fmla="*/ 67 w 392"/>
                <a:gd name="T27" fmla="*/ 176 h 304"/>
                <a:gd name="T28" fmla="*/ 71 w 392"/>
                <a:gd name="T29" fmla="*/ 167 h 304"/>
                <a:gd name="T30" fmla="*/ 75 w 392"/>
                <a:gd name="T31" fmla="*/ 159 h 304"/>
                <a:gd name="T32" fmla="*/ 82 w 392"/>
                <a:gd name="T33" fmla="*/ 149 h 304"/>
                <a:gd name="T34" fmla="*/ 86 w 392"/>
                <a:gd name="T35" fmla="*/ 141 h 304"/>
                <a:gd name="T36" fmla="*/ 90 w 392"/>
                <a:gd name="T37" fmla="*/ 133 h 304"/>
                <a:gd name="T38" fmla="*/ 97 w 392"/>
                <a:gd name="T39" fmla="*/ 125 h 304"/>
                <a:gd name="T40" fmla="*/ 101 w 392"/>
                <a:gd name="T41" fmla="*/ 116 h 304"/>
                <a:gd name="T42" fmla="*/ 104 w 392"/>
                <a:gd name="T43" fmla="*/ 109 h 304"/>
                <a:gd name="T44" fmla="*/ 112 w 392"/>
                <a:gd name="T45" fmla="*/ 101 h 304"/>
                <a:gd name="T46" fmla="*/ 116 w 392"/>
                <a:gd name="T47" fmla="*/ 93 h 304"/>
                <a:gd name="T48" fmla="*/ 119 w 392"/>
                <a:gd name="T49" fmla="*/ 85 h 304"/>
                <a:gd name="T50" fmla="*/ 127 w 392"/>
                <a:gd name="T51" fmla="*/ 79 h 304"/>
                <a:gd name="T52" fmla="*/ 130 w 392"/>
                <a:gd name="T53" fmla="*/ 73 h 304"/>
                <a:gd name="T54" fmla="*/ 134 w 392"/>
                <a:gd name="T55" fmla="*/ 66 h 304"/>
                <a:gd name="T56" fmla="*/ 138 w 392"/>
                <a:gd name="T57" fmla="*/ 60 h 304"/>
                <a:gd name="T58" fmla="*/ 145 w 392"/>
                <a:gd name="T59" fmla="*/ 54 h 304"/>
                <a:gd name="T60" fmla="*/ 149 w 392"/>
                <a:gd name="T61" fmla="*/ 47 h 304"/>
                <a:gd name="T62" fmla="*/ 156 w 392"/>
                <a:gd name="T63" fmla="*/ 41 h 304"/>
                <a:gd name="T64" fmla="*/ 164 w 392"/>
                <a:gd name="T65" fmla="*/ 35 h 304"/>
                <a:gd name="T66" fmla="*/ 168 w 392"/>
                <a:gd name="T67" fmla="*/ 28 h 304"/>
                <a:gd name="T68" fmla="*/ 175 w 392"/>
                <a:gd name="T69" fmla="*/ 22 h 304"/>
                <a:gd name="T70" fmla="*/ 186 w 392"/>
                <a:gd name="T71" fmla="*/ 15 h 304"/>
                <a:gd name="T72" fmla="*/ 197 w 392"/>
                <a:gd name="T73" fmla="*/ 9 h 304"/>
                <a:gd name="T74" fmla="*/ 212 w 392"/>
                <a:gd name="T75" fmla="*/ 3 h 304"/>
                <a:gd name="T76" fmla="*/ 227 w 392"/>
                <a:gd name="T77" fmla="*/ 0 h 304"/>
                <a:gd name="T78" fmla="*/ 242 w 392"/>
                <a:gd name="T79" fmla="*/ 1 h 304"/>
                <a:gd name="T80" fmla="*/ 257 w 392"/>
                <a:gd name="T81" fmla="*/ 4 h 304"/>
                <a:gd name="T82" fmla="*/ 272 w 392"/>
                <a:gd name="T83" fmla="*/ 11 h 304"/>
                <a:gd name="T84" fmla="*/ 283 w 392"/>
                <a:gd name="T85" fmla="*/ 17 h 304"/>
                <a:gd name="T86" fmla="*/ 290 w 392"/>
                <a:gd name="T87" fmla="*/ 23 h 304"/>
                <a:gd name="T88" fmla="*/ 298 w 392"/>
                <a:gd name="T89" fmla="*/ 30 h 304"/>
                <a:gd name="T90" fmla="*/ 305 w 392"/>
                <a:gd name="T91" fmla="*/ 36 h 304"/>
                <a:gd name="T92" fmla="*/ 309 w 392"/>
                <a:gd name="T93" fmla="*/ 43 h 304"/>
                <a:gd name="T94" fmla="*/ 316 w 392"/>
                <a:gd name="T95" fmla="*/ 49 h 304"/>
                <a:gd name="T96" fmla="*/ 320 w 392"/>
                <a:gd name="T97" fmla="*/ 55 h 304"/>
                <a:gd name="T98" fmla="*/ 327 w 392"/>
                <a:gd name="T99" fmla="*/ 62 h 304"/>
                <a:gd name="T100" fmla="*/ 331 w 392"/>
                <a:gd name="T101" fmla="*/ 68 h 304"/>
                <a:gd name="T102" fmla="*/ 335 w 392"/>
                <a:gd name="T103" fmla="*/ 74 h 304"/>
                <a:gd name="T104" fmla="*/ 342 w 392"/>
                <a:gd name="T105" fmla="*/ 82 h 304"/>
                <a:gd name="T106" fmla="*/ 346 w 392"/>
                <a:gd name="T107" fmla="*/ 89 h 304"/>
                <a:gd name="T108" fmla="*/ 350 w 392"/>
                <a:gd name="T109" fmla="*/ 97 h 304"/>
                <a:gd name="T110" fmla="*/ 357 w 392"/>
                <a:gd name="T111" fmla="*/ 103 h 304"/>
                <a:gd name="T112" fmla="*/ 361 w 392"/>
                <a:gd name="T113" fmla="*/ 111 h 304"/>
                <a:gd name="T114" fmla="*/ 364 w 392"/>
                <a:gd name="T115" fmla="*/ 119 h 304"/>
                <a:gd name="T116" fmla="*/ 372 w 392"/>
                <a:gd name="T117" fmla="*/ 127 h 304"/>
                <a:gd name="T118" fmla="*/ 376 w 392"/>
                <a:gd name="T119" fmla="*/ 135 h 304"/>
                <a:gd name="T120" fmla="*/ 379 w 392"/>
                <a:gd name="T121" fmla="*/ 144 h 304"/>
                <a:gd name="T122" fmla="*/ 383 w 392"/>
                <a:gd name="T123" fmla="*/ 152 h 304"/>
                <a:gd name="T124" fmla="*/ 391 w 392"/>
                <a:gd name="T125" fmla="*/ 162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2" h="304">
                  <a:moveTo>
                    <a:pt x="0" y="303"/>
                  </a:moveTo>
                  <a:lnTo>
                    <a:pt x="0" y="302"/>
                  </a:lnTo>
                  <a:lnTo>
                    <a:pt x="0" y="299"/>
                  </a:lnTo>
                  <a:lnTo>
                    <a:pt x="4" y="297"/>
                  </a:lnTo>
                  <a:lnTo>
                    <a:pt x="4" y="294"/>
                  </a:lnTo>
                  <a:lnTo>
                    <a:pt x="4" y="292"/>
                  </a:lnTo>
                  <a:lnTo>
                    <a:pt x="8" y="289"/>
                  </a:lnTo>
                  <a:lnTo>
                    <a:pt x="8" y="288"/>
                  </a:lnTo>
                  <a:lnTo>
                    <a:pt x="8" y="286"/>
                  </a:lnTo>
                  <a:lnTo>
                    <a:pt x="8" y="283"/>
                  </a:lnTo>
                  <a:lnTo>
                    <a:pt x="12" y="281"/>
                  </a:lnTo>
                  <a:lnTo>
                    <a:pt x="12" y="278"/>
                  </a:lnTo>
                  <a:lnTo>
                    <a:pt x="12" y="276"/>
                  </a:lnTo>
                  <a:lnTo>
                    <a:pt x="15" y="273"/>
                  </a:lnTo>
                  <a:lnTo>
                    <a:pt x="15" y="272"/>
                  </a:lnTo>
                  <a:lnTo>
                    <a:pt x="15" y="268"/>
                  </a:lnTo>
                  <a:lnTo>
                    <a:pt x="19" y="267"/>
                  </a:lnTo>
                  <a:lnTo>
                    <a:pt x="19" y="264"/>
                  </a:lnTo>
                  <a:lnTo>
                    <a:pt x="19" y="262"/>
                  </a:lnTo>
                  <a:lnTo>
                    <a:pt x="23" y="259"/>
                  </a:lnTo>
                  <a:lnTo>
                    <a:pt x="23" y="257"/>
                  </a:lnTo>
                  <a:lnTo>
                    <a:pt x="23" y="254"/>
                  </a:lnTo>
                  <a:lnTo>
                    <a:pt x="26" y="253"/>
                  </a:lnTo>
                  <a:lnTo>
                    <a:pt x="26" y="249"/>
                  </a:lnTo>
                  <a:lnTo>
                    <a:pt x="26" y="248"/>
                  </a:lnTo>
                  <a:lnTo>
                    <a:pt x="30" y="246"/>
                  </a:lnTo>
                  <a:lnTo>
                    <a:pt x="30" y="243"/>
                  </a:lnTo>
                  <a:lnTo>
                    <a:pt x="30" y="241"/>
                  </a:lnTo>
                  <a:lnTo>
                    <a:pt x="34" y="238"/>
                  </a:lnTo>
                  <a:lnTo>
                    <a:pt x="34" y="237"/>
                  </a:lnTo>
                  <a:lnTo>
                    <a:pt x="34" y="233"/>
                  </a:lnTo>
                  <a:lnTo>
                    <a:pt x="38" y="232"/>
                  </a:lnTo>
                  <a:lnTo>
                    <a:pt x="38" y="229"/>
                  </a:lnTo>
                  <a:lnTo>
                    <a:pt x="38" y="227"/>
                  </a:lnTo>
                  <a:lnTo>
                    <a:pt x="41" y="224"/>
                  </a:lnTo>
                  <a:lnTo>
                    <a:pt x="41" y="222"/>
                  </a:lnTo>
                  <a:lnTo>
                    <a:pt x="41" y="219"/>
                  </a:lnTo>
                  <a:lnTo>
                    <a:pt x="45" y="218"/>
                  </a:lnTo>
                  <a:lnTo>
                    <a:pt x="45" y="214"/>
                  </a:lnTo>
                  <a:lnTo>
                    <a:pt x="45" y="213"/>
                  </a:lnTo>
                  <a:lnTo>
                    <a:pt x="49" y="211"/>
                  </a:lnTo>
                  <a:lnTo>
                    <a:pt x="49" y="208"/>
                  </a:lnTo>
                  <a:lnTo>
                    <a:pt x="49" y="206"/>
                  </a:lnTo>
                  <a:lnTo>
                    <a:pt x="52" y="203"/>
                  </a:lnTo>
                  <a:lnTo>
                    <a:pt x="52" y="202"/>
                  </a:lnTo>
                  <a:lnTo>
                    <a:pt x="52" y="198"/>
                  </a:lnTo>
                  <a:lnTo>
                    <a:pt x="56" y="197"/>
                  </a:lnTo>
                  <a:lnTo>
                    <a:pt x="56" y="194"/>
                  </a:lnTo>
                  <a:lnTo>
                    <a:pt x="56" y="192"/>
                  </a:lnTo>
                  <a:lnTo>
                    <a:pt x="60" y="189"/>
                  </a:lnTo>
                  <a:lnTo>
                    <a:pt x="60" y="187"/>
                  </a:lnTo>
                  <a:lnTo>
                    <a:pt x="60" y="186"/>
                  </a:lnTo>
                  <a:lnTo>
                    <a:pt x="64" y="183"/>
                  </a:lnTo>
                  <a:lnTo>
                    <a:pt x="64" y="181"/>
                  </a:lnTo>
                  <a:lnTo>
                    <a:pt x="64" y="178"/>
                  </a:lnTo>
                  <a:lnTo>
                    <a:pt x="67" y="176"/>
                  </a:lnTo>
                  <a:lnTo>
                    <a:pt x="67" y="175"/>
                  </a:lnTo>
                  <a:lnTo>
                    <a:pt x="67" y="171"/>
                  </a:lnTo>
                  <a:lnTo>
                    <a:pt x="71" y="170"/>
                  </a:lnTo>
                  <a:lnTo>
                    <a:pt x="71" y="167"/>
                  </a:lnTo>
                  <a:lnTo>
                    <a:pt x="71" y="165"/>
                  </a:lnTo>
                  <a:lnTo>
                    <a:pt x="75" y="163"/>
                  </a:lnTo>
                  <a:lnTo>
                    <a:pt x="75" y="160"/>
                  </a:lnTo>
                  <a:lnTo>
                    <a:pt x="75" y="159"/>
                  </a:lnTo>
                  <a:lnTo>
                    <a:pt x="78" y="155"/>
                  </a:lnTo>
                  <a:lnTo>
                    <a:pt x="78" y="154"/>
                  </a:lnTo>
                  <a:lnTo>
                    <a:pt x="78" y="152"/>
                  </a:lnTo>
                  <a:lnTo>
                    <a:pt x="82" y="149"/>
                  </a:lnTo>
                  <a:lnTo>
                    <a:pt x="82" y="148"/>
                  </a:lnTo>
                  <a:lnTo>
                    <a:pt x="82" y="146"/>
                  </a:lnTo>
                  <a:lnTo>
                    <a:pt x="86" y="143"/>
                  </a:lnTo>
                  <a:lnTo>
                    <a:pt x="86" y="141"/>
                  </a:lnTo>
                  <a:lnTo>
                    <a:pt x="86" y="140"/>
                  </a:lnTo>
                  <a:lnTo>
                    <a:pt x="90" y="136"/>
                  </a:lnTo>
                  <a:lnTo>
                    <a:pt x="90" y="135"/>
                  </a:lnTo>
                  <a:lnTo>
                    <a:pt x="90" y="133"/>
                  </a:lnTo>
                  <a:lnTo>
                    <a:pt x="93" y="130"/>
                  </a:lnTo>
                  <a:lnTo>
                    <a:pt x="93" y="128"/>
                  </a:lnTo>
                  <a:lnTo>
                    <a:pt x="93" y="127"/>
                  </a:lnTo>
                  <a:lnTo>
                    <a:pt x="97" y="125"/>
                  </a:lnTo>
                  <a:lnTo>
                    <a:pt x="97" y="122"/>
                  </a:lnTo>
                  <a:lnTo>
                    <a:pt x="97" y="120"/>
                  </a:lnTo>
                  <a:lnTo>
                    <a:pt x="101" y="119"/>
                  </a:lnTo>
                  <a:lnTo>
                    <a:pt x="101" y="116"/>
                  </a:lnTo>
                  <a:lnTo>
                    <a:pt x="101" y="114"/>
                  </a:lnTo>
                  <a:lnTo>
                    <a:pt x="104" y="113"/>
                  </a:lnTo>
                  <a:lnTo>
                    <a:pt x="104" y="111"/>
                  </a:lnTo>
                  <a:lnTo>
                    <a:pt x="104" y="109"/>
                  </a:lnTo>
                  <a:lnTo>
                    <a:pt x="108" y="106"/>
                  </a:lnTo>
                  <a:lnTo>
                    <a:pt x="108" y="105"/>
                  </a:lnTo>
                  <a:lnTo>
                    <a:pt x="108" y="103"/>
                  </a:lnTo>
                  <a:lnTo>
                    <a:pt x="112" y="101"/>
                  </a:lnTo>
                  <a:lnTo>
                    <a:pt x="112" y="100"/>
                  </a:lnTo>
                  <a:lnTo>
                    <a:pt x="112" y="97"/>
                  </a:lnTo>
                  <a:lnTo>
                    <a:pt x="116" y="95"/>
                  </a:lnTo>
                  <a:lnTo>
                    <a:pt x="116" y="93"/>
                  </a:lnTo>
                  <a:lnTo>
                    <a:pt x="116" y="92"/>
                  </a:lnTo>
                  <a:lnTo>
                    <a:pt x="119" y="90"/>
                  </a:lnTo>
                  <a:lnTo>
                    <a:pt x="119" y="89"/>
                  </a:lnTo>
                  <a:lnTo>
                    <a:pt x="119" y="85"/>
                  </a:lnTo>
                  <a:lnTo>
                    <a:pt x="123" y="84"/>
                  </a:lnTo>
                  <a:lnTo>
                    <a:pt x="123" y="82"/>
                  </a:lnTo>
                  <a:lnTo>
                    <a:pt x="123" y="81"/>
                  </a:lnTo>
                  <a:lnTo>
                    <a:pt x="127" y="79"/>
                  </a:lnTo>
                  <a:lnTo>
                    <a:pt x="127" y="78"/>
                  </a:lnTo>
                  <a:lnTo>
                    <a:pt x="127" y="76"/>
                  </a:lnTo>
                  <a:lnTo>
                    <a:pt x="130" y="74"/>
                  </a:lnTo>
                  <a:lnTo>
                    <a:pt x="130" y="73"/>
                  </a:lnTo>
                  <a:lnTo>
                    <a:pt x="130" y="71"/>
                  </a:lnTo>
                  <a:lnTo>
                    <a:pt x="130" y="70"/>
                  </a:lnTo>
                  <a:lnTo>
                    <a:pt x="134" y="68"/>
                  </a:lnTo>
                  <a:lnTo>
                    <a:pt x="134" y="66"/>
                  </a:lnTo>
                  <a:lnTo>
                    <a:pt x="134" y="65"/>
                  </a:lnTo>
                  <a:lnTo>
                    <a:pt x="138" y="63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42" y="58"/>
                  </a:lnTo>
                  <a:lnTo>
                    <a:pt x="142" y="57"/>
                  </a:lnTo>
                  <a:lnTo>
                    <a:pt x="142" y="55"/>
                  </a:lnTo>
                  <a:lnTo>
                    <a:pt x="145" y="54"/>
                  </a:lnTo>
                  <a:lnTo>
                    <a:pt x="145" y="52"/>
                  </a:lnTo>
                  <a:lnTo>
                    <a:pt x="145" y="50"/>
                  </a:lnTo>
                  <a:lnTo>
                    <a:pt x="149" y="49"/>
                  </a:lnTo>
                  <a:lnTo>
                    <a:pt x="149" y="47"/>
                  </a:lnTo>
                  <a:lnTo>
                    <a:pt x="153" y="46"/>
                  </a:lnTo>
                  <a:lnTo>
                    <a:pt x="153" y="44"/>
                  </a:lnTo>
                  <a:lnTo>
                    <a:pt x="153" y="43"/>
                  </a:lnTo>
                  <a:lnTo>
                    <a:pt x="156" y="41"/>
                  </a:lnTo>
                  <a:lnTo>
                    <a:pt x="156" y="39"/>
                  </a:lnTo>
                  <a:lnTo>
                    <a:pt x="160" y="38"/>
                  </a:lnTo>
                  <a:lnTo>
                    <a:pt x="160" y="36"/>
                  </a:lnTo>
                  <a:lnTo>
                    <a:pt x="164" y="35"/>
                  </a:lnTo>
                  <a:lnTo>
                    <a:pt x="164" y="33"/>
                  </a:lnTo>
                  <a:lnTo>
                    <a:pt x="164" y="31"/>
                  </a:lnTo>
                  <a:lnTo>
                    <a:pt x="168" y="30"/>
                  </a:lnTo>
                  <a:lnTo>
                    <a:pt x="168" y="28"/>
                  </a:lnTo>
                  <a:lnTo>
                    <a:pt x="171" y="27"/>
                  </a:lnTo>
                  <a:lnTo>
                    <a:pt x="171" y="25"/>
                  </a:lnTo>
                  <a:lnTo>
                    <a:pt x="175" y="23"/>
                  </a:lnTo>
                  <a:lnTo>
                    <a:pt x="175" y="22"/>
                  </a:lnTo>
                  <a:lnTo>
                    <a:pt x="179" y="20"/>
                  </a:lnTo>
                  <a:lnTo>
                    <a:pt x="182" y="19"/>
                  </a:lnTo>
                  <a:lnTo>
                    <a:pt x="182" y="17"/>
                  </a:lnTo>
                  <a:lnTo>
                    <a:pt x="186" y="15"/>
                  </a:lnTo>
                  <a:lnTo>
                    <a:pt x="190" y="14"/>
                  </a:lnTo>
                  <a:lnTo>
                    <a:pt x="190" y="12"/>
                  </a:lnTo>
                  <a:lnTo>
                    <a:pt x="194" y="11"/>
                  </a:lnTo>
                  <a:lnTo>
                    <a:pt x="197" y="9"/>
                  </a:lnTo>
                  <a:lnTo>
                    <a:pt x="201" y="8"/>
                  </a:lnTo>
                  <a:lnTo>
                    <a:pt x="205" y="6"/>
                  </a:lnTo>
                  <a:lnTo>
                    <a:pt x="208" y="4"/>
                  </a:lnTo>
                  <a:lnTo>
                    <a:pt x="212" y="3"/>
                  </a:lnTo>
                  <a:lnTo>
                    <a:pt x="216" y="1"/>
                  </a:lnTo>
                  <a:lnTo>
                    <a:pt x="220" y="1"/>
                  </a:lnTo>
                  <a:lnTo>
                    <a:pt x="223" y="0"/>
                  </a:lnTo>
                  <a:lnTo>
                    <a:pt x="227" y="0"/>
                  </a:lnTo>
                  <a:lnTo>
                    <a:pt x="231" y="0"/>
                  </a:lnTo>
                  <a:lnTo>
                    <a:pt x="234" y="0"/>
                  </a:lnTo>
                  <a:lnTo>
                    <a:pt x="238" y="0"/>
                  </a:lnTo>
                  <a:lnTo>
                    <a:pt x="242" y="1"/>
                  </a:lnTo>
                  <a:lnTo>
                    <a:pt x="246" y="1"/>
                  </a:lnTo>
                  <a:lnTo>
                    <a:pt x="249" y="1"/>
                  </a:lnTo>
                  <a:lnTo>
                    <a:pt x="253" y="3"/>
                  </a:lnTo>
                  <a:lnTo>
                    <a:pt x="257" y="4"/>
                  </a:lnTo>
                  <a:lnTo>
                    <a:pt x="260" y="6"/>
                  </a:lnTo>
                  <a:lnTo>
                    <a:pt x="264" y="8"/>
                  </a:lnTo>
                  <a:lnTo>
                    <a:pt x="268" y="9"/>
                  </a:lnTo>
                  <a:lnTo>
                    <a:pt x="272" y="11"/>
                  </a:lnTo>
                  <a:lnTo>
                    <a:pt x="275" y="12"/>
                  </a:lnTo>
                  <a:lnTo>
                    <a:pt x="275" y="14"/>
                  </a:lnTo>
                  <a:lnTo>
                    <a:pt x="279" y="15"/>
                  </a:lnTo>
                  <a:lnTo>
                    <a:pt x="283" y="17"/>
                  </a:lnTo>
                  <a:lnTo>
                    <a:pt x="283" y="19"/>
                  </a:lnTo>
                  <a:lnTo>
                    <a:pt x="286" y="20"/>
                  </a:lnTo>
                  <a:lnTo>
                    <a:pt x="286" y="22"/>
                  </a:lnTo>
                  <a:lnTo>
                    <a:pt x="290" y="23"/>
                  </a:lnTo>
                  <a:lnTo>
                    <a:pt x="290" y="25"/>
                  </a:lnTo>
                  <a:lnTo>
                    <a:pt x="294" y="27"/>
                  </a:lnTo>
                  <a:lnTo>
                    <a:pt x="294" y="28"/>
                  </a:lnTo>
                  <a:lnTo>
                    <a:pt x="298" y="30"/>
                  </a:lnTo>
                  <a:lnTo>
                    <a:pt x="298" y="31"/>
                  </a:lnTo>
                  <a:lnTo>
                    <a:pt x="301" y="33"/>
                  </a:lnTo>
                  <a:lnTo>
                    <a:pt x="301" y="35"/>
                  </a:lnTo>
                  <a:lnTo>
                    <a:pt x="305" y="36"/>
                  </a:lnTo>
                  <a:lnTo>
                    <a:pt x="305" y="38"/>
                  </a:lnTo>
                  <a:lnTo>
                    <a:pt x="305" y="39"/>
                  </a:lnTo>
                  <a:lnTo>
                    <a:pt x="309" y="41"/>
                  </a:lnTo>
                  <a:lnTo>
                    <a:pt x="309" y="43"/>
                  </a:lnTo>
                  <a:lnTo>
                    <a:pt x="312" y="44"/>
                  </a:lnTo>
                  <a:lnTo>
                    <a:pt x="312" y="46"/>
                  </a:lnTo>
                  <a:lnTo>
                    <a:pt x="312" y="47"/>
                  </a:lnTo>
                  <a:lnTo>
                    <a:pt x="316" y="49"/>
                  </a:lnTo>
                  <a:lnTo>
                    <a:pt x="316" y="50"/>
                  </a:lnTo>
                  <a:lnTo>
                    <a:pt x="320" y="52"/>
                  </a:lnTo>
                  <a:lnTo>
                    <a:pt x="320" y="54"/>
                  </a:lnTo>
                  <a:lnTo>
                    <a:pt x="320" y="55"/>
                  </a:lnTo>
                  <a:lnTo>
                    <a:pt x="324" y="57"/>
                  </a:lnTo>
                  <a:lnTo>
                    <a:pt x="324" y="58"/>
                  </a:lnTo>
                  <a:lnTo>
                    <a:pt x="324" y="60"/>
                  </a:lnTo>
                  <a:lnTo>
                    <a:pt x="327" y="62"/>
                  </a:lnTo>
                  <a:lnTo>
                    <a:pt x="327" y="63"/>
                  </a:lnTo>
                  <a:lnTo>
                    <a:pt x="327" y="65"/>
                  </a:lnTo>
                  <a:lnTo>
                    <a:pt x="331" y="66"/>
                  </a:lnTo>
                  <a:lnTo>
                    <a:pt x="331" y="68"/>
                  </a:lnTo>
                  <a:lnTo>
                    <a:pt x="331" y="70"/>
                  </a:lnTo>
                  <a:lnTo>
                    <a:pt x="335" y="71"/>
                  </a:lnTo>
                  <a:lnTo>
                    <a:pt x="335" y="73"/>
                  </a:lnTo>
                  <a:lnTo>
                    <a:pt x="335" y="74"/>
                  </a:lnTo>
                  <a:lnTo>
                    <a:pt x="338" y="76"/>
                  </a:lnTo>
                  <a:lnTo>
                    <a:pt x="338" y="78"/>
                  </a:lnTo>
                  <a:lnTo>
                    <a:pt x="338" y="79"/>
                  </a:lnTo>
                  <a:lnTo>
                    <a:pt x="342" y="82"/>
                  </a:lnTo>
                  <a:lnTo>
                    <a:pt x="342" y="84"/>
                  </a:lnTo>
                  <a:lnTo>
                    <a:pt x="342" y="85"/>
                  </a:lnTo>
                  <a:lnTo>
                    <a:pt x="346" y="87"/>
                  </a:lnTo>
                  <a:lnTo>
                    <a:pt x="346" y="89"/>
                  </a:lnTo>
                  <a:lnTo>
                    <a:pt x="346" y="90"/>
                  </a:lnTo>
                  <a:lnTo>
                    <a:pt x="350" y="92"/>
                  </a:lnTo>
                  <a:lnTo>
                    <a:pt x="350" y="93"/>
                  </a:lnTo>
                  <a:lnTo>
                    <a:pt x="350" y="97"/>
                  </a:lnTo>
                  <a:lnTo>
                    <a:pt x="353" y="98"/>
                  </a:lnTo>
                  <a:lnTo>
                    <a:pt x="353" y="100"/>
                  </a:lnTo>
                  <a:lnTo>
                    <a:pt x="353" y="101"/>
                  </a:lnTo>
                  <a:lnTo>
                    <a:pt x="357" y="103"/>
                  </a:lnTo>
                  <a:lnTo>
                    <a:pt x="357" y="106"/>
                  </a:lnTo>
                  <a:lnTo>
                    <a:pt x="357" y="108"/>
                  </a:lnTo>
                  <a:lnTo>
                    <a:pt x="361" y="109"/>
                  </a:lnTo>
                  <a:lnTo>
                    <a:pt x="361" y="111"/>
                  </a:lnTo>
                  <a:lnTo>
                    <a:pt x="361" y="113"/>
                  </a:lnTo>
                  <a:lnTo>
                    <a:pt x="364" y="116"/>
                  </a:lnTo>
                  <a:lnTo>
                    <a:pt x="364" y="117"/>
                  </a:lnTo>
                  <a:lnTo>
                    <a:pt x="364" y="119"/>
                  </a:lnTo>
                  <a:lnTo>
                    <a:pt x="368" y="120"/>
                  </a:lnTo>
                  <a:lnTo>
                    <a:pt x="368" y="124"/>
                  </a:lnTo>
                  <a:lnTo>
                    <a:pt x="368" y="125"/>
                  </a:lnTo>
                  <a:lnTo>
                    <a:pt x="372" y="127"/>
                  </a:lnTo>
                  <a:lnTo>
                    <a:pt x="372" y="130"/>
                  </a:lnTo>
                  <a:lnTo>
                    <a:pt x="372" y="132"/>
                  </a:lnTo>
                  <a:lnTo>
                    <a:pt x="376" y="133"/>
                  </a:lnTo>
                  <a:lnTo>
                    <a:pt x="376" y="135"/>
                  </a:lnTo>
                  <a:lnTo>
                    <a:pt x="376" y="138"/>
                  </a:lnTo>
                  <a:lnTo>
                    <a:pt x="376" y="140"/>
                  </a:lnTo>
                  <a:lnTo>
                    <a:pt x="379" y="141"/>
                  </a:lnTo>
                  <a:lnTo>
                    <a:pt x="379" y="144"/>
                  </a:lnTo>
                  <a:lnTo>
                    <a:pt x="379" y="146"/>
                  </a:lnTo>
                  <a:lnTo>
                    <a:pt x="383" y="148"/>
                  </a:lnTo>
                  <a:lnTo>
                    <a:pt x="383" y="151"/>
                  </a:lnTo>
                  <a:lnTo>
                    <a:pt x="383" y="152"/>
                  </a:lnTo>
                  <a:lnTo>
                    <a:pt x="387" y="155"/>
                  </a:lnTo>
                  <a:lnTo>
                    <a:pt x="387" y="157"/>
                  </a:lnTo>
                  <a:lnTo>
                    <a:pt x="387" y="159"/>
                  </a:lnTo>
                  <a:lnTo>
                    <a:pt x="391" y="162"/>
                  </a:lnTo>
                  <a:lnTo>
                    <a:pt x="391" y="163"/>
                  </a:lnTo>
                  <a:lnTo>
                    <a:pt x="391" y="165"/>
                  </a:lnTo>
                </a:path>
              </a:pathLst>
            </a:custGeom>
            <a:noFill/>
            <a:ln w="28575" cap="rnd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7"/>
            <p:cNvSpPr>
              <a:spLocks/>
            </p:cNvSpPr>
            <p:nvPr/>
          </p:nvSpPr>
          <p:spPr bwMode="auto">
            <a:xfrm>
              <a:off x="3816" y="1715"/>
              <a:ext cx="45" cy="85"/>
            </a:xfrm>
            <a:custGeom>
              <a:avLst/>
              <a:gdLst>
                <a:gd name="T0" fmla="*/ 0 w 45"/>
                <a:gd name="T1" fmla="*/ 0 h 85"/>
                <a:gd name="T2" fmla="*/ 3 w 45"/>
                <a:gd name="T3" fmla="*/ 3 h 85"/>
                <a:gd name="T4" fmla="*/ 3 w 45"/>
                <a:gd name="T5" fmla="*/ 5 h 85"/>
                <a:gd name="T6" fmla="*/ 3 w 45"/>
                <a:gd name="T7" fmla="*/ 8 h 85"/>
                <a:gd name="T8" fmla="*/ 7 w 45"/>
                <a:gd name="T9" fmla="*/ 10 h 85"/>
                <a:gd name="T10" fmla="*/ 7 w 45"/>
                <a:gd name="T11" fmla="*/ 11 h 85"/>
                <a:gd name="T12" fmla="*/ 7 w 45"/>
                <a:gd name="T13" fmla="*/ 14 h 85"/>
                <a:gd name="T14" fmla="*/ 11 w 45"/>
                <a:gd name="T15" fmla="*/ 16 h 85"/>
                <a:gd name="T16" fmla="*/ 11 w 45"/>
                <a:gd name="T17" fmla="*/ 19 h 85"/>
                <a:gd name="T18" fmla="*/ 11 w 45"/>
                <a:gd name="T19" fmla="*/ 21 h 85"/>
                <a:gd name="T20" fmla="*/ 14 w 45"/>
                <a:gd name="T21" fmla="*/ 24 h 85"/>
                <a:gd name="T22" fmla="*/ 14 w 45"/>
                <a:gd name="T23" fmla="*/ 25 h 85"/>
                <a:gd name="T24" fmla="*/ 14 w 45"/>
                <a:gd name="T25" fmla="*/ 27 h 85"/>
                <a:gd name="T26" fmla="*/ 18 w 45"/>
                <a:gd name="T27" fmla="*/ 30 h 85"/>
                <a:gd name="T28" fmla="*/ 18 w 45"/>
                <a:gd name="T29" fmla="*/ 32 h 85"/>
                <a:gd name="T30" fmla="*/ 18 w 45"/>
                <a:gd name="T31" fmla="*/ 35 h 85"/>
                <a:gd name="T32" fmla="*/ 22 w 45"/>
                <a:gd name="T33" fmla="*/ 37 h 85"/>
                <a:gd name="T34" fmla="*/ 22 w 45"/>
                <a:gd name="T35" fmla="*/ 40 h 85"/>
                <a:gd name="T36" fmla="*/ 22 w 45"/>
                <a:gd name="T37" fmla="*/ 41 h 85"/>
                <a:gd name="T38" fmla="*/ 26 w 45"/>
                <a:gd name="T39" fmla="*/ 45 h 85"/>
                <a:gd name="T40" fmla="*/ 26 w 45"/>
                <a:gd name="T41" fmla="*/ 46 h 85"/>
                <a:gd name="T42" fmla="*/ 26 w 45"/>
                <a:gd name="T43" fmla="*/ 48 h 85"/>
                <a:gd name="T44" fmla="*/ 29 w 45"/>
                <a:gd name="T45" fmla="*/ 51 h 85"/>
                <a:gd name="T46" fmla="*/ 29 w 45"/>
                <a:gd name="T47" fmla="*/ 53 h 85"/>
                <a:gd name="T48" fmla="*/ 29 w 45"/>
                <a:gd name="T49" fmla="*/ 56 h 85"/>
                <a:gd name="T50" fmla="*/ 33 w 45"/>
                <a:gd name="T51" fmla="*/ 57 h 85"/>
                <a:gd name="T52" fmla="*/ 33 w 45"/>
                <a:gd name="T53" fmla="*/ 60 h 85"/>
                <a:gd name="T54" fmla="*/ 33 w 45"/>
                <a:gd name="T55" fmla="*/ 62 h 85"/>
                <a:gd name="T56" fmla="*/ 37 w 45"/>
                <a:gd name="T57" fmla="*/ 65 h 85"/>
                <a:gd name="T58" fmla="*/ 37 w 45"/>
                <a:gd name="T59" fmla="*/ 67 h 85"/>
                <a:gd name="T60" fmla="*/ 37 w 45"/>
                <a:gd name="T61" fmla="*/ 70 h 85"/>
                <a:gd name="T62" fmla="*/ 40 w 45"/>
                <a:gd name="T63" fmla="*/ 72 h 85"/>
                <a:gd name="T64" fmla="*/ 40 w 45"/>
                <a:gd name="T65" fmla="*/ 75 h 85"/>
                <a:gd name="T66" fmla="*/ 40 w 45"/>
                <a:gd name="T67" fmla="*/ 76 h 85"/>
                <a:gd name="T68" fmla="*/ 44 w 45"/>
                <a:gd name="T69" fmla="*/ 80 h 85"/>
                <a:gd name="T70" fmla="*/ 44 w 45"/>
                <a:gd name="T71" fmla="*/ 81 h 85"/>
                <a:gd name="T72" fmla="*/ 44 w 45"/>
                <a:gd name="T73" fmla="*/ 8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" h="85">
                  <a:moveTo>
                    <a:pt x="0" y="0"/>
                  </a:moveTo>
                  <a:lnTo>
                    <a:pt x="3" y="3"/>
                  </a:lnTo>
                  <a:lnTo>
                    <a:pt x="3" y="5"/>
                  </a:lnTo>
                  <a:lnTo>
                    <a:pt x="3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1" y="19"/>
                  </a:lnTo>
                  <a:lnTo>
                    <a:pt x="11" y="21"/>
                  </a:lnTo>
                  <a:lnTo>
                    <a:pt x="14" y="24"/>
                  </a:lnTo>
                  <a:lnTo>
                    <a:pt x="14" y="25"/>
                  </a:lnTo>
                  <a:lnTo>
                    <a:pt x="14" y="27"/>
                  </a:lnTo>
                  <a:lnTo>
                    <a:pt x="18" y="30"/>
                  </a:lnTo>
                  <a:lnTo>
                    <a:pt x="18" y="32"/>
                  </a:lnTo>
                  <a:lnTo>
                    <a:pt x="18" y="35"/>
                  </a:lnTo>
                  <a:lnTo>
                    <a:pt x="22" y="37"/>
                  </a:lnTo>
                  <a:lnTo>
                    <a:pt x="22" y="40"/>
                  </a:lnTo>
                  <a:lnTo>
                    <a:pt x="22" y="41"/>
                  </a:lnTo>
                  <a:lnTo>
                    <a:pt x="26" y="45"/>
                  </a:lnTo>
                  <a:lnTo>
                    <a:pt x="26" y="46"/>
                  </a:lnTo>
                  <a:lnTo>
                    <a:pt x="26" y="48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29" y="56"/>
                  </a:lnTo>
                  <a:lnTo>
                    <a:pt x="33" y="57"/>
                  </a:lnTo>
                  <a:lnTo>
                    <a:pt x="33" y="60"/>
                  </a:lnTo>
                  <a:lnTo>
                    <a:pt x="33" y="62"/>
                  </a:lnTo>
                  <a:lnTo>
                    <a:pt x="37" y="65"/>
                  </a:lnTo>
                  <a:lnTo>
                    <a:pt x="37" y="67"/>
                  </a:lnTo>
                  <a:lnTo>
                    <a:pt x="37" y="70"/>
                  </a:lnTo>
                  <a:lnTo>
                    <a:pt x="40" y="72"/>
                  </a:lnTo>
                  <a:lnTo>
                    <a:pt x="40" y="75"/>
                  </a:lnTo>
                  <a:lnTo>
                    <a:pt x="40" y="76"/>
                  </a:lnTo>
                  <a:lnTo>
                    <a:pt x="44" y="80"/>
                  </a:lnTo>
                  <a:lnTo>
                    <a:pt x="44" y="81"/>
                  </a:lnTo>
                  <a:lnTo>
                    <a:pt x="44" y="84"/>
                  </a:lnTo>
                </a:path>
              </a:pathLst>
            </a:custGeom>
            <a:noFill/>
            <a:ln w="28575" cap="rnd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409" name="Group 73"/>
          <p:cNvGrpSpPr>
            <a:grpSpLocks/>
          </p:cNvGrpSpPr>
          <p:nvPr/>
        </p:nvGrpSpPr>
        <p:grpSpPr bwMode="auto">
          <a:xfrm>
            <a:off x="495302" y="2259013"/>
            <a:ext cx="4095751" cy="722312"/>
            <a:chOff x="312" y="1423"/>
            <a:chExt cx="2580" cy="455"/>
          </a:xfrm>
        </p:grpSpPr>
        <p:sp>
          <p:nvSpPr>
            <p:cNvPr id="14358" name="Rectangle 22"/>
            <p:cNvSpPr>
              <a:spLocks noChangeArrowheads="1"/>
            </p:cNvSpPr>
            <p:nvPr/>
          </p:nvSpPr>
          <p:spPr bwMode="auto">
            <a:xfrm>
              <a:off x="312" y="1641"/>
              <a:ext cx="6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>
                  <a:solidFill>
                    <a:srgbClr val="114FFB"/>
                  </a:solidFill>
                  <a:latin typeface="Arial" charset="0"/>
                </a:rPr>
                <a:t>3 sin(x) </a:t>
              </a:r>
            </a:p>
          </p:txBody>
        </p:sp>
        <p:grpSp>
          <p:nvGrpSpPr>
            <p:cNvPr id="14377" name="Group 41"/>
            <p:cNvGrpSpPr>
              <a:grpSpLocks/>
            </p:cNvGrpSpPr>
            <p:nvPr/>
          </p:nvGrpSpPr>
          <p:grpSpPr bwMode="auto">
            <a:xfrm>
              <a:off x="1482" y="1423"/>
              <a:ext cx="1410" cy="455"/>
              <a:chOff x="1303" y="1536"/>
              <a:chExt cx="1057" cy="606"/>
            </a:xfrm>
          </p:grpSpPr>
          <p:sp>
            <p:nvSpPr>
              <p:cNvPr id="14378" name="Freeform 42"/>
              <p:cNvSpPr>
                <a:spLocks/>
              </p:cNvSpPr>
              <p:nvPr/>
            </p:nvSpPr>
            <p:spPr bwMode="auto">
              <a:xfrm>
                <a:off x="1303" y="1536"/>
                <a:ext cx="340" cy="305"/>
              </a:xfrm>
              <a:custGeom>
                <a:avLst/>
                <a:gdLst>
                  <a:gd name="T0" fmla="*/ 3 w 340"/>
                  <a:gd name="T1" fmla="*/ 294 h 305"/>
                  <a:gd name="T2" fmla="*/ 10 w 340"/>
                  <a:gd name="T3" fmla="*/ 283 h 305"/>
                  <a:gd name="T4" fmla="*/ 13 w 340"/>
                  <a:gd name="T5" fmla="*/ 271 h 305"/>
                  <a:gd name="T6" fmla="*/ 16 w 340"/>
                  <a:gd name="T7" fmla="*/ 259 h 305"/>
                  <a:gd name="T8" fmla="*/ 23 w 340"/>
                  <a:gd name="T9" fmla="*/ 249 h 305"/>
                  <a:gd name="T10" fmla="*/ 26 w 340"/>
                  <a:gd name="T11" fmla="*/ 238 h 305"/>
                  <a:gd name="T12" fmla="*/ 29 w 340"/>
                  <a:gd name="T13" fmla="*/ 226 h 305"/>
                  <a:gd name="T14" fmla="*/ 35 w 340"/>
                  <a:gd name="T15" fmla="*/ 215 h 305"/>
                  <a:gd name="T16" fmla="*/ 39 w 340"/>
                  <a:gd name="T17" fmla="*/ 205 h 305"/>
                  <a:gd name="T18" fmla="*/ 42 w 340"/>
                  <a:gd name="T19" fmla="*/ 194 h 305"/>
                  <a:gd name="T20" fmla="*/ 48 w 340"/>
                  <a:gd name="T21" fmla="*/ 184 h 305"/>
                  <a:gd name="T22" fmla="*/ 51 w 340"/>
                  <a:gd name="T23" fmla="*/ 172 h 305"/>
                  <a:gd name="T24" fmla="*/ 55 w 340"/>
                  <a:gd name="T25" fmla="*/ 162 h 305"/>
                  <a:gd name="T26" fmla="*/ 58 w 340"/>
                  <a:gd name="T27" fmla="*/ 153 h 305"/>
                  <a:gd name="T28" fmla="*/ 64 w 340"/>
                  <a:gd name="T29" fmla="*/ 143 h 305"/>
                  <a:gd name="T30" fmla="*/ 67 w 340"/>
                  <a:gd name="T31" fmla="*/ 133 h 305"/>
                  <a:gd name="T32" fmla="*/ 71 w 340"/>
                  <a:gd name="T33" fmla="*/ 124 h 305"/>
                  <a:gd name="T34" fmla="*/ 77 w 340"/>
                  <a:gd name="T35" fmla="*/ 114 h 305"/>
                  <a:gd name="T36" fmla="*/ 80 w 340"/>
                  <a:gd name="T37" fmla="*/ 107 h 305"/>
                  <a:gd name="T38" fmla="*/ 83 w 340"/>
                  <a:gd name="T39" fmla="*/ 97 h 305"/>
                  <a:gd name="T40" fmla="*/ 90 w 340"/>
                  <a:gd name="T41" fmla="*/ 89 h 305"/>
                  <a:gd name="T42" fmla="*/ 93 w 340"/>
                  <a:gd name="T43" fmla="*/ 81 h 305"/>
                  <a:gd name="T44" fmla="*/ 96 w 340"/>
                  <a:gd name="T45" fmla="*/ 73 h 305"/>
                  <a:gd name="T46" fmla="*/ 103 w 340"/>
                  <a:gd name="T47" fmla="*/ 65 h 305"/>
                  <a:gd name="T48" fmla="*/ 106 w 340"/>
                  <a:gd name="T49" fmla="*/ 58 h 305"/>
                  <a:gd name="T50" fmla="*/ 112 w 340"/>
                  <a:gd name="T51" fmla="*/ 50 h 305"/>
                  <a:gd name="T52" fmla="*/ 119 w 340"/>
                  <a:gd name="T53" fmla="*/ 42 h 305"/>
                  <a:gd name="T54" fmla="*/ 125 w 340"/>
                  <a:gd name="T55" fmla="*/ 35 h 305"/>
                  <a:gd name="T56" fmla="*/ 131 w 340"/>
                  <a:gd name="T57" fmla="*/ 27 h 305"/>
                  <a:gd name="T58" fmla="*/ 138 w 340"/>
                  <a:gd name="T59" fmla="*/ 19 h 305"/>
                  <a:gd name="T60" fmla="*/ 147 w 340"/>
                  <a:gd name="T61" fmla="*/ 12 h 305"/>
                  <a:gd name="T62" fmla="*/ 160 w 340"/>
                  <a:gd name="T63" fmla="*/ 4 h 305"/>
                  <a:gd name="T64" fmla="*/ 173 w 340"/>
                  <a:gd name="T65" fmla="*/ 0 h 305"/>
                  <a:gd name="T66" fmla="*/ 186 w 340"/>
                  <a:gd name="T67" fmla="*/ 2 h 305"/>
                  <a:gd name="T68" fmla="*/ 199 w 340"/>
                  <a:gd name="T69" fmla="*/ 5 h 305"/>
                  <a:gd name="T70" fmla="*/ 211 w 340"/>
                  <a:gd name="T71" fmla="*/ 13 h 305"/>
                  <a:gd name="T72" fmla="*/ 221 w 340"/>
                  <a:gd name="T73" fmla="*/ 21 h 305"/>
                  <a:gd name="T74" fmla="*/ 227 w 340"/>
                  <a:gd name="T75" fmla="*/ 29 h 305"/>
                  <a:gd name="T76" fmla="*/ 234 w 340"/>
                  <a:gd name="T77" fmla="*/ 36 h 305"/>
                  <a:gd name="T78" fmla="*/ 240 w 340"/>
                  <a:gd name="T79" fmla="*/ 44 h 305"/>
                  <a:gd name="T80" fmla="*/ 243 w 340"/>
                  <a:gd name="T81" fmla="*/ 52 h 305"/>
                  <a:gd name="T82" fmla="*/ 250 w 340"/>
                  <a:gd name="T83" fmla="*/ 60 h 305"/>
                  <a:gd name="T84" fmla="*/ 253 w 340"/>
                  <a:gd name="T85" fmla="*/ 68 h 305"/>
                  <a:gd name="T86" fmla="*/ 259 w 340"/>
                  <a:gd name="T87" fmla="*/ 75 h 305"/>
                  <a:gd name="T88" fmla="*/ 262 w 340"/>
                  <a:gd name="T89" fmla="*/ 83 h 305"/>
                  <a:gd name="T90" fmla="*/ 266 w 340"/>
                  <a:gd name="T91" fmla="*/ 91 h 305"/>
                  <a:gd name="T92" fmla="*/ 269 w 340"/>
                  <a:gd name="T93" fmla="*/ 99 h 305"/>
                  <a:gd name="T94" fmla="*/ 275 w 340"/>
                  <a:gd name="T95" fmla="*/ 108 h 305"/>
                  <a:gd name="T96" fmla="*/ 278 w 340"/>
                  <a:gd name="T97" fmla="*/ 116 h 305"/>
                  <a:gd name="T98" fmla="*/ 282 w 340"/>
                  <a:gd name="T99" fmla="*/ 126 h 305"/>
                  <a:gd name="T100" fmla="*/ 288 w 340"/>
                  <a:gd name="T101" fmla="*/ 136 h 305"/>
                  <a:gd name="T102" fmla="*/ 291 w 340"/>
                  <a:gd name="T103" fmla="*/ 145 h 305"/>
                  <a:gd name="T104" fmla="*/ 294 w 340"/>
                  <a:gd name="T105" fmla="*/ 155 h 305"/>
                  <a:gd name="T106" fmla="*/ 301 w 340"/>
                  <a:gd name="T107" fmla="*/ 165 h 305"/>
                  <a:gd name="T108" fmla="*/ 304 w 340"/>
                  <a:gd name="T109" fmla="*/ 174 h 305"/>
                  <a:gd name="T110" fmla="*/ 307 w 340"/>
                  <a:gd name="T111" fmla="*/ 186 h 305"/>
                  <a:gd name="T112" fmla="*/ 314 w 340"/>
                  <a:gd name="T113" fmla="*/ 196 h 305"/>
                  <a:gd name="T114" fmla="*/ 317 w 340"/>
                  <a:gd name="T115" fmla="*/ 207 h 305"/>
                  <a:gd name="T116" fmla="*/ 320 w 340"/>
                  <a:gd name="T117" fmla="*/ 217 h 305"/>
                  <a:gd name="T118" fmla="*/ 326 w 340"/>
                  <a:gd name="T119" fmla="*/ 228 h 305"/>
                  <a:gd name="T120" fmla="*/ 330 w 340"/>
                  <a:gd name="T121" fmla="*/ 240 h 305"/>
                  <a:gd name="T122" fmla="*/ 333 w 340"/>
                  <a:gd name="T123" fmla="*/ 252 h 305"/>
                  <a:gd name="T124" fmla="*/ 339 w 340"/>
                  <a:gd name="T125" fmla="*/ 262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40" h="305">
                    <a:moveTo>
                      <a:pt x="0" y="304"/>
                    </a:moveTo>
                    <a:lnTo>
                      <a:pt x="3" y="300"/>
                    </a:lnTo>
                    <a:lnTo>
                      <a:pt x="3" y="298"/>
                    </a:lnTo>
                    <a:lnTo>
                      <a:pt x="3" y="294"/>
                    </a:lnTo>
                    <a:lnTo>
                      <a:pt x="7" y="292"/>
                    </a:lnTo>
                    <a:lnTo>
                      <a:pt x="7" y="288"/>
                    </a:lnTo>
                    <a:lnTo>
                      <a:pt x="7" y="286"/>
                    </a:lnTo>
                    <a:lnTo>
                      <a:pt x="10" y="283"/>
                    </a:lnTo>
                    <a:lnTo>
                      <a:pt x="10" y="281"/>
                    </a:lnTo>
                    <a:lnTo>
                      <a:pt x="10" y="277"/>
                    </a:lnTo>
                    <a:lnTo>
                      <a:pt x="13" y="275"/>
                    </a:lnTo>
                    <a:lnTo>
                      <a:pt x="13" y="271"/>
                    </a:lnTo>
                    <a:lnTo>
                      <a:pt x="13" y="269"/>
                    </a:lnTo>
                    <a:lnTo>
                      <a:pt x="16" y="265"/>
                    </a:lnTo>
                    <a:lnTo>
                      <a:pt x="16" y="263"/>
                    </a:lnTo>
                    <a:lnTo>
                      <a:pt x="16" y="259"/>
                    </a:lnTo>
                    <a:lnTo>
                      <a:pt x="19" y="257"/>
                    </a:lnTo>
                    <a:lnTo>
                      <a:pt x="19" y="256"/>
                    </a:lnTo>
                    <a:lnTo>
                      <a:pt x="19" y="252"/>
                    </a:lnTo>
                    <a:lnTo>
                      <a:pt x="23" y="249"/>
                    </a:lnTo>
                    <a:lnTo>
                      <a:pt x="23" y="246"/>
                    </a:lnTo>
                    <a:lnTo>
                      <a:pt x="23" y="244"/>
                    </a:lnTo>
                    <a:lnTo>
                      <a:pt x="26" y="240"/>
                    </a:lnTo>
                    <a:lnTo>
                      <a:pt x="26" y="238"/>
                    </a:lnTo>
                    <a:lnTo>
                      <a:pt x="26" y="234"/>
                    </a:lnTo>
                    <a:lnTo>
                      <a:pt x="29" y="233"/>
                    </a:lnTo>
                    <a:lnTo>
                      <a:pt x="29" y="230"/>
                    </a:lnTo>
                    <a:lnTo>
                      <a:pt x="29" y="226"/>
                    </a:lnTo>
                    <a:lnTo>
                      <a:pt x="32" y="225"/>
                    </a:lnTo>
                    <a:lnTo>
                      <a:pt x="32" y="220"/>
                    </a:lnTo>
                    <a:lnTo>
                      <a:pt x="32" y="219"/>
                    </a:lnTo>
                    <a:lnTo>
                      <a:pt x="35" y="215"/>
                    </a:lnTo>
                    <a:lnTo>
                      <a:pt x="35" y="213"/>
                    </a:lnTo>
                    <a:lnTo>
                      <a:pt x="35" y="211"/>
                    </a:lnTo>
                    <a:lnTo>
                      <a:pt x="39" y="207"/>
                    </a:lnTo>
                    <a:lnTo>
                      <a:pt x="39" y="205"/>
                    </a:lnTo>
                    <a:lnTo>
                      <a:pt x="39" y="201"/>
                    </a:lnTo>
                    <a:lnTo>
                      <a:pt x="42" y="199"/>
                    </a:lnTo>
                    <a:lnTo>
                      <a:pt x="42" y="197"/>
                    </a:lnTo>
                    <a:lnTo>
                      <a:pt x="42" y="194"/>
                    </a:lnTo>
                    <a:lnTo>
                      <a:pt x="45" y="191"/>
                    </a:lnTo>
                    <a:lnTo>
                      <a:pt x="45" y="190"/>
                    </a:lnTo>
                    <a:lnTo>
                      <a:pt x="45" y="186"/>
                    </a:lnTo>
                    <a:lnTo>
                      <a:pt x="48" y="184"/>
                    </a:lnTo>
                    <a:lnTo>
                      <a:pt x="48" y="180"/>
                    </a:lnTo>
                    <a:lnTo>
                      <a:pt x="48" y="178"/>
                    </a:lnTo>
                    <a:lnTo>
                      <a:pt x="51" y="176"/>
                    </a:lnTo>
                    <a:lnTo>
                      <a:pt x="51" y="172"/>
                    </a:lnTo>
                    <a:lnTo>
                      <a:pt x="51" y="170"/>
                    </a:lnTo>
                    <a:lnTo>
                      <a:pt x="55" y="168"/>
                    </a:lnTo>
                    <a:lnTo>
                      <a:pt x="55" y="165"/>
                    </a:lnTo>
                    <a:lnTo>
                      <a:pt x="55" y="162"/>
                    </a:lnTo>
                    <a:lnTo>
                      <a:pt x="55" y="160"/>
                    </a:lnTo>
                    <a:lnTo>
                      <a:pt x="58" y="159"/>
                    </a:lnTo>
                    <a:lnTo>
                      <a:pt x="58" y="155"/>
                    </a:lnTo>
                    <a:lnTo>
                      <a:pt x="58" y="153"/>
                    </a:lnTo>
                    <a:lnTo>
                      <a:pt x="61" y="151"/>
                    </a:lnTo>
                    <a:lnTo>
                      <a:pt x="61" y="147"/>
                    </a:lnTo>
                    <a:lnTo>
                      <a:pt x="61" y="145"/>
                    </a:lnTo>
                    <a:lnTo>
                      <a:pt x="64" y="143"/>
                    </a:lnTo>
                    <a:lnTo>
                      <a:pt x="64" y="141"/>
                    </a:lnTo>
                    <a:lnTo>
                      <a:pt x="64" y="137"/>
                    </a:lnTo>
                    <a:lnTo>
                      <a:pt x="67" y="136"/>
                    </a:lnTo>
                    <a:lnTo>
                      <a:pt x="67" y="133"/>
                    </a:lnTo>
                    <a:lnTo>
                      <a:pt x="67" y="131"/>
                    </a:lnTo>
                    <a:lnTo>
                      <a:pt x="71" y="130"/>
                    </a:lnTo>
                    <a:lnTo>
                      <a:pt x="71" y="126"/>
                    </a:lnTo>
                    <a:lnTo>
                      <a:pt x="71" y="124"/>
                    </a:lnTo>
                    <a:lnTo>
                      <a:pt x="74" y="122"/>
                    </a:lnTo>
                    <a:lnTo>
                      <a:pt x="74" y="120"/>
                    </a:lnTo>
                    <a:lnTo>
                      <a:pt x="74" y="118"/>
                    </a:lnTo>
                    <a:lnTo>
                      <a:pt x="77" y="114"/>
                    </a:lnTo>
                    <a:lnTo>
                      <a:pt x="77" y="112"/>
                    </a:lnTo>
                    <a:lnTo>
                      <a:pt x="77" y="110"/>
                    </a:lnTo>
                    <a:lnTo>
                      <a:pt x="80" y="108"/>
                    </a:lnTo>
                    <a:lnTo>
                      <a:pt x="80" y="107"/>
                    </a:lnTo>
                    <a:lnTo>
                      <a:pt x="80" y="104"/>
                    </a:lnTo>
                    <a:lnTo>
                      <a:pt x="83" y="102"/>
                    </a:lnTo>
                    <a:lnTo>
                      <a:pt x="83" y="101"/>
                    </a:lnTo>
                    <a:lnTo>
                      <a:pt x="83" y="97"/>
                    </a:lnTo>
                    <a:lnTo>
                      <a:pt x="87" y="94"/>
                    </a:lnTo>
                    <a:lnTo>
                      <a:pt x="87" y="93"/>
                    </a:lnTo>
                    <a:lnTo>
                      <a:pt x="87" y="91"/>
                    </a:lnTo>
                    <a:lnTo>
                      <a:pt x="90" y="89"/>
                    </a:lnTo>
                    <a:lnTo>
                      <a:pt x="90" y="87"/>
                    </a:lnTo>
                    <a:lnTo>
                      <a:pt x="90" y="85"/>
                    </a:lnTo>
                    <a:lnTo>
                      <a:pt x="93" y="83"/>
                    </a:lnTo>
                    <a:lnTo>
                      <a:pt x="93" y="81"/>
                    </a:lnTo>
                    <a:lnTo>
                      <a:pt x="93" y="79"/>
                    </a:lnTo>
                    <a:lnTo>
                      <a:pt x="96" y="78"/>
                    </a:lnTo>
                    <a:lnTo>
                      <a:pt x="96" y="75"/>
                    </a:lnTo>
                    <a:lnTo>
                      <a:pt x="96" y="73"/>
                    </a:lnTo>
                    <a:lnTo>
                      <a:pt x="99" y="71"/>
                    </a:lnTo>
                    <a:lnTo>
                      <a:pt x="99" y="70"/>
                    </a:lnTo>
                    <a:lnTo>
                      <a:pt x="99" y="68"/>
                    </a:lnTo>
                    <a:lnTo>
                      <a:pt x="103" y="65"/>
                    </a:lnTo>
                    <a:lnTo>
                      <a:pt x="103" y="64"/>
                    </a:lnTo>
                    <a:lnTo>
                      <a:pt x="106" y="62"/>
                    </a:lnTo>
                    <a:lnTo>
                      <a:pt x="106" y="60"/>
                    </a:lnTo>
                    <a:lnTo>
                      <a:pt x="106" y="58"/>
                    </a:lnTo>
                    <a:lnTo>
                      <a:pt x="109" y="56"/>
                    </a:lnTo>
                    <a:lnTo>
                      <a:pt x="109" y="54"/>
                    </a:lnTo>
                    <a:lnTo>
                      <a:pt x="112" y="52"/>
                    </a:lnTo>
                    <a:lnTo>
                      <a:pt x="112" y="50"/>
                    </a:lnTo>
                    <a:lnTo>
                      <a:pt x="112" y="48"/>
                    </a:lnTo>
                    <a:lnTo>
                      <a:pt x="115" y="46"/>
                    </a:lnTo>
                    <a:lnTo>
                      <a:pt x="115" y="44"/>
                    </a:lnTo>
                    <a:lnTo>
                      <a:pt x="119" y="42"/>
                    </a:lnTo>
                    <a:lnTo>
                      <a:pt x="119" y="41"/>
                    </a:lnTo>
                    <a:lnTo>
                      <a:pt x="122" y="39"/>
                    </a:lnTo>
                    <a:lnTo>
                      <a:pt x="122" y="36"/>
                    </a:lnTo>
                    <a:lnTo>
                      <a:pt x="125" y="35"/>
                    </a:lnTo>
                    <a:lnTo>
                      <a:pt x="125" y="33"/>
                    </a:lnTo>
                    <a:lnTo>
                      <a:pt x="128" y="31"/>
                    </a:lnTo>
                    <a:lnTo>
                      <a:pt x="128" y="29"/>
                    </a:lnTo>
                    <a:lnTo>
                      <a:pt x="131" y="27"/>
                    </a:lnTo>
                    <a:lnTo>
                      <a:pt x="131" y="25"/>
                    </a:lnTo>
                    <a:lnTo>
                      <a:pt x="135" y="23"/>
                    </a:lnTo>
                    <a:lnTo>
                      <a:pt x="135" y="21"/>
                    </a:lnTo>
                    <a:lnTo>
                      <a:pt x="138" y="19"/>
                    </a:lnTo>
                    <a:lnTo>
                      <a:pt x="141" y="17"/>
                    </a:lnTo>
                    <a:lnTo>
                      <a:pt x="141" y="15"/>
                    </a:lnTo>
                    <a:lnTo>
                      <a:pt x="144" y="13"/>
                    </a:lnTo>
                    <a:lnTo>
                      <a:pt x="147" y="12"/>
                    </a:lnTo>
                    <a:lnTo>
                      <a:pt x="151" y="10"/>
                    </a:lnTo>
                    <a:lnTo>
                      <a:pt x="154" y="7"/>
                    </a:lnTo>
                    <a:lnTo>
                      <a:pt x="157" y="5"/>
                    </a:lnTo>
                    <a:lnTo>
                      <a:pt x="160" y="4"/>
                    </a:lnTo>
                    <a:lnTo>
                      <a:pt x="163" y="2"/>
                    </a:lnTo>
                    <a:lnTo>
                      <a:pt x="167" y="2"/>
                    </a:lnTo>
                    <a:lnTo>
                      <a:pt x="170" y="0"/>
                    </a:lnTo>
                    <a:lnTo>
                      <a:pt x="173" y="0"/>
                    </a:lnTo>
                    <a:lnTo>
                      <a:pt x="176" y="0"/>
                    </a:lnTo>
                    <a:lnTo>
                      <a:pt x="179" y="0"/>
                    </a:lnTo>
                    <a:lnTo>
                      <a:pt x="183" y="0"/>
                    </a:lnTo>
                    <a:lnTo>
                      <a:pt x="186" y="2"/>
                    </a:lnTo>
                    <a:lnTo>
                      <a:pt x="189" y="2"/>
                    </a:lnTo>
                    <a:lnTo>
                      <a:pt x="192" y="4"/>
                    </a:lnTo>
                    <a:lnTo>
                      <a:pt x="195" y="4"/>
                    </a:lnTo>
                    <a:lnTo>
                      <a:pt x="199" y="5"/>
                    </a:lnTo>
                    <a:lnTo>
                      <a:pt x="202" y="7"/>
                    </a:lnTo>
                    <a:lnTo>
                      <a:pt x="205" y="10"/>
                    </a:lnTo>
                    <a:lnTo>
                      <a:pt x="208" y="12"/>
                    </a:lnTo>
                    <a:lnTo>
                      <a:pt x="211" y="13"/>
                    </a:lnTo>
                    <a:lnTo>
                      <a:pt x="214" y="15"/>
                    </a:lnTo>
                    <a:lnTo>
                      <a:pt x="214" y="17"/>
                    </a:lnTo>
                    <a:lnTo>
                      <a:pt x="218" y="19"/>
                    </a:lnTo>
                    <a:lnTo>
                      <a:pt x="221" y="21"/>
                    </a:lnTo>
                    <a:lnTo>
                      <a:pt x="221" y="23"/>
                    </a:lnTo>
                    <a:lnTo>
                      <a:pt x="224" y="25"/>
                    </a:lnTo>
                    <a:lnTo>
                      <a:pt x="224" y="27"/>
                    </a:lnTo>
                    <a:lnTo>
                      <a:pt x="227" y="29"/>
                    </a:lnTo>
                    <a:lnTo>
                      <a:pt x="227" y="31"/>
                    </a:lnTo>
                    <a:lnTo>
                      <a:pt x="230" y="33"/>
                    </a:lnTo>
                    <a:lnTo>
                      <a:pt x="230" y="35"/>
                    </a:lnTo>
                    <a:lnTo>
                      <a:pt x="234" y="36"/>
                    </a:lnTo>
                    <a:lnTo>
                      <a:pt x="234" y="39"/>
                    </a:lnTo>
                    <a:lnTo>
                      <a:pt x="237" y="41"/>
                    </a:lnTo>
                    <a:lnTo>
                      <a:pt x="237" y="42"/>
                    </a:lnTo>
                    <a:lnTo>
                      <a:pt x="240" y="44"/>
                    </a:lnTo>
                    <a:lnTo>
                      <a:pt x="240" y="46"/>
                    </a:lnTo>
                    <a:lnTo>
                      <a:pt x="243" y="48"/>
                    </a:lnTo>
                    <a:lnTo>
                      <a:pt x="243" y="50"/>
                    </a:lnTo>
                    <a:lnTo>
                      <a:pt x="243" y="52"/>
                    </a:lnTo>
                    <a:lnTo>
                      <a:pt x="246" y="54"/>
                    </a:lnTo>
                    <a:lnTo>
                      <a:pt x="246" y="56"/>
                    </a:lnTo>
                    <a:lnTo>
                      <a:pt x="250" y="58"/>
                    </a:lnTo>
                    <a:lnTo>
                      <a:pt x="250" y="60"/>
                    </a:lnTo>
                    <a:lnTo>
                      <a:pt x="250" y="62"/>
                    </a:lnTo>
                    <a:lnTo>
                      <a:pt x="253" y="64"/>
                    </a:lnTo>
                    <a:lnTo>
                      <a:pt x="253" y="65"/>
                    </a:lnTo>
                    <a:lnTo>
                      <a:pt x="253" y="68"/>
                    </a:lnTo>
                    <a:lnTo>
                      <a:pt x="256" y="70"/>
                    </a:lnTo>
                    <a:lnTo>
                      <a:pt x="256" y="71"/>
                    </a:lnTo>
                    <a:lnTo>
                      <a:pt x="256" y="73"/>
                    </a:lnTo>
                    <a:lnTo>
                      <a:pt x="259" y="75"/>
                    </a:lnTo>
                    <a:lnTo>
                      <a:pt x="259" y="78"/>
                    </a:lnTo>
                    <a:lnTo>
                      <a:pt x="259" y="79"/>
                    </a:lnTo>
                    <a:lnTo>
                      <a:pt x="262" y="81"/>
                    </a:lnTo>
                    <a:lnTo>
                      <a:pt x="262" y="83"/>
                    </a:lnTo>
                    <a:lnTo>
                      <a:pt x="262" y="85"/>
                    </a:lnTo>
                    <a:lnTo>
                      <a:pt x="266" y="87"/>
                    </a:lnTo>
                    <a:lnTo>
                      <a:pt x="266" y="89"/>
                    </a:lnTo>
                    <a:lnTo>
                      <a:pt x="266" y="91"/>
                    </a:lnTo>
                    <a:lnTo>
                      <a:pt x="266" y="93"/>
                    </a:lnTo>
                    <a:lnTo>
                      <a:pt x="269" y="94"/>
                    </a:lnTo>
                    <a:lnTo>
                      <a:pt x="269" y="97"/>
                    </a:lnTo>
                    <a:lnTo>
                      <a:pt x="269" y="99"/>
                    </a:lnTo>
                    <a:lnTo>
                      <a:pt x="272" y="101"/>
                    </a:lnTo>
                    <a:lnTo>
                      <a:pt x="272" y="102"/>
                    </a:lnTo>
                    <a:lnTo>
                      <a:pt x="272" y="104"/>
                    </a:lnTo>
                    <a:lnTo>
                      <a:pt x="275" y="108"/>
                    </a:lnTo>
                    <a:lnTo>
                      <a:pt x="275" y="110"/>
                    </a:lnTo>
                    <a:lnTo>
                      <a:pt x="275" y="112"/>
                    </a:lnTo>
                    <a:lnTo>
                      <a:pt x="278" y="114"/>
                    </a:lnTo>
                    <a:lnTo>
                      <a:pt x="278" y="116"/>
                    </a:lnTo>
                    <a:lnTo>
                      <a:pt x="278" y="118"/>
                    </a:lnTo>
                    <a:lnTo>
                      <a:pt x="282" y="122"/>
                    </a:lnTo>
                    <a:lnTo>
                      <a:pt x="282" y="124"/>
                    </a:lnTo>
                    <a:lnTo>
                      <a:pt x="282" y="126"/>
                    </a:lnTo>
                    <a:lnTo>
                      <a:pt x="285" y="128"/>
                    </a:lnTo>
                    <a:lnTo>
                      <a:pt x="285" y="130"/>
                    </a:lnTo>
                    <a:lnTo>
                      <a:pt x="285" y="133"/>
                    </a:lnTo>
                    <a:lnTo>
                      <a:pt x="288" y="136"/>
                    </a:lnTo>
                    <a:lnTo>
                      <a:pt x="288" y="137"/>
                    </a:lnTo>
                    <a:lnTo>
                      <a:pt x="288" y="139"/>
                    </a:lnTo>
                    <a:lnTo>
                      <a:pt x="291" y="141"/>
                    </a:lnTo>
                    <a:lnTo>
                      <a:pt x="291" y="145"/>
                    </a:lnTo>
                    <a:lnTo>
                      <a:pt x="291" y="147"/>
                    </a:lnTo>
                    <a:lnTo>
                      <a:pt x="294" y="149"/>
                    </a:lnTo>
                    <a:lnTo>
                      <a:pt x="294" y="153"/>
                    </a:lnTo>
                    <a:lnTo>
                      <a:pt x="294" y="155"/>
                    </a:lnTo>
                    <a:lnTo>
                      <a:pt x="298" y="157"/>
                    </a:lnTo>
                    <a:lnTo>
                      <a:pt x="298" y="159"/>
                    </a:lnTo>
                    <a:lnTo>
                      <a:pt x="298" y="162"/>
                    </a:lnTo>
                    <a:lnTo>
                      <a:pt x="301" y="165"/>
                    </a:lnTo>
                    <a:lnTo>
                      <a:pt x="301" y="167"/>
                    </a:lnTo>
                    <a:lnTo>
                      <a:pt x="301" y="170"/>
                    </a:lnTo>
                    <a:lnTo>
                      <a:pt x="304" y="172"/>
                    </a:lnTo>
                    <a:lnTo>
                      <a:pt x="304" y="174"/>
                    </a:lnTo>
                    <a:lnTo>
                      <a:pt x="304" y="178"/>
                    </a:lnTo>
                    <a:lnTo>
                      <a:pt x="307" y="180"/>
                    </a:lnTo>
                    <a:lnTo>
                      <a:pt x="307" y="182"/>
                    </a:lnTo>
                    <a:lnTo>
                      <a:pt x="307" y="186"/>
                    </a:lnTo>
                    <a:lnTo>
                      <a:pt x="310" y="188"/>
                    </a:lnTo>
                    <a:lnTo>
                      <a:pt x="310" y="190"/>
                    </a:lnTo>
                    <a:lnTo>
                      <a:pt x="310" y="194"/>
                    </a:lnTo>
                    <a:lnTo>
                      <a:pt x="314" y="196"/>
                    </a:lnTo>
                    <a:lnTo>
                      <a:pt x="314" y="199"/>
                    </a:lnTo>
                    <a:lnTo>
                      <a:pt x="314" y="201"/>
                    </a:lnTo>
                    <a:lnTo>
                      <a:pt x="317" y="203"/>
                    </a:lnTo>
                    <a:lnTo>
                      <a:pt x="317" y="207"/>
                    </a:lnTo>
                    <a:lnTo>
                      <a:pt x="317" y="209"/>
                    </a:lnTo>
                    <a:lnTo>
                      <a:pt x="320" y="213"/>
                    </a:lnTo>
                    <a:lnTo>
                      <a:pt x="320" y="215"/>
                    </a:lnTo>
                    <a:lnTo>
                      <a:pt x="320" y="217"/>
                    </a:lnTo>
                    <a:lnTo>
                      <a:pt x="323" y="220"/>
                    </a:lnTo>
                    <a:lnTo>
                      <a:pt x="323" y="223"/>
                    </a:lnTo>
                    <a:lnTo>
                      <a:pt x="323" y="226"/>
                    </a:lnTo>
                    <a:lnTo>
                      <a:pt x="326" y="228"/>
                    </a:lnTo>
                    <a:lnTo>
                      <a:pt x="326" y="230"/>
                    </a:lnTo>
                    <a:lnTo>
                      <a:pt x="326" y="234"/>
                    </a:lnTo>
                    <a:lnTo>
                      <a:pt x="330" y="236"/>
                    </a:lnTo>
                    <a:lnTo>
                      <a:pt x="330" y="240"/>
                    </a:lnTo>
                    <a:lnTo>
                      <a:pt x="330" y="242"/>
                    </a:lnTo>
                    <a:lnTo>
                      <a:pt x="333" y="246"/>
                    </a:lnTo>
                    <a:lnTo>
                      <a:pt x="333" y="248"/>
                    </a:lnTo>
                    <a:lnTo>
                      <a:pt x="333" y="252"/>
                    </a:lnTo>
                    <a:lnTo>
                      <a:pt x="336" y="254"/>
                    </a:lnTo>
                    <a:lnTo>
                      <a:pt x="336" y="257"/>
                    </a:lnTo>
                    <a:lnTo>
                      <a:pt x="336" y="259"/>
                    </a:lnTo>
                    <a:lnTo>
                      <a:pt x="339" y="262"/>
                    </a:lnTo>
                    <a:lnTo>
                      <a:pt x="339" y="265"/>
                    </a:lnTo>
                    <a:lnTo>
                      <a:pt x="339" y="267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9" name="Freeform 43"/>
              <p:cNvSpPr>
                <a:spLocks/>
              </p:cNvSpPr>
              <p:nvPr/>
            </p:nvSpPr>
            <p:spPr bwMode="auto">
              <a:xfrm>
                <a:off x="1642" y="1803"/>
                <a:ext cx="344" cy="339"/>
              </a:xfrm>
              <a:custGeom>
                <a:avLst/>
                <a:gdLst>
                  <a:gd name="T0" fmla="*/ 3 w 344"/>
                  <a:gd name="T1" fmla="*/ 10 h 339"/>
                  <a:gd name="T2" fmla="*/ 10 w 344"/>
                  <a:gd name="T3" fmla="*/ 21 h 339"/>
                  <a:gd name="T4" fmla="*/ 13 w 344"/>
                  <a:gd name="T5" fmla="*/ 33 h 339"/>
                  <a:gd name="T6" fmla="*/ 16 w 344"/>
                  <a:gd name="T7" fmla="*/ 43 h 339"/>
                  <a:gd name="T8" fmla="*/ 23 w 344"/>
                  <a:gd name="T9" fmla="*/ 54 h 339"/>
                  <a:gd name="T10" fmla="*/ 26 w 344"/>
                  <a:gd name="T11" fmla="*/ 66 h 339"/>
                  <a:gd name="T12" fmla="*/ 29 w 344"/>
                  <a:gd name="T13" fmla="*/ 77 h 339"/>
                  <a:gd name="T14" fmla="*/ 32 w 344"/>
                  <a:gd name="T15" fmla="*/ 89 h 339"/>
                  <a:gd name="T16" fmla="*/ 39 w 344"/>
                  <a:gd name="T17" fmla="*/ 101 h 339"/>
                  <a:gd name="T18" fmla="*/ 42 w 344"/>
                  <a:gd name="T19" fmla="*/ 110 h 339"/>
                  <a:gd name="T20" fmla="*/ 45 w 344"/>
                  <a:gd name="T21" fmla="*/ 122 h 339"/>
                  <a:gd name="T22" fmla="*/ 51 w 344"/>
                  <a:gd name="T23" fmla="*/ 133 h 339"/>
                  <a:gd name="T24" fmla="*/ 55 w 344"/>
                  <a:gd name="T25" fmla="*/ 143 h 339"/>
                  <a:gd name="T26" fmla="*/ 58 w 344"/>
                  <a:gd name="T27" fmla="*/ 155 h 339"/>
                  <a:gd name="T28" fmla="*/ 64 w 344"/>
                  <a:gd name="T29" fmla="*/ 164 h 339"/>
                  <a:gd name="T30" fmla="*/ 67 w 344"/>
                  <a:gd name="T31" fmla="*/ 174 h 339"/>
                  <a:gd name="T32" fmla="*/ 71 w 344"/>
                  <a:gd name="T33" fmla="*/ 186 h 339"/>
                  <a:gd name="T34" fmla="*/ 77 w 344"/>
                  <a:gd name="T35" fmla="*/ 196 h 339"/>
                  <a:gd name="T36" fmla="*/ 80 w 344"/>
                  <a:gd name="T37" fmla="*/ 205 h 339"/>
                  <a:gd name="T38" fmla="*/ 83 w 344"/>
                  <a:gd name="T39" fmla="*/ 212 h 339"/>
                  <a:gd name="T40" fmla="*/ 90 w 344"/>
                  <a:gd name="T41" fmla="*/ 222 h 339"/>
                  <a:gd name="T42" fmla="*/ 93 w 344"/>
                  <a:gd name="T43" fmla="*/ 232 h 339"/>
                  <a:gd name="T44" fmla="*/ 96 w 344"/>
                  <a:gd name="T45" fmla="*/ 240 h 339"/>
                  <a:gd name="T46" fmla="*/ 103 w 344"/>
                  <a:gd name="T47" fmla="*/ 247 h 339"/>
                  <a:gd name="T48" fmla="*/ 106 w 344"/>
                  <a:gd name="T49" fmla="*/ 257 h 339"/>
                  <a:gd name="T50" fmla="*/ 109 w 344"/>
                  <a:gd name="T51" fmla="*/ 265 h 339"/>
                  <a:gd name="T52" fmla="*/ 115 w 344"/>
                  <a:gd name="T53" fmla="*/ 273 h 339"/>
                  <a:gd name="T54" fmla="*/ 119 w 344"/>
                  <a:gd name="T55" fmla="*/ 280 h 339"/>
                  <a:gd name="T56" fmla="*/ 125 w 344"/>
                  <a:gd name="T57" fmla="*/ 288 h 339"/>
                  <a:gd name="T58" fmla="*/ 131 w 344"/>
                  <a:gd name="T59" fmla="*/ 296 h 339"/>
                  <a:gd name="T60" fmla="*/ 138 w 344"/>
                  <a:gd name="T61" fmla="*/ 304 h 339"/>
                  <a:gd name="T62" fmla="*/ 141 w 344"/>
                  <a:gd name="T63" fmla="*/ 311 h 339"/>
                  <a:gd name="T64" fmla="*/ 151 w 344"/>
                  <a:gd name="T65" fmla="*/ 319 h 339"/>
                  <a:gd name="T66" fmla="*/ 160 w 344"/>
                  <a:gd name="T67" fmla="*/ 327 h 339"/>
                  <a:gd name="T68" fmla="*/ 173 w 344"/>
                  <a:gd name="T69" fmla="*/ 334 h 339"/>
                  <a:gd name="T70" fmla="*/ 186 w 344"/>
                  <a:gd name="T71" fmla="*/ 338 h 339"/>
                  <a:gd name="T72" fmla="*/ 199 w 344"/>
                  <a:gd name="T73" fmla="*/ 336 h 339"/>
                  <a:gd name="T74" fmla="*/ 211 w 344"/>
                  <a:gd name="T75" fmla="*/ 333 h 339"/>
                  <a:gd name="T76" fmla="*/ 224 w 344"/>
                  <a:gd name="T77" fmla="*/ 325 h 339"/>
                  <a:gd name="T78" fmla="*/ 234 w 344"/>
                  <a:gd name="T79" fmla="*/ 317 h 339"/>
                  <a:gd name="T80" fmla="*/ 240 w 344"/>
                  <a:gd name="T81" fmla="*/ 309 h 339"/>
                  <a:gd name="T82" fmla="*/ 247 w 344"/>
                  <a:gd name="T83" fmla="*/ 302 h 339"/>
                  <a:gd name="T84" fmla="*/ 250 w 344"/>
                  <a:gd name="T85" fmla="*/ 294 h 339"/>
                  <a:gd name="T86" fmla="*/ 256 w 344"/>
                  <a:gd name="T87" fmla="*/ 286 h 339"/>
                  <a:gd name="T88" fmla="*/ 263 w 344"/>
                  <a:gd name="T89" fmla="*/ 278 h 339"/>
                  <a:gd name="T90" fmla="*/ 266 w 344"/>
                  <a:gd name="T91" fmla="*/ 270 h 339"/>
                  <a:gd name="T92" fmla="*/ 272 w 344"/>
                  <a:gd name="T93" fmla="*/ 263 h 339"/>
                  <a:gd name="T94" fmla="*/ 275 w 344"/>
                  <a:gd name="T95" fmla="*/ 255 h 339"/>
                  <a:gd name="T96" fmla="*/ 279 w 344"/>
                  <a:gd name="T97" fmla="*/ 246 h 339"/>
                  <a:gd name="T98" fmla="*/ 285 w 344"/>
                  <a:gd name="T99" fmla="*/ 238 h 339"/>
                  <a:gd name="T100" fmla="*/ 288 w 344"/>
                  <a:gd name="T101" fmla="*/ 230 h 339"/>
                  <a:gd name="T102" fmla="*/ 291 w 344"/>
                  <a:gd name="T103" fmla="*/ 220 h 339"/>
                  <a:gd name="T104" fmla="*/ 298 w 344"/>
                  <a:gd name="T105" fmla="*/ 211 h 339"/>
                  <a:gd name="T106" fmla="*/ 301 w 344"/>
                  <a:gd name="T107" fmla="*/ 201 h 339"/>
                  <a:gd name="T108" fmla="*/ 304 w 344"/>
                  <a:gd name="T109" fmla="*/ 191 h 339"/>
                  <a:gd name="T110" fmla="*/ 311 w 344"/>
                  <a:gd name="T111" fmla="*/ 182 h 339"/>
                  <a:gd name="T112" fmla="*/ 314 w 344"/>
                  <a:gd name="T113" fmla="*/ 172 h 339"/>
                  <a:gd name="T114" fmla="*/ 317 w 344"/>
                  <a:gd name="T115" fmla="*/ 162 h 339"/>
                  <a:gd name="T116" fmla="*/ 323 w 344"/>
                  <a:gd name="T117" fmla="*/ 151 h 339"/>
                  <a:gd name="T118" fmla="*/ 327 w 344"/>
                  <a:gd name="T119" fmla="*/ 141 h 339"/>
                  <a:gd name="T120" fmla="*/ 330 w 344"/>
                  <a:gd name="T121" fmla="*/ 130 h 339"/>
                  <a:gd name="T122" fmla="*/ 336 w 344"/>
                  <a:gd name="T123" fmla="*/ 120 h 339"/>
                  <a:gd name="T124" fmla="*/ 339 w 344"/>
                  <a:gd name="T125" fmla="*/ 10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44" h="339">
                    <a:moveTo>
                      <a:pt x="0" y="0"/>
                    </a:moveTo>
                    <a:lnTo>
                      <a:pt x="3" y="4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7" y="11"/>
                    </a:lnTo>
                    <a:lnTo>
                      <a:pt x="7" y="16"/>
                    </a:lnTo>
                    <a:lnTo>
                      <a:pt x="7" y="18"/>
                    </a:lnTo>
                    <a:lnTo>
                      <a:pt x="10" y="21"/>
                    </a:lnTo>
                    <a:lnTo>
                      <a:pt x="10" y="24"/>
                    </a:lnTo>
                    <a:lnTo>
                      <a:pt x="10" y="27"/>
                    </a:lnTo>
                    <a:lnTo>
                      <a:pt x="13" y="29"/>
                    </a:lnTo>
                    <a:lnTo>
                      <a:pt x="13" y="33"/>
                    </a:lnTo>
                    <a:lnTo>
                      <a:pt x="13" y="35"/>
                    </a:lnTo>
                    <a:lnTo>
                      <a:pt x="16" y="37"/>
                    </a:lnTo>
                    <a:lnTo>
                      <a:pt x="16" y="40"/>
                    </a:lnTo>
                    <a:lnTo>
                      <a:pt x="16" y="43"/>
                    </a:lnTo>
                    <a:lnTo>
                      <a:pt x="19" y="46"/>
                    </a:lnTo>
                    <a:lnTo>
                      <a:pt x="19" y="48"/>
                    </a:lnTo>
                    <a:lnTo>
                      <a:pt x="19" y="53"/>
                    </a:lnTo>
                    <a:lnTo>
                      <a:pt x="23" y="54"/>
                    </a:lnTo>
                    <a:lnTo>
                      <a:pt x="23" y="58"/>
                    </a:lnTo>
                    <a:lnTo>
                      <a:pt x="23" y="60"/>
                    </a:lnTo>
                    <a:lnTo>
                      <a:pt x="26" y="64"/>
                    </a:lnTo>
                    <a:lnTo>
                      <a:pt x="26" y="66"/>
                    </a:lnTo>
                    <a:lnTo>
                      <a:pt x="26" y="70"/>
                    </a:lnTo>
                    <a:lnTo>
                      <a:pt x="29" y="72"/>
                    </a:lnTo>
                    <a:lnTo>
                      <a:pt x="29" y="75"/>
                    </a:lnTo>
                    <a:lnTo>
                      <a:pt x="29" y="77"/>
                    </a:lnTo>
                    <a:lnTo>
                      <a:pt x="32" y="81"/>
                    </a:lnTo>
                    <a:lnTo>
                      <a:pt x="32" y="83"/>
                    </a:lnTo>
                    <a:lnTo>
                      <a:pt x="32" y="85"/>
                    </a:lnTo>
                    <a:lnTo>
                      <a:pt x="32" y="89"/>
                    </a:lnTo>
                    <a:lnTo>
                      <a:pt x="35" y="91"/>
                    </a:lnTo>
                    <a:lnTo>
                      <a:pt x="35" y="95"/>
                    </a:lnTo>
                    <a:lnTo>
                      <a:pt x="35" y="97"/>
                    </a:lnTo>
                    <a:lnTo>
                      <a:pt x="39" y="101"/>
                    </a:lnTo>
                    <a:lnTo>
                      <a:pt x="39" y="103"/>
                    </a:lnTo>
                    <a:lnTo>
                      <a:pt x="39" y="106"/>
                    </a:lnTo>
                    <a:lnTo>
                      <a:pt x="42" y="109"/>
                    </a:lnTo>
                    <a:lnTo>
                      <a:pt x="42" y="110"/>
                    </a:lnTo>
                    <a:lnTo>
                      <a:pt x="42" y="114"/>
                    </a:lnTo>
                    <a:lnTo>
                      <a:pt x="45" y="116"/>
                    </a:lnTo>
                    <a:lnTo>
                      <a:pt x="45" y="120"/>
                    </a:lnTo>
                    <a:lnTo>
                      <a:pt x="45" y="122"/>
                    </a:lnTo>
                    <a:lnTo>
                      <a:pt x="48" y="126"/>
                    </a:lnTo>
                    <a:lnTo>
                      <a:pt x="48" y="128"/>
                    </a:lnTo>
                    <a:lnTo>
                      <a:pt x="48" y="130"/>
                    </a:lnTo>
                    <a:lnTo>
                      <a:pt x="51" y="133"/>
                    </a:lnTo>
                    <a:lnTo>
                      <a:pt x="51" y="135"/>
                    </a:lnTo>
                    <a:lnTo>
                      <a:pt x="51" y="139"/>
                    </a:lnTo>
                    <a:lnTo>
                      <a:pt x="55" y="141"/>
                    </a:lnTo>
                    <a:lnTo>
                      <a:pt x="55" y="143"/>
                    </a:lnTo>
                    <a:lnTo>
                      <a:pt x="55" y="147"/>
                    </a:lnTo>
                    <a:lnTo>
                      <a:pt x="58" y="149"/>
                    </a:lnTo>
                    <a:lnTo>
                      <a:pt x="58" y="151"/>
                    </a:lnTo>
                    <a:lnTo>
                      <a:pt x="58" y="155"/>
                    </a:lnTo>
                    <a:lnTo>
                      <a:pt x="61" y="157"/>
                    </a:lnTo>
                    <a:lnTo>
                      <a:pt x="61" y="159"/>
                    </a:lnTo>
                    <a:lnTo>
                      <a:pt x="61" y="162"/>
                    </a:lnTo>
                    <a:lnTo>
                      <a:pt x="64" y="164"/>
                    </a:lnTo>
                    <a:lnTo>
                      <a:pt x="64" y="167"/>
                    </a:lnTo>
                    <a:lnTo>
                      <a:pt x="64" y="170"/>
                    </a:lnTo>
                    <a:lnTo>
                      <a:pt x="67" y="172"/>
                    </a:lnTo>
                    <a:lnTo>
                      <a:pt x="67" y="174"/>
                    </a:lnTo>
                    <a:lnTo>
                      <a:pt x="67" y="178"/>
                    </a:lnTo>
                    <a:lnTo>
                      <a:pt x="71" y="180"/>
                    </a:lnTo>
                    <a:lnTo>
                      <a:pt x="71" y="182"/>
                    </a:lnTo>
                    <a:lnTo>
                      <a:pt x="71" y="186"/>
                    </a:lnTo>
                    <a:lnTo>
                      <a:pt x="74" y="188"/>
                    </a:lnTo>
                    <a:lnTo>
                      <a:pt x="74" y="190"/>
                    </a:lnTo>
                    <a:lnTo>
                      <a:pt x="74" y="191"/>
                    </a:lnTo>
                    <a:lnTo>
                      <a:pt x="77" y="196"/>
                    </a:lnTo>
                    <a:lnTo>
                      <a:pt x="77" y="197"/>
                    </a:lnTo>
                    <a:lnTo>
                      <a:pt x="77" y="199"/>
                    </a:lnTo>
                    <a:lnTo>
                      <a:pt x="80" y="201"/>
                    </a:lnTo>
                    <a:lnTo>
                      <a:pt x="80" y="205"/>
                    </a:lnTo>
                    <a:lnTo>
                      <a:pt x="80" y="207"/>
                    </a:lnTo>
                    <a:lnTo>
                      <a:pt x="83" y="209"/>
                    </a:lnTo>
                    <a:lnTo>
                      <a:pt x="83" y="211"/>
                    </a:lnTo>
                    <a:lnTo>
                      <a:pt x="83" y="212"/>
                    </a:lnTo>
                    <a:lnTo>
                      <a:pt x="87" y="217"/>
                    </a:lnTo>
                    <a:lnTo>
                      <a:pt x="87" y="218"/>
                    </a:lnTo>
                    <a:lnTo>
                      <a:pt x="87" y="220"/>
                    </a:lnTo>
                    <a:lnTo>
                      <a:pt x="90" y="222"/>
                    </a:lnTo>
                    <a:lnTo>
                      <a:pt x="90" y="225"/>
                    </a:lnTo>
                    <a:lnTo>
                      <a:pt x="90" y="226"/>
                    </a:lnTo>
                    <a:lnTo>
                      <a:pt x="93" y="230"/>
                    </a:lnTo>
                    <a:lnTo>
                      <a:pt x="93" y="232"/>
                    </a:lnTo>
                    <a:lnTo>
                      <a:pt x="93" y="234"/>
                    </a:lnTo>
                    <a:lnTo>
                      <a:pt x="96" y="236"/>
                    </a:lnTo>
                    <a:lnTo>
                      <a:pt x="96" y="238"/>
                    </a:lnTo>
                    <a:lnTo>
                      <a:pt x="96" y="240"/>
                    </a:lnTo>
                    <a:lnTo>
                      <a:pt x="99" y="241"/>
                    </a:lnTo>
                    <a:lnTo>
                      <a:pt x="99" y="244"/>
                    </a:lnTo>
                    <a:lnTo>
                      <a:pt x="99" y="246"/>
                    </a:lnTo>
                    <a:lnTo>
                      <a:pt x="103" y="247"/>
                    </a:lnTo>
                    <a:lnTo>
                      <a:pt x="103" y="251"/>
                    </a:lnTo>
                    <a:lnTo>
                      <a:pt x="103" y="254"/>
                    </a:lnTo>
                    <a:lnTo>
                      <a:pt x="106" y="255"/>
                    </a:lnTo>
                    <a:lnTo>
                      <a:pt x="106" y="257"/>
                    </a:lnTo>
                    <a:lnTo>
                      <a:pt x="106" y="259"/>
                    </a:lnTo>
                    <a:lnTo>
                      <a:pt x="109" y="261"/>
                    </a:lnTo>
                    <a:lnTo>
                      <a:pt x="109" y="263"/>
                    </a:lnTo>
                    <a:lnTo>
                      <a:pt x="109" y="265"/>
                    </a:lnTo>
                    <a:lnTo>
                      <a:pt x="112" y="267"/>
                    </a:lnTo>
                    <a:lnTo>
                      <a:pt x="112" y="269"/>
                    </a:lnTo>
                    <a:lnTo>
                      <a:pt x="115" y="270"/>
                    </a:lnTo>
                    <a:lnTo>
                      <a:pt x="115" y="273"/>
                    </a:lnTo>
                    <a:lnTo>
                      <a:pt x="115" y="275"/>
                    </a:lnTo>
                    <a:lnTo>
                      <a:pt x="119" y="276"/>
                    </a:lnTo>
                    <a:lnTo>
                      <a:pt x="119" y="278"/>
                    </a:lnTo>
                    <a:lnTo>
                      <a:pt x="119" y="280"/>
                    </a:lnTo>
                    <a:lnTo>
                      <a:pt x="122" y="282"/>
                    </a:lnTo>
                    <a:lnTo>
                      <a:pt x="122" y="284"/>
                    </a:lnTo>
                    <a:lnTo>
                      <a:pt x="125" y="286"/>
                    </a:lnTo>
                    <a:lnTo>
                      <a:pt x="125" y="288"/>
                    </a:lnTo>
                    <a:lnTo>
                      <a:pt x="125" y="290"/>
                    </a:lnTo>
                    <a:lnTo>
                      <a:pt x="128" y="292"/>
                    </a:lnTo>
                    <a:lnTo>
                      <a:pt x="128" y="294"/>
                    </a:lnTo>
                    <a:lnTo>
                      <a:pt x="131" y="296"/>
                    </a:lnTo>
                    <a:lnTo>
                      <a:pt x="131" y="298"/>
                    </a:lnTo>
                    <a:lnTo>
                      <a:pt x="135" y="299"/>
                    </a:lnTo>
                    <a:lnTo>
                      <a:pt x="135" y="302"/>
                    </a:lnTo>
                    <a:lnTo>
                      <a:pt x="138" y="304"/>
                    </a:lnTo>
                    <a:lnTo>
                      <a:pt x="138" y="305"/>
                    </a:lnTo>
                    <a:lnTo>
                      <a:pt x="138" y="307"/>
                    </a:lnTo>
                    <a:lnTo>
                      <a:pt x="141" y="309"/>
                    </a:lnTo>
                    <a:lnTo>
                      <a:pt x="141" y="311"/>
                    </a:lnTo>
                    <a:lnTo>
                      <a:pt x="144" y="313"/>
                    </a:lnTo>
                    <a:lnTo>
                      <a:pt x="147" y="315"/>
                    </a:lnTo>
                    <a:lnTo>
                      <a:pt x="147" y="317"/>
                    </a:lnTo>
                    <a:lnTo>
                      <a:pt x="151" y="319"/>
                    </a:lnTo>
                    <a:lnTo>
                      <a:pt x="151" y="321"/>
                    </a:lnTo>
                    <a:lnTo>
                      <a:pt x="154" y="323"/>
                    </a:lnTo>
                    <a:lnTo>
                      <a:pt x="157" y="325"/>
                    </a:lnTo>
                    <a:lnTo>
                      <a:pt x="160" y="327"/>
                    </a:lnTo>
                    <a:lnTo>
                      <a:pt x="163" y="328"/>
                    </a:lnTo>
                    <a:lnTo>
                      <a:pt x="167" y="331"/>
                    </a:lnTo>
                    <a:lnTo>
                      <a:pt x="170" y="333"/>
                    </a:lnTo>
                    <a:lnTo>
                      <a:pt x="173" y="334"/>
                    </a:lnTo>
                    <a:lnTo>
                      <a:pt x="176" y="336"/>
                    </a:lnTo>
                    <a:lnTo>
                      <a:pt x="179" y="336"/>
                    </a:lnTo>
                    <a:lnTo>
                      <a:pt x="183" y="338"/>
                    </a:lnTo>
                    <a:lnTo>
                      <a:pt x="186" y="338"/>
                    </a:lnTo>
                    <a:lnTo>
                      <a:pt x="189" y="338"/>
                    </a:lnTo>
                    <a:lnTo>
                      <a:pt x="192" y="338"/>
                    </a:lnTo>
                    <a:lnTo>
                      <a:pt x="195" y="338"/>
                    </a:lnTo>
                    <a:lnTo>
                      <a:pt x="199" y="336"/>
                    </a:lnTo>
                    <a:lnTo>
                      <a:pt x="202" y="336"/>
                    </a:lnTo>
                    <a:lnTo>
                      <a:pt x="205" y="334"/>
                    </a:lnTo>
                    <a:lnTo>
                      <a:pt x="208" y="334"/>
                    </a:lnTo>
                    <a:lnTo>
                      <a:pt x="211" y="333"/>
                    </a:lnTo>
                    <a:lnTo>
                      <a:pt x="215" y="331"/>
                    </a:lnTo>
                    <a:lnTo>
                      <a:pt x="218" y="328"/>
                    </a:lnTo>
                    <a:lnTo>
                      <a:pt x="221" y="327"/>
                    </a:lnTo>
                    <a:lnTo>
                      <a:pt x="224" y="325"/>
                    </a:lnTo>
                    <a:lnTo>
                      <a:pt x="227" y="323"/>
                    </a:lnTo>
                    <a:lnTo>
                      <a:pt x="231" y="321"/>
                    </a:lnTo>
                    <a:lnTo>
                      <a:pt x="231" y="319"/>
                    </a:lnTo>
                    <a:lnTo>
                      <a:pt x="234" y="317"/>
                    </a:lnTo>
                    <a:lnTo>
                      <a:pt x="234" y="315"/>
                    </a:lnTo>
                    <a:lnTo>
                      <a:pt x="237" y="313"/>
                    </a:lnTo>
                    <a:lnTo>
                      <a:pt x="240" y="311"/>
                    </a:lnTo>
                    <a:lnTo>
                      <a:pt x="240" y="309"/>
                    </a:lnTo>
                    <a:lnTo>
                      <a:pt x="243" y="307"/>
                    </a:lnTo>
                    <a:lnTo>
                      <a:pt x="243" y="305"/>
                    </a:lnTo>
                    <a:lnTo>
                      <a:pt x="243" y="304"/>
                    </a:lnTo>
                    <a:lnTo>
                      <a:pt x="247" y="302"/>
                    </a:lnTo>
                    <a:lnTo>
                      <a:pt x="247" y="299"/>
                    </a:lnTo>
                    <a:lnTo>
                      <a:pt x="250" y="298"/>
                    </a:lnTo>
                    <a:lnTo>
                      <a:pt x="250" y="296"/>
                    </a:lnTo>
                    <a:lnTo>
                      <a:pt x="250" y="294"/>
                    </a:lnTo>
                    <a:lnTo>
                      <a:pt x="253" y="292"/>
                    </a:lnTo>
                    <a:lnTo>
                      <a:pt x="253" y="290"/>
                    </a:lnTo>
                    <a:lnTo>
                      <a:pt x="256" y="288"/>
                    </a:lnTo>
                    <a:lnTo>
                      <a:pt x="256" y="286"/>
                    </a:lnTo>
                    <a:lnTo>
                      <a:pt x="259" y="284"/>
                    </a:lnTo>
                    <a:lnTo>
                      <a:pt x="259" y="282"/>
                    </a:lnTo>
                    <a:lnTo>
                      <a:pt x="259" y="280"/>
                    </a:lnTo>
                    <a:lnTo>
                      <a:pt x="263" y="278"/>
                    </a:lnTo>
                    <a:lnTo>
                      <a:pt x="263" y="276"/>
                    </a:lnTo>
                    <a:lnTo>
                      <a:pt x="263" y="275"/>
                    </a:lnTo>
                    <a:lnTo>
                      <a:pt x="266" y="273"/>
                    </a:lnTo>
                    <a:lnTo>
                      <a:pt x="266" y="270"/>
                    </a:lnTo>
                    <a:lnTo>
                      <a:pt x="266" y="269"/>
                    </a:lnTo>
                    <a:lnTo>
                      <a:pt x="269" y="267"/>
                    </a:lnTo>
                    <a:lnTo>
                      <a:pt x="269" y="265"/>
                    </a:lnTo>
                    <a:lnTo>
                      <a:pt x="272" y="263"/>
                    </a:lnTo>
                    <a:lnTo>
                      <a:pt x="272" y="261"/>
                    </a:lnTo>
                    <a:lnTo>
                      <a:pt x="272" y="259"/>
                    </a:lnTo>
                    <a:lnTo>
                      <a:pt x="275" y="257"/>
                    </a:lnTo>
                    <a:lnTo>
                      <a:pt x="275" y="255"/>
                    </a:lnTo>
                    <a:lnTo>
                      <a:pt x="275" y="254"/>
                    </a:lnTo>
                    <a:lnTo>
                      <a:pt x="279" y="251"/>
                    </a:lnTo>
                    <a:lnTo>
                      <a:pt x="279" y="247"/>
                    </a:lnTo>
                    <a:lnTo>
                      <a:pt x="279" y="246"/>
                    </a:lnTo>
                    <a:lnTo>
                      <a:pt x="282" y="244"/>
                    </a:lnTo>
                    <a:lnTo>
                      <a:pt x="282" y="241"/>
                    </a:lnTo>
                    <a:lnTo>
                      <a:pt x="282" y="240"/>
                    </a:lnTo>
                    <a:lnTo>
                      <a:pt x="285" y="238"/>
                    </a:lnTo>
                    <a:lnTo>
                      <a:pt x="285" y="236"/>
                    </a:lnTo>
                    <a:lnTo>
                      <a:pt x="285" y="234"/>
                    </a:lnTo>
                    <a:lnTo>
                      <a:pt x="288" y="232"/>
                    </a:lnTo>
                    <a:lnTo>
                      <a:pt x="288" y="230"/>
                    </a:lnTo>
                    <a:lnTo>
                      <a:pt x="288" y="226"/>
                    </a:lnTo>
                    <a:lnTo>
                      <a:pt x="291" y="225"/>
                    </a:lnTo>
                    <a:lnTo>
                      <a:pt x="291" y="222"/>
                    </a:lnTo>
                    <a:lnTo>
                      <a:pt x="291" y="220"/>
                    </a:lnTo>
                    <a:lnTo>
                      <a:pt x="295" y="218"/>
                    </a:lnTo>
                    <a:lnTo>
                      <a:pt x="295" y="217"/>
                    </a:lnTo>
                    <a:lnTo>
                      <a:pt x="295" y="212"/>
                    </a:lnTo>
                    <a:lnTo>
                      <a:pt x="298" y="211"/>
                    </a:lnTo>
                    <a:lnTo>
                      <a:pt x="298" y="209"/>
                    </a:lnTo>
                    <a:lnTo>
                      <a:pt x="298" y="207"/>
                    </a:lnTo>
                    <a:lnTo>
                      <a:pt x="301" y="205"/>
                    </a:lnTo>
                    <a:lnTo>
                      <a:pt x="301" y="201"/>
                    </a:lnTo>
                    <a:lnTo>
                      <a:pt x="301" y="199"/>
                    </a:lnTo>
                    <a:lnTo>
                      <a:pt x="304" y="197"/>
                    </a:lnTo>
                    <a:lnTo>
                      <a:pt x="304" y="196"/>
                    </a:lnTo>
                    <a:lnTo>
                      <a:pt x="304" y="191"/>
                    </a:lnTo>
                    <a:lnTo>
                      <a:pt x="307" y="190"/>
                    </a:lnTo>
                    <a:lnTo>
                      <a:pt x="307" y="188"/>
                    </a:lnTo>
                    <a:lnTo>
                      <a:pt x="307" y="186"/>
                    </a:lnTo>
                    <a:lnTo>
                      <a:pt x="311" y="182"/>
                    </a:lnTo>
                    <a:lnTo>
                      <a:pt x="311" y="180"/>
                    </a:lnTo>
                    <a:lnTo>
                      <a:pt x="311" y="178"/>
                    </a:lnTo>
                    <a:lnTo>
                      <a:pt x="314" y="174"/>
                    </a:lnTo>
                    <a:lnTo>
                      <a:pt x="314" y="172"/>
                    </a:lnTo>
                    <a:lnTo>
                      <a:pt x="314" y="170"/>
                    </a:lnTo>
                    <a:lnTo>
                      <a:pt x="317" y="167"/>
                    </a:lnTo>
                    <a:lnTo>
                      <a:pt x="317" y="164"/>
                    </a:lnTo>
                    <a:lnTo>
                      <a:pt x="317" y="162"/>
                    </a:lnTo>
                    <a:lnTo>
                      <a:pt x="320" y="159"/>
                    </a:lnTo>
                    <a:lnTo>
                      <a:pt x="320" y="157"/>
                    </a:lnTo>
                    <a:lnTo>
                      <a:pt x="320" y="155"/>
                    </a:lnTo>
                    <a:lnTo>
                      <a:pt x="323" y="151"/>
                    </a:lnTo>
                    <a:lnTo>
                      <a:pt x="323" y="149"/>
                    </a:lnTo>
                    <a:lnTo>
                      <a:pt x="323" y="147"/>
                    </a:lnTo>
                    <a:lnTo>
                      <a:pt x="327" y="143"/>
                    </a:lnTo>
                    <a:lnTo>
                      <a:pt x="327" y="141"/>
                    </a:lnTo>
                    <a:lnTo>
                      <a:pt x="327" y="139"/>
                    </a:lnTo>
                    <a:lnTo>
                      <a:pt x="330" y="135"/>
                    </a:lnTo>
                    <a:lnTo>
                      <a:pt x="330" y="133"/>
                    </a:lnTo>
                    <a:lnTo>
                      <a:pt x="330" y="130"/>
                    </a:lnTo>
                    <a:lnTo>
                      <a:pt x="333" y="128"/>
                    </a:lnTo>
                    <a:lnTo>
                      <a:pt x="333" y="126"/>
                    </a:lnTo>
                    <a:lnTo>
                      <a:pt x="333" y="122"/>
                    </a:lnTo>
                    <a:lnTo>
                      <a:pt x="336" y="120"/>
                    </a:lnTo>
                    <a:lnTo>
                      <a:pt x="336" y="116"/>
                    </a:lnTo>
                    <a:lnTo>
                      <a:pt x="336" y="114"/>
                    </a:lnTo>
                    <a:lnTo>
                      <a:pt x="339" y="110"/>
                    </a:lnTo>
                    <a:lnTo>
                      <a:pt x="339" y="109"/>
                    </a:lnTo>
                    <a:lnTo>
                      <a:pt x="339" y="106"/>
                    </a:lnTo>
                    <a:lnTo>
                      <a:pt x="343" y="103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0" name="Freeform 44"/>
              <p:cNvSpPr>
                <a:spLocks/>
              </p:cNvSpPr>
              <p:nvPr/>
            </p:nvSpPr>
            <p:spPr bwMode="auto">
              <a:xfrm>
                <a:off x="1985" y="1536"/>
                <a:ext cx="337" cy="372"/>
              </a:xfrm>
              <a:custGeom>
                <a:avLst/>
                <a:gdLst>
                  <a:gd name="T0" fmla="*/ 3 w 337"/>
                  <a:gd name="T1" fmla="*/ 363 h 372"/>
                  <a:gd name="T2" fmla="*/ 6 w 337"/>
                  <a:gd name="T3" fmla="*/ 352 h 372"/>
                  <a:gd name="T4" fmla="*/ 9 w 337"/>
                  <a:gd name="T5" fmla="*/ 340 h 372"/>
                  <a:gd name="T6" fmla="*/ 12 w 337"/>
                  <a:gd name="T7" fmla="*/ 328 h 372"/>
                  <a:gd name="T8" fmla="*/ 19 w 337"/>
                  <a:gd name="T9" fmla="*/ 316 h 372"/>
                  <a:gd name="T10" fmla="*/ 22 w 337"/>
                  <a:gd name="T11" fmla="*/ 305 h 372"/>
                  <a:gd name="T12" fmla="*/ 25 w 337"/>
                  <a:gd name="T13" fmla="*/ 295 h 372"/>
                  <a:gd name="T14" fmla="*/ 32 w 337"/>
                  <a:gd name="T15" fmla="*/ 284 h 372"/>
                  <a:gd name="T16" fmla="*/ 35 w 337"/>
                  <a:gd name="T17" fmla="*/ 272 h 372"/>
                  <a:gd name="T18" fmla="*/ 38 w 337"/>
                  <a:gd name="T19" fmla="*/ 260 h 372"/>
                  <a:gd name="T20" fmla="*/ 44 w 337"/>
                  <a:gd name="T21" fmla="*/ 248 h 372"/>
                  <a:gd name="T22" fmla="*/ 48 w 337"/>
                  <a:gd name="T23" fmla="*/ 237 h 372"/>
                  <a:gd name="T24" fmla="*/ 51 w 337"/>
                  <a:gd name="T25" fmla="*/ 227 h 372"/>
                  <a:gd name="T26" fmla="*/ 57 w 337"/>
                  <a:gd name="T27" fmla="*/ 216 h 372"/>
                  <a:gd name="T28" fmla="*/ 60 w 337"/>
                  <a:gd name="T29" fmla="*/ 204 h 372"/>
                  <a:gd name="T30" fmla="*/ 64 w 337"/>
                  <a:gd name="T31" fmla="*/ 194 h 372"/>
                  <a:gd name="T32" fmla="*/ 70 w 337"/>
                  <a:gd name="T33" fmla="*/ 182 h 372"/>
                  <a:gd name="T34" fmla="*/ 73 w 337"/>
                  <a:gd name="T35" fmla="*/ 172 h 372"/>
                  <a:gd name="T36" fmla="*/ 76 w 337"/>
                  <a:gd name="T37" fmla="*/ 163 h 372"/>
                  <a:gd name="T38" fmla="*/ 83 w 337"/>
                  <a:gd name="T39" fmla="*/ 153 h 372"/>
                  <a:gd name="T40" fmla="*/ 86 w 337"/>
                  <a:gd name="T41" fmla="*/ 141 h 372"/>
                  <a:gd name="T42" fmla="*/ 89 w 337"/>
                  <a:gd name="T43" fmla="*/ 134 h 372"/>
                  <a:gd name="T44" fmla="*/ 96 w 337"/>
                  <a:gd name="T45" fmla="*/ 124 h 372"/>
                  <a:gd name="T46" fmla="*/ 99 w 337"/>
                  <a:gd name="T47" fmla="*/ 114 h 372"/>
                  <a:gd name="T48" fmla="*/ 102 w 337"/>
                  <a:gd name="T49" fmla="*/ 104 h 372"/>
                  <a:gd name="T50" fmla="*/ 108 w 337"/>
                  <a:gd name="T51" fmla="*/ 97 h 372"/>
                  <a:gd name="T52" fmla="*/ 112 w 337"/>
                  <a:gd name="T53" fmla="*/ 89 h 372"/>
                  <a:gd name="T54" fmla="*/ 115 w 337"/>
                  <a:gd name="T55" fmla="*/ 81 h 372"/>
                  <a:gd name="T56" fmla="*/ 118 w 337"/>
                  <a:gd name="T57" fmla="*/ 73 h 372"/>
                  <a:gd name="T58" fmla="*/ 124 w 337"/>
                  <a:gd name="T59" fmla="*/ 66 h 372"/>
                  <a:gd name="T60" fmla="*/ 128 w 337"/>
                  <a:gd name="T61" fmla="*/ 58 h 372"/>
                  <a:gd name="T62" fmla="*/ 134 w 337"/>
                  <a:gd name="T63" fmla="*/ 50 h 372"/>
                  <a:gd name="T64" fmla="*/ 140 w 337"/>
                  <a:gd name="T65" fmla="*/ 43 h 372"/>
                  <a:gd name="T66" fmla="*/ 144 w 337"/>
                  <a:gd name="T67" fmla="*/ 35 h 372"/>
                  <a:gd name="T68" fmla="*/ 150 w 337"/>
                  <a:gd name="T69" fmla="*/ 27 h 372"/>
                  <a:gd name="T70" fmla="*/ 160 w 337"/>
                  <a:gd name="T71" fmla="*/ 19 h 372"/>
                  <a:gd name="T72" fmla="*/ 169 w 337"/>
                  <a:gd name="T73" fmla="*/ 12 h 372"/>
                  <a:gd name="T74" fmla="*/ 182 w 337"/>
                  <a:gd name="T75" fmla="*/ 4 h 372"/>
                  <a:gd name="T76" fmla="*/ 195 w 337"/>
                  <a:gd name="T77" fmla="*/ 0 h 372"/>
                  <a:gd name="T78" fmla="*/ 208 w 337"/>
                  <a:gd name="T79" fmla="*/ 2 h 372"/>
                  <a:gd name="T80" fmla="*/ 220 w 337"/>
                  <a:gd name="T81" fmla="*/ 5 h 372"/>
                  <a:gd name="T82" fmla="*/ 233 w 337"/>
                  <a:gd name="T83" fmla="*/ 13 h 372"/>
                  <a:gd name="T84" fmla="*/ 243 w 337"/>
                  <a:gd name="T85" fmla="*/ 21 h 372"/>
                  <a:gd name="T86" fmla="*/ 249 w 337"/>
                  <a:gd name="T87" fmla="*/ 29 h 372"/>
                  <a:gd name="T88" fmla="*/ 256 w 337"/>
                  <a:gd name="T89" fmla="*/ 36 h 372"/>
                  <a:gd name="T90" fmla="*/ 262 w 337"/>
                  <a:gd name="T91" fmla="*/ 44 h 372"/>
                  <a:gd name="T92" fmla="*/ 265 w 337"/>
                  <a:gd name="T93" fmla="*/ 52 h 372"/>
                  <a:gd name="T94" fmla="*/ 272 w 337"/>
                  <a:gd name="T95" fmla="*/ 60 h 372"/>
                  <a:gd name="T96" fmla="*/ 275 w 337"/>
                  <a:gd name="T97" fmla="*/ 68 h 372"/>
                  <a:gd name="T98" fmla="*/ 281 w 337"/>
                  <a:gd name="T99" fmla="*/ 75 h 372"/>
                  <a:gd name="T100" fmla="*/ 284 w 337"/>
                  <a:gd name="T101" fmla="*/ 83 h 372"/>
                  <a:gd name="T102" fmla="*/ 288 w 337"/>
                  <a:gd name="T103" fmla="*/ 91 h 372"/>
                  <a:gd name="T104" fmla="*/ 294 w 337"/>
                  <a:gd name="T105" fmla="*/ 101 h 372"/>
                  <a:gd name="T106" fmla="*/ 297 w 337"/>
                  <a:gd name="T107" fmla="*/ 109 h 372"/>
                  <a:gd name="T108" fmla="*/ 300 w 337"/>
                  <a:gd name="T109" fmla="*/ 118 h 372"/>
                  <a:gd name="T110" fmla="*/ 307 w 337"/>
                  <a:gd name="T111" fmla="*/ 126 h 372"/>
                  <a:gd name="T112" fmla="*/ 310 w 337"/>
                  <a:gd name="T113" fmla="*/ 136 h 372"/>
                  <a:gd name="T114" fmla="*/ 313 w 337"/>
                  <a:gd name="T115" fmla="*/ 146 h 372"/>
                  <a:gd name="T116" fmla="*/ 320 w 337"/>
                  <a:gd name="T117" fmla="*/ 155 h 372"/>
                  <a:gd name="T118" fmla="*/ 323 w 337"/>
                  <a:gd name="T119" fmla="*/ 165 h 372"/>
                  <a:gd name="T120" fmla="*/ 326 w 337"/>
                  <a:gd name="T121" fmla="*/ 177 h 372"/>
                  <a:gd name="T122" fmla="*/ 329 w 337"/>
                  <a:gd name="T123" fmla="*/ 186 h 372"/>
                  <a:gd name="T124" fmla="*/ 336 w 337"/>
                  <a:gd name="T125" fmla="*/ 198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37" h="372">
                    <a:moveTo>
                      <a:pt x="0" y="371"/>
                    </a:moveTo>
                    <a:lnTo>
                      <a:pt x="0" y="369"/>
                    </a:lnTo>
                    <a:lnTo>
                      <a:pt x="0" y="365"/>
                    </a:lnTo>
                    <a:lnTo>
                      <a:pt x="3" y="363"/>
                    </a:lnTo>
                    <a:lnTo>
                      <a:pt x="3" y="359"/>
                    </a:lnTo>
                    <a:lnTo>
                      <a:pt x="3" y="358"/>
                    </a:lnTo>
                    <a:lnTo>
                      <a:pt x="6" y="353"/>
                    </a:lnTo>
                    <a:lnTo>
                      <a:pt x="6" y="352"/>
                    </a:lnTo>
                    <a:lnTo>
                      <a:pt x="6" y="350"/>
                    </a:lnTo>
                    <a:lnTo>
                      <a:pt x="6" y="345"/>
                    </a:lnTo>
                    <a:lnTo>
                      <a:pt x="9" y="344"/>
                    </a:lnTo>
                    <a:lnTo>
                      <a:pt x="9" y="340"/>
                    </a:lnTo>
                    <a:lnTo>
                      <a:pt x="9" y="338"/>
                    </a:lnTo>
                    <a:lnTo>
                      <a:pt x="12" y="334"/>
                    </a:lnTo>
                    <a:lnTo>
                      <a:pt x="12" y="332"/>
                    </a:lnTo>
                    <a:lnTo>
                      <a:pt x="12" y="328"/>
                    </a:lnTo>
                    <a:lnTo>
                      <a:pt x="16" y="326"/>
                    </a:lnTo>
                    <a:lnTo>
                      <a:pt x="16" y="322"/>
                    </a:lnTo>
                    <a:lnTo>
                      <a:pt x="16" y="321"/>
                    </a:lnTo>
                    <a:lnTo>
                      <a:pt x="19" y="316"/>
                    </a:lnTo>
                    <a:lnTo>
                      <a:pt x="19" y="315"/>
                    </a:lnTo>
                    <a:lnTo>
                      <a:pt x="19" y="311"/>
                    </a:lnTo>
                    <a:lnTo>
                      <a:pt x="22" y="308"/>
                    </a:lnTo>
                    <a:lnTo>
                      <a:pt x="22" y="305"/>
                    </a:lnTo>
                    <a:lnTo>
                      <a:pt x="22" y="303"/>
                    </a:lnTo>
                    <a:lnTo>
                      <a:pt x="25" y="301"/>
                    </a:lnTo>
                    <a:lnTo>
                      <a:pt x="25" y="297"/>
                    </a:lnTo>
                    <a:lnTo>
                      <a:pt x="25" y="295"/>
                    </a:lnTo>
                    <a:lnTo>
                      <a:pt x="28" y="291"/>
                    </a:lnTo>
                    <a:lnTo>
                      <a:pt x="28" y="289"/>
                    </a:lnTo>
                    <a:lnTo>
                      <a:pt x="28" y="285"/>
                    </a:lnTo>
                    <a:lnTo>
                      <a:pt x="32" y="284"/>
                    </a:lnTo>
                    <a:lnTo>
                      <a:pt x="32" y="279"/>
                    </a:lnTo>
                    <a:lnTo>
                      <a:pt x="32" y="277"/>
                    </a:lnTo>
                    <a:lnTo>
                      <a:pt x="35" y="274"/>
                    </a:lnTo>
                    <a:lnTo>
                      <a:pt x="35" y="272"/>
                    </a:lnTo>
                    <a:lnTo>
                      <a:pt x="35" y="268"/>
                    </a:lnTo>
                    <a:lnTo>
                      <a:pt x="38" y="266"/>
                    </a:lnTo>
                    <a:lnTo>
                      <a:pt x="38" y="262"/>
                    </a:lnTo>
                    <a:lnTo>
                      <a:pt x="38" y="260"/>
                    </a:lnTo>
                    <a:lnTo>
                      <a:pt x="41" y="258"/>
                    </a:lnTo>
                    <a:lnTo>
                      <a:pt x="41" y="254"/>
                    </a:lnTo>
                    <a:lnTo>
                      <a:pt x="41" y="253"/>
                    </a:lnTo>
                    <a:lnTo>
                      <a:pt x="44" y="248"/>
                    </a:lnTo>
                    <a:lnTo>
                      <a:pt x="44" y="247"/>
                    </a:lnTo>
                    <a:lnTo>
                      <a:pt x="44" y="243"/>
                    </a:lnTo>
                    <a:lnTo>
                      <a:pt x="48" y="240"/>
                    </a:lnTo>
                    <a:lnTo>
                      <a:pt x="48" y="237"/>
                    </a:lnTo>
                    <a:lnTo>
                      <a:pt x="48" y="235"/>
                    </a:lnTo>
                    <a:lnTo>
                      <a:pt x="51" y="231"/>
                    </a:lnTo>
                    <a:lnTo>
                      <a:pt x="51" y="229"/>
                    </a:lnTo>
                    <a:lnTo>
                      <a:pt x="51" y="227"/>
                    </a:lnTo>
                    <a:lnTo>
                      <a:pt x="54" y="223"/>
                    </a:lnTo>
                    <a:lnTo>
                      <a:pt x="54" y="221"/>
                    </a:lnTo>
                    <a:lnTo>
                      <a:pt x="54" y="217"/>
                    </a:lnTo>
                    <a:lnTo>
                      <a:pt x="57" y="216"/>
                    </a:lnTo>
                    <a:lnTo>
                      <a:pt x="57" y="214"/>
                    </a:lnTo>
                    <a:lnTo>
                      <a:pt x="57" y="209"/>
                    </a:lnTo>
                    <a:lnTo>
                      <a:pt x="60" y="208"/>
                    </a:lnTo>
                    <a:lnTo>
                      <a:pt x="60" y="204"/>
                    </a:lnTo>
                    <a:lnTo>
                      <a:pt x="60" y="202"/>
                    </a:lnTo>
                    <a:lnTo>
                      <a:pt x="64" y="200"/>
                    </a:lnTo>
                    <a:lnTo>
                      <a:pt x="64" y="196"/>
                    </a:lnTo>
                    <a:lnTo>
                      <a:pt x="64" y="194"/>
                    </a:lnTo>
                    <a:lnTo>
                      <a:pt x="67" y="190"/>
                    </a:lnTo>
                    <a:lnTo>
                      <a:pt x="67" y="188"/>
                    </a:lnTo>
                    <a:lnTo>
                      <a:pt x="67" y="186"/>
                    </a:lnTo>
                    <a:lnTo>
                      <a:pt x="70" y="182"/>
                    </a:lnTo>
                    <a:lnTo>
                      <a:pt x="70" y="180"/>
                    </a:lnTo>
                    <a:lnTo>
                      <a:pt x="70" y="179"/>
                    </a:lnTo>
                    <a:lnTo>
                      <a:pt x="73" y="175"/>
                    </a:lnTo>
                    <a:lnTo>
                      <a:pt x="73" y="172"/>
                    </a:lnTo>
                    <a:lnTo>
                      <a:pt x="73" y="171"/>
                    </a:lnTo>
                    <a:lnTo>
                      <a:pt x="76" y="167"/>
                    </a:lnTo>
                    <a:lnTo>
                      <a:pt x="76" y="165"/>
                    </a:lnTo>
                    <a:lnTo>
                      <a:pt x="76" y="163"/>
                    </a:lnTo>
                    <a:lnTo>
                      <a:pt x="80" y="159"/>
                    </a:lnTo>
                    <a:lnTo>
                      <a:pt x="80" y="157"/>
                    </a:lnTo>
                    <a:lnTo>
                      <a:pt x="80" y="155"/>
                    </a:lnTo>
                    <a:lnTo>
                      <a:pt x="83" y="153"/>
                    </a:lnTo>
                    <a:lnTo>
                      <a:pt x="83" y="149"/>
                    </a:lnTo>
                    <a:lnTo>
                      <a:pt x="83" y="148"/>
                    </a:lnTo>
                    <a:lnTo>
                      <a:pt x="86" y="146"/>
                    </a:lnTo>
                    <a:lnTo>
                      <a:pt x="86" y="141"/>
                    </a:lnTo>
                    <a:lnTo>
                      <a:pt x="86" y="140"/>
                    </a:lnTo>
                    <a:lnTo>
                      <a:pt x="89" y="138"/>
                    </a:lnTo>
                    <a:lnTo>
                      <a:pt x="89" y="136"/>
                    </a:lnTo>
                    <a:lnTo>
                      <a:pt x="89" y="134"/>
                    </a:lnTo>
                    <a:lnTo>
                      <a:pt x="92" y="130"/>
                    </a:lnTo>
                    <a:lnTo>
                      <a:pt x="92" y="128"/>
                    </a:lnTo>
                    <a:lnTo>
                      <a:pt x="92" y="126"/>
                    </a:lnTo>
                    <a:lnTo>
                      <a:pt x="96" y="124"/>
                    </a:lnTo>
                    <a:lnTo>
                      <a:pt x="96" y="122"/>
                    </a:lnTo>
                    <a:lnTo>
                      <a:pt x="96" y="118"/>
                    </a:lnTo>
                    <a:lnTo>
                      <a:pt x="99" y="117"/>
                    </a:lnTo>
                    <a:lnTo>
                      <a:pt x="99" y="114"/>
                    </a:lnTo>
                    <a:lnTo>
                      <a:pt x="99" y="112"/>
                    </a:lnTo>
                    <a:lnTo>
                      <a:pt x="102" y="111"/>
                    </a:lnTo>
                    <a:lnTo>
                      <a:pt x="102" y="109"/>
                    </a:lnTo>
                    <a:lnTo>
                      <a:pt x="102" y="104"/>
                    </a:lnTo>
                    <a:lnTo>
                      <a:pt x="105" y="103"/>
                    </a:lnTo>
                    <a:lnTo>
                      <a:pt x="105" y="101"/>
                    </a:lnTo>
                    <a:lnTo>
                      <a:pt x="105" y="99"/>
                    </a:lnTo>
                    <a:lnTo>
                      <a:pt x="108" y="97"/>
                    </a:lnTo>
                    <a:lnTo>
                      <a:pt x="108" y="95"/>
                    </a:lnTo>
                    <a:lnTo>
                      <a:pt x="108" y="93"/>
                    </a:lnTo>
                    <a:lnTo>
                      <a:pt x="112" y="91"/>
                    </a:lnTo>
                    <a:lnTo>
                      <a:pt x="112" y="89"/>
                    </a:lnTo>
                    <a:lnTo>
                      <a:pt x="112" y="87"/>
                    </a:lnTo>
                    <a:lnTo>
                      <a:pt x="112" y="85"/>
                    </a:lnTo>
                    <a:lnTo>
                      <a:pt x="115" y="83"/>
                    </a:lnTo>
                    <a:lnTo>
                      <a:pt x="115" y="81"/>
                    </a:lnTo>
                    <a:lnTo>
                      <a:pt x="115" y="80"/>
                    </a:lnTo>
                    <a:lnTo>
                      <a:pt x="118" y="78"/>
                    </a:lnTo>
                    <a:lnTo>
                      <a:pt x="118" y="75"/>
                    </a:lnTo>
                    <a:lnTo>
                      <a:pt x="118" y="73"/>
                    </a:lnTo>
                    <a:lnTo>
                      <a:pt x="121" y="72"/>
                    </a:lnTo>
                    <a:lnTo>
                      <a:pt x="121" y="70"/>
                    </a:lnTo>
                    <a:lnTo>
                      <a:pt x="121" y="68"/>
                    </a:lnTo>
                    <a:lnTo>
                      <a:pt x="124" y="66"/>
                    </a:lnTo>
                    <a:lnTo>
                      <a:pt x="124" y="64"/>
                    </a:lnTo>
                    <a:lnTo>
                      <a:pt x="124" y="62"/>
                    </a:lnTo>
                    <a:lnTo>
                      <a:pt x="128" y="60"/>
                    </a:lnTo>
                    <a:lnTo>
                      <a:pt x="128" y="58"/>
                    </a:lnTo>
                    <a:lnTo>
                      <a:pt x="131" y="56"/>
                    </a:lnTo>
                    <a:lnTo>
                      <a:pt x="131" y="54"/>
                    </a:lnTo>
                    <a:lnTo>
                      <a:pt x="131" y="52"/>
                    </a:lnTo>
                    <a:lnTo>
                      <a:pt x="134" y="50"/>
                    </a:lnTo>
                    <a:lnTo>
                      <a:pt x="134" y="49"/>
                    </a:lnTo>
                    <a:lnTo>
                      <a:pt x="137" y="46"/>
                    </a:lnTo>
                    <a:lnTo>
                      <a:pt x="137" y="44"/>
                    </a:lnTo>
                    <a:lnTo>
                      <a:pt x="140" y="43"/>
                    </a:lnTo>
                    <a:lnTo>
                      <a:pt x="140" y="41"/>
                    </a:lnTo>
                    <a:lnTo>
                      <a:pt x="140" y="39"/>
                    </a:lnTo>
                    <a:lnTo>
                      <a:pt x="144" y="36"/>
                    </a:lnTo>
                    <a:lnTo>
                      <a:pt x="144" y="35"/>
                    </a:lnTo>
                    <a:lnTo>
                      <a:pt x="147" y="33"/>
                    </a:lnTo>
                    <a:lnTo>
                      <a:pt x="147" y="31"/>
                    </a:lnTo>
                    <a:lnTo>
                      <a:pt x="150" y="29"/>
                    </a:lnTo>
                    <a:lnTo>
                      <a:pt x="150" y="27"/>
                    </a:lnTo>
                    <a:lnTo>
                      <a:pt x="153" y="25"/>
                    </a:lnTo>
                    <a:lnTo>
                      <a:pt x="156" y="23"/>
                    </a:lnTo>
                    <a:lnTo>
                      <a:pt x="156" y="21"/>
                    </a:lnTo>
                    <a:lnTo>
                      <a:pt x="160" y="19"/>
                    </a:lnTo>
                    <a:lnTo>
                      <a:pt x="163" y="17"/>
                    </a:lnTo>
                    <a:lnTo>
                      <a:pt x="163" y="15"/>
                    </a:lnTo>
                    <a:lnTo>
                      <a:pt x="166" y="13"/>
                    </a:lnTo>
                    <a:lnTo>
                      <a:pt x="169" y="12"/>
                    </a:lnTo>
                    <a:lnTo>
                      <a:pt x="172" y="10"/>
                    </a:lnTo>
                    <a:lnTo>
                      <a:pt x="176" y="7"/>
                    </a:lnTo>
                    <a:lnTo>
                      <a:pt x="179" y="5"/>
                    </a:lnTo>
                    <a:lnTo>
                      <a:pt x="182" y="4"/>
                    </a:lnTo>
                    <a:lnTo>
                      <a:pt x="185" y="2"/>
                    </a:lnTo>
                    <a:lnTo>
                      <a:pt x="188" y="2"/>
                    </a:lnTo>
                    <a:lnTo>
                      <a:pt x="192" y="0"/>
                    </a:lnTo>
                    <a:lnTo>
                      <a:pt x="195" y="0"/>
                    </a:lnTo>
                    <a:lnTo>
                      <a:pt x="198" y="0"/>
                    </a:lnTo>
                    <a:lnTo>
                      <a:pt x="201" y="0"/>
                    </a:lnTo>
                    <a:lnTo>
                      <a:pt x="204" y="0"/>
                    </a:lnTo>
                    <a:lnTo>
                      <a:pt x="208" y="2"/>
                    </a:lnTo>
                    <a:lnTo>
                      <a:pt x="211" y="2"/>
                    </a:lnTo>
                    <a:lnTo>
                      <a:pt x="214" y="2"/>
                    </a:lnTo>
                    <a:lnTo>
                      <a:pt x="217" y="4"/>
                    </a:lnTo>
                    <a:lnTo>
                      <a:pt x="220" y="5"/>
                    </a:lnTo>
                    <a:lnTo>
                      <a:pt x="224" y="7"/>
                    </a:lnTo>
                    <a:lnTo>
                      <a:pt x="227" y="10"/>
                    </a:lnTo>
                    <a:lnTo>
                      <a:pt x="230" y="12"/>
                    </a:lnTo>
                    <a:lnTo>
                      <a:pt x="233" y="13"/>
                    </a:lnTo>
                    <a:lnTo>
                      <a:pt x="236" y="15"/>
                    </a:lnTo>
                    <a:lnTo>
                      <a:pt x="236" y="17"/>
                    </a:lnTo>
                    <a:lnTo>
                      <a:pt x="240" y="19"/>
                    </a:lnTo>
                    <a:lnTo>
                      <a:pt x="243" y="21"/>
                    </a:lnTo>
                    <a:lnTo>
                      <a:pt x="243" y="23"/>
                    </a:lnTo>
                    <a:lnTo>
                      <a:pt x="246" y="25"/>
                    </a:lnTo>
                    <a:lnTo>
                      <a:pt x="246" y="27"/>
                    </a:lnTo>
                    <a:lnTo>
                      <a:pt x="249" y="29"/>
                    </a:lnTo>
                    <a:lnTo>
                      <a:pt x="249" y="31"/>
                    </a:lnTo>
                    <a:lnTo>
                      <a:pt x="252" y="33"/>
                    </a:lnTo>
                    <a:lnTo>
                      <a:pt x="252" y="35"/>
                    </a:lnTo>
                    <a:lnTo>
                      <a:pt x="256" y="36"/>
                    </a:lnTo>
                    <a:lnTo>
                      <a:pt x="256" y="39"/>
                    </a:lnTo>
                    <a:lnTo>
                      <a:pt x="259" y="41"/>
                    </a:lnTo>
                    <a:lnTo>
                      <a:pt x="259" y="43"/>
                    </a:lnTo>
                    <a:lnTo>
                      <a:pt x="262" y="44"/>
                    </a:lnTo>
                    <a:lnTo>
                      <a:pt x="262" y="46"/>
                    </a:lnTo>
                    <a:lnTo>
                      <a:pt x="262" y="49"/>
                    </a:lnTo>
                    <a:lnTo>
                      <a:pt x="265" y="50"/>
                    </a:lnTo>
                    <a:lnTo>
                      <a:pt x="265" y="52"/>
                    </a:lnTo>
                    <a:lnTo>
                      <a:pt x="268" y="54"/>
                    </a:lnTo>
                    <a:lnTo>
                      <a:pt x="268" y="56"/>
                    </a:lnTo>
                    <a:lnTo>
                      <a:pt x="268" y="58"/>
                    </a:lnTo>
                    <a:lnTo>
                      <a:pt x="272" y="60"/>
                    </a:lnTo>
                    <a:lnTo>
                      <a:pt x="272" y="62"/>
                    </a:lnTo>
                    <a:lnTo>
                      <a:pt x="275" y="64"/>
                    </a:lnTo>
                    <a:lnTo>
                      <a:pt x="275" y="66"/>
                    </a:lnTo>
                    <a:lnTo>
                      <a:pt x="275" y="68"/>
                    </a:lnTo>
                    <a:lnTo>
                      <a:pt x="278" y="70"/>
                    </a:lnTo>
                    <a:lnTo>
                      <a:pt x="278" y="72"/>
                    </a:lnTo>
                    <a:lnTo>
                      <a:pt x="278" y="73"/>
                    </a:lnTo>
                    <a:lnTo>
                      <a:pt x="281" y="75"/>
                    </a:lnTo>
                    <a:lnTo>
                      <a:pt x="281" y="78"/>
                    </a:lnTo>
                    <a:lnTo>
                      <a:pt x="281" y="80"/>
                    </a:lnTo>
                    <a:lnTo>
                      <a:pt x="284" y="81"/>
                    </a:lnTo>
                    <a:lnTo>
                      <a:pt x="284" y="83"/>
                    </a:lnTo>
                    <a:lnTo>
                      <a:pt x="284" y="85"/>
                    </a:lnTo>
                    <a:lnTo>
                      <a:pt x="288" y="87"/>
                    </a:lnTo>
                    <a:lnTo>
                      <a:pt x="288" y="89"/>
                    </a:lnTo>
                    <a:lnTo>
                      <a:pt x="288" y="91"/>
                    </a:lnTo>
                    <a:lnTo>
                      <a:pt x="291" y="93"/>
                    </a:lnTo>
                    <a:lnTo>
                      <a:pt x="291" y="95"/>
                    </a:lnTo>
                    <a:lnTo>
                      <a:pt x="291" y="97"/>
                    </a:lnTo>
                    <a:lnTo>
                      <a:pt x="294" y="101"/>
                    </a:lnTo>
                    <a:lnTo>
                      <a:pt x="294" y="103"/>
                    </a:lnTo>
                    <a:lnTo>
                      <a:pt x="294" y="104"/>
                    </a:lnTo>
                    <a:lnTo>
                      <a:pt x="297" y="107"/>
                    </a:lnTo>
                    <a:lnTo>
                      <a:pt x="297" y="109"/>
                    </a:lnTo>
                    <a:lnTo>
                      <a:pt x="297" y="111"/>
                    </a:lnTo>
                    <a:lnTo>
                      <a:pt x="300" y="112"/>
                    </a:lnTo>
                    <a:lnTo>
                      <a:pt x="300" y="114"/>
                    </a:lnTo>
                    <a:lnTo>
                      <a:pt x="300" y="118"/>
                    </a:lnTo>
                    <a:lnTo>
                      <a:pt x="304" y="120"/>
                    </a:lnTo>
                    <a:lnTo>
                      <a:pt x="304" y="122"/>
                    </a:lnTo>
                    <a:lnTo>
                      <a:pt x="304" y="124"/>
                    </a:lnTo>
                    <a:lnTo>
                      <a:pt x="307" y="126"/>
                    </a:lnTo>
                    <a:lnTo>
                      <a:pt x="307" y="130"/>
                    </a:lnTo>
                    <a:lnTo>
                      <a:pt x="307" y="132"/>
                    </a:lnTo>
                    <a:lnTo>
                      <a:pt x="310" y="134"/>
                    </a:lnTo>
                    <a:lnTo>
                      <a:pt x="310" y="136"/>
                    </a:lnTo>
                    <a:lnTo>
                      <a:pt x="310" y="138"/>
                    </a:lnTo>
                    <a:lnTo>
                      <a:pt x="313" y="141"/>
                    </a:lnTo>
                    <a:lnTo>
                      <a:pt x="313" y="143"/>
                    </a:lnTo>
                    <a:lnTo>
                      <a:pt x="313" y="146"/>
                    </a:lnTo>
                    <a:lnTo>
                      <a:pt x="316" y="148"/>
                    </a:lnTo>
                    <a:lnTo>
                      <a:pt x="316" y="151"/>
                    </a:lnTo>
                    <a:lnTo>
                      <a:pt x="316" y="153"/>
                    </a:lnTo>
                    <a:lnTo>
                      <a:pt x="320" y="155"/>
                    </a:lnTo>
                    <a:lnTo>
                      <a:pt x="320" y="159"/>
                    </a:lnTo>
                    <a:lnTo>
                      <a:pt x="320" y="161"/>
                    </a:lnTo>
                    <a:lnTo>
                      <a:pt x="323" y="163"/>
                    </a:lnTo>
                    <a:lnTo>
                      <a:pt x="323" y="165"/>
                    </a:lnTo>
                    <a:lnTo>
                      <a:pt x="323" y="169"/>
                    </a:lnTo>
                    <a:lnTo>
                      <a:pt x="323" y="171"/>
                    </a:lnTo>
                    <a:lnTo>
                      <a:pt x="326" y="172"/>
                    </a:lnTo>
                    <a:lnTo>
                      <a:pt x="326" y="177"/>
                    </a:lnTo>
                    <a:lnTo>
                      <a:pt x="326" y="179"/>
                    </a:lnTo>
                    <a:lnTo>
                      <a:pt x="329" y="180"/>
                    </a:lnTo>
                    <a:lnTo>
                      <a:pt x="329" y="185"/>
                    </a:lnTo>
                    <a:lnTo>
                      <a:pt x="329" y="186"/>
                    </a:lnTo>
                    <a:lnTo>
                      <a:pt x="332" y="190"/>
                    </a:lnTo>
                    <a:lnTo>
                      <a:pt x="332" y="192"/>
                    </a:lnTo>
                    <a:lnTo>
                      <a:pt x="332" y="194"/>
                    </a:lnTo>
                    <a:lnTo>
                      <a:pt x="336" y="198"/>
                    </a:lnTo>
                    <a:lnTo>
                      <a:pt x="336" y="200"/>
                    </a:lnTo>
                    <a:lnTo>
                      <a:pt x="336" y="202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1" name="Freeform 45"/>
              <p:cNvSpPr>
                <a:spLocks/>
              </p:cNvSpPr>
              <p:nvPr/>
            </p:nvSpPr>
            <p:spPr bwMode="auto">
              <a:xfrm>
                <a:off x="2321" y="1740"/>
                <a:ext cx="39" cy="101"/>
              </a:xfrm>
              <a:custGeom>
                <a:avLst/>
                <a:gdLst>
                  <a:gd name="T0" fmla="*/ 0 w 39"/>
                  <a:gd name="T1" fmla="*/ 0 h 101"/>
                  <a:gd name="T2" fmla="*/ 3 w 39"/>
                  <a:gd name="T3" fmla="*/ 4 h 101"/>
                  <a:gd name="T4" fmla="*/ 3 w 39"/>
                  <a:gd name="T5" fmla="*/ 6 h 101"/>
                  <a:gd name="T6" fmla="*/ 3 w 39"/>
                  <a:gd name="T7" fmla="*/ 9 h 101"/>
                  <a:gd name="T8" fmla="*/ 6 w 39"/>
                  <a:gd name="T9" fmla="*/ 12 h 101"/>
                  <a:gd name="T10" fmla="*/ 6 w 39"/>
                  <a:gd name="T11" fmla="*/ 14 h 101"/>
                  <a:gd name="T12" fmla="*/ 6 w 39"/>
                  <a:gd name="T13" fmla="*/ 17 h 101"/>
                  <a:gd name="T14" fmla="*/ 9 w 39"/>
                  <a:gd name="T15" fmla="*/ 19 h 101"/>
                  <a:gd name="T16" fmla="*/ 9 w 39"/>
                  <a:gd name="T17" fmla="*/ 23 h 101"/>
                  <a:gd name="T18" fmla="*/ 9 w 39"/>
                  <a:gd name="T19" fmla="*/ 25 h 101"/>
                  <a:gd name="T20" fmla="*/ 12 w 39"/>
                  <a:gd name="T21" fmla="*/ 28 h 101"/>
                  <a:gd name="T22" fmla="*/ 12 w 39"/>
                  <a:gd name="T23" fmla="*/ 31 h 101"/>
                  <a:gd name="T24" fmla="*/ 12 w 39"/>
                  <a:gd name="T25" fmla="*/ 32 h 101"/>
                  <a:gd name="T26" fmla="*/ 15 w 39"/>
                  <a:gd name="T27" fmla="*/ 36 h 101"/>
                  <a:gd name="T28" fmla="*/ 15 w 39"/>
                  <a:gd name="T29" fmla="*/ 38 h 101"/>
                  <a:gd name="T30" fmla="*/ 15 w 39"/>
                  <a:gd name="T31" fmla="*/ 42 h 101"/>
                  <a:gd name="T32" fmla="*/ 19 w 39"/>
                  <a:gd name="T33" fmla="*/ 44 h 101"/>
                  <a:gd name="T34" fmla="*/ 19 w 39"/>
                  <a:gd name="T35" fmla="*/ 47 h 101"/>
                  <a:gd name="T36" fmla="*/ 19 w 39"/>
                  <a:gd name="T37" fmla="*/ 49 h 101"/>
                  <a:gd name="T38" fmla="*/ 22 w 39"/>
                  <a:gd name="T39" fmla="*/ 53 h 101"/>
                  <a:gd name="T40" fmla="*/ 22 w 39"/>
                  <a:gd name="T41" fmla="*/ 55 h 101"/>
                  <a:gd name="T42" fmla="*/ 22 w 39"/>
                  <a:gd name="T43" fmla="*/ 56 h 101"/>
                  <a:gd name="T44" fmla="*/ 25 w 39"/>
                  <a:gd name="T45" fmla="*/ 61 h 101"/>
                  <a:gd name="T46" fmla="*/ 25 w 39"/>
                  <a:gd name="T47" fmla="*/ 62 h 101"/>
                  <a:gd name="T48" fmla="*/ 25 w 39"/>
                  <a:gd name="T49" fmla="*/ 66 h 101"/>
                  <a:gd name="T50" fmla="*/ 28 w 39"/>
                  <a:gd name="T51" fmla="*/ 68 h 101"/>
                  <a:gd name="T52" fmla="*/ 28 w 39"/>
                  <a:gd name="T53" fmla="*/ 72 h 101"/>
                  <a:gd name="T54" fmla="*/ 28 w 39"/>
                  <a:gd name="T55" fmla="*/ 74 h 101"/>
                  <a:gd name="T56" fmla="*/ 31 w 39"/>
                  <a:gd name="T57" fmla="*/ 78 h 101"/>
                  <a:gd name="T58" fmla="*/ 31 w 39"/>
                  <a:gd name="T59" fmla="*/ 79 h 101"/>
                  <a:gd name="T60" fmla="*/ 31 w 39"/>
                  <a:gd name="T61" fmla="*/ 83 h 101"/>
                  <a:gd name="T62" fmla="*/ 35 w 39"/>
                  <a:gd name="T63" fmla="*/ 85 h 101"/>
                  <a:gd name="T64" fmla="*/ 35 w 39"/>
                  <a:gd name="T65" fmla="*/ 89 h 101"/>
                  <a:gd name="T66" fmla="*/ 35 w 39"/>
                  <a:gd name="T67" fmla="*/ 91 h 101"/>
                  <a:gd name="T68" fmla="*/ 38 w 39"/>
                  <a:gd name="T69" fmla="*/ 94 h 101"/>
                  <a:gd name="T70" fmla="*/ 38 w 39"/>
                  <a:gd name="T71" fmla="*/ 96 h 101"/>
                  <a:gd name="T72" fmla="*/ 38 w 39"/>
                  <a:gd name="T73" fmla="*/ 10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9" h="101">
                    <a:moveTo>
                      <a:pt x="0" y="0"/>
                    </a:moveTo>
                    <a:lnTo>
                      <a:pt x="3" y="4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6" y="17"/>
                    </a:lnTo>
                    <a:lnTo>
                      <a:pt x="9" y="19"/>
                    </a:lnTo>
                    <a:lnTo>
                      <a:pt x="9" y="23"/>
                    </a:lnTo>
                    <a:lnTo>
                      <a:pt x="9" y="25"/>
                    </a:lnTo>
                    <a:lnTo>
                      <a:pt x="12" y="28"/>
                    </a:lnTo>
                    <a:lnTo>
                      <a:pt x="12" y="31"/>
                    </a:lnTo>
                    <a:lnTo>
                      <a:pt x="12" y="32"/>
                    </a:lnTo>
                    <a:lnTo>
                      <a:pt x="15" y="36"/>
                    </a:lnTo>
                    <a:lnTo>
                      <a:pt x="15" y="38"/>
                    </a:lnTo>
                    <a:lnTo>
                      <a:pt x="15" y="42"/>
                    </a:lnTo>
                    <a:lnTo>
                      <a:pt x="19" y="44"/>
                    </a:lnTo>
                    <a:lnTo>
                      <a:pt x="19" y="47"/>
                    </a:lnTo>
                    <a:lnTo>
                      <a:pt x="19" y="49"/>
                    </a:lnTo>
                    <a:lnTo>
                      <a:pt x="22" y="53"/>
                    </a:lnTo>
                    <a:lnTo>
                      <a:pt x="22" y="55"/>
                    </a:lnTo>
                    <a:lnTo>
                      <a:pt x="22" y="56"/>
                    </a:lnTo>
                    <a:lnTo>
                      <a:pt x="25" y="61"/>
                    </a:lnTo>
                    <a:lnTo>
                      <a:pt x="25" y="62"/>
                    </a:lnTo>
                    <a:lnTo>
                      <a:pt x="25" y="66"/>
                    </a:lnTo>
                    <a:lnTo>
                      <a:pt x="28" y="68"/>
                    </a:lnTo>
                    <a:lnTo>
                      <a:pt x="28" y="72"/>
                    </a:lnTo>
                    <a:lnTo>
                      <a:pt x="28" y="74"/>
                    </a:lnTo>
                    <a:lnTo>
                      <a:pt x="31" y="78"/>
                    </a:lnTo>
                    <a:lnTo>
                      <a:pt x="31" y="79"/>
                    </a:lnTo>
                    <a:lnTo>
                      <a:pt x="31" y="83"/>
                    </a:lnTo>
                    <a:lnTo>
                      <a:pt x="35" y="85"/>
                    </a:lnTo>
                    <a:lnTo>
                      <a:pt x="35" y="89"/>
                    </a:lnTo>
                    <a:lnTo>
                      <a:pt x="35" y="91"/>
                    </a:lnTo>
                    <a:lnTo>
                      <a:pt x="38" y="94"/>
                    </a:lnTo>
                    <a:lnTo>
                      <a:pt x="38" y="96"/>
                    </a:lnTo>
                    <a:lnTo>
                      <a:pt x="38" y="10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3" name="Rectangle 47"/>
            <p:cNvSpPr>
              <a:spLocks noChangeArrowheads="1"/>
            </p:cNvSpPr>
            <p:nvPr/>
          </p:nvSpPr>
          <p:spPr bwMode="auto">
            <a:xfrm>
              <a:off x="1200" y="1601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>
                  <a:latin typeface="Arial" charset="0"/>
                </a:rPr>
                <a:t>A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68E4D27-98B2-9C1A-3934-40BF64DEBCE9}"/>
              </a:ext>
            </a:extLst>
          </p:cNvPr>
          <p:cNvGrpSpPr/>
          <p:nvPr/>
        </p:nvGrpSpPr>
        <p:grpSpPr>
          <a:xfrm>
            <a:off x="279402" y="3316284"/>
            <a:ext cx="4311650" cy="374650"/>
            <a:chOff x="279402" y="3316284"/>
            <a:chExt cx="4311650" cy="374650"/>
          </a:xfrm>
        </p:grpSpPr>
        <p:sp>
          <p:nvSpPr>
            <p:cNvPr id="14359" name="Rectangle 23"/>
            <p:cNvSpPr>
              <a:spLocks noChangeArrowheads="1"/>
            </p:cNvSpPr>
            <p:nvPr/>
          </p:nvSpPr>
          <p:spPr bwMode="auto">
            <a:xfrm>
              <a:off x="279402" y="3324222"/>
              <a:ext cx="1330325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>
                  <a:solidFill>
                    <a:srgbClr val="114FFB"/>
                  </a:solidFill>
                  <a:latin typeface="Arial" charset="0"/>
                </a:rPr>
                <a:t>+ 1 sin(3x) </a:t>
              </a:r>
            </a:p>
          </p:txBody>
        </p:sp>
        <p:grpSp>
          <p:nvGrpSpPr>
            <p:cNvPr id="14372" name="Group 36"/>
            <p:cNvGrpSpPr>
              <a:grpSpLocks/>
            </p:cNvGrpSpPr>
            <p:nvPr/>
          </p:nvGrpSpPr>
          <p:grpSpPr bwMode="auto">
            <a:xfrm>
              <a:off x="2352677" y="3338509"/>
              <a:ext cx="2238375" cy="142875"/>
              <a:chOff x="1303" y="2442"/>
              <a:chExt cx="1057" cy="121"/>
            </a:xfrm>
          </p:grpSpPr>
          <p:sp>
            <p:nvSpPr>
              <p:cNvPr id="14373" name="Freeform 37"/>
              <p:cNvSpPr>
                <a:spLocks/>
              </p:cNvSpPr>
              <p:nvPr/>
            </p:nvSpPr>
            <p:spPr bwMode="auto">
              <a:xfrm>
                <a:off x="1303" y="2442"/>
                <a:ext cx="286" cy="121"/>
              </a:xfrm>
              <a:custGeom>
                <a:avLst/>
                <a:gdLst>
                  <a:gd name="T0" fmla="*/ 3 w 286"/>
                  <a:gd name="T1" fmla="*/ 55 h 121"/>
                  <a:gd name="T2" fmla="*/ 10 w 286"/>
                  <a:gd name="T3" fmla="*/ 48 h 121"/>
                  <a:gd name="T4" fmla="*/ 13 w 286"/>
                  <a:gd name="T5" fmla="*/ 42 h 121"/>
                  <a:gd name="T6" fmla="*/ 16 w 286"/>
                  <a:gd name="T7" fmla="*/ 35 h 121"/>
                  <a:gd name="T8" fmla="*/ 23 w 286"/>
                  <a:gd name="T9" fmla="*/ 29 h 121"/>
                  <a:gd name="T10" fmla="*/ 26 w 286"/>
                  <a:gd name="T11" fmla="*/ 24 h 121"/>
                  <a:gd name="T12" fmla="*/ 29 w 286"/>
                  <a:gd name="T13" fmla="*/ 18 h 121"/>
                  <a:gd name="T14" fmla="*/ 35 w 286"/>
                  <a:gd name="T15" fmla="*/ 14 h 121"/>
                  <a:gd name="T16" fmla="*/ 39 w 286"/>
                  <a:gd name="T17" fmla="*/ 10 h 121"/>
                  <a:gd name="T18" fmla="*/ 42 w 286"/>
                  <a:gd name="T19" fmla="*/ 6 h 121"/>
                  <a:gd name="T20" fmla="*/ 48 w 286"/>
                  <a:gd name="T21" fmla="*/ 4 h 121"/>
                  <a:gd name="T22" fmla="*/ 51 w 286"/>
                  <a:gd name="T23" fmla="*/ 2 h 121"/>
                  <a:gd name="T24" fmla="*/ 55 w 286"/>
                  <a:gd name="T25" fmla="*/ 0 h 121"/>
                  <a:gd name="T26" fmla="*/ 64 w 286"/>
                  <a:gd name="T27" fmla="*/ 1 h 121"/>
                  <a:gd name="T28" fmla="*/ 71 w 286"/>
                  <a:gd name="T29" fmla="*/ 3 h 121"/>
                  <a:gd name="T30" fmla="*/ 74 w 286"/>
                  <a:gd name="T31" fmla="*/ 5 h 121"/>
                  <a:gd name="T32" fmla="*/ 80 w 286"/>
                  <a:gd name="T33" fmla="*/ 8 h 121"/>
                  <a:gd name="T34" fmla="*/ 83 w 286"/>
                  <a:gd name="T35" fmla="*/ 12 h 121"/>
                  <a:gd name="T36" fmla="*/ 87 w 286"/>
                  <a:gd name="T37" fmla="*/ 16 h 121"/>
                  <a:gd name="T38" fmla="*/ 93 w 286"/>
                  <a:gd name="T39" fmla="*/ 21 h 121"/>
                  <a:gd name="T40" fmla="*/ 96 w 286"/>
                  <a:gd name="T41" fmla="*/ 26 h 121"/>
                  <a:gd name="T42" fmla="*/ 99 w 286"/>
                  <a:gd name="T43" fmla="*/ 32 h 121"/>
                  <a:gd name="T44" fmla="*/ 106 w 286"/>
                  <a:gd name="T45" fmla="*/ 38 h 121"/>
                  <a:gd name="T46" fmla="*/ 109 w 286"/>
                  <a:gd name="T47" fmla="*/ 45 h 121"/>
                  <a:gd name="T48" fmla="*/ 112 w 286"/>
                  <a:gd name="T49" fmla="*/ 51 h 121"/>
                  <a:gd name="T50" fmla="*/ 119 w 286"/>
                  <a:gd name="T51" fmla="*/ 58 h 121"/>
                  <a:gd name="T52" fmla="*/ 122 w 286"/>
                  <a:gd name="T53" fmla="*/ 65 h 121"/>
                  <a:gd name="T54" fmla="*/ 125 w 286"/>
                  <a:gd name="T55" fmla="*/ 72 h 121"/>
                  <a:gd name="T56" fmla="*/ 131 w 286"/>
                  <a:gd name="T57" fmla="*/ 78 h 121"/>
                  <a:gd name="T58" fmla="*/ 135 w 286"/>
                  <a:gd name="T59" fmla="*/ 84 h 121"/>
                  <a:gd name="T60" fmla="*/ 138 w 286"/>
                  <a:gd name="T61" fmla="*/ 91 h 121"/>
                  <a:gd name="T62" fmla="*/ 144 w 286"/>
                  <a:gd name="T63" fmla="*/ 96 h 121"/>
                  <a:gd name="T64" fmla="*/ 147 w 286"/>
                  <a:gd name="T65" fmla="*/ 101 h 121"/>
                  <a:gd name="T66" fmla="*/ 151 w 286"/>
                  <a:gd name="T67" fmla="*/ 106 h 121"/>
                  <a:gd name="T68" fmla="*/ 157 w 286"/>
                  <a:gd name="T69" fmla="*/ 110 h 121"/>
                  <a:gd name="T70" fmla="*/ 160 w 286"/>
                  <a:gd name="T71" fmla="*/ 114 h 121"/>
                  <a:gd name="T72" fmla="*/ 163 w 286"/>
                  <a:gd name="T73" fmla="*/ 116 h 121"/>
                  <a:gd name="T74" fmla="*/ 167 w 286"/>
                  <a:gd name="T75" fmla="*/ 118 h 121"/>
                  <a:gd name="T76" fmla="*/ 173 w 286"/>
                  <a:gd name="T77" fmla="*/ 120 h 121"/>
                  <a:gd name="T78" fmla="*/ 186 w 286"/>
                  <a:gd name="T79" fmla="*/ 119 h 121"/>
                  <a:gd name="T80" fmla="*/ 189 w 286"/>
                  <a:gd name="T81" fmla="*/ 117 h 121"/>
                  <a:gd name="T82" fmla="*/ 192 w 286"/>
                  <a:gd name="T83" fmla="*/ 115 h 121"/>
                  <a:gd name="T84" fmla="*/ 199 w 286"/>
                  <a:gd name="T85" fmla="*/ 111 h 121"/>
                  <a:gd name="T86" fmla="*/ 202 w 286"/>
                  <a:gd name="T87" fmla="*/ 107 h 121"/>
                  <a:gd name="T88" fmla="*/ 205 w 286"/>
                  <a:gd name="T89" fmla="*/ 103 h 121"/>
                  <a:gd name="T90" fmla="*/ 211 w 286"/>
                  <a:gd name="T91" fmla="*/ 98 h 121"/>
                  <a:gd name="T92" fmla="*/ 214 w 286"/>
                  <a:gd name="T93" fmla="*/ 92 h 121"/>
                  <a:gd name="T94" fmla="*/ 218 w 286"/>
                  <a:gd name="T95" fmla="*/ 87 h 121"/>
                  <a:gd name="T96" fmla="*/ 224 w 286"/>
                  <a:gd name="T97" fmla="*/ 81 h 121"/>
                  <a:gd name="T98" fmla="*/ 227 w 286"/>
                  <a:gd name="T99" fmla="*/ 74 h 121"/>
                  <a:gd name="T100" fmla="*/ 230 w 286"/>
                  <a:gd name="T101" fmla="*/ 67 h 121"/>
                  <a:gd name="T102" fmla="*/ 237 w 286"/>
                  <a:gd name="T103" fmla="*/ 60 h 121"/>
                  <a:gd name="T104" fmla="*/ 240 w 286"/>
                  <a:gd name="T105" fmla="*/ 54 h 121"/>
                  <a:gd name="T106" fmla="*/ 243 w 286"/>
                  <a:gd name="T107" fmla="*/ 47 h 121"/>
                  <a:gd name="T108" fmla="*/ 250 w 286"/>
                  <a:gd name="T109" fmla="*/ 40 h 121"/>
                  <a:gd name="T110" fmla="*/ 253 w 286"/>
                  <a:gd name="T111" fmla="*/ 34 h 121"/>
                  <a:gd name="T112" fmla="*/ 256 w 286"/>
                  <a:gd name="T113" fmla="*/ 28 h 121"/>
                  <a:gd name="T114" fmla="*/ 262 w 286"/>
                  <a:gd name="T115" fmla="*/ 23 h 121"/>
                  <a:gd name="T116" fmla="*/ 266 w 286"/>
                  <a:gd name="T117" fmla="*/ 18 h 121"/>
                  <a:gd name="T118" fmla="*/ 269 w 286"/>
                  <a:gd name="T119" fmla="*/ 13 h 121"/>
                  <a:gd name="T120" fmla="*/ 272 w 286"/>
                  <a:gd name="T121" fmla="*/ 9 h 121"/>
                  <a:gd name="T122" fmla="*/ 278 w 286"/>
                  <a:gd name="T123" fmla="*/ 6 h 121"/>
                  <a:gd name="T124" fmla="*/ 282 w 286"/>
                  <a:gd name="T125" fmla="*/ 3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6" h="121">
                    <a:moveTo>
                      <a:pt x="0" y="60"/>
                    </a:moveTo>
                    <a:lnTo>
                      <a:pt x="3" y="58"/>
                    </a:lnTo>
                    <a:lnTo>
                      <a:pt x="3" y="57"/>
                    </a:lnTo>
                    <a:lnTo>
                      <a:pt x="3" y="55"/>
                    </a:lnTo>
                    <a:lnTo>
                      <a:pt x="7" y="53"/>
                    </a:lnTo>
                    <a:lnTo>
                      <a:pt x="7" y="51"/>
                    </a:lnTo>
                    <a:lnTo>
                      <a:pt x="7" y="50"/>
                    </a:lnTo>
                    <a:lnTo>
                      <a:pt x="10" y="48"/>
                    </a:lnTo>
                    <a:lnTo>
                      <a:pt x="10" y="46"/>
                    </a:lnTo>
                    <a:lnTo>
                      <a:pt x="10" y="45"/>
                    </a:lnTo>
                    <a:lnTo>
                      <a:pt x="13" y="43"/>
                    </a:lnTo>
                    <a:lnTo>
                      <a:pt x="13" y="42"/>
                    </a:lnTo>
                    <a:lnTo>
                      <a:pt x="13" y="40"/>
                    </a:lnTo>
                    <a:lnTo>
                      <a:pt x="16" y="38"/>
                    </a:lnTo>
                    <a:lnTo>
                      <a:pt x="16" y="37"/>
                    </a:lnTo>
                    <a:lnTo>
                      <a:pt x="16" y="35"/>
                    </a:lnTo>
                    <a:lnTo>
                      <a:pt x="19" y="34"/>
                    </a:lnTo>
                    <a:lnTo>
                      <a:pt x="19" y="32"/>
                    </a:lnTo>
                    <a:lnTo>
                      <a:pt x="19" y="31"/>
                    </a:lnTo>
                    <a:lnTo>
                      <a:pt x="23" y="29"/>
                    </a:lnTo>
                    <a:lnTo>
                      <a:pt x="23" y="28"/>
                    </a:lnTo>
                    <a:lnTo>
                      <a:pt x="23" y="26"/>
                    </a:lnTo>
                    <a:lnTo>
                      <a:pt x="26" y="25"/>
                    </a:lnTo>
                    <a:lnTo>
                      <a:pt x="26" y="24"/>
                    </a:lnTo>
                    <a:lnTo>
                      <a:pt x="26" y="22"/>
                    </a:lnTo>
                    <a:lnTo>
                      <a:pt x="29" y="21"/>
                    </a:lnTo>
                    <a:lnTo>
                      <a:pt x="29" y="20"/>
                    </a:lnTo>
                    <a:lnTo>
                      <a:pt x="29" y="18"/>
                    </a:lnTo>
                    <a:lnTo>
                      <a:pt x="32" y="17"/>
                    </a:lnTo>
                    <a:lnTo>
                      <a:pt x="32" y="16"/>
                    </a:lnTo>
                    <a:lnTo>
                      <a:pt x="32" y="15"/>
                    </a:lnTo>
                    <a:lnTo>
                      <a:pt x="35" y="14"/>
                    </a:lnTo>
                    <a:lnTo>
                      <a:pt x="35" y="13"/>
                    </a:lnTo>
                    <a:lnTo>
                      <a:pt x="35" y="12"/>
                    </a:lnTo>
                    <a:lnTo>
                      <a:pt x="39" y="11"/>
                    </a:lnTo>
                    <a:lnTo>
                      <a:pt x="39" y="10"/>
                    </a:lnTo>
                    <a:lnTo>
                      <a:pt x="39" y="9"/>
                    </a:lnTo>
                    <a:lnTo>
                      <a:pt x="42" y="8"/>
                    </a:lnTo>
                    <a:lnTo>
                      <a:pt x="42" y="7"/>
                    </a:lnTo>
                    <a:lnTo>
                      <a:pt x="42" y="6"/>
                    </a:lnTo>
                    <a:lnTo>
                      <a:pt x="45" y="6"/>
                    </a:lnTo>
                    <a:lnTo>
                      <a:pt x="45" y="5"/>
                    </a:lnTo>
                    <a:lnTo>
                      <a:pt x="45" y="4"/>
                    </a:lnTo>
                    <a:lnTo>
                      <a:pt x="48" y="4"/>
                    </a:lnTo>
                    <a:lnTo>
                      <a:pt x="48" y="3"/>
                    </a:lnTo>
                    <a:lnTo>
                      <a:pt x="48" y="3"/>
                    </a:lnTo>
                    <a:lnTo>
                      <a:pt x="51" y="2"/>
                    </a:lnTo>
                    <a:lnTo>
                      <a:pt x="51" y="2"/>
                    </a:lnTo>
                    <a:lnTo>
                      <a:pt x="51" y="1"/>
                    </a:lnTo>
                    <a:lnTo>
                      <a:pt x="55" y="1"/>
                    </a:lnTo>
                    <a:lnTo>
                      <a:pt x="55" y="1"/>
                    </a:lnTo>
                    <a:lnTo>
                      <a:pt x="55" y="0"/>
                    </a:lnTo>
                    <a:lnTo>
                      <a:pt x="58" y="0"/>
                    </a:lnTo>
                    <a:lnTo>
                      <a:pt x="61" y="0"/>
                    </a:lnTo>
                    <a:lnTo>
                      <a:pt x="64" y="0"/>
                    </a:lnTo>
                    <a:lnTo>
                      <a:pt x="64" y="1"/>
                    </a:lnTo>
                    <a:lnTo>
                      <a:pt x="67" y="1"/>
                    </a:lnTo>
                    <a:lnTo>
                      <a:pt x="67" y="1"/>
                    </a:lnTo>
                    <a:lnTo>
                      <a:pt x="71" y="2"/>
                    </a:lnTo>
                    <a:lnTo>
                      <a:pt x="71" y="3"/>
                    </a:lnTo>
                    <a:lnTo>
                      <a:pt x="71" y="3"/>
                    </a:lnTo>
                    <a:lnTo>
                      <a:pt x="74" y="4"/>
                    </a:lnTo>
                    <a:lnTo>
                      <a:pt x="74" y="4"/>
                    </a:lnTo>
                    <a:lnTo>
                      <a:pt x="74" y="5"/>
                    </a:lnTo>
                    <a:lnTo>
                      <a:pt x="77" y="6"/>
                    </a:lnTo>
                    <a:lnTo>
                      <a:pt x="77" y="6"/>
                    </a:lnTo>
                    <a:lnTo>
                      <a:pt x="77" y="7"/>
                    </a:lnTo>
                    <a:lnTo>
                      <a:pt x="80" y="8"/>
                    </a:lnTo>
                    <a:lnTo>
                      <a:pt x="80" y="9"/>
                    </a:lnTo>
                    <a:lnTo>
                      <a:pt x="80" y="10"/>
                    </a:lnTo>
                    <a:lnTo>
                      <a:pt x="83" y="11"/>
                    </a:lnTo>
                    <a:lnTo>
                      <a:pt x="83" y="12"/>
                    </a:lnTo>
                    <a:lnTo>
                      <a:pt x="83" y="13"/>
                    </a:lnTo>
                    <a:lnTo>
                      <a:pt x="87" y="14"/>
                    </a:lnTo>
                    <a:lnTo>
                      <a:pt x="87" y="15"/>
                    </a:lnTo>
                    <a:lnTo>
                      <a:pt x="87" y="16"/>
                    </a:lnTo>
                    <a:lnTo>
                      <a:pt x="90" y="17"/>
                    </a:lnTo>
                    <a:lnTo>
                      <a:pt x="90" y="18"/>
                    </a:lnTo>
                    <a:lnTo>
                      <a:pt x="90" y="20"/>
                    </a:lnTo>
                    <a:lnTo>
                      <a:pt x="93" y="21"/>
                    </a:lnTo>
                    <a:lnTo>
                      <a:pt x="93" y="22"/>
                    </a:lnTo>
                    <a:lnTo>
                      <a:pt x="93" y="23"/>
                    </a:lnTo>
                    <a:lnTo>
                      <a:pt x="96" y="25"/>
                    </a:lnTo>
                    <a:lnTo>
                      <a:pt x="96" y="26"/>
                    </a:lnTo>
                    <a:lnTo>
                      <a:pt x="96" y="28"/>
                    </a:lnTo>
                    <a:lnTo>
                      <a:pt x="99" y="29"/>
                    </a:lnTo>
                    <a:lnTo>
                      <a:pt x="99" y="31"/>
                    </a:lnTo>
                    <a:lnTo>
                      <a:pt x="99" y="32"/>
                    </a:lnTo>
                    <a:lnTo>
                      <a:pt x="103" y="34"/>
                    </a:lnTo>
                    <a:lnTo>
                      <a:pt x="103" y="35"/>
                    </a:lnTo>
                    <a:lnTo>
                      <a:pt x="103" y="37"/>
                    </a:lnTo>
                    <a:lnTo>
                      <a:pt x="106" y="38"/>
                    </a:lnTo>
                    <a:lnTo>
                      <a:pt x="106" y="40"/>
                    </a:lnTo>
                    <a:lnTo>
                      <a:pt x="106" y="41"/>
                    </a:lnTo>
                    <a:lnTo>
                      <a:pt x="109" y="43"/>
                    </a:lnTo>
                    <a:lnTo>
                      <a:pt x="109" y="45"/>
                    </a:lnTo>
                    <a:lnTo>
                      <a:pt x="109" y="46"/>
                    </a:lnTo>
                    <a:lnTo>
                      <a:pt x="112" y="48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5" y="53"/>
                    </a:lnTo>
                    <a:lnTo>
                      <a:pt x="115" y="55"/>
                    </a:lnTo>
                    <a:lnTo>
                      <a:pt x="115" y="56"/>
                    </a:lnTo>
                    <a:lnTo>
                      <a:pt x="119" y="58"/>
                    </a:lnTo>
                    <a:lnTo>
                      <a:pt x="119" y="60"/>
                    </a:lnTo>
                    <a:lnTo>
                      <a:pt x="119" y="61"/>
                    </a:lnTo>
                    <a:lnTo>
                      <a:pt x="122" y="63"/>
                    </a:lnTo>
                    <a:lnTo>
                      <a:pt x="122" y="65"/>
                    </a:lnTo>
                    <a:lnTo>
                      <a:pt x="122" y="67"/>
                    </a:lnTo>
                    <a:lnTo>
                      <a:pt x="125" y="68"/>
                    </a:lnTo>
                    <a:lnTo>
                      <a:pt x="125" y="70"/>
                    </a:lnTo>
                    <a:lnTo>
                      <a:pt x="125" y="72"/>
                    </a:lnTo>
                    <a:lnTo>
                      <a:pt x="128" y="73"/>
                    </a:lnTo>
                    <a:lnTo>
                      <a:pt x="128" y="75"/>
                    </a:lnTo>
                    <a:lnTo>
                      <a:pt x="128" y="77"/>
                    </a:lnTo>
                    <a:lnTo>
                      <a:pt x="131" y="78"/>
                    </a:lnTo>
                    <a:lnTo>
                      <a:pt x="131" y="80"/>
                    </a:lnTo>
                    <a:lnTo>
                      <a:pt x="131" y="81"/>
                    </a:lnTo>
                    <a:lnTo>
                      <a:pt x="135" y="83"/>
                    </a:lnTo>
                    <a:lnTo>
                      <a:pt x="135" y="84"/>
                    </a:lnTo>
                    <a:lnTo>
                      <a:pt x="135" y="86"/>
                    </a:lnTo>
                    <a:lnTo>
                      <a:pt x="138" y="87"/>
                    </a:lnTo>
                    <a:lnTo>
                      <a:pt x="138" y="89"/>
                    </a:lnTo>
                    <a:lnTo>
                      <a:pt x="138" y="91"/>
                    </a:lnTo>
                    <a:lnTo>
                      <a:pt x="141" y="92"/>
                    </a:lnTo>
                    <a:lnTo>
                      <a:pt x="141" y="94"/>
                    </a:lnTo>
                    <a:lnTo>
                      <a:pt x="141" y="95"/>
                    </a:lnTo>
                    <a:lnTo>
                      <a:pt x="144" y="96"/>
                    </a:lnTo>
                    <a:lnTo>
                      <a:pt x="144" y="97"/>
                    </a:lnTo>
                    <a:lnTo>
                      <a:pt x="144" y="99"/>
                    </a:lnTo>
                    <a:lnTo>
                      <a:pt x="147" y="100"/>
                    </a:lnTo>
                    <a:lnTo>
                      <a:pt x="147" y="101"/>
                    </a:lnTo>
                    <a:lnTo>
                      <a:pt x="147" y="103"/>
                    </a:lnTo>
                    <a:lnTo>
                      <a:pt x="151" y="104"/>
                    </a:lnTo>
                    <a:lnTo>
                      <a:pt x="151" y="105"/>
                    </a:lnTo>
                    <a:lnTo>
                      <a:pt x="151" y="106"/>
                    </a:lnTo>
                    <a:lnTo>
                      <a:pt x="154" y="107"/>
                    </a:lnTo>
                    <a:lnTo>
                      <a:pt x="154" y="108"/>
                    </a:lnTo>
                    <a:lnTo>
                      <a:pt x="154" y="109"/>
                    </a:lnTo>
                    <a:lnTo>
                      <a:pt x="157" y="110"/>
                    </a:lnTo>
                    <a:lnTo>
                      <a:pt x="157" y="111"/>
                    </a:lnTo>
                    <a:lnTo>
                      <a:pt x="157" y="112"/>
                    </a:lnTo>
                    <a:lnTo>
                      <a:pt x="160" y="113"/>
                    </a:lnTo>
                    <a:lnTo>
                      <a:pt x="160" y="114"/>
                    </a:lnTo>
                    <a:lnTo>
                      <a:pt x="160" y="114"/>
                    </a:lnTo>
                    <a:lnTo>
                      <a:pt x="160" y="115"/>
                    </a:lnTo>
                    <a:lnTo>
                      <a:pt x="163" y="115"/>
                    </a:lnTo>
                    <a:lnTo>
                      <a:pt x="163" y="116"/>
                    </a:lnTo>
                    <a:lnTo>
                      <a:pt x="163" y="117"/>
                    </a:lnTo>
                    <a:lnTo>
                      <a:pt x="167" y="117"/>
                    </a:lnTo>
                    <a:lnTo>
                      <a:pt x="167" y="118"/>
                    </a:lnTo>
                    <a:lnTo>
                      <a:pt x="167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73" y="120"/>
                    </a:lnTo>
                    <a:lnTo>
                      <a:pt x="176" y="120"/>
                    </a:lnTo>
                    <a:lnTo>
                      <a:pt x="179" y="120"/>
                    </a:lnTo>
                    <a:lnTo>
                      <a:pt x="183" y="119"/>
                    </a:lnTo>
                    <a:lnTo>
                      <a:pt x="186" y="119"/>
                    </a:lnTo>
                    <a:lnTo>
                      <a:pt x="186" y="119"/>
                    </a:lnTo>
                    <a:lnTo>
                      <a:pt x="186" y="118"/>
                    </a:lnTo>
                    <a:lnTo>
                      <a:pt x="189" y="117"/>
                    </a:lnTo>
                    <a:lnTo>
                      <a:pt x="189" y="117"/>
                    </a:lnTo>
                    <a:lnTo>
                      <a:pt x="189" y="117"/>
                    </a:lnTo>
                    <a:lnTo>
                      <a:pt x="192" y="116"/>
                    </a:lnTo>
                    <a:lnTo>
                      <a:pt x="192" y="115"/>
                    </a:lnTo>
                    <a:lnTo>
                      <a:pt x="192" y="115"/>
                    </a:lnTo>
                    <a:lnTo>
                      <a:pt x="195" y="114"/>
                    </a:lnTo>
                    <a:lnTo>
                      <a:pt x="195" y="113"/>
                    </a:lnTo>
                    <a:lnTo>
                      <a:pt x="195" y="112"/>
                    </a:lnTo>
                    <a:lnTo>
                      <a:pt x="199" y="111"/>
                    </a:lnTo>
                    <a:lnTo>
                      <a:pt x="199" y="110"/>
                    </a:lnTo>
                    <a:lnTo>
                      <a:pt x="199" y="109"/>
                    </a:lnTo>
                    <a:lnTo>
                      <a:pt x="202" y="108"/>
                    </a:lnTo>
                    <a:lnTo>
                      <a:pt x="202" y="107"/>
                    </a:lnTo>
                    <a:lnTo>
                      <a:pt x="202" y="106"/>
                    </a:lnTo>
                    <a:lnTo>
                      <a:pt x="205" y="105"/>
                    </a:lnTo>
                    <a:lnTo>
                      <a:pt x="205" y="104"/>
                    </a:lnTo>
                    <a:lnTo>
                      <a:pt x="205" y="103"/>
                    </a:lnTo>
                    <a:lnTo>
                      <a:pt x="208" y="102"/>
                    </a:lnTo>
                    <a:lnTo>
                      <a:pt x="208" y="100"/>
                    </a:lnTo>
                    <a:lnTo>
                      <a:pt x="208" y="99"/>
                    </a:lnTo>
                    <a:lnTo>
                      <a:pt x="211" y="98"/>
                    </a:lnTo>
                    <a:lnTo>
                      <a:pt x="211" y="97"/>
                    </a:lnTo>
                    <a:lnTo>
                      <a:pt x="211" y="95"/>
                    </a:lnTo>
                    <a:lnTo>
                      <a:pt x="214" y="94"/>
                    </a:lnTo>
                    <a:lnTo>
                      <a:pt x="214" y="92"/>
                    </a:lnTo>
                    <a:lnTo>
                      <a:pt x="214" y="91"/>
                    </a:lnTo>
                    <a:lnTo>
                      <a:pt x="218" y="90"/>
                    </a:lnTo>
                    <a:lnTo>
                      <a:pt x="218" y="88"/>
                    </a:lnTo>
                    <a:lnTo>
                      <a:pt x="218" y="87"/>
                    </a:lnTo>
                    <a:lnTo>
                      <a:pt x="221" y="85"/>
                    </a:lnTo>
                    <a:lnTo>
                      <a:pt x="221" y="84"/>
                    </a:lnTo>
                    <a:lnTo>
                      <a:pt x="221" y="82"/>
                    </a:lnTo>
                    <a:lnTo>
                      <a:pt x="224" y="81"/>
                    </a:lnTo>
                    <a:lnTo>
                      <a:pt x="224" y="79"/>
                    </a:lnTo>
                    <a:lnTo>
                      <a:pt x="224" y="77"/>
                    </a:lnTo>
                    <a:lnTo>
                      <a:pt x="227" y="76"/>
                    </a:lnTo>
                    <a:lnTo>
                      <a:pt x="227" y="74"/>
                    </a:lnTo>
                    <a:lnTo>
                      <a:pt x="227" y="72"/>
                    </a:lnTo>
                    <a:lnTo>
                      <a:pt x="230" y="71"/>
                    </a:lnTo>
                    <a:lnTo>
                      <a:pt x="230" y="69"/>
                    </a:lnTo>
                    <a:lnTo>
                      <a:pt x="230" y="67"/>
                    </a:lnTo>
                    <a:lnTo>
                      <a:pt x="234" y="66"/>
                    </a:lnTo>
                    <a:lnTo>
                      <a:pt x="234" y="64"/>
                    </a:lnTo>
                    <a:lnTo>
                      <a:pt x="234" y="62"/>
                    </a:lnTo>
                    <a:lnTo>
                      <a:pt x="237" y="60"/>
                    </a:lnTo>
                    <a:lnTo>
                      <a:pt x="237" y="59"/>
                    </a:lnTo>
                    <a:lnTo>
                      <a:pt x="237" y="57"/>
                    </a:lnTo>
                    <a:lnTo>
                      <a:pt x="240" y="55"/>
                    </a:lnTo>
                    <a:lnTo>
                      <a:pt x="240" y="54"/>
                    </a:lnTo>
                    <a:lnTo>
                      <a:pt x="240" y="52"/>
                    </a:lnTo>
                    <a:lnTo>
                      <a:pt x="243" y="50"/>
                    </a:lnTo>
                    <a:lnTo>
                      <a:pt x="243" y="49"/>
                    </a:lnTo>
                    <a:lnTo>
                      <a:pt x="243" y="47"/>
                    </a:lnTo>
                    <a:lnTo>
                      <a:pt x="246" y="45"/>
                    </a:lnTo>
                    <a:lnTo>
                      <a:pt x="246" y="44"/>
                    </a:lnTo>
                    <a:lnTo>
                      <a:pt x="246" y="42"/>
                    </a:lnTo>
                    <a:lnTo>
                      <a:pt x="250" y="40"/>
                    </a:lnTo>
                    <a:lnTo>
                      <a:pt x="250" y="39"/>
                    </a:lnTo>
                    <a:lnTo>
                      <a:pt x="250" y="37"/>
                    </a:lnTo>
                    <a:lnTo>
                      <a:pt x="253" y="36"/>
                    </a:lnTo>
                    <a:lnTo>
                      <a:pt x="253" y="34"/>
                    </a:lnTo>
                    <a:lnTo>
                      <a:pt x="253" y="33"/>
                    </a:lnTo>
                    <a:lnTo>
                      <a:pt x="256" y="31"/>
                    </a:lnTo>
                    <a:lnTo>
                      <a:pt x="256" y="29"/>
                    </a:lnTo>
                    <a:lnTo>
                      <a:pt x="256" y="28"/>
                    </a:lnTo>
                    <a:lnTo>
                      <a:pt x="259" y="27"/>
                    </a:lnTo>
                    <a:lnTo>
                      <a:pt x="259" y="25"/>
                    </a:lnTo>
                    <a:lnTo>
                      <a:pt x="259" y="24"/>
                    </a:lnTo>
                    <a:lnTo>
                      <a:pt x="262" y="23"/>
                    </a:lnTo>
                    <a:lnTo>
                      <a:pt x="262" y="21"/>
                    </a:lnTo>
                    <a:lnTo>
                      <a:pt x="262" y="20"/>
                    </a:lnTo>
                    <a:lnTo>
                      <a:pt x="266" y="19"/>
                    </a:lnTo>
                    <a:lnTo>
                      <a:pt x="266" y="18"/>
                    </a:lnTo>
                    <a:lnTo>
                      <a:pt x="266" y="16"/>
                    </a:lnTo>
                    <a:lnTo>
                      <a:pt x="266" y="15"/>
                    </a:lnTo>
                    <a:lnTo>
                      <a:pt x="269" y="14"/>
                    </a:lnTo>
                    <a:lnTo>
                      <a:pt x="269" y="13"/>
                    </a:lnTo>
                    <a:lnTo>
                      <a:pt x="269" y="12"/>
                    </a:lnTo>
                    <a:lnTo>
                      <a:pt x="272" y="11"/>
                    </a:lnTo>
                    <a:lnTo>
                      <a:pt x="272" y="10"/>
                    </a:lnTo>
                    <a:lnTo>
                      <a:pt x="272" y="9"/>
                    </a:lnTo>
                    <a:lnTo>
                      <a:pt x="275" y="8"/>
                    </a:lnTo>
                    <a:lnTo>
                      <a:pt x="275" y="7"/>
                    </a:lnTo>
                    <a:lnTo>
                      <a:pt x="275" y="6"/>
                    </a:lnTo>
                    <a:lnTo>
                      <a:pt x="278" y="6"/>
                    </a:lnTo>
                    <a:lnTo>
                      <a:pt x="278" y="5"/>
                    </a:lnTo>
                    <a:lnTo>
                      <a:pt x="278" y="5"/>
                    </a:lnTo>
                    <a:lnTo>
                      <a:pt x="282" y="4"/>
                    </a:lnTo>
                    <a:lnTo>
                      <a:pt x="282" y="3"/>
                    </a:lnTo>
                    <a:lnTo>
                      <a:pt x="282" y="3"/>
                    </a:lnTo>
                    <a:lnTo>
                      <a:pt x="285" y="2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4" name="Freeform 38"/>
              <p:cNvSpPr>
                <a:spLocks/>
              </p:cNvSpPr>
              <p:nvPr/>
            </p:nvSpPr>
            <p:spPr bwMode="auto">
              <a:xfrm>
                <a:off x="1588" y="2442"/>
                <a:ext cx="292" cy="121"/>
              </a:xfrm>
              <a:custGeom>
                <a:avLst/>
                <a:gdLst>
                  <a:gd name="T0" fmla="*/ 3 w 292"/>
                  <a:gd name="T1" fmla="*/ 1 h 121"/>
                  <a:gd name="T2" fmla="*/ 13 w 292"/>
                  <a:gd name="T3" fmla="*/ 0 h 121"/>
                  <a:gd name="T4" fmla="*/ 19 w 292"/>
                  <a:gd name="T5" fmla="*/ 2 h 121"/>
                  <a:gd name="T6" fmla="*/ 22 w 292"/>
                  <a:gd name="T7" fmla="*/ 4 h 121"/>
                  <a:gd name="T8" fmla="*/ 29 w 292"/>
                  <a:gd name="T9" fmla="*/ 7 h 121"/>
                  <a:gd name="T10" fmla="*/ 32 w 292"/>
                  <a:gd name="T11" fmla="*/ 10 h 121"/>
                  <a:gd name="T12" fmla="*/ 35 w 292"/>
                  <a:gd name="T13" fmla="*/ 15 h 121"/>
                  <a:gd name="T14" fmla="*/ 41 w 292"/>
                  <a:gd name="T15" fmla="*/ 19 h 121"/>
                  <a:gd name="T16" fmla="*/ 45 w 292"/>
                  <a:gd name="T17" fmla="*/ 24 h 121"/>
                  <a:gd name="T18" fmla="*/ 48 w 292"/>
                  <a:gd name="T19" fmla="*/ 30 h 121"/>
                  <a:gd name="T20" fmla="*/ 54 w 292"/>
                  <a:gd name="T21" fmla="*/ 36 h 121"/>
                  <a:gd name="T22" fmla="*/ 57 w 292"/>
                  <a:gd name="T23" fmla="*/ 43 h 121"/>
                  <a:gd name="T24" fmla="*/ 61 w 292"/>
                  <a:gd name="T25" fmla="*/ 49 h 121"/>
                  <a:gd name="T26" fmla="*/ 67 w 292"/>
                  <a:gd name="T27" fmla="*/ 56 h 121"/>
                  <a:gd name="T28" fmla="*/ 70 w 292"/>
                  <a:gd name="T29" fmla="*/ 63 h 121"/>
                  <a:gd name="T30" fmla="*/ 73 w 292"/>
                  <a:gd name="T31" fmla="*/ 69 h 121"/>
                  <a:gd name="T32" fmla="*/ 80 w 292"/>
                  <a:gd name="T33" fmla="*/ 76 h 121"/>
                  <a:gd name="T34" fmla="*/ 83 w 292"/>
                  <a:gd name="T35" fmla="*/ 82 h 121"/>
                  <a:gd name="T36" fmla="*/ 86 w 292"/>
                  <a:gd name="T37" fmla="*/ 89 h 121"/>
                  <a:gd name="T38" fmla="*/ 89 w 292"/>
                  <a:gd name="T39" fmla="*/ 94 h 121"/>
                  <a:gd name="T40" fmla="*/ 96 w 292"/>
                  <a:gd name="T41" fmla="*/ 100 h 121"/>
                  <a:gd name="T42" fmla="*/ 99 w 292"/>
                  <a:gd name="T43" fmla="*/ 105 h 121"/>
                  <a:gd name="T44" fmla="*/ 102 w 292"/>
                  <a:gd name="T45" fmla="*/ 109 h 121"/>
                  <a:gd name="T46" fmla="*/ 109 w 292"/>
                  <a:gd name="T47" fmla="*/ 112 h 121"/>
                  <a:gd name="T48" fmla="*/ 112 w 292"/>
                  <a:gd name="T49" fmla="*/ 115 h 121"/>
                  <a:gd name="T50" fmla="*/ 115 w 292"/>
                  <a:gd name="T51" fmla="*/ 118 h 121"/>
                  <a:gd name="T52" fmla="*/ 121 w 292"/>
                  <a:gd name="T53" fmla="*/ 119 h 121"/>
                  <a:gd name="T54" fmla="*/ 134 w 292"/>
                  <a:gd name="T55" fmla="*/ 119 h 121"/>
                  <a:gd name="T56" fmla="*/ 137 w 292"/>
                  <a:gd name="T57" fmla="*/ 118 h 121"/>
                  <a:gd name="T58" fmla="*/ 141 w 292"/>
                  <a:gd name="T59" fmla="*/ 115 h 121"/>
                  <a:gd name="T60" fmla="*/ 147 w 292"/>
                  <a:gd name="T61" fmla="*/ 112 h 121"/>
                  <a:gd name="T62" fmla="*/ 150 w 292"/>
                  <a:gd name="T63" fmla="*/ 108 h 121"/>
                  <a:gd name="T64" fmla="*/ 153 w 292"/>
                  <a:gd name="T65" fmla="*/ 104 h 121"/>
                  <a:gd name="T66" fmla="*/ 160 w 292"/>
                  <a:gd name="T67" fmla="*/ 100 h 121"/>
                  <a:gd name="T68" fmla="*/ 163 w 292"/>
                  <a:gd name="T69" fmla="*/ 94 h 121"/>
                  <a:gd name="T70" fmla="*/ 166 w 292"/>
                  <a:gd name="T71" fmla="*/ 89 h 121"/>
                  <a:gd name="T72" fmla="*/ 173 w 292"/>
                  <a:gd name="T73" fmla="*/ 82 h 121"/>
                  <a:gd name="T74" fmla="*/ 176 w 292"/>
                  <a:gd name="T75" fmla="*/ 76 h 121"/>
                  <a:gd name="T76" fmla="*/ 179 w 292"/>
                  <a:gd name="T77" fmla="*/ 69 h 121"/>
                  <a:gd name="T78" fmla="*/ 185 w 292"/>
                  <a:gd name="T79" fmla="*/ 62 h 121"/>
                  <a:gd name="T80" fmla="*/ 189 w 292"/>
                  <a:gd name="T81" fmla="*/ 56 h 121"/>
                  <a:gd name="T82" fmla="*/ 192 w 292"/>
                  <a:gd name="T83" fmla="*/ 49 h 121"/>
                  <a:gd name="T84" fmla="*/ 195 w 292"/>
                  <a:gd name="T85" fmla="*/ 42 h 121"/>
                  <a:gd name="T86" fmla="*/ 201 w 292"/>
                  <a:gd name="T87" fmla="*/ 36 h 121"/>
                  <a:gd name="T88" fmla="*/ 205 w 292"/>
                  <a:gd name="T89" fmla="*/ 30 h 121"/>
                  <a:gd name="T90" fmla="*/ 208 w 292"/>
                  <a:gd name="T91" fmla="*/ 24 h 121"/>
                  <a:gd name="T92" fmla="*/ 214 w 292"/>
                  <a:gd name="T93" fmla="*/ 19 h 121"/>
                  <a:gd name="T94" fmla="*/ 217 w 292"/>
                  <a:gd name="T95" fmla="*/ 14 h 121"/>
                  <a:gd name="T96" fmla="*/ 221 w 292"/>
                  <a:gd name="T97" fmla="*/ 10 h 121"/>
                  <a:gd name="T98" fmla="*/ 227 w 292"/>
                  <a:gd name="T99" fmla="*/ 7 h 121"/>
                  <a:gd name="T100" fmla="*/ 230 w 292"/>
                  <a:gd name="T101" fmla="*/ 4 h 121"/>
                  <a:gd name="T102" fmla="*/ 233 w 292"/>
                  <a:gd name="T103" fmla="*/ 2 h 121"/>
                  <a:gd name="T104" fmla="*/ 240 w 292"/>
                  <a:gd name="T105" fmla="*/ 0 h 121"/>
                  <a:gd name="T106" fmla="*/ 253 w 292"/>
                  <a:gd name="T107" fmla="*/ 1 h 121"/>
                  <a:gd name="T108" fmla="*/ 256 w 292"/>
                  <a:gd name="T109" fmla="*/ 3 h 121"/>
                  <a:gd name="T110" fmla="*/ 259 w 292"/>
                  <a:gd name="T111" fmla="*/ 5 h 121"/>
                  <a:gd name="T112" fmla="*/ 265 w 292"/>
                  <a:gd name="T113" fmla="*/ 8 h 121"/>
                  <a:gd name="T114" fmla="*/ 269 w 292"/>
                  <a:gd name="T115" fmla="*/ 12 h 121"/>
                  <a:gd name="T116" fmla="*/ 272 w 292"/>
                  <a:gd name="T117" fmla="*/ 16 h 121"/>
                  <a:gd name="T118" fmla="*/ 278 w 292"/>
                  <a:gd name="T119" fmla="*/ 21 h 121"/>
                  <a:gd name="T120" fmla="*/ 281 w 292"/>
                  <a:gd name="T121" fmla="*/ 27 h 121"/>
                  <a:gd name="T122" fmla="*/ 285 w 292"/>
                  <a:gd name="T123" fmla="*/ 33 h 121"/>
                  <a:gd name="T124" fmla="*/ 291 w 292"/>
                  <a:gd name="T125" fmla="*/ 3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92" h="121">
                    <a:moveTo>
                      <a:pt x="0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6" y="1"/>
                    </a:lnTo>
                    <a:lnTo>
                      <a:pt x="16" y="1"/>
                    </a:lnTo>
                    <a:lnTo>
                      <a:pt x="19" y="1"/>
                    </a:lnTo>
                    <a:lnTo>
                      <a:pt x="19" y="2"/>
                    </a:lnTo>
                    <a:lnTo>
                      <a:pt x="19" y="2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2" y="4"/>
                    </a:lnTo>
                    <a:lnTo>
                      <a:pt x="25" y="5"/>
                    </a:lnTo>
                    <a:lnTo>
                      <a:pt x="25" y="5"/>
                    </a:lnTo>
                    <a:lnTo>
                      <a:pt x="25" y="6"/>
                    </a:lnTo>
                    <a:lnTo>
                      <a:pt x="29" y="7"/>
                    </a:lnTo>
                    <a:lnTo>
                      <a:pt x="29" y="8"/>
                    </a:lnTo>
                    <a:lnTo>
                      <a:pt x="29" y="9"/>
                    </a:lnTo>
                    <a:lnTo>
                      <a:pt x="32" y="10"/>
                    </a:lnTo>
                    <a:lnTo>
                      <a:pt x="32" y="10"/>
                    </a:lnTo>
                    <a:lnTo>
                      <a:pt x="32" y="12"/>
                    </a:lnTo>
                    <a:lnTo>
                      <a:pt x="35" y="13"/>
                    </a:lnTo>
                    <a:lnTo>
                      <a:pt x="35" y="13"/>
                    </a:lnTo>
                    <a:lnTo>
                      <a:pt x="35" y="15"/>
                    </a:lnTo>
                    <a:lnTo>
                      <a:pt x="38" y="16"/>
                    </a:lnTo>
                    <a:lnTo>
                      <a:pt x="38" y="17"/>
                    </a:lnTo>
                    <a:lnTo>
                      <a:pt x="38" y="18"/>
                    </a:lnTo>
                    <a:lnTo>
                      <a:pt x="41" y="19"/>
                    </a:lnTo>
                    <a:lnTo>
                      <a:pt x="41" y="21"/>
                    </a:lnTo>
                    <a:lnTo>
                      <a:pt x="41" y="22"/>
                    </a:lnTo>
                    <a:lnTo>
                      <a:pt x="45" y="23"/>
                    </a:lnTo>
                    <a:lnTo>
                      <a:pt x="45" y="24"/>
                    </a:lnTo>
                    <a:lnTo>
                      <a:pt x="45" y="26"/>
                    </a:lnTo>
                    <a:lnTo>
                      <a:pt x="48" y="27"/>
                    </a:lnTo>
                    <a:lnTo>
                      <a:pt x="48" y="29"/>
                    </a:lnTo>
                    <a:lnTo>
                      <a:pt x="48" y="30"/>
                    </a:lnTo>
                    <a:lnTo>
                      <a:pt x="51" y="32"/>
                    </a:lnTo>
                    <a:lnTo>
                      <a:pt x="51" y="33"/>
                    </a:lnTo>
                    <a:lnTo>
                      <a:pt x="51" y="35"/>
                    </a:lnTo>
                    <a:lnTo>
                      <a:pt x="54" y="36"/>
                    </a:lnTo>
                    <a:lnTo>
                      <a:pt x="54" y="38"/>
                    </a:lnTo>
                    <a:lnTo>
                      <a:pt x="54" y="39"/>
                    </a:lnTo>
                    <a:lnTo>
                      <a:pt x="57" y="41"/>
                    </a:lnTo>
                    <a:lnTo>
                      <a:pt x="57" y="43"/>
                    </a:lnTo>
                    <a:lnTo>
                      <a:pt x="57" y="44"/>
                    </a:lnTo>
                    <a:lnTo>
                      <a:pt x="61" y="46"/>
                    </a:lnTo>
                    <a:lnTo>
                      <a:pt x="61" y="47"/>
                    </a:lnTo>
                    <a:lnTo>
                      <a:pt x="61" y="49"/>
                    </a:lnTo>
                    <a:lnTo>
                      <a:pt x="64" y="51"/>
                    </a:lnTo>
                    <a:lnTo>
                      <a:pt x="64" y="53"/>
                    </a:lnTo>
                    <a:lnTo>
                      <a:pt x="64" y="54"/>
                    </a:lnTo>
                    <a:lnTo>
                      <a:pt x="67" y="56"/>
                    </a:lnTo>
                    <a:lnTo>
                      <a:pt x="67" y="58"/>
                    </a:lnTo>
                    <a:lnTo>
                      <a:pt x="67" y="59"/>
                    </a:lnTo>
                    <a:lnTo>
                      <a:pt x="70" y="61"/>
                    </a:lnTo>
                    <a:lnTo>
                      <a:pt x="70" y="63"/>
                    </a:lnTo>
                    <a:lnTo>
                      <a:pt x="70" y="64"/>
                    </a:lnTo>
                    <a:lnTo>
                      <a:pt x="73" y="66"/>
                    </a:lnTo>
                    <a:lnTo>
                      <a:pt x="73" y="68"/>
                    </a:lnTo>
                    <a:lnTo>
                      <a:pt x="73" y="69"/>
                    </a:lnTo>
                    <a:lnTo>
                      <a:pt x="77" y="71"/>
                    </a:lnTo>
                    <a:lnTo>
                      <a:pt x="77" y="73"/>
                    </a:lnTo>
                    <a:lnTo>
                      <a:pt x="77" y="74"/>
                    </a:lnTo>
                    <a:lnTo>
                      <a:pt x="80" y="76"/>
                    </a:lnTo>
                    <a:lnTo>
                      <a:pt x="80" y="78"/>
                    </a:lnTo>
                    <a:lnTo>
                      <a:pt x="80" y="79"/>
                    </a:lnTo>
                    <a:lnTo>
                      <a:pt x="83" y="81"/>
                    </a:lnTo>
                    <a:lnTo>
                      <a:pt x="83" y="82"/>
                    </a:lnTo>
                    <a:lnTo>
                      <a:pt x="83" y="84"/>
                    </a:lnTo>
                    <a:lnTo>
                      <a:pt x="86" y="86"/>
                    </a:lnTo>
                    <a:lnTo>
                      <a:pt x="86" y="87"/>
                    </a:lnTo>
                    <a:lnTo>
                      <a:pt x="86" y="89"/>
                    </a:lnTo>
                    <a:lnTo>
                      <a:pt x="86" y="90"/>
                    </a:lnTo>
                    <a:lnTo>
                      <a:pt x="89" y="92"/>
                    </a:lnTo>
                    <a:lnTo>
                      <a:pt x="89" y="93"/>
                    </a:lnTo>
                    <a:lnTo>
                      <a:pt x="89" y="94"/>
                    </a:lnTo>
                    <a:lnTo>
                      <a:pt x="93" y="96"/>
                    </a:lnTo>
                    <a:lnTo>
                      <a:pt x="93" y="97"/>
                    </a:lnTo>
                    <a:lnTo>
                      <a:pt x="93" y="99"/>
                    </a:lnTo>
                    <a:lnTo>
                      <a:pt x="96" y="100"/>
                    </a:lnTo>
                    <a:lnTo>
                      <a:pt x="96" y="101"/>
                    </a:lnTo>
                    <a:lnTo>
                      <a:pt x="96" y="102"/>
                    </a:lnTo>
                    <a:lnTo>
                      <a:pt x="99" y="104"/>
                    </a:lnTo>
                    <a:lnTo>
                      <a:pt x="99" y="105"/>
                    </a:lnTo>
                    <a:lnTo>
                      <a:pt x="99" y="106"/>
                    </a:lnTo>
                    <a:lnTo>
                      <a:pt x="102" y="107"/>
                    </a:lnTo>
                    <a:lnTo>
                      <a:pt x="102" y="108"/>
                    </a:lnTo>
                    <a:lnTo>
                      <a:pt x="102" y="109"/>
                    </a:lnTo>
                    <a:lnTo>
                      <a:pt x="105" y="110"/>
                    </a:lnTo>
                    <a:lnTo>
                      <a:pt x="105" y="111"/>
                    </a:lnTo>
                    <a:lnTo>
                      <a:pt x="105" y="112"/>
                    </a:lnTo>
                    <a:lnTo>
                      <a:pt x="109" y="112"/>
                    </a:lnTo>
                    <a:lnTo>
                      <a:pt x="109" y="113"/>
                    </a:lnTo>
                    <a:lnTo>
                      <a:pt x="109" y="114"/>
                    </a:lnTo>
                    <a:lnTo>
                      <a:pt x="112" y="115"/>
                    </a:lnTo>
                    <a:lnTo>
                      <a:pt x="112" y="115"/>
                    </a:lnTo>
                    <a:lnTo>
                      <a:pt x="112" y="116"/>
                    </a:lnTo>
                    <a:lnTo>
                      <a:pt x="115" y="117"/>
                    </a:lnTo>
                    <a:lnTo>
                      <a:pt x="115" y="117"/>
                    </a:lnTo>
                    <a:lnTo>
                      <a:pt x="115" y="118"/>
                    </a:lnTo>
                    <a:lnTo>
                      <a:pt x="118" y="118"/>
                    </a:lnTo>
                    <a:lnTo>
                      <a:pt x="118" y="119"/>
                    </a:lnTo>
                    <a:lnTo>
                      <a:pt x="118" y="119"/>
                    </a:lnTo>
                    <a:lnTo>
                      <a:pt x="121" y="119"/>
                    </a:lnTo>
                    <a:lnTo>
                      <a:pt x="125" y="120"/>
                    </a:lnTo>
                    <a:lnTo>
                      <a:pt x="128" y="120"/>
                    </a:lnTo>
                    <a:lnTo>
                      <a:pt x="131" y="120"/>
                    </a:lnTo>
                    <a:lnTo>
                      <a:pt x="134" y="119"/>
                    </a:lnTo>
                    <a:lnTo>
                      <a:pt x="134" y="119"/>
                    </a:lnTo>
                    <a:lnTo>
                      <a:pt x="134" y="119"/>
                    </a:lnTo>
                    <a:lnTo>
                      <a:pt x="137" y="118"/>
                    </a:lnTo>
                    <a:lnTo>
                      <a:pt x="137" y="118"/>
                    </a:lnTo>
                    <a:lnTo>
                      <a:pt x="137" y="117"/>
                    </a:lnTo>
                    <a:lnTo>
                      <a:pt x="141" y="117"/>
                    </a:lnTo>
                    <a:lnTo>
                      <a:pt x="141" y="116"/>
                    </a:lnTo>
                    <a:lnTo>
                      <a:pt x="141" y="115"/>
                    </a:lnTo>
                    <a:lnTo>
                      <a:pt x="144" y="115"/>
                    </a:lnTo>
                    <a:lnTo>
                      <a:pt x="144" y="114"/>
                    </a:lnTo>
                    <a:lnTo>
                      <a:pt x="144" y="113"/>
                    </a:lnTo>
                    <a:lnTo>
                      <a:pt x="147" y="112"/>
                    </a:lnTo>
                    <a:lnTo>
                      <a:pt x="147" y="112"/>
                    </a:lnTo>
                    <a:lnTo>
                      <a:pt x="147" y="110"/>
                    </a:lnTo>
                    <a:lnTo>
                      <a:pt x="150" y="110"/>
                    </a:lnTo>
                    <a:lnTo>
                      <a:pt x="150" y="108"/>
                    </a:lnTo>
                    <a:lnTo>
                      <a:pt x="150" y="108"/>
                    </a:lnTo>
                    <a:lnTo>
                      <a:pt x="153" y="107"/>
                    </a:lnTo>
                    <a:lnTo>
                      <a:pt x="153" y="105"/>
                    </a:lnTo>
                    <a:lnTo>
                      <a:pt x="153" y="104"/>
                    </a:lnTo>
                    <a:lnTo>
                      <a:pt x="157" y="103"/>
                    </a:lnTo>
                    <a:lnTo>
                      <a:pt x="157" y="102"/>
                    </a:lnTo>
                    <a:lnTo>
                      <a:pt x="157" y="101"/>
                    </a:lnTo>
                    <a:lnTo>
                      <a:pt x="160" y="100"/>
                    </a:lnTo>
                    <a:lnTo>
                      <a:pt x="160" y="98"/>
                    </a:lnTo>
                    <a:lnTo>
                      <a:pt x="160" y="97"/>
                    </a:lnTo>
                    <a:lnTo>
                      <a:pt x="163" y="96"/>
                    </a:lnTo>
                    <a:lnTo>
                      <a:pt x="163" y="94"/>
                    </a:lnTo>
                    <a:lnTo>
                      <a:pt x="163" y="93"/>
                    </a:lnTo>
                    <a:lnTo>
                      <a:pt x="166" y="91"/>
                    </a:lnTo>
                    <a:lnTo>
                      <a:pt x="166" y="90"/>
                    </a:lnTo>
                    <a:lnTo>
                      <a:pt x="166" y="89"/>
                    </a:lnTo>
                    <a:lnTo>
                      <a:pt x="169" y="87"/>
                    </a:lnTo>
                    <a:lnTo>
                      <a:pt x="169" y="85"/>
                    </a:lnTo>
                    <a:lnTo>
                      <a:pt x="169" y="84"/>
                    </a:lnTo>
                    <a:lnTo>
                      <a:pt x="173" y="82"/>
                    </a:lnTo>
                    <a:lnTo>
                      <a:pt x="173" y="81"/>
                    </a:lnTo>
                    <a:lnTo>
                      <a:pt x="173" y="79"/>
                    </a:lnTo>
                    <a:lnTo>
                      <a:pt x="176" y="77"/>
                    </a:lnTo>
                    <a:lnTo>
                      <a:pt x="176" y="76"/>
                    </a:lnTo>
                    <a:lnTo>
                      <a:pt x="176" y="74"/>
                    </a:lnTo>
                    <a:lnTo>
                      <a:pt x="179" y="73"/>
                    </a:lnTo>
                    <a:lnTo>
                      <a:pt x="179" y="71"/>
                    </a:lnTo>
                    <a:lnTo>
                      <a:pt x="179" y="69"/>
                    </a:lnTo>
                    <a:lnTo>
                      <a:pt x="182" y="67"/>
                    </a:lnTo>
                    <a:lnTo>
                      <a:pt x="182" y="66"/>
                    </a:lnTo>
                    <a:lnTo>
                      <a:pt x="182" y="64"/>
                    </a:lnTo>
                    <a:lnTo>
                      <a:pt x="185" y="62"/>
                    </a:lnTo>
                    <a:lnTo>
                      <a:pt x="185" y="61"/>
                    </a:lnTo>
                    <a:lnTo>
                      <a:pt x="185" y="59"/>
                    </a:lnTo>
                    <a:lnTo>
                      <a:pt x="189" y="58"/>
                    </a:lnTo>
                    <a:lnTo>
                      <a:pt x="189" y="56"/>
                    </a:lnTo>
                    <a:lnTo>
                      <a:pt x="189" y="54"/>
                    </a:lnTo>
                    <a:lnTo>
                      <a:pt x="192" y="52"/>
                    </a:lnTo>
                    <a:lnTo>
                      <a:pt x="192" y="51"/>
                    </a:lnTo>
                    <a:lnTo>
                      <a:pt x="192" y="49"/>
                    </a:lnTo>
                    <a:lnTo>
                      <a:pt x="192" y="47"/>
                    </a:lnTo>
                    <a:lnTo>
                      <a:pt x="195" y="46"/>
                    </a:lnTo>
                    <a:lnTo>
                      <a:pt x="195" y="44"/>
                    </a:lnTo>
                    <a:lnTo>
                      <a:pt x="195" y="42"/>
                    </a:lnTo>
                    <a:lnTo>
                      <a:pt x="198" y="41"/>
                    </a:lnTo>
                    <a:lnTo>
                      <a:pt x="198" y="39"/>
                    </a:lnTo>
                    <a:lnTo>
                      <a:pt x="198" y="38"/>
                    </a:lnTo>
                    <a:lnTo>
                      <a:pt x="201" y="36"/>
                    </a:lnTo>
                    <a:lnTo>
                      <a:pt x="201" y="35"/>
                    </a:lnTo>
                    <a:lnTo>
                      <a:pt x="201" y="33"/>
                    </a:lnTo>
                    <a:lnTo>
                      <a:pt x="205" y="31"/>
                    </a:lnTo>
                    <a:lnTo>
                      <a:pt x="205" y="30"/>
                    </a:lnTo>
                    <a:lnTo>
                      <a:pt x="205" y="28"/>
                    </a:lnTo>
                    <a:lnTo>
                      <a:pt x="208" y="27"/>
                    </a:lnTo>
                    <a:lnTo>
                      <a:pt x="208" y="26"/>
                    </a:lnTo>
                    <a:lnTo>
                      <a:pt x="208" y="24"/>
                    </a:lnTo>
                    <a:lnTo>
                      <a:pt x="211" y="23"/>
                    </a:lnTo>
                    <a:lnTo>
                      <a:pt x="211" y="21"/>
                    </a:lnTo>
                    <a:lnTo>
                      <a:pt x="211" y="20"/>
                    </a:lnTo>
                    <a:lnTo>
                      <a:pt x="214" y="19"/>
                    </a:lnTo>
                    <a:lnTo>
                      <a:pt x="214" y="18"/>
                    </a:lnTo>
                    <a:lnTo>
                      <a:pt x="214" y="16"/>
                    </a:lnTo>
                    <a:lnTo>
                      <a:pt x="217" y="15"/>
                    </a:lnTo>
                    <a:lnTo>
                      <a:pt x="217" y="14"/>
                    </a:lnTo>
                    <a:lnTo>
                      <a:pt x="217" y="13"/>
                    </a:lnTo>
                    <a:lnTo>
                      <a:pt x="221" y="12"/>
                    </a:lnTo>
                    <a:lnTo>
                      <a:pt x="221" y="11"/>
                    </a:lnTo>
                    <a:lnTo>
                      <a:pt x="221" y="10"/>
                    </a:lnTo>
                    <a:lnTo>
                      <a:pt x="224" y="9"/>
                    </a:lnTo>
                    <a:lnTo>
                      <a:pt x="224" y="8"/>
                    </a:lnTo>
                    <a:lnTo>
                      <a:pt x="224" y="8"/>
                    </a:lnTo>
                    <a:lnTo>
                      <a:pt x="227" y="7"/>
                    </a:lnTo>
                    <a:lnTo>
                      <a:pt x="227" y="6"/>
                    </a:lnTo>
                    <a:lnTo>
                      <a:pt x="227" y="5"/>
                    </a:lnTo>
                    <a:lnTo>
                      <a:pt x="230" y="5"/>
                    </a:lnTo>
                    <a:lnTo>
                      <a:pt x="230" y="4"/>
                    </a:lnTo>
                    <a:lnTo>
                      <a:pt x="230" y="3"/>
                    </a:lnTo>
                    <a:lnTo>
                      <a:pt x="233" y="3"/>
                    </a:lnTo>
                    <a:lnTo>
                      <a:pt x="233" y="2"/>
                    </a:lnTo>
                    <a:lnTo>
                      <a:pt x="233" y="2"/>
                    </a:lnTo>
                    <a:lnTo>
                      <a:pt x="237" y="1"/>
                    </a:lnTo>
                    <a:lnTo>
                      <a:pt x="237" y="1"/>
                    </a:lnTo>
                    <a:lnTo>
                      <a:pt x="240" y="1"/>
                    </a:lnTo>
                    <a:lnTo>
                      <a:pt x="240" y="0"/>
                    </a:lnTo>
                    <a:lnTo>
                      <a:pt x="243" y="0"/>
                    </a:lnTo>
                    <a:lnTo>
                      <a:pt x="246" y="0"/>
                    </a:lnTo>
                    <a:lnTo>
                      <a:pt x="249" y="1"/>
                    </a:lnTo>
                    <a:lnTo>
                      <a:pt x="253" y="1"/>
                    </a:lnTo>
                    <a:lnTo>
                      <a:pt x="253" y="1"/>
                    </a:lnTo>
                    <a:lnTo>
                      <a:pt x="253" y="2"/>
                    </a:lnTo>
                    <a:lnTo>
                      <a:pt x="256" y="2"/>
                    </a:lnTo>
                    <a:lnTo>
                      <a:pt x="256" y="3"/>
                    </a:lnTo>
                    <a:lnTo>
                      <a:pt x="256" y="3"/>
                    </a:lnTo>
                    <a:lnTo>
                      <a:pt x="259" y="4"/>
                    </a:lnTo>
                    <a:lnTo>
                      <a:pt x="259" y="5"/>
                    </a:lnTo>
                    <a:lnTo>
                      <a:pt x="259" y="5"/>
                    </a:lnTo>
                    <a:lnTo>
                      <a:pt x="262" y="6"/>
                    </a:lnTo>
                    <a:lnTo>
                      <a:pt x="262" y="7"/>
                    </a:lnTo>
                    <a:lnTo>
                      <a:pt x="262" y="8"/>
                    </a:lnTo>
                    <a:lnTo>
                      <a:pt x="265" y="8"/>
                    </a:lnTo>
                    <a:lnTo>
                      <a:pt x="265" y="9"/>
                    </a:lnTo>
                    <a:lnTo>
                      <a:pt x="265" y="10"/>
                    </a:lnTo>
                    <a:lnTo>
                      <a:pt x="269" y="11"/>
                    </a:lnTo>
                    <a:lnTo>
                      <a:pt x="269" y="12"/>
                    </a:lnTo>
                    <a:lnTo>
                      <a:pt x="269" y="13"/>
                    </a:lnTo>
                    <a:lnTo>
                      <a:pt x="272" y="14"/>
                    </a:lnTo>
                    <a:lnTo>
                      <a:pt x="272" y="15"/>
                    </a:lnTo>
                    <a:lnTo>
                      <a:pt x="272" y="16"/>
                    </a:lnTo>
                    <a:lnTo>
                      <a:pt x="275" y="18"/>
                    </a:lnTo>
                    <a:lnTo>
                      <a:pt x="275" y="19"/>
                    </a:lnTo>
                    <a:lnTo>
                      <a:pt x="275" y="20"/>
                    </a:lnTo>
                    <a:lnTo>
                      <a:pt x="278" y="21"/>
                    </a:lnTo>
                    <a:lnTo>
                      <a:pt x="278" y="23"/>
                    </a:lnTo>
                    <a:lnTo>
                      <a:pt x="278" y="24"/>
                    </a:lnTo>
                    <a:lnTo>
                      <a:pt x="281" y="26"/>
                    </a:lnTo>
                    <a:lnTo>
                      <a:pt x="281" y="27"/>
                    </a:lnTo>
                    <a:lnTo>
                      <a:pt x="281" y="28"/>
                    </a:lnTo>
                    <a:lnTo>
                      <a:pt x="285" y="30"/>
                    </a:lnTo>
                    <a:lnTo>
                      <a:pt x="285" y="31"/>
                    </a:lnTo>
                    <a:lnTo>
                      <a:pt x="285" y="33"/>
                    </a:lnTo>
                    <a:lnTo>
                      <a:pt x="288" y="35"/>
                    </a:lnTo>
                    <a:lnTo>
                      <a:pt x="288" y="36"/>
                    </a:lnTo>
                    <a:lnTo>
                      <a:pt x="288" y="38"/>
                    </a:lnTo>
                    <a:lnTo>
                      <a:pt x="291" y="39"/>
                    </a:lnTo>
                    <a:lnTo>
                      <a:pt x="291" y="41"/>
                    </a:lnTo>
                    <a:lnTo>
                      <a:pt x="291" y="42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5" name="Freeform 39"/>
              <p:cNvSpPr>
                <a:spLocks/>
              </p:cNvSpPr>
              <p:nvPr/>
            </p:nvSpPr>
            <p:spPr bwMode="auto">
              <a:xfrm>
                <a:off x="1879" y="2442"/>
                <a:ext cx="286" cy="121"/>
              </a:xfrm>
              <a:custGeom>
                <a:avLst/>
                <a:gdLst>
                  <a:gd name="T0" fmla="*/ 3 w 286"/>
                  <a:gd name="T1" fmla="*/ 47 h 121"/>
                  <a:gd name="T2" fmla="*/ 6 w 286"/>
                  <a:gd name="T3" fmla="*/ 54 h 121"/>
                  <a:gd name="T4" fmla="*/ 13 w 286"/>
                  <a:gd name="T5" fmla="*/ 61 h 121"/>
                  <a:gd name="T6" fmla="*/ 16 w 286"/>
                  <a:gd name="T7" fmla="*/ 67 h 121"/>
                  <a:gd name="T8" fmla="*/ 19 w 286"/>
                  <a:gd name="T9" fmla="*/ 74 h 121"/>
                  <a:gd name="T10" fmla="*/ 26 w 286"/>
                  <a:gd name="T11" fmla="*/ 81 h 121"/>
                  <a:gd name="T12" fmla="*/ 29 w 286"/>
                  <a:gd name="T13" fmla="*/ 87 h 121"/>
                  <a:gd name="T14" fmla="*/ 32 w 286"/>
                  <a:gd name="T15" fmla="*/ 93 h 121"/>
                  <a:gd name="T16" fmla="*/ 38 w 286"/>
                  <a:gd name="T17" fmla="*/ 98 h 121"/>
                  <a:gd name="T18" fmla="*/ 42 w 286"/>
                  <a:gd name="T19" fmla="*/ 103 h 121"/>
                  <a:gd name="T20" fmla="*/ 45 w 286"/>
                  <a:gd name="T21" fmla="*/ 108 h 121"/>
                  <a:gd name="T22" fmla="*/ 51 w 286"/>
                  <a:gd name="T23" fmla="*/ 112 h 121"/>
                  <a:gd name="T24" fmla="*/ 54 w 286"/>
                  <a:gd name="T25" fmla="*/ 115 h 121"/>
                  <a:gd name="T26" fmla="*/ 58 w 286"/>
                  <a:gd name="T27" fmla="*/ 117 h 121"/>
                  <a:gd name="T28" fmla="*/ 64 w 286"/>
                  <a:gd name="T29" fmla="*/ 119 h 121"/>
                  <a:gd name="T30" fmla="*/ 74 w 286"/>
                  <a:gd name="T31" fmla="*/ 120 h 121"/>
                  <a:gd name="T32" fmla="*/ 80 w 286"/>
                  <a:gd name="T33" fmla="*/ 118 h 121"/>
                  <a:gd name="T34" fmla="*/ 83 w 286"/>
                  <a:gd name="T35" fmla="*/ 116 h 121"/>
                  <a:gd name="T36" fmla="*/ 90 w 286"/>
                  <a:gd name="T37" fmla="*/ 113 h 121"/>
                  <a:gd name="T38" fmla="*/ 93 w 286"/>
                  <a:gd name="T39" fmla="*/ 110 h 121"/>
                  <a:gd name="T40" fmla="*/ 96 w 286"/>
                  <a:gd name="T41" fmla="*/ 106 h 121"/>
                  <a:gd name="T42" fmla="*/ 102 w 286"/>
                  <a:gd name="T43" fmla="*/ 101 h 121"/>
                  <a:gd name="T44" fmla="*/ 106 w 286"/>
                  <a:gd name="T45" fmla="*/ 96 h 121"/>
                  <a:gd name="T46" fmla="*/ 109 w 286"/>
                  <a:gd name="T47" fmla="*/ 90 h 121"/>
                  <a:gd name="T48" fmla="*/ 112 w 286"/>
                  <a:gd name="T49" fmla="*/ 84 h 121"/>
                  <a:gd name="T50" fmla="*/ 118 w 286"/>
                  <a:gd name="T51" fmla="*/ 78 h 121"/>
                  <a:gd name="T52" fmla="*/ 122 w 286"/>
                  <a:gd name="T53" fmla="*/ 71 h 121"/>
                  <a:gd name="T54" fmla="*/ 125 w 286"/>
                  <a:gd name="T55" fmla="*/ 64 h 121"/>
                  <a:gd name="T56" fmla="*/ 131 w 286"/>
                  <a:gd name="T57" fmla="*/ 58 h 121"/>
                  <a:gd name="T58" fmla="*/ 134 w 286"/>
                  <a:gd name="T59" fmla="*/ 51 h 121"/>
                  <a:gd name="T60" fmla="*/ 138 w 286"/>
                  <a:gd name="T61" fmla="*/ 44 h 121"/>
                  <a:gd name="T62" fmla="*/ 144 w 286"/>
                  <a:gd name="T63" fmla="*/ 38 h 121"/>
                  <a:gd name="T64" fmla="*/ 147 w 286"/>
                  <a:gd name="T65" fmla="*/ 32 h 121"/>
                  <a:gd name="T66" fmla="*/ 150 w 286"/>
                  <a:gd name="T67" fmla="*/ 26 h 121"/>
                  <a:gd name="T68" fmla="*/ 157 w 286"/>
                  <a:gd name="T69" fmla="*/ 21 h 121"/>
                  <a:gd name="T70" fmla="*/ 160 w 286"/>
                  <a:gd name="T71" fmla="*/ 16 h 121"/>
                  <a:gd name="T72" fmla="*/ 163 w 286"/>
                  <a:gd name="T73" fmla="*/ 12 h 121"/>
                  <a:gd name="T74" fmla="*/ 170 w 286"/>
                  <a:gd name="T75" fmla="*/ 8 h 121"/>
                  <a:gd name="T76" fmla="*/ 173 w 286"/>
                  <a:gd name="T77" fmla="*/ 5 h 121"/>
                  <a:gd name="T78" fmla="*/ 176 w 286"/>
                  <a:gd name="T79" fmla="*/ 2 h 121"/>
                  <a:gd name="T80" fmla="*/ 182 w 286"/>
                  <a:gd name="T81" fmla="*/ 1 h 121"/>
                  <a:gd name="T82" fmla="*/ 195 w 286"/>
                  <a:gd name="T83" fmla="*/ 1 h 121"/>
                  <a:gd name="T84" fmla="*/ 198 w 286"/>
                  <a:gd name="T85" fmla="*/ 2 h 121"/>
                  <a:gd name="T86" fmla="*/ 202 w 286"/>
                  <a:gd name="T87" fmla="*/ 5 h 121"/>
                  <a:gd name="T88" fmla="*/ 208 w 286"/>
                  <a:gd name="T89" fmla="*/ 7 h 121"/>
                  <a:gd name="T90" fmla="*/ 211 w 286"/>
                  <a:gd name="T91" fmla="*/ 11 h 121"/>
                  <a:gd name="T92" fmla="*/ 214 w 286"/>
                  <a:gd name="T93" fmla="*/ 15 h 121"/>
                  <a:gd name="T94" fmla="*/ 218 w 286"/>
                  <a:gd name="T95" fmla="*/ 20 h 121"/>
                  <a:gd name="T96" fmla="*/ 224 w 286"/>
                  <a:gd name="T97" fmla="*/ 25 h 121"/>
                  <a:gd name="T98" fmla="*/ 227 w 286"/>
                  <a:gd name="T99" fmla="*/ 31 h 121"/>
                  <a:gd name="T100" fmla="*/ 230 w 286"/>
                  <a:gd name="T101" fmla="*/ 37 h 121"/>
                  <a:gd name="T102" fmla="*/ 237 w 286"/>
                  <a:gd name="T103" fmla="*/ 44 h 121"/>
                  <a:gd name="T104" fmla="*/ 240 w 286"/>
                  <a:gd name="T105" fmla="*/ 50 h 121"/>
                  <a:gd name="T106" fmla="*/ 243 w 286"/>
                  <a:gd name="T107" fmla="*/ 57 h 121"/>
                  <a:gd name="T108" fmla="*/ 250 w 286"/>
                  <a:gd name="T109" fmla="*/ 64 h 121"/>
                  <a:gd name="T110" fmla="*/ 253 w 286"/>
                  <a:gd name="T111" fmla="*/ 71 h 121"/>
                  <a:gd name="T112" fmla="*/ 256 w 286"/>
                  <a:gd name="T113" fmla="*/ 77 h 121"/>
                  <a:gd name="T114" fmla="*/ 262 w 286"/>
                  <a:gd name="T115" fmla="*/ 84 h 121"/>
                  <a:gd name="T116" fmla="*/ 266 w 286"/>
                  <a:gd name="T117" fmla="*/ 90 h 121"/>
                  <a:gd name="T118" fmla="*/ 269 w 286"/>
                  <a:gd name="T119" fmla="*/ 95 h 121"/>
                  <a:gd name="T120" fmla="*/ 275 w 286"/>
                  <a:gd name="T121" fmla="*/ 100 h 121"/>
                  <a:gd name="T122" fmla="*/ 278 w 286"/>
                  <a:gd name="T123" fmla="*/ 105 h 121"/>
                  <a:gd name="T124" fmla="*/ 282 w 286"/>
                  <a:gd name="T125" fmla="*/ 10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6" h="121">
                    <a:moveTo>
                      <a:pt x="0" y="42"/>
                    </a:moveTo>
                    <a:lnTo>
                      <a:pt x="3" y="44"/>
                    </a:lnTo>
                    <a:lnTo>
                      <a:pt x="3" y="46"/>
                    </a:lnTo>
                    <a:lnTo>
                      <a:pt x="3" y="47"/>
                    </a:lnTo>
                    <a:lnTo>
                      <a:pt x="6" y="49"/>
                    </a:lnTo>
                    <a:lnTo>
                      <a:pt x="6" y="51"/>
                    </a:lnTo>
                    <a:lnTo>
                      <a:pt x="6" y="52"/>
                    </a:lnTo>
                    <a:lnTo>
                      <a:pt x="6" y="54"/>
                    </a:lnTo>
                    <a:lnTo>
                      <a:pt x="10" y="56"/>
                    </a:lnTo>
                    <a:lnTo>
                      <a:pt x="10" y="58"/>
                    </a:lnTo>
                    <a:lnTo>
                      <a:pt x="10" y="59"/>
                    </a:lnTo>
                    <a:lnTo>
                      <a:pt x="13" y="61"/>
                    </a:lnTo>
                    <a:lnTo>
                      <a:pt x="13" y="62"/>
                    </a:lnTo>
                    <a:lnTo>
                      <a:pt x="13" y="64"/>
                    </a:lnTo>
                    <a:lnTo>
                      <a:pt x="16" y="66"/>
                    </a:lnTo>
                    <a:lnTo>
                      <a:pt x="16" y="67"/>
                    </a:lnTo>
                    <a:lnTo>
                      <a:pt x="16" y="69"/>
                    </a:lnTo>
                    <a:lnTo>
                      <a:pt x="19" y="71"/>
                    </a:lnTo>
                    <a:lnTo>
                      <a:pt x="19" y="73"/>
                    </a:lnTo>
                    <a:lnTo>
                      <a:pt x="19" y="74"/>
                    </a:lnTo>
                    <a:lnTo>
                      <a:pt x="22" y="76"/>
                    </a:lnTo>
                    <a:lnTo>
                      <a:pt x="22" y="77"/>
                    </a:lnTo>
                    <a:lnTo>
                      <a:pt x="22" y="79"/>
                    </a:lnTo>
                    <a:lnTo>
                      <a:pt x="26" y="81"/>
                    </a:lnTo>
                    <a:lnTo>
                      <a:pt x="26" y="82"/>
                    </a:lnTo>
                    <a:lnTo>
                      <a:pt x="26" y="84"/>
                    </a:lnTo>
                    <a:lnTo>
                      <a:pt x="29" y="85"/>
                    </a:lnTo>
                    <a:lnTo>
                      <a:pt x="29" y="87"/>
                    </a:lnTo>
                    <a:lnTo>
                      <a:pt x="29" y="89"/>
                    </a:lnTo>
                    <a:lnTo>
                      <a:pt x="32" y="90"/>
                    </a:lnTo>
                    <a:lnTo>
                      <a:pt x="32" y="91"/>
                    </a:lnTo>
                    <a:lnTo>
                      <a:pt x="32" y="93"/>
                    </a:lnTo>
                    <a:lnTo>
                      <a:pt x="35" y="94"/>
                    </a:lnTo>
                    <a:lnTo>
                      <a:pt x="35" y="96"/>
                    </a:lnTo>
                    <a:lnTo>
                      <a:pt x="35" y="97"/>
                    </a:lnTo>
                    <a:lnTo>
                      <a:pt x="38" y="98"/>
                    </a:lnTo>
                    <a:lnTo>
                      <a:pt x="38" y="100"/>
                    </a:lnTo>
                    <a:lnTo>
                      <a:pt x="38" y="101"/>
                    </a:lnTo>
                    <a:lnTo>
                      <a:pt x="42" y="102"/>
                    </a:lnTo>
                    <a:lnTo>
                      <a:pt x="42" y="103"/>
                    </a:lnTo>
                    <a:lnTo>
                      <a:pt x="42" y="104"/>
                    </a:lnTo>
                    <a:lnTo>
                      <a:pt x="45" y="105"/>
                    </a:lnTo>
                    <a:lnTo>
                      <a:pt x="45" y="107"/>
                    </a:lnTo>
                    <a:lnTo>
                      <a:pt x="45" y="108"/>
                    </a:lnTo>
                    <a:lnTo>
                      <a:pt x="48" y="108"/>
                    </a:lnTo>
                    <a:lnTo>
                      <a:pt x="48" y="110"/>
                    </a:lnTo>
                    <a:lnTo>
                      <a:pt x="48" y="110"/>
                    </a:lnTo>
                    <a:lnTo>
                      <a:pt x="51" y="112"/>
                    </a:lnTo>
                    <a:lnTo>
                      <a:pt x="51" y="112"/>
                    </a:lnTo>
                    <a:lnTo>
                      <a:pt x="51" y="113"/>
                    </a:lnTo>
                    <a:lnTo>
                      <a:pt x="54" y="114"/>
                    </a:lnTo>
                    <a:lnTo>
                      <a:pt x="54" y="115"/>
                    </a:lnTo>
                    <a:lnTo>
                      <a:pt x="54" y="115"/>
                    </a:lnTo>
                    <a:lnTo>
                      <a:pt x="58" y="116"/>
                    </a:lnTo>
                    <a:lnTo>
                      <a:pt x="58" y="117"/>
                    </a:lnTo>
                    <a:lnTo>
                      <a:pt x="58" y="117"/>
                    </a:lnTo>
                    <a:lnTo>
                      <a:pt x="61" y="118"/>
                    </a:lnTo>
                    <a:lnTo>
                      <a:pt x="61" y="118"/>
                    </a:lnTo>
                    <a:lnTo>
                      <a:pt x="61" y="119"/>
                    </a:lnTo>
                    <a:lnTo>
                      <a:pt x="64" y="119"/>
                    </a:lnTo>
                    <a:lnTo>
                      <a:pt x="64" y="119"/>
                    </a:lnTo>
                    <a:lnTo>
                      <a:pt x="67" y="120"/>
                    </a:lnTo>
                    <a:lnTo>
                      <a:pt x="70" y="120"/>
                    </a:lnTo>
                    <a:lnTo>
                      <a:pt x="74" y="120"/>
                    </a:lnTo>
                    <a:lnTo>
                      <a:pt x="77" y="119"/>
                    </a:lnTo>
                    <a:lnTo>
                      <a:pt x="77" y="119"/>
                    </a:lnTo>
                    <a:lnTo>
                      <a:pt x="80" y="119"/>
                    </a:lnTo>
                    <a:lnTo>
                      <a:pt x="80" y="118"/>
                    </a:lnTo>
                    <a:lnTo>
                      <a:pt x="80" y="118"/>
                    </a:lnTo>
                    <a:lnTo>
                      <a:pt x="83" y="117"/>
                    </a:lnTo>
                    <a:lnTo>
                      <a:pt x="83" y="117"/>
                    </a:lnTo>
                    <a:lnTo>
                      <a:pt x="83" y="116"/>
                    </a:lnTo>
                    <a:lnTo>
                      <a:pt x="86" y="115"/>
                    </a:lnTo>
                    <a:lnTo>
                      <a:pt x="86" y="115"/>
                    </a:lnTo>
                    <a:lnTo>
                      <a:pt x="86" y="114"/>
                    </a:lnTo>
                    <a:lnTo>
                      <a:pt x="90" y="113"/>
                    </a:lnTo>
                    <a:lnTo>
                      <a:pt x="90" y="112"/>
                    </a:lnTo>
                    <a:lnTo>
                      <a:pt x="90" y="112"/>
                    </a:lnTo>
                    <a:lnTo>
                      <a:pt x="93" y="111"/>
                    </a:lnTo>
                    <a:lnTo>
                      <a:pt x="93" y="110"/>
                    </a:lnTo>
                    <a:lnTo>
                      <a:pt x="93" y="109"/>
                    </a:lnTo>
                    <a:lnTo>
                      <a:pt x="96" y="108"/>
                    </a:lnTo>
                    <a:lnTo>
                      <a:pt x="96" y="107"/>
                    </a:lnTo>
                    <a:lnTo>
                      <a:pt x="96" y="106"/>
                    </a:lnTo>
                    <a:lnTo>
                      <a:pt x="99" y="105"/>
                    </a:lnTo>
                    <a:lnTo>
                      <a:pt x="99" y="104"/>
                    </a:lnTo>
                    <a:lnTo>
                      <a:pt x="99" y="102"/>
                    </a:lnTo>
                    <a:lnTo>
                      <a:pt x="102" y="101"/>
                    </a:lnTo>
                    <a:lnTo>
                      <a:pt x="102" y="100"/>
                    </a:lnTo>
                    <a:lnTo>
                      <a:pt x="102" y="99"/>
                    </a:lnTo>
                    <a:lnTo>
                      <a:pt x="106" y="97"/>
                    </a:lnTo>
                    <a:lnTo>
                      <a:pt x="106" y="96"/>
                    </a:lnTo>
                    <a:lnTo>
                      <a:pt x="106" y="94"/>
                    </a:lnTo>
                    <a:lnTo>
                      <a:pt x="109" y="93"/>
                    </a:lnTo>
                    <a:lnTo>
                      <a:pt x="109" y="92"/>
                    </a:lnTo>
                    <a:lnTo>
                      <a:pt x="109" y="90"/>
                    </a:lnTo>
                    <a:lnTo>
                      <a:pt x="112" y="89"/>
                    </a:lnTo>
                    <a:lnTo>
                      <a:pt x="112" y="87"/>
                    </a:lnTo>
                    <a:lnTo>
                      <a:pt x="112" y="86"/>
                    </a:lnTo>
                    <a:lnTo>
                      <a:pt x="112" y="84"/>
                    </a:lnTo>
                    <a:lnTo>
                      <a:pt x="115" y="82"/>
                    </a:lnTo>
                    <a:lnTo>
                      <a:pt x="115" y="81"/>
                    </a:lnTo>
                    <a:lnTo>
                      <a:pt x="115" y="79"/>
                    </a:lnTo>
                    <a:lnTo>
                      <a:pt x="118" y="78"/>
                    </a:lnTo>
                    <a:lnTo>
                      <a:pt x="118" y="76"/>
                    </a:lnTo>
                    <a:lnTo>
                      <a:pt x="118" y="74"/>
                    </a:lnTo>
                    <a:lnTo>
                      <a:pt x="122" y="73"/>
                    </a:lnTo>
                    <a:lnTo>
                      <a:pt x="122" y="71"/>
                    </a:lnTo>
                    <a:lnTo>
                      <a:pt x="122" y="69"/>
                    </a:lnTo>
                    <a:lnTo>
                      <a:pt x="125" y="68"/>
                    </a:lnTo>
                    <a:lnTo>
                      <a:pt x="125" y="66"/>
                    </a:lnTo>
                    <a:lnTo>
                      <a:pt x="125" y="64"/>
                    </a:lnTo>
                    <a:lnTo>
                      <a:pt x="128" y="63"/>
                    </a:lnTo>
                    <a:lnTo>
                      <a:pt x="128" y="61"/>
                    </a:lnTo>
                    <a:lnTo>
                      <a:pt x="128" y="59"/>
                    </a:lnTo>
                    <a:lnTo>
                      <a:pt x="131" y="58"/>
                    </a:lnTo>
                    <a:lnTo>
                      <a:pt x="131" y="56"/>
                    </a:lnTo>
                    <a:lnTo>
                      <a:pt x="131" y="54"/>
                    </a:lnTo>
                    <a:lnTo>
                      <a:pt x="134" y="53"/>
                    </a:lnTo>
                    <a:lnTo>
                      <a:pt x="134" y="51"/>
                    </a:lnTo>
                    <a:lnTo>
                      <a:pt x="134" y="49"/>
                    </a:lnTo>
                    <a:lnTo>
                      <a:pt x="138" y="47"/>
                    </a:lnTo>
                    <a:lnTo>
                      <a:pt x="138" y="46"/>
                    </a:lnTo>
                    <a:lnTo>
                      <a:pt x="138" y="44"/>
                    </a:lnTo>
                    <a:lnTo>
                      <a:pt x="141" y="43"/>
                    </a:lnTo>
                    <a:lnTo>
                      <a:pt x="141" y="41"/>
                    </a:lnTo>
                    <a:lnTo>
                      <a:pt x="141" y="39"/>
                    </a:lnTo>
                    <a:lnTo>
                      <a:pt x="144" y="38"/>
                    </a:lnTo>
                    <a:lnTo>
                      <a:pt x="144" y="36"/>
                    </a:lnTo>
                    <a:lnTo>
                      <a:pt x="144" y="35"/>
                    </a:lnTo>
                    <a:lnTo>
                      <a:pt x="147" y="33"/>
                    </a:lnTo>
                    <a:lnTo>
                      <a:pt x="147" y="32"/>
                    </a:lnTo>
                    <a:lnTo>
                      <a:pt x="147" y="30"/>
                    </a:lnTo>
                    <a:lnTo>
                      <a:pt x="150" y="29"/>
                    </a:lnTo>
                    <a:lnTo>
                      <a:pt x="150" y="27"/>
                    </a:lnTo>
                    <a:lnTo>
                      <a:pt x="150" y="26"/>
                    </a:lnTo>
                    <a:lnTo>
                      <a:pt x="154" y="24"/>
                    </a:lnTo>
                    <a:lnTo>
                      <a:pt x="154" y="23"/>
                    </a:lnTo>
                    <a:lnTo>
                      <a:pt x="154" y="22"/>
                    </a:lnTo>
                    <a:lnTo>
                      <a:pt x="157" y="21"/>
                    </a:lnTo>
                    <a:lnTo>
                      <a:pt x="157" y="19"/>
                    </a:lnTo>
                    <a:lnTo>
                      <a:pt x="157" y="18"/>
                    </a:lnTo>
                    <a:lnTo>
                      <a:pt x="160" y="17"/>
                    </a:lnTo>
                    <a:lnTo>
                      <a:pt x="160" y="16"/>
                    </a:lnTo>
                    <a:lnTo>
                      <a:pt x="160" y="15"/>
                    </a:lnTo>
                    <a:lnTo>
                      <a:pt x="163" y="13"/>
                    </a:lnTo>
                    <a:lnTo>
                      <a:pt x="163" y="13"/>
                    </a:lnTo>
                    <a:lnTo>
                      <a:pt x="163" y="12"/>
                    </a:lnTo>
                    <a:lnTo>
                      <a:pt x="166" y="10"/>
                    </a:lnTo>
                    <a:lnTo>
                      <a:pt x="166" y="10"/>
                    </a:lnTo>
                    <a:lnTo>
                      <a:pt x="166" y="9"/>
                    </a:lnTo>
                    <a:lnTo>
                      <a:pt x="170" y="8"/>
                    </a:lnTo>
                    <a:lnTo>
                      <a:pt x="170" y="7"/>
                    </a:lnTo>
                    <a:lnTo>
                      <a:pt x="170" y="6"/>
                    </a:lnTo>
                    <a:lnTo>
                      <a:pt x="173" y="5"/>
                    </a:lnTo>
                    <a:lnTo>
                      <a:pt x="173" y="5"/>
                    </a:lnTo>
                    <a:lnTo>
                      <a:pt x="173" y="4"/>
                    </a:lnTo>
                    <a:lnTo>
                      <a:pt x="176" y="3"/>
                    </a:lnTo>
                    <a:lnTo>
                      <a:pt x="176" y="3"/>
                    </a:lnTo>
                    <a:lnTo>
                      <a:pt x="176" y="2"/>
                    </a:lnTo>
                    <a:lnTo>
                      <a:pt x="179" y="2"/>
                    </a:lnTo>
                    <a:lnTo>
                      <a:pt x="179" y="1"/>
                    </a:lnTo>
                    <a:lnTo>
                      <a:pt x="179" y="1"/>
                    </a:lnTo>
                    <a:lnTo>
                      <a:pt x="182" y="1"/>
                    </a:lnTo>
                    <a:lnTo>
                      <a:pt x="186" y="0"/>
                    </a:lnTo>
                    <a:lnTo>
                      <a:pt x="189" y="0"/>
                    </a:lnTo>
                    <a:lnTo>
                      <a:pt x="192" y="0"/>
                    </a:lnTo>
                    <a:lnTo>
                      <a:pt x="195" y="1"/>
                    </a:lnTo>
                    <a:lnTo>
                      <a:pt x="195" y="1"/>
                    </a:lnTo>
                    <a:lnTo>
                      <a:pt x="195" y="1"/>
                    </a:lnTo>
                    <a:lnTo>
                      <a:pt x="198" y="2"/>
                    </a:lnTo>
                    <a:lnTo>
                      <a:pt x="198" y="2"/>
                    </a:lnTo>
                    <a:lnTo>
                      <a:pt x="198" y="3"/>
                    </a:lnTo>
                    <a:lnTo>
                      <a:pt x="202" y="3"/>
                    </a:lnTo>
                    <a:lnTo>
                      <a:pt x="202" y="4"/>
                    </a:lnTo>
                    <a:lnTo>
                      <a:pt x="202" y="5"/>
                    </a:lnTo>
                    <a:lnTo>
                      <a:pt x="205" y="5"/>
                    </a:lnTo>
                    <a:lnTo>
                      <a:pt x="205" y="6"/>
                    </a:lnTo>
                    <a:lnTo>
                      <a:pt x="205" y="6"/>
                    </a:lnTo>
                    <a:lnTo>
                      <a:pt x="208" y="7"/>
                    </a:lnTo>
                    <a:lnTo>
                      <a:pt x="208" y="8"/>
                    </a:lnTo>
                    <a:lnTo>
                      <a:pt x="208" y="9"/>
                    </a:lnTo>
                    <a:lnTo>
                      <a:pt x="211" y="10"/>
                    </a:lnTo>
                    <a:lnTo>
                      <a:pt x="211" y="11"/>
                    </a:lnTo>
                    <a:lnTo>
                      <a:pt x="211" y="12"/>
                    </a:lnTo>
                    <a:lnTo>
                      <a:pt x="214" y="13"/>
                    </a:lnTo>
                    <a:lnTo>
                      <a:pt x="214" y="14"/>
                    </a:lnTo>
                    <a:lnTo>
                      <a:pt x="214" y="15"/>
                    </a:lnTo>
                    <a:lnTo>
                      <a:pt x="218" y="16"/>
                    </a:lnTo>
                    <a:lnTo>
                      <a:pt x="218" y="18"/>
                    </a:lnTo>
                    <a:lnTo>
                      <a:pt x="218" y="19"/>
                    </a:lnTo>
                    <a:lnTo>
                      <a:pt x="218" y="20"/>
                    </a:lnTo>
                    <a:lnTo>
                      <a:pt x="221" y="21"/>
                    </a:lnTo>
                    <a:lnTo>
                      <a:pt x="221" y="23"/>
                    </a:lnTo>
                    <a:lnTo>
                      <a:pt x="221" y="24"/>
                    </a:lnTo>
                    <a:lnTo>
                      <a:pt x="224" y="25"/>
                    </a:lnTo>
                    <a:lnTo>
                      <a:pt x="224" y="27"/>
                    </a:lnTo>
                    <a:lnTo>
                      <a:pt x="224" y="28"/>
                    </a:lnTo>
                    <a:lnTo>
                      <a:pt x="227" y="29"/>
                    </a:lnTo>
                    <a:lnTo>
                      <a:pt x="227" y="31"/>
                    </a:lnTo>
                    <a:lnTo>
                      <a:pt x="227" y="33"/>
                    </a:lnTo>
                    <a:lnTo>
                      <a:pt x="230" y="34"/>
                    </a:lnTo>
                    <a:lnTo>
                      <a:pt x="230" y="36"/>
                    </a:lnTo>
                    <a:lnTo>
                      <a:pt x="230" y="37"/>
                    </a:lnTo>
                    <a:lnTo>
                      <a:pt x="234" y="39"/>
                    </a:lnTo>
                    <a:lnTo>
                      <a:pt x="234" y="40"/>
                    </a:lnTo>
                    <a:lnTo>
                      <a:pt x="234" y="42"/>
                    </a:lnTo>
                    <a:lnTo>
                      <a:pt x="237" y="44"/>
                    </a:lnTo>
                    <a:lnTo>
                      <a:pt x="237" y="45"/>
                    </a:lnTo>
                    <a:lnTo>
                      <a:pt x="237" y="47"/>
                    </a:lnTo>
                    <a:lnTo>
                      <a:pt x="240" y="49"/>
                    </a:lnTo>
                    <a:lnTo>
                      <a:pt x="240" y="50"/>
                    </a:lnTo>
                    <a:lnTo>
                      <a:pt x="240" y="52"/>
                    </a:lnTo>
                    <a:lnTo>
                      <a:pt x="243" y="54"/>
                    </a:lnTo>
                    <a:lnTo>
                      <a:pt x="243" y="55"/>
                    </a:lnTo>
                    <a:lnTo>
                      <a:pt x="243" y="57"/>
                    </a:lnTo>
                    <a:lnTo>
                      <a:pt x="246" y="59"/>
                    </a:lnTo>
                    <a:lnTo>
                      <a:pt x="246" y="60"/>
                    </a:lnTo>
                    <a:lnTo>
                      <a:pt x="246" y="62"/>
                    </a:lnTo>
                    <a:lnTo>
                      <a:pt x="250" y="64"/>
                    </a:lnTo>
                    <a:lnTo>
                      <a:pt x="250" y="66"/>
                    </a:lnTo>
                    <a:lnTo>
                      <a:pt x="250" y="67"/>
                    </a:lnTo>
                    <a:lnTo>
                      <a:pt x="253" y="69"/>
                    </a:lnTo>
                    <a:lnTo>
                      <a:pt x="253" y="71"/>
                    </a:lnTo>
                    <a:lnTo>
                      <a:pt x="253" y="72"/>
                    </a:lnTo>
                    <a:lnTo>
                      <a:pt x="256" y="74"/>
                    </a:lnTo>
                    <a:lnTo>
                      <a:pt x="256" y="76"/>
                    </a:lnTo>
                    <a:lnTo>
                      <a:pt x="256" y="77"/>
                    </a:lnTo>
                    <a:lnTo>
                      <a:pt x="259" y="79"/>
                    </a:lnTo>
                    <a:lnTo>
                      <a:pt x="259" y="81"/>
                    </a:lnTo>
                    <a:lnTo>
                      <a:pt x="259" y="82"/>
                    </a:lnTo>
                    <a:lnTo>
                      <a:pt x="262" y="84"/>
                    </a:lnTo>
                    <a:lnTo>
                      <a:pt x="262" y="85"/>
                    </a:lnTo>
                    <a:lnTo>
                      <a:pt x="262" y="87"/>
                    </a:lnTo>
                    <a:lnTo>
                      <a:pt x="266" y="88"/>
                    </a:lnTo>
                    <a:lnTo>
                      <a:pt x="266" y="90"/>
                    </a:lnTo>
                    <a:lnTo>
                      <a:pt x="266" y="91"/>
                    </a:lnTo>
                    <a:lnTo>
                      <a:pt x="269" y="92"/>
                    </a:lnTo>
                    <a:lnTo>
                      <a:pt x="269" y="94"/>
                    </a:lnTo>
                    <a:lnTo>
                      <a:pt x="269" y="95"/>
                    </a:lnTo>
                    <a:lnTo>
                      <a:pt x="272" y="97"/>
                    </a:lnTo>
                    <a:lnTo>
                      <a:pt x="272" y="98"/>
                    </a:lnTo>
                    <a:lnTo>
                      <a:pt x="272" y="99"/>
                    </a:lnTo>
                    <a:lnTo>
                      <a:pt x="275" y="100"/>
                    </a:lnTo>
                    <a:lnTo>
                      <a:pt x="275" y="102"/>
                    </a:lnTo>
                    <a:lnTo>
                      <a:pt x="275" y="103"/>
                    </a:lnTo>
                    <a:lnTo>
                      <a:pt x="278" y="104"/>
                    </a:lnTo>
                    <a:lnTo>
                      <a:pt x="278" y="105"/>
                    </a:lnTo>
                    <a:lnTo>
                      <a:pt x="278" y="106"/>
                    </a:lnTo>
                    <a:lnTo>
                      <a:pt x="282" y="107"/>
                    </a:lnTo>
                    <a:lnTo>
                      <a:pt x="282" y="108"/>
                    </a:lnTo>
                    <a:lnTo>
                      <a:pt x="282" y="109"/>
                    </a:lnTo>
                    <a:lnTo>
                      <a:pt x="285" y="110"/>
                    </a:lnTo>
                    <a:lnTo>
                      <a:pt x="285" y="111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6" name="Freeform 40"/>
              <p:cNvSpPr>
                <a:spLocks/>
              </p:cNvSpPr>
              <p:nvPr/>
            </p:nvSpPr>
            <p:spPr bwMode="auto">
              <a:xfrm>
                <a:off x="2164" y="2442"/>
                <a:ext cx="196" cy="121"/>
              </a:xfrm>
              <a:custGeom>
                <a:avLst/>
                <a:gdLst>
                  <a:gd name="T0" fmla="*/ 3 w 196"/>
                  <a:gd name="T1" fmla="*/ 113 h 121"/>
                  <a:gd name="T2" fmla="*/ 6 w 196"/>
                  <a:gd name="T3" fmla="*/ 115 h 121"/>
                  <a:gd name="T4" fmla="*/ 9 w 196"/>
                  <a:gd name="T5" fmla="*/ 117 h 121"/>
                  <a:gd name="T6" fmla="*/ 13 w 196"/>
                  <a:gd name="T7" fmla="*/ 119 h 121"/>
                  <a:gd name="T8" fmla="*/ 16 w 196"/>
                  <a:gd name="T9" fmla="*/ 120 h 121"/>
                  <a:gd name="T10" fmla="*/ 25 w 196"/>
                  <a:gd name="T11" fmla="*/ 120 h 121"/>
                  <a:gd name="T12" fmla="*/ 29 w 196"/>
                  <a:gd name="T13" fmla="*/ 119 h 121"/>
                  <a:gd name="T14" fmla="*/ 32 w 196"/>
                  <a:gd name="T15" fmla="*/ 117 h 121"/>
                  <a:gd name="T16" fmla="*/ 35 w 196"/>
                  <a:gd name="T17" fmla="*/ 115 h 121"/>
                  <a:gd name="T18" fmla="*/ 38 w 196"/>
                  <a:gd name="T19" fmla="*/ 114 h 121"/>
                  <a:gd name="T20" fmla="*/ 41 w 196"/>
                  <a:gd name="T21" fmla="*/ 111 h 121"/>
                  <a:gd name="T22" fmla="*/ 45 w 196"/>
                  <a:gd name="T23" fmla="*/ 108 h 121"/>
                  <a:gd name="T24" fmla="*/ 48 w 196"/>
                  <a:gd name="T25" fmla="*/ 105 h 121"/>
                  <a:gd name="T26" fmla="*/ 51 w 196"/>
                  <a:gd name="T27" fmla="*/ 101 h 121"/>
                  <a:gd name="T28" fmla="*/ 54 w 196"/>
                  <a:gd name="T29" fmla="*/ 97 h 121"/>
                  <a:gd name="T30" fmla="*/ 57 w 196"/>
                  <a:gd name="T31" fmla="*/ 94 h 121"/>
                  <a:gd name="T32" fmla="*/ 61 w 196"/>
                  <a:gd name="T33" fmla="*/ 89 h 121"/>
                  <a:gd name="T34" fmla="*/ 64 w 196"/>
                  <a:gd name="T35" fmla="*/ 84 h 121"/>
                  <a:gd name="T36" fmla="*/ 67 w 196"/>
                  <a:gd name="T37" fmla="*/ 80 h 121"/>
                  <a:gd name="T38" fmla="*/ 70 w 196"/>
                  <a:gd name="T39" fmla="*/ 75 h 121"/>
                  <a:gd name="T40" fmla="*/ 73 w 196"/>
                  <a:gd name="T41" fmla="*/ 70 h 121"/>
                  <a:gd name="T42" fmla="*/ 77 w 196"/>
                  <a:gd name="T43" fmla="*/ 65 h 121"/>
                  <a:gd name="T44" fmla="*/ 80 w 196"/>
                  <a:gd name="T45" fmla="*/ 60 h 121"/>
                  <a:gd name="T46" fmla="*/ 83 w 196"/>
                  <a:gd name="T47" fmla="*/ 55 h 121"/>
                  <a:gd name="T48" fmla="*/ 86 w 196"/>
                  <a:gd name="T49" fmla="*/ 50 h 121"/>
                  <a:gd name="T50" fmla="*/ 89 w 196"/>
                  <a:gd name="T51" fmla="*/ 45 h 121"/>
                  <a:gd name="T52" fmla="*/ 93 w 196"/>
                  <a:gd name="T53" fmla="*/ 40 h 121"/>
                  <a:gd name="T54" fmla="*/ 96 w 196"/>
                  <a:gd name="T55" fmla="*/ 35 h 121"/>
                  <a:gd name="T56" fmla="*/ 99 w 196"/>
                  <a:gd name="T57" fmla="*/ 31 h 121"/>
                  <a:gd name="T58" fmla="*/ 102 w 196"/>
                  <a:gd name="T59" fmla="*/ 26 h 121"/>
                  <a:gd name="T60" fmla="*/ 105 w 196"/>
                  <a:gd name="T61" fmla="*/ 22 h 121"/>
                  <a:gd name="T62" fmla="*/ 109 w 196"/>
                  <a:gd name="T63" fmla="*/ 18 h 121"/>
                  <a:gd name="T64" fmla="*/ 112 w 196"/>
                  <a:gd name="T65" fmla="*/ 15 h 121"/>
                  <a:gd name="T66" fmla="*/ 115 w 196"/>
                  <a:gd name="T67" fmla="*/ 12 h 121"/>
                  <a:gd name="T68" fmla="*/ 118 w 196"/>
                  <a:gd name="T69" fmla="*/ 9 h 121"/>
                  <a:gd name="T70" fmla="*/ 121 w 196"/>
                  <a:gd name="T71" fmla="*/ 6 h 121"/>
                  <a:gd name="T72" fmla="*/ 125 w 196"/>
                  <a:gd name="T73" fmla="*/ 4 h 121"/>
                  <a:gd name="T74" fmla="*/ 128 w 196"/>
                  <a:gd name="T75" fmla="*/ 3 h 121"/>
                  <a:gd name="T76" fmla="*/ 131 w 196"/>
                  <a:gd name="T77" fmla="*/ 1 h 121"/>
                  <a:gd name="T78" fmla="*/ 137 w 196"/>
                  <a:gd name="T79" fmla="*/ 0 h 121"/>
                  <a:gd name="T80" fmla="*/ 144 w 196"/>
                  <a:gd name="T81" fmla="*/ 1 h 121"/>
                  <a:gd name="T82" fmla="*/ 147 w 196"/>
                  <a:gd name="T83" fmla="*/ 2 h 121"/>
                  <a:gd name="T84" fmla="*/ 150 w 196"/>
                  <a:gd name="T85" fmla="*/ 4 h 121"/>
                  <a:gd name="T86" fmla="*/ 153 w 196"/>
                  <a:gd name="T87" fmla="*/ 6 h 121"/>
                  <a:gd name="T88" fmla="*/ 157 w 196"/>
                  <a:gd name="T89" fmla="*/ 8 h 121"/>
                  <a:gd name="T90" fmla="*/ 160 w 196"/>
                  <a:gd name="T91" fmla="*/ 11 h 121"/>
                  <a:gd name="T92" fmla="*/ 163 w 196"/>
                  <a:gd name="T93" fmla="*/ 14 h 121"/>
                  <a:gd name="T94" fmla="*/ 166 w 196"/>
                  <a:gd name="T95" fmla="*/ 17 h 121"/>
                  <a:gd name="T96" fmla="*/ 169 w 196"/>
                  <a:gd name="T97" fmla="*/ 21 h 121"/>
                  <a:gd name="T98" fmla="*/ 172 w 196"/>
                  <a:gd name="T99" fmla="*/ 25 h 121"/>
                  <a:gd name="T100" fmla="*/ 176 w 196"/>
                  <a:gd name="T101" fmla="*/ 29 h 121"/>
                  <a:gd name="T102" fmla="*/ 179 w 196"/>
                  <a:gd name="T103" fmla="*/ 34 h 121"/>
                  <a:gd name="T104" fmla="*/ 182 w 196"/>
                  <a:gd name="T105" fmla="*/ 38 h 121"/>
                  <a:gd name="T106" fmla="*/ 185 w 196"/>
                  <a:gd name="T107" fmla="*/ 43 h 121"/>
                  <a:gd name="T108" fmla="*/ 188 w 196"/>
                  <a:gd name="T109" fmla="*/ 48 h 121"/>
                  <a:gd name="T110" fmla="*/ 192 w 196"/>
                  <a:gd name="T111" fmla="*/ 53 h 121"/>
                  <a:gd name="T112" fmla="*/ 195 w 196"/>
                  <a:gd name="T113" fmla="*/ 58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96" h="121">
                    <a:moveTo>
                      <a:pt x="0" y="111"/>
                    </a:moveTo>
                    <a:lnTo>
                      <a:pt x="0" y="112"/>
                    </a:lnTo>
                    <a:lnTo>
                      <a:pt x="3" y="113"/>
                    </a:lnTo>
                    <a:lnTo>
                      <a:pt x="3" y="114"/>
                    </a:lnTo>
                    <a:lnTo>
                      <a:pt x="3" y="115"/>
                    </a:lnTo>
                    <a:lnTo>
                      <a:pt x="6" y="115"/>
                    </a:lnTo>
                    <a:lnTo>
                      <a:pt x="6" y="116"/>
                    </a:lnTo>
                    <a:lnTo>
                      <a:pt x="6" y="117"/>
                    </a:lnTo>
                    <a:lnTo>
                      <a:pt x="9" y="117"/>
                    </a:lnTo>
                    <a:lnTo>
                      <a:pt x="9" y="117"/>
                    </a:lnTo>
                    <a:lnTo>
                      <a:pt x="9" y="118"/>
                    </a:lnTo>
                    <a:lnTo>
                      <a:pt x="13" y="119"/>
                    </a:lnTo>
                    <a:lnTo>
                      <a:pt x="13" y="119"/>
                    </a:lnTo>
                    <a:lnTo>
                      <a:pt x="16" y="119"/>
                    </a:lnTo>
                    <a:lnTo>
                      <a:pt x="16" y="120"/>
                    </a:lnTo>
                    <a:lnTo>
                      <a:pt x="19" y="120"/>
                    </a:lnTo>
                    <a:lnTo>
                      <a:pt x="22" y="120"/>
                    </a:lnTo>
                    <a:lnTo>
                      <a:pt x="25" y="120"/>
                    </a:lnTo>
                    <a:lnTo>
                      <a:pt x="25" y="119"/>
                    </a:lnTo>
                    <a:lnTo>
                      <a:pt x="29" y="119"/>
                    </a:lnTo>
                    <a:lnTo>
                      <a:pt x="29" y="119"/>
                    </a:lnTo>
                    <a:lnTo>
                      <a:pt x="29" y="118"/>
                    </a:lnTo>
                    <a:lnTo>
                      <a:pt x="32" y="118"/>
                    </a:lnTo>
                    <a:lnTo>
                      <a:pt x="32" y="117"/>
                    </a:lnTo>
                    <a:lnTo>
                      <a:pt x="32" y="117"/>
                    </a:lnTo>
                    <a:lnTo>
                      <a:pt x="35" y="116"/>
                    </a:lnTo>
                    <a:lnTo>
                      <a:pt x="35" y="115"/>
                    </a:lnTo>
                    <a:lnTo>
                      <a:pt x="35" y="115"/>
                    </a:lnTo>
                    <a:lnTo>
                      <a:pt x="38" y="114"/>
                    </a:lnTo>
                    <a:lnTo>
                      <a:pt x="38" y="114"/>
                    </a:lnTo>
                    <a:lnTo>
                      <a:pt x="38" y="113"/>
                    </a:lnTo>
                    <a:lnTo>
                      <a:pt x="38" y="112"/>
                    </a:lnTo>
                    <a:lnTo>
                      <a:pt x="41" y="111"/>
                    </a:lnTo>
                    <a:lnTo>
                      <a:pt x="41" y="110"/>
                    </a:lnTo>
                    <a:lnTo>
                      <a:pt x="41" y="109"/>
                    </a:lnTo>
                    <a:lnTo>
                      <a:pt x="45" y="108"/>
                    </a:lnTo>
                    <a:lnTo>
                      <a:pt x="45" y="107"/>
                    </a:lnTo>
                    <a:lnTo>
                      <a:pt x="45" y="106"/>
                    </a:lnTo>
                    <a:lnTo>
                      <a:pt x="48" y="105"/>
                    </a:lnTo>
                    <a:lnTo>
                      <a:pt x="48" y="104"/>
                    </a:lnTo>
                    <a:lnTo>
                      <a:pt x="48" y="103"/>
                    </a:lnTo>
                    <a:lnTo>
                      <a:pt x="51" y="101"/>
                    </a:lnTo>
                    <a:lnTo>
                      <a:pt x="51" y="100"/>
                    </a:lnTo>
                    <a:lnTo>
                      <a:pt x="51" y="99"/>
                    </a:lnTo>
                    <a:lnTo>
                      <a:pt x="54" y="97"/>
                    </a:lnTo>
                    <a:lnTo>
                      <a:pt x="54" y="96"/>
                    </a:lnTo>
                    <a:lnTo>
                      <a:pt x="54" y="95"/>
                    </a:lnTo>
                    <a:lnTo>
                      <a:pt x="57" y="94"/>
                    </a:lnTo>
                    <a:lnTo>
                      <a:pt x="57" y="92"/>
                    </a:lnTo>
                    <a:lnTo>
                      <a:pt x="57" y="91"/>
                    </a:lnTo>
                    <a:lnTo>
                      <a:pt x="61" y="89"/>
                    </a:lnTo>
                    <a:lnTo>
                      <a:pt x="61" y="87"/>
                    </a:lnTo>
                    <a:lnTo>
                      <a:pt x="61" y="86"/>
                    </a:lnTo>
                    <a:lnTo>
                      <a:pt x="64" y="84"/>
                    </a:lnTo>
                    <a:lnTo>
                      <a:pt x="64" y="83"/>
                    </a:lnTo>
                    <a:lnTo>
                      <a:pt x="64" y="81"/>
                    </a:lnTo>
                    <a:lnTo>
                      <a:pt x="67" y="80"/>
                    </a:lnTo>
                    <a:lnTo>
                      <a:pt x="67" y="78"/>
                    </a:lnTo>
                    <a:lnTo>
                      <a:pt x="67" y="77"/>
                    </a:lnTo>
                    <a:lnTo>
                      <a:pt x="70" y="75"/>
                    </a:lnTo>
                    <a:lnTo>
                      <a:pt x="70" y="73"/>
                    </a:lnTo>
                    <a:lnTo>
                      <a:pt x="70" y="72"/>
                    </a:lnTo>
                    <a:lnTo>
                      <a:pt x="73" y="70"/>
                    </a:lnTo>
                    <a:lnTo>
                      <a:pt x="73" y="68"/>
                    </a:lnTo>
                    <a:lnTo>
                      <a:pt x="73" y="67"/>
                    </a:lnTo>
                    <a:lnTo>
                      <a:pt x="77" y="65"/>
                    </a:lnTo>
                    <a:lnTo>
                      <a:pt x="77" y="63"/>
                    </a:lnTo>
                    <a:lnTo>
                      <a:pt x="77" y="61"/>
                    </a:lnTo>
                    <a:lnTo>
                      <a:pt x="80" y="60"/>
                    </a:lnTo>
                    <a:lnTo>
                      <a:pt x="80" y="58"/>
                    </a:lnTo>
                    <a:lnTo>
                      <a:pt x="80" y="56"/>
                    </a:lnTo>
                    <a:lnTo>
                      <a:pt x="83" y="55"/>
                    </a:lnTo>
                    <a:lnTo>
                      <a:pt x="83" y="53"/>
                    </a:lnTo>
                    <a:lnTo>
                      <a:pt x="83" y="51"/>
                    </a:lnTo>
                    <a:lnTo>
                      <a:pt x="86" y="50"/>
                    </a:lnTo>
                    <a:lnTo>
                      <a:pt x="86" y="48"/>
                    </a:lnTo>
                    <a:lnTo>
                      <a:pt x="86" y="46"/>
                    </a:lnTo>
                    <a:lnTo>
                      <a:pt x="89" y="45"/>
                    </a:lnTo>
                    <a:lnTo>
                      <a:pt x="89" y="43"/>
                    </a:lnTo>
                    <a:lnTo>
                      <a:pt x="89" y="41"/>
                    </a:lnTo>
                    <a:lnTo>
                      <a:pt x="93" y="40"/>
                    </a:lnTo>
                    <a:lnTo>
                      <a:pt x="93" y="38"/>
                    </a:lnTo>
                    <a:lnTo>
                      <a:pt x="93" y="37"/>
                    </a:lnTo>
                    <a:lnTo>
                      <a:pt x="96" y="35"/>
                    </a:lnTo>
                    <a:lnTo>
                      <a:pt x="96" y="34"/>
                    </a:lnTo>
                    <a:lnTo>
                      <a:pt x="96" y="32"/>
                    </a:lnTo>
                    <a:lnTo>
                      <a:pt x="99" y="31"/>
                    </a:lnTo>
                    <a:lnTo>
                      <a:pt x="99" y="29"/>
                    </a:lnTo>
                    <a:lnTo>
                      <a:pt x="99" y="28"/>
                    </a:lnTo>
                    <a:lnTo>
                      <a:pt x="102" y="26"/>
                    </a:lnTo>
                    <a:lnTo>
                      <a:pt x="102" y="25"/>
                    </a:lnTo>
                    <a:lnTo>
                      <a:pt x="102" y="23"/>
                    </a:lnTo>
                    <a:lnTo>
                      <a:pt x="105" y="22"/>
                    </a:lnTo>
                    <a:lnTo>
                      <a:pt x="105" y="21"/>
                    </a:lnTo>
                    <a:lnTo>
                      <a:pt x="105" y="20"/>
                    </a:lnTo>
                    <a:lnTo>
                      <a:pt x="109" y="18"/>
                    </a:lnTo>
                    <a:lnTo>
                      <a:pt x="109" y="17"/>
                    </a:lnTo>
                    <a:lnTo>
                      <a:pt x="109" y="16"/>
                    </a:lnTo>
                    <a:lnTo>
                      <a:pt x="112" y="15"/>
                    </a:lnTo>
                    <a:lnTo>
                      <a:pt x="112" y="14"/>
                    </a:lnTo>
                    <a:lnTo>
                      <a:pt x="112" y="13"/>
                    </a:lnTo>
                    <a:lnTo>
                      <a:pt x="115" y="12"/>
                    </a:lnTo>
                    <a:lnTo>
                      <a:pt x="115" y="11"/>
                    </a:lnTo>
                    <a:lnTo>
                      <a:pt x="115" y="10"/>
                    </a:lnTo>
                    <a:lnTo>
                      <a:pt x="118" y="9"/>
                    </a:lnTo>
                    <a:lnTo>
                      <a:pt x="118" y="8"/>
                    </a:lnTo>
                    <a:lnTo>
                      <a:pt x="118" y="7"/>
                    </a:lnTo>
                    <a:lnTo>
                      <a:pt x="121" y="6"/>
                    </a:lnTo>
                    <a:lnTo>
                      <a:pt x="121" y="6"/>
                    </a:lnTo>
                    <a:lnTo>
                      <a:pt x="121" y="5"/>
                    </a:lnTo>
                    <a:lnTo>
                      <a:pt x="125" y="4"/>
                    </a:lnTo>
                    <a:lnTo>
                      <a:pt x="125" y="4"/>
                    </a:lnTo>
                    <a:lnTo>
                      <a:pt x="125" y="3"/>
                    </a:lnTo>
                    <a:lnTo>
                      <a:pt x="128" y="3"/>
                    </a:lnTo>
                    <a:lnTo>
                      <a:pt x="128" y="2"/>
                    </a:lnTo>
                    <a:lnTo>
                      <a:pt x="128" y="1"/>
                    </a:lnTo>
                    <a:lnTo>
                      <a:pt x="131" y="1"/>
                    </a:lnTo>
                    <a:lnTo>
                      <a:pt x="131" y="1"/>
                    </a:lnTo>
                    <a:lnTo>
                      <a:pt x="134" y="0"/>
                    </a:lnTo>
                    <a:lnTo>
                      <a:pt x="137" y="0"/>
                    </a:lnTo>
                    <a:lnTo>
                      <a:pt x="141" y="0"/>
                    </a:lnTo>
                    <a:lnTo>
                      <a:pt x="144" y="1"/>
                    </a:lnTo>
                    <a:lnTo>
                      <a:pt x="144" y="1"/>
                    </a:lnTo>
                    <a:lnTo>
                      <a:pt x="144" y="1"/>
                    </a:lnTo>
                    <a:lnTo>
                      <a:pt x="147" y="2"/>
                    </a:lnTo>
                    <a:lnTo>
                      <a:pt x="147" y="2"/>
                    </a:lnTo>
                    <a:lnTo>
                      <a:pt x="147" y="3"/>
                    </a:lnTo>
                    <a:lnTo>
                      <a:pt x="150" y="3"/>
                    </a:lnTo>
                    <a:lnTo>
                      <a:pt x="150" y="4"/>
                    </a:lnTo>
                    <a:lnTo>
                      <a:pt x="150" y="4"/>
                    </a:lnTo>
                    <a:lnTo>
                      <a:pt x="153" y="5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7" y="7"/>
                    </a:lnTo>
                    <a:lnTo>
                      <a:pt x="157" y="8"/>
                    </a:lnTo>
                    <a:lnTo>
                      <a:pt x="157" y="9"/>
                    </a:lnTo>
                    <a:lnTo>
                      <a:pt x="160" y="10"/>
                    </a:lnTo>
                    <a:lnTo>
                      <a:pt x="160" y="11"/>
                    </a:lnTo>
                    <a:lnTo>
                      <a:pt x="160" y="12"/>
                    </a:lnTo>
                    <a:lnTo>
                      <a:pt x="163" y="13"/>
                    </a:lnTo>
                    <a:lnTo>
                      <a:pt x="163" y="14"/>
                    </a:lnTo>
                    <a:lnTo>
                      <a:pt x="163" y="15"/>
                    </a:lnTo>
                    <a:lnTo>
                      <a:pt x="166" y="16"/>
                    </a:lnTo>
                    <a:lnTo>
                      <a:pt x="166" y="17"/>
                    </a:lnTo>
                    <a:lnTo>
                      <a:pt x="166" y="18"/>
                    </a:lnTo>
                    <a:lnTo>
                      <a:pt x="169" y="20"/>
                    </a:lnTo>
                    <a:lnTo>
                      <a:pt x="169" y="21"/>
                    </a:lnTo>
                    <a:lnTo>
                      <a:pt x="169" y="22"/>
                    </a:lnTo>
                    <a:lnTo>
                      <a:pt x="172" y="24"/>
                    </a:lnTo>
                    <a:lnTo>
                      <a:pt x="172" y="25"/>
                    </a:lnTo>
                    <a:lnTo>
                      <a:pt x="172" y="26"/>
                    </a:lnTo>
                    <a:lnTo>
                      <a:pt x="176" y="28"/>
                    </a:lnTo>
                    <a:lnTo>
                      <a:pt x="176" y="29"/>
                    </a:lnTo>
                    <a:lnTo>
                      <a:pt x="176" y="31"/>
                    </a:lnTo>
                    <a:lnTo>
                      <a:pt x="179" y="32"/>
                    </a:lnTo>
                    <a:lnTo>
                      <a:pt x="179" y="34"/>
                    </a:lnTo>
                    <a:lnTo>
                      <a:pt x="179" y="35"/>
                    </a:lnTo>
                    <a:lnTo>
                      <a:pt x="182" y="37"/>
                    </a:lnTo>
                    <a:lnTo>
                      <a:pt x="182" y="38"/>
                    </a:lnTo>
                    <a:lnTo>
                      <a:pt x="182" y="40"/>
                    </a:lnTo>
                    <a:lnTo>
                      <a:pt x="185" y="42"/>
                    </a:lnTo>
                    <a:lnTo>
                      <a:pt x="185" y="43"/>
                    </a:lnTo>
                    <a:lnTo>
                      <a:pt x="185" y="45"/>
                    </a:lnTo>
                    <a:lnTo>
                      <a:pt x="188" y="46"/>
                    </a:lnTo>
                    <a:lnTo>
                      <a:pt x="188" y="48"/>
                    </a:lnTo>
                    <a:lnTo>
                      <a:pt x="188" y="50"/>
                    </a:lnTo>
                    <a:lnTo>
                      <a:pt x="192" y="51"/>
                    </a:lnTo>
                    <a:lnTo>
                      <a:pt x="192" y="53"/>
                    </a:lnTo>
                    <a:lnTo>
                      <a:pt x="192" y="55"/>
                    </a:lnTo>
                    <a:lnTo>
                      <a:pt x="195" y="57"/>
                    </a:lnTo>
                    <a:lnTo>
                      <a:pt x="195" y="58"/>
                    </a:lnTo>
                    <a:lnTo>
                      <a:pt x="195" y="6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4" name="Rectangle 48"/>
            <p:cNvSpPr>
              <a:spLocks noChangeArrowheads="1"/>
            </p:cNvSpPr>
            <p:nvPr/>
          </p:nvSpPr>
          <p:spPr bwMode="auto">
            <a:xfrm>
              <a:off x="1905002" y="3316284"/>
              <a:ext cx="3365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>
                  <a:latin typeface="Arial" charset="0"/>
                </a:rPr>
                <a:t>B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08865A7-A09E-50A1-F336-6C7DD1E0AA06}"/>
              </a:ext>
            </a:extLst>
          </p:cNvPr>
          <p:cNvGrpSpPr/>
          <p:nvPr/>
        </p:nvGrpSpPr>
        <p:grpSpPr>
          <a:xfrm>
            <a:off x="5486402" y="3111497"/>
            <a:ext cx="3344863" cy="596899"/>
            <a:chOff x="5486402" y="3111497"/>
            <a:chExt cx="3344863" cy="596899"/>
          </a:xfrm>
        </p:grpSpPr>
        <p:grpSp>
          <p:nvGrpSpPr>
            <p:cNvPr id="14344" name="Group 8"/>
            <p:cNvGrpSpPr>
              <a:grpSpLocks/>
            </p:cNvGrpSpPr>
            <p:nvPr/>
          </p:nvGrpSpPr>
          <p:grpSpPr bwMode="auto">
            <a:xfrm>
              <a:off x="5486402" y="3111497"/>
              <a:ext cx="2597150" cy="560387"/>
              <a:chOff x="2634" y="2252"/>
              <a:chExt cx="1227" cy="470"/>
            </a:xfrm>
          </p:grpSpPr>
          <p:sp>
            <p:nvSpPr>
              <p:cNvPr id="14345" name="Freeform 9"/>
              <p:cNvSpPr>
                <a:spLocks/>
              </p:cNvSpPr>
              <p:nvPr/>
            </p:nvSpPr>
            <p:spPr bwMode="auto">
              <a:xfrm>
                <a:off x="2634" y="2252"/>
                <a:ext cx="428" cy="303"/>
              </a:xfrm>
              <a:custGeom>
                <a:avLst/>
                <a:gdLst>
                  <a:gd name="T0" fmla="*/ 4 w 428"/>
                  <a:gd name="T1" fmla="*/ 221 h 303"/>
                  <a:gd name="T2" fmla="*/ 11 w 428"/>
                  <a:gd name="T3" fmla="*/ 202 h 303"/>
                  <a:gd name="T4" fmla="*/ 15 w 428"/>
                  <a:gd name="T5" fmla="*/ 183 h 303"/>
                  <a:gd name="T6" fmla="*/ 19 w 428"/>
                  <a:gd name="T7" fmla="*/ 165 h 303"/>
                  <a:gd name="T8" fmla="*/ 26 w 428"/>
                  <a:gd name="T9" fmla="*/ 148 h 303"/>
                  <a:gd name="T10" fmla="*/ 30 w 428"/>
                  <a:gd name="T11" fmla="*/ 130 h 303"/>
                  <a:gd name="T12" fmla="*/ 34 w 428"/>
                  <a:gd name="T13" fmla="*/ 114 h 303"/>
                  <a:gd name="T14" fmla="*/ 41 w 428"/>
                  <a:gd name="T15" fmla="*/ 99 h 303"/>
                  <a:gd name="T16" fmla="*/ 45 w 428"/>
                  <a:gd name="T17" fmla="*/ 84 h 303"/>
                  <a:gd name="T18" fmla="*/ 48 w 428"/>
                  <a:gd name="T19" fmla="*/ 71 h 303"/>
                  <a:gd name="T20" fmla="*/ 56 w 428"/>
                  <a:gd name="T21" fmla="*/ 59 h 303"/>
                  <a:gd name="T22" fmla="*/ 60 w 428"/>
                  <a:gd name="T23" fmla="*/ 48 h 303"/>
                  <a:gd name="T24" fmla="*/ 63 w 428"/>
                  <a:gd name="T25" fmla="*/ 36 h 303"/>
                  <a:gd name="T26" fmla="*/ 67 w 428"/>
                  <a:gd name="T27" fmla="*/ 29 h 303"/>
                  <a:gd name="T28" fmla="*/ 74 w 428"/>
                  <a:gd name="T29" fmla="*/ 21 h 303"/>
                  <a:gd name="T30" fmla="*/ 78 w 428"/>
                  <a:gd name="T31" fmla="*/ 14 h 303"/>
                  <a:gd name="T32" fmla="*/ 86 w 428"/>
                  <a:gd name="T33" fmla="*/ 8 h 303"/>
                  <a:gd name="T34" fmla="*/ 97 w 428"/>
                  <a:gd name="T35" fmla="*/ 1 h 303"/>
                  <a:gd name="T36" fmla="*/ 112 w 428"/>
                  <a:gd name="T37" fmla="*/ 1 h 303"/>
                  <a:gd name="T38" fmla="*/ 126 w 428"/>
                  <a:gd name="T39" fmla="*/ 8 h 303"/>
                  <a:gd name="T40" fmla="*/ 134 w 428"/>
                  <a:gd name="T41" fmla="*/ 14 h 303"/>
                  <a:gd name="T42" fmla="*/ 141 w 428"/>
                  <a:gd name="T43" fmla="*/ 21 h 303"/>
                  <a:gd name="T44" fmla="*/ 145 w 428"/>
                  <a:gd name="T45" fmla="*/ 27 h 303"/>
                  <a:gd name="T46" fmla="*/ 152 w 428"/>
                  <a:gd name="T47" fmla="*/ 33 h 303"/>
                  <a:gd name="T48" fmla="*/ 160 w 428"/>
                  <a:gd name="T49" fmla="*/ 40 h 303"/>
                  <a:gd name="T50" fmla="*/ 164 w 428"/>
                  <a:gd name="T51" fmla="*/ 46 h 303"/>
                  <a:gd name="T52" fmla="*/ 171 w 428"/>
                  <a:gd name="T53" fmla="*/ 52 h 303"/>
                  <a:gd name="T54" fmla="*/ 182 w 428"/>
                  <a:gd name="T55" fmla="*/ 59 h 303"/>
                  <a:gd name="T56" fmla="*/ 190 w 428"/>
                  <a:gd name="T57" fmla="*/ 65 h 303"/>
                  <a:gd name="T58" fmla="*/ 204 w 428"/>
                  <a:gd name="T59" fmla="*/ 68 h 303"/>
                  <a:gd name="T60" fmla="*/ 219 w 428"/>
                  <a:gd name="T61" fmla="*/ 65 h 303"/>
                  <a:gd name="T62" fmla="*/ 234 w 428"/>
                  <a:gd name="T63" fmla="*/ 59 h 303"/>
                  <a:gd name="T64" fmla="*/ 242 w 428"/>
                  <a:gd name="T65" fmla="*/ 52 h 303"/>
                  <a:gd name="T66" fmla="*/ 249 w 428"/>
                  <a:gd name="T67" fmla="*/ 46 h 303"/>
                  <a:gd name="T68" fmla="*/ 253 w 428"/>
                  <a:gd name="T69" fmla="*/ 40 h 303"/>
                  <a:gd name="T70" fmla="*/ 260 w 428"/>
                  <a:gd name="T71" fmla="*/ 33 h 303"/>
                  <a:gd name="T72" fmla="*/ 268 w 428"/>
                  <a:gd name="T73" fmla="*/ 27 h 303"/>
                  <a:gd name="T74" fmla="*/ 271 w 428"/>
                  <a:gd name="T75" fmla="*/ 21 h 303"/>
                  <a:gd name="T76" fmla="*/ 279 w 428"/>
                  <a:gd name="T77" fmla="*/ 14 h 303"/>
                  <a:gd name="T78" fmla="*/ 286 w 428"/>
                  <a:gd name="T79" fmla="*/ 8 h 303"/>
                  <a:gd name="T80" fmla="*/ 301 w 428"/>
                  <a:gd name="T81" fmla="*/ 1 h 303"/>
                  <a:gd name="T82" fmla="*/ 316 w 428"/>
                  <a:gd name="T83" fmla="*/ 1 h 303"/>
                  <a:gd name="T84" fmla="*/ 327 w 428"/>
                  <a:gd name="T85" fmla="*/ 8 h 303"/>
                  <a:gd name="T86" fmla="*/ 331 w 428"/>
                  <a:gd name="T87" fmla="*/ 14 h 303"/>
                  <a:gd name="T88" fmla="*/ 338 w 428"/>
                  <a:gd name="T89" fmla="*/ 21 h 303"/>
                  <a:gd name="T90" fmla="*/ 342 w 428"/>
                  <a:gd name="T91" fmla="*/ 27 h 303"/>
                  <a:gd name="T92" fmla="*/ 346 w 428"/>
                  <a:gd name="T93" fmla="*/ 36 h 303"/>
                  <a:gd name="T94" fmla="*/ 353 w 428"/>
                  <a:gd name="T95" fmla="*/ 46 h 303"/>
                  <a:gd name="T96" fmla="*/ 357 w 428"/>
                  <a:gd name="T97" fmla="*/ 57 h 303"/>
                  <a:gd name="T98" fmla="*/ 361 w 428"/>
                  <a:gd name="T99" fmla="*/ 70 h 303"/>
                  <a:gd name="T100" fmla="*/ 368 w 428"/>
                  <a:gd name="T101" fmla="*/ 83 h 303"/>
                  <a:gd name="T102" fmla="*/ 372 w 428"/>
                  <a:gd name="T103" fmla="*/ 99 h 303"/>
                  <a:gd name="T104" fmla="*/ 375 w 428"/>
                  <a:gd name="T105" fmla="*/ 113 h 303"/>
                  <a:gd name="T106" fmla="*/ 383 w 428"/>
                  <a:gd name="T107" fmla="*/ 129 h 303"/>
                  <a:gd name="T108" fmla="*/ 387 w 428"/>
                  <a:gd name="T109" fmla="*/ 146 h 303"/>
                  <a:gd name="T110" fmla="*/ 390 w 428"/>
                  <a:gd name="T111" fmla="*/ 164 h 303"/>
                  <a:gd name="T112" fmla="*/ 398 w 428"/>
                  <a:gd name="T113" fmla="*/ 181 h 303"/>
                  <a:gd name="T114" fmla="*/ 401 w 428"/>
                  <a:gd name="T115" fmla="*/ 200 h 303"/>
                  <a:gd name="T116" fmla="*/ 405 w 428"/>
                  <a:gd name="T117" fmla="*/ 219 h 303"/>
                  <a:gd name="T118" fmla="*/ 413 w 428"/>
                  <a:gd name="T119" fmla="*/ 237 h 303"/>
                  <a:gd name="T120" fmla="*/ 416 w 428"/>
                  <a:gd name="T121" fmla="*/ 256 h 303"/>
                  <a:gd name="T122" fmla="*/ 420 w 428"/>
                  <a:gd name="T123" fmla="*/ 275 h 303"/>
                  <a:gd name="T124" fmla="*/ 427 w 428"/>
                  <a:gd name="T125" fmla="*/ 293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28" h="303">
                    <a:moveTo>
                      <a:pt x="0" y="235"/>
                    </a:moveTo>
                    <a:lnTo>
                      <a:pt x="4" y="231"/>
                    </a:lnTo>
                    <a:lnTo>
                      <a:pt x="4" y="226"/>
                    </a:lnTo>
                    <a:lnTo>
                      <a:pt x="4" y="221"/>
                    </a:lnTo>
                    <a:lnTo>
                      <a:pt x="8" y="216"/>
                    </a:lnTo>
                    <a:lnTo>
                      <a:pt x="8" y="211"/>
                    </a:lnTo>
                    <a:lnTo>
                      <a:pt x="8" y="207"/>
                    </a:lnTo>
                    <a:lnTo>
                      <a:pt x="11" y="202"/>
                    </a:lnTo>
                    <a:lnTo>
                      <a:pt x="11" y="197"/>
                    </a:lnTo>
                    <a:lnTo>
                      <a:pt x="11" y="192"/>
                    </a:lnTo>
                    <a:lnTo>
                      <a:pt x="15" y="188"/>
                    </a:lnTo>
                    <a:lnTo>
                      <a:pt x="15" y="183"/>
                    </a:lnTo>
                    <a:lnTo>
                      <a:pt x="15" y="178"/>
                    </a:lnTo>
                    <a:lnTo>
                      <a:pt x="19" y="175"/>
                    </a:lnTo>
                    <a:lnTo>
                      <a:pt x="19" y="170"/>
                    </a:lnTo>
                    <a:lnTo>
                      <a:pt x="19" y="165"/>
                    </a:lnTo>
                    <a:lnTo>
                      <a:pt x="22" y="161"/>
                    </a:lnTo>
                    <a:lnTo>
                      <a:pt x="22" y="156"/>
                    </a:lnTo>
                    <a:lnTo>
                      <a:pt x="22" y="153"/>
                    </a:lnTo>
                    <a:lnTo>
                      <a:pt x="26" y="148"/>
                    </a:lnTo>
                    <a:lnTo>
                      <a:pt x="26" y="143"/>
                    </a:lnTo>
                    <a:lnTo>
                      <a:pt x="26" y="140"/>
                    </a:lnTo>
                    <a:lnTo>
                      <a:pt x="30" y="135"/>
                    </a:lnTo>
                    <a:lnTo>
                      <a:pt x="30" y="130"/>
                    </a:lnTo>
                    <a:lnTo>
                      <a:pt x="30" y="127"/>
                    </a:lnTo>
                    <a:lnTo>
                      <a:pt x="34" y="122"/>
                    </a:lnTo>
                    <a:lnTo>
                      <a:pt x="34" y="119"/>
                    </a:lnTo>
                    <a:lnTo>
                      <a:pt x="34" y="114"/>
                    </a:lnTo>
                    <a:lnTo>
                      <a:pt x="37" y="111"/>
                    </a:lnTo>
                    <a:lnTo>
                      <a:pt x="37" y="106"/>
                    </a:lnTo>
                    <a:lnTo>
                      <a:pt x="37" y="103"/>
                    </a:lnTo>
                    <a:lnTo>
                      <a:pt x="41" y="99"/>
                    </a:lnTo>
                    <a:lnTo>
                      <a:pt x="41" y="95"/>
                    </a:lnTo>
                    <a:lnTo>
                      <a:pt x="41" y="92"/>
                    </a:lnTo>
                    <a:lnTo>
                      <a:pt x="45" y="87"/>
                    </a:lnTo>
                    <a:lnTo>
                      <a:pt x="45" y="84"/>
                    </a:lnTo>
                    <a:lnTo>
                      <a:pt x="45" y="81"/>
                    </a:lnTo>
                    <a:lnTo>
                      <a:pt x="48" y="78"/>
                    </a:lnTo>
                    <a:lnTo>
                      <a:pt x="48" y="75"/>
                    </a:lnTo>
                    <a:lnTo>
                      <a:pt x="48" y="71"/>
                    </a:lnTo>
                    <a:lnTo>
                      <a:pt x="52" y="68"/>
                    </a:lnTo>
                    <a:lnTo>
                      <a:pt x="52" y="65"/>
                    </a:lnTo>
                    <a:lnTo>
                      <a:pt x="52" y="62"/>
                    </a:lnTo>
                    <a:lnTo>
                      <a:pt x="56" y="59"/>
                    </a:lnTo>
                    <a:lnTo>
                      <a:pt x="56" y="56"/>
                    </a:lnTo>
                    <a:lnTo>
                      <a:pt x="56" y="52"/>
                    </a:lnTo>
                    <a:lnTo>
                      <a:pt x="60" y="49"/>
                    </a:lnTo>
                    <a:lnTo>
                      <a:pt x="60" y="48"/>
                    </a:lnTo>
                    <a:lnTo>
                      <a:pt x="60" y="44"/>
                    </a:lnTo>
                    <a:lnTo>
                      <a:pt x="63" y="41"/>
                    </a:lnTo>
                    <a:lnTo>
                      <a:pt x="63" y="40"/>
                    </a:lnTo>
                    <a:lnTo>
                      <a:pt x="63" y="36"/>
                    </a:lnTo>
                    <a:lnTo>
                      <a:pt x="63" y="35"/>
                    </a:lnTo>
                    <a:lnTo>
                      <a:pt x="67" y="33"/>
                    </a:lnTo>
                    <a:lnTo>
                      <a:pt x="67" y="30"/>
                    </a:lnTo>
                    <a:lnTo>
                      <a:pt x="67" y="29"/>
                    </a:lnTo>
                    <a:lnTo>
                      <a:pt x="71" y="27"/>
                    </a:lnTo>
                    <a:lnTo>
                      <a:pt x="71" y="24"/>
                    </a:lnTo>
                    <a:lnTo>
                      <a:pt x="71" y="22"/>
                    </a:lnTo>
                    <a:lnTo>
                      <a:pt x="74" y="21"/>
                    </a:lnTo>
                    <a:lnTo>
                      <a:pt x="74" y="19"/>
                    </a:lnTo>
                    <a:lnTo>
                      <a:pt x="74" y="17"/>
                    </a:lnTo>
                    <a:lnTo>
                      <a:pt x="78" y="16"/>
                    </a:lnTo>
                    <a:lnTo>
                      <a:pt x="78" y="14"/>
                    </a:lnTo>
                    <a:lnTo>
                      <a:pt x="78" y="13"/>
                    </a:lnTo>
                    <a:lnTo>
                      <a:pt x="82" y="11"/>
                    </a:lnTo>
                    <a:lnTo>
                      <a:pt x="82" y="9"/>
                    </a:lnTo>
                    <a:lnTo>
                      <a:pt x="86" y="8"/>
                    </a:lnTo>
                    <a:lnTo>
                      <a:pt x="86" y="6"/>
                    </a:lnTo>
                    <a:lnTo>
                      <a:pt x="89" y="5"/>
                    </a:lnTo>
                    <a:lnTo>
                      <a:pt x="93" y="3"/>
                    </a:lnTo>
                    <a:lnTo>
                      <a:pt x="97" y="1"/>
                    </a:lnTo>
                    <a:lnTo>
                      <a:pt x="100" y="0"/>
                    </a:lnTo>
                    <a:lnTo>
                      <a:pt x="104" y="0"/>
                    </a:lnTo>
                    <a:lnTo>
                      <a:pt x="108" y="0"/>
                    </a:lnTo>
                    <a:lnTo>
                      <a:pt x="112" y="1"/>
                    </a:lnTo>
                    <a:lnTo>
                      <a:pt x="115" y="3"/>
                    </a:lnTo>
                    <a:lnTo>
                      <a:pt x="119" y="5"/>
                    </a:lnTo>
                    <a:lnTo>
                      <a:pt x="123" y="6"/>
                    </a:lnTo>
                    <a:lnTo>
                      <a:pt x="126" y="8"/>
                    </a:lnTo>
                    <a:lnTo>
                      <a:pt x="126" y="9"/>
                    </a:lnTo>
                    <a:lnTo>
                      <a:pt x="130" y="11"/>
                    </a:lnTo>
                    <a:lnTo>
                      <a:pt x="130" y="13"/>
                    </a:lnTo>
                    <a:lnTo>
                      <a:pt x="134" y="14"/>
                    </a:lnTo>
                    <a:lnTo>
                      <a:pt x="134" y="16"/>
                    </a:lnTo>
                    <a:lnTo>
                      <a:pt x="138" y="17"/>
                    </a:lnTo>
                    <a:lnTo>
                      <a:pt x="138" y="19"/>
                    </a:lnTo>
                    <a:lnTo>
                      <a:pt x="141" y="21"/>
                    </a:lnTo>
                    <a:lnTo>
                      <a:pt x="141" y="22"/>
                    </a:lnTo>
                    <a:lnTo>
                      <a:pt x="141" y="24"/>
                    </a:lnTo>
                    <a:lnTo>
                      <a:pt x="145" y="25"/>
                    </a:lnTo>
                    <a:lnTo>
                      <a:pt x="145" y="27"/>
                    </a:lnTo>
                    <a:lnTo>
                      <a:pt x="149" y="29"/>
                    </a:lnTo>
                    <a:lnTo>
                      <a:pt x="149" y="30"/>
                    </a:lnTo>
                    <a:lnTo>
                      <a:pt x="152" y="32"/>
                    </a:lnTo>
                    <a:lnTo>
                      <a:pt x="152" y="33"/>
                    </a:lnTo>
                    <a:lnTo>
                      <a:pt x="152" y="35"/>
                    </a:lnTo>
                    <a:lnTo>
                      <a:pt x="156" y="36"/>
                    </a:lnTo>
                    <a:lnTo>
                      <a:pt x="156" y="38"/>
                    </a:lnTo>
                    <a:lnTo>
                      <a:pt x="160" y="40"/>
                    </a:lnTo>
                    <a:lnTo>
                      <a:pt x="160" y="41"/>
                    </a:lnTo>
                    <a:lnTo>
                      <a:pt x="160" y="43"/>
                    </a:lnTo>
                    <a:lnTo>
                      <a:pt x="164" y="44"/>
                    </a:lnTo>
                    <a:lnTo>
                      <a:pt x="164" y="46"/>
                    </a:lnTo>
                    <a:lnTo>
                      <a:pt x="167" y="48"/>
                    </a:lnTo>
                    <a:lnTo>
                      <a:pt x="167" y="49"/>
                    </a:lnTo>
                    <a:lnTo>
                      <a:pt x="171" y="51"/>
                    </a:lnTo>
                    <a:lnTo>
                      <a:pt x="171" y="52"/>
                    </a:lnTo>
                    <a:lnTo>
                      <a:pt x="175" y="54"/>
                    </a:lnTo>
                    <a:lnTo>
                      <a:pt x="175" y="56"/>
                    </a:lnTo>
                    <a:lnTo>
                      <a:pt x="178" y="57"/>
                    </a:lnTo>
                    <a:lnTo>
                      <a:pt x="182" y="59"/>
                    </a:lnTo>
                    <a:lnTo>
                      <a:pt x="182" y="60"/>
                    </a:lnTo>
                    <a:lnTo>
                      <a:pt x="186" y="62"/>
                    </a:lnTo>
                    <a:lnTo>
                      <a:pt x="186" y="64"/>
                    </a:lnTo>
                    <a:lnTo>
                      <a:pt x="190" y="65"/>
                    </a:lnTo>
                    <a:lnTo>
                      <a:pt x="193" y="67"/>
                    </a:lnTo>
                    <a:lnTo>
                      <a:pt x="197" y="68"/>
                    </a:lnTo>
                    <a:lnTo>
                      <a:pt x="201" y="68"/>
                    </a:lnTo>
                    <a:lnTo>
                      <a:pt x="204" y="68"/>
                    </a:lnTo>
                    <a:lnTo>
                      <a:pt x="208" y="68"/>
                    </a:lnTo>
                    <a:lnTo>
                      <a:pt x="212" y="68"/>
                    </a:lnTo>
                    <a:lnTo>
                      <a:pt x="216" y="67"/>
                    </a:lnTo>
                    <a:lnTo>
                      <a:pt x="219" y="65"/>
                    </a:lnTo>
                    <a:lnTo>
                      <a:pt x="223" y="64"/>
                    </a:lnTo>
                    <a:lnTo>
                      <a:pt x="227" y="62"/>
                    </a:lnTo>
                    <a:lnTo>
                      <a:pt x="231" y="60"/>
                    </a:lnTo>
                    <a:lnTo>
                      <a:pt x="234" y="59"/>
                    </a:lnTo>
                    <a:lnTo>
                      <a:pt x="234" y="57"/>
                    </a:lnTo>
                    <a:lnTo>
                      <a:pt x="238" y="56"/>
                    </a:lnTo>
                    <a:lnTo>
                      <a:pt x="238" y="54"/>
                    </a:lnTo>
                    <a:lnTo>
                      <a:pt x="242" y="52"/>
                    </a:lnTo>
                    <a:lnTo>
                      <a:pt x="242" y="51"/>
                    </a:lnTo>
                    <a:lnTo>
                      <a:pt x="245" y="49"/>
                    </a:lnTo>
                    <a:lnTo>
                      <a:pt x="245" y="48"/>
                    </a:lnTo>
                    <a:lnTo>
                      <a:pt x="249" y="46"/>
                    </a:lnTo>
                    <a:lnTo>
                      <a:pt x="249" y="44"/>
                    </a:lnTo>
                    <a:lnTo>
                      <a:pt x="249" y="43"/>
                    </a:lnTo>
                    <a:lnTo>
                      <a:pt x="253" y="41"/>
                    </a:lnTo>
                    <a:lnTo>
                      <a:pt x="253" y="40"/>
                    </a:lnTo>
                    <a:lnTo>
                      <a:pt x="257" y="38"/>
                    </a:lnTo>
                    <a:lnTo>
                      <a:pt x="257" y="36"/>
                    </a:lnTo>
                    <a:lnTo>
                      <a:pt x="260" y="35"/>
                    </a:lnTo>
                    <a:lnTo>
                      <a:pt x="260" y="33"/>
                    </a:lnTo>
                    <a:lnTo>
                      <a:pt x="260" y="32"/>
                    </a:lnTo>
                    <a:lnTo>
                      <a:pt x="264" y="30"/>
                    </a:lnTo>
                    <a:lnTo>
                      <a:pt x="264" y="29"/>
                    </a:lnTo>
                    <a:lnTo>
                      <a:pt x="268" y="27"/>
                    </a:lnTo>
                    <a:lnTo>
                      <a:pt x="268" y="25"/>
                    </a:lnTo>
                    <a:lnTo>
                      <a:pt x="268" y="24"/>
                    </a:lnTo>
                    <a:lnTo>
                      <a:pt x="271" y="22"/>
                    </a:lnTo>
                    <a:lnTo>
                      <a:pt x="271" y="21"/>
                    </a:lnTo>
                    <a:lnTo>
                      <a:pt x="275" y="19"/>
                    </a:lnTo>
                    <a:lnTo>
                      <a:pt x="275" y="17"/>
                    </a:lnTo>
                    <a:lnTo>
                      <a:pt x="279" y="16"/>
                    </a:lnTo>
                    <a:lnTo>
                      <a:pt x="279" y="14"/>
                    </a:lnTo>
                    <a:lnTo>
                      <a:pt x="283" y="13"/>
                    </a:lnTo>
                    <a:lnTo>
                      <a:pt x="283" y="11"/>
                    </a:lnTo>
                    <a:lnTo>
                      <a:pt x="286" y="9"/>
                    </a:lnTo>
                    <a:lnTo>
                      <a:pt x="286" y="8"/>
                    </a:lnTo>
                    <a:lnTo>
                      <a:pt x="290" y="6"/>
                    </a:lnTo>
                    <a:lnTo>
                      <a:pt x="294" y="5"/>
                    </a:lnTo>
                    <a:lnTo>
                      <a:pt x="297" y="3"/>
                    </a:lnTo>
                    <a:lnTo>
                      <a:pt x="301" y="1"/>
                    </a:lnTo>
                    <a:lnTo>
                      <a:pt x="305" y="0"/>
                    </a:lnTo>
                    <a:lnTo>
                      <a:pt x="309" y="0"/>
                    </a:lnTo>
                    <a:lnTo>
                      <a:pt x="312" y="0"/>
                    </a:lnTo>
                    <a:lnTo>
                      <a:pt x="316" y="1"/>
                    </a:lnTo>
                    <a:lnTo>
                      <a:pt x="320" y="3"/>
                    </a:lnTo>
                    <a:lnTo>
                      <a:pt x="323" y="5"/>
                    </a:lnTo>
                    <a:lnTo>
                      <a:pt x="323" y="6"/>
                    </a:lnTo>
                    <a:lnTo>
                      <a:pt x="327" y="8"/>
                    </a:lnTo>
                    <a:lnTo>
                      <a:pt x="327" y="9"/>
                    </a:lnTo>
                    <a:lnTo>
                      <a:pt x="331" y="11"/>
                    </a:lnTo>
                    <a:lnTo>
                      <a:pt x="331" y="13"/>
                    </a:lnTo>
                    <a:lnTo>
                      <a:pt x="331" y="14"/>
                    </a:lnTo>
                    <a:lnTo>
                      <a:pt x="335" y="16"/>
                    </a:lnTo>
                    <a:lnTo>
                      <a:pt x="335" y="17"/>
                    </a:lnTo>
                    <a:lnTo>
                      <a:pt x="335" y="19"/>
                    </a:lnTo>
                    <a:lnTo>
                      <a:pt x="338" y="21"/>
                    </a:lnTo>
                    <a:lnTo>
                      <a:pt x="338" y="22"/>
                    </a:lnTo>
                    <a:lnTo>
                      <a:pt x="338" y="24"/>
                    </a:lnTo>
                    <a:lnTo>
                      <a:pt x="342" y="25"/>
                    </a:lnTo>
                    <a:lnTo>
                      <a:pt x="342" y="27"/>
                    </a:lnTo>
                    <a:lnTo>
                      <a:pt x="342" y="30"/>
                    </a:lnTo>
                    <a:lnTo>
                      <a:pt x="346" y="32"/>
                    </a:lnTo>
                    <a:lnTo>
                      <a:pt x="346" y="33"/>
                    </a:lnTo>
                    <a:lnTo>
                      <a:pt x="346" y="36"/>
                    </a:lnTo>
                    <a:lnTo>
                      <a:pt x="349" y="38"/>
                    </a:lnTo>
                    <a:lnTo>
                      <a:pt x="349" y="41"/>
                    </a:lnTo>
                    <a:lnTo>
                      <a:pt x="349" y="44"/>
                    </a:lnTo>
                    <a:lnTo>
                      <a:pt x="353" y="46"/>
                    </a:lnTo>
                    <a:lnTo>
                      <a:pt x="353" y="49"/>
                    </a:lnTo>
                    <a:lnTo>
                      <a:pt x="353" y="52"/>
                    </a:lnTo>
                    <a:lnTo>
                      <a:pt x="357" y="54"/>
                    </a:lnTo>
                    <a:lnTo>
                      <a:pt x="357" y="57"/>
                    </a:lnTo>
                    <a:lnTo>
                      <a:pt x="357" y="60"/>
                    </a:lnTo>
                    <a:lnTo>
                      <a:pt x="361" y="64"/>
                    </a:lnTo>
                    <a:lnTo>
                      <a:pt x="361" y="67"/>
                    </a:lnTo>
                    <a:lnTo>
                      <a:pt x="361" y="70"/>
                    </a:lnTo>
                    <a:lnTo>
                      <a:pt x="364" y="73"/>
                    </a:lnTo>
                    <a:lnTo>
                      <a:pt x="364" y="76"/>
                    </a:lnTo>
                    <a:lnTo>
                      <a:pt x="364" y="79"/>
                    </a:lnTo>
                    <a:lnTo>
                      <a:pt x="368" y="83"/>
                    </a:lnTo>
                    <a:lnTo>
                      <a:pt x="368" y="87"/>
                    </a:lnTo>
                    <a:lnTo>
                      <a:pt x="368" y="91"/>
                    </a:lnTo>
                    <a:lnTo>
                      <a:pt x="372" y="94"/>
                    </a:lnTo>
                    <a:lnTo>
                      <a:pt x="372" y="99"/>
                    </a:lnTo>
                    <a:lnTo>
                      <a:pt x="372" y="102"/>
                    </a:lnTo>
                    <a:lnTo>
                      <a:pt x="375" y="105"/>
                    </a:lnTo>
                    <a:lnTo>
                      <a:pt x="375" y="110"/>
                    </a:lnTo>
                    <a:lnTo>
                      <a:pt x="375" y="113"/>
                    </a:lnTo>
                    <a:lnTo>
                      <a:pt x="379" y="118"/>
                    </a:lnTo>
                    <a:lnTo>
                      <a:pt x="379" y="121"/>
                    </a:lnTo>
                    <a:lnTo>
                      <a:pt x="379" y="126"/>
                    </a:lnTo>
                    <a:lnTo>
                      <a:pt x="383" y="129"/>
                    </a:lnTo>
                    <a:lnTo>
                      <a:pt x="383" y="134"/>
                    </a:lnTo>
                    <a:lnTo>
                      <a:pt x="383" y="138"/>
                    </a:lnTo>
                    <a:lnTo>
                      <a:pt x="387" y="141"/>
                    </a:lnTo>
                    <a:lnTo>
                      <a:pt x="387" y="146"/>
                    </a:lnTo>
                    <a:lnTo>
                      <a:pt x="387" y="151"/>
                    </a:lnTo>
                    <a:lnTo>
                      <a:pt x="390" y="154"/>
                    </a:lnTo>
                    <a:lnTo>
                      <a:pt x="390" y="159"/>
                    </a:lnTo>
                    <a:lnTo>
                      <a:pt x="390" y="164"/>
                    </a:lnTo>
                    <a:lnTo>
                      <a:pt x="394" y="169"/>
                    </a:lnTo>
                    <a:lnTo>
                      <a:pt x="394" y="173"/>
                    </a:lnTo>
                    <a:lnTo>
                      <a:pt x="394" y="178"/>
                    </a:lnTo>
                    <a:lnTo>
                      <a:pt x="398" y="181"/>
                    </a:lnTo>
                    <a:lnTo>
                      <a:pt x="398" y="186"/>
                    </a:lnTo>
                    <a:lnTo>
                      <a:pt x="398" y="191"/>
                    </a:lnTo>
                    <a:lnTo>
                      <a:pt x="401" y="196"/>
                    </a:lnTo>
                    <a:lnTo>
                      <a:pt x="401" y="200"/>
                    </a:lnTo>
                    <a:lnTo>
                      <a:pt x="401" y="205"/>
                    </a:lnTo>
                    <a:lnTo>
                      <a:pt x="405" y="210"/>
                    </a:lnTo>
                    <a:lnTo>
                      <a:pt x="405" y="215"/>
                    </a:lnTo>
                    <a:lnTo>
                      <a:pt x="405" y="219"/>
                    </a:lnTo>
                    <a:lnTo>
                      <a:pt x="409" y="224"/>
                    </a:lnTo>
                    <a:lnTo>
                      <a:pt x="409" y="229"/>
                    </a:lnTo>
                    <a:lnTo>
                      <a:pt x="409" y="234"/>
                    </a:lnTo>
                    <a:lnTo>
                      <a:pt x="413" y="237"/>
                    </a:lnTo>
                    <a:lnTo>
                      <a:pt x="413" y="242"/>
                    </a:lnTo>
                    <a:lnTo>
                      <a:pt x="413" y="247"/>
                    </a:lnTo>
                    <a:lnTo>
                      <a:pt x="416" y="251"/>
                    </a:lnTo>
                    <a:lnTo>
                      <a:pt x="416" y="256"/>
                    </a:lnTo>
                    <a:lnTo>
                      <a:pt x="416" y="261"/>
                    </a:lnTo>
                    <a:lnTo>
                      <a:pt x="420" y="266"/>
                    </a:lnTo>
                    <a:lnTo>
                      <a:pt x="420" y="270"/>
                    </a:lnTo>
                    <a:lnTo>
                      <a:pt x="420" y="275"/>
                    </a:lnTo>
                    <a:lnTo>
                      <a:pt x="424" y="280"/>
                    </a:lnTo>
                    <a:lnTo>
                      <a:pt x="424" y="285"/>
                    </a:lnTo>
                    <a:lnTo>
                      <a:pt x="424" y="289"/>
                    </a:lnTo>
                    <a:lnTo>
                      <a:pt x="427" y="293"/>
                    </a:lnTo>
                    <a:lnTo>
                      <a:pt x="427" y="297"/>
                    </a:lnTo>
                    <a:lnTo>
                      <a:pt x="427" y="302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6" name="Freeform 10"/>
              <p:cNvSpPr>
                <a:spLocks/>
              </p:cNvSpPr>
              <p:nvPr/>
            </p:nvSpPr>
            <p:spPr bwMode="auto">
              <a:xfrm>
                <a:off x="3061" y="2354"/>
                <a:ext cx="429" cy="368"/>
              </a:xfrm>
              <a:custGeom>
                <a:avLst/>
                <a:gdLst>
                  <a:gd name="T0" fmla="*/ 4 w 429"/>
                  <a:gd name="T1" fmla="*/ 213 h 368"/>
                  <a:gd name="T2" fmla="*/ 8 w 429"/>
                  <a:gd name="T3" fmla="*/ 230 h 368"/>
                  <a:gd name="T4" fmla="*/ 15 w 429"/>
                  <a:gd name="T5" fmla="*/ 248 h 368"/>
                  <a:gd name="T6" fmla="*/ 19 w 429"/>
                  <a:gd name="T7" fmla="*/ 262 h 368"/>
                  <a:gd name="T8" fmla="*/ 23 w 429"/>
                  <a:gd name="T9" fmla="*/ 278 h 368"/>
                  <a:gd name="T10" fmla="*/ 30 w 429"/>
                  <a:gd name="T11" fmla="*/ 292 h 368"/>
                  <a:gd name="T12" fmla="*/ 34 w 429"/>
                  <a:gd name="T13" fmla="*/ 305 h 368"/>
                  <a:gd name="T14" fmla="*/ 38 w 429"/>
                  <a:gd name="T15" fmla="*/ 316 h 368"/>
                  <a:gd name="T16" fmla="*/ 45 w 429"/>
                  <a:gd name="T17" fmla="*/ 327 h 368"/>
                  <a:gd name="T18" fmla="*/ 49 w 429"/>
                  <a:gd name="T19" fmla="*/ 335 h 368"/>
                  <a:gd name="T20" fmla="*/ 52 w 429"/>
                  <a:gd name="T21" fmla="*/ 345 h 368"/>
                  <a:gd name="T22" fmla="*/ 60 w 429"/>
                  <a:gd name="T23" fmla="*/ 351 h 368"/>
                  <a:gd name="T24" fmla="*/ 64 w 429"/>
                  <a:gd name="T25" fmla="*/ 358 h 368"/>
                  <a:gd name="T26" fmla="*/ 75 w 429"/>
                  <a:gd name="T27" fmla="*/ 364 h 368"/>
                  <a:gd name="T28" fmla="*/ 90 w 429"/>
                  <a:gd name="T29" fmla="*/ 367 h 368"/>
                  <a:gd name="T30" fmla="*/ 104 w 429"/>
                  <a:gd name="T31" fmla="*/ 361 h 368"/>
                  <a:gd name="T32" fmla="*/ 112 w 429"/>
                  <a:gd name="T33" fmla="*/ 355 h 368"/>
                  <a:gd name="T34" fmla="*/ 119 w 429"/>
                  <a:gd name="T35" fmla="*/ 348 h 368"/>
                  <a:gd name="T36" fmla="*/ 127 w 429"/>
                  <a:gd name="T37" fmla="*/ 342 h 368"/>
                  <a:gd name="T38" fmla="*/ 130 w 429"/>
                  <a:gd name="T39" fmla="*/ 335 h 368"/>
                  <a:gd name="T40" fmla="*/ 138 w 429"/>
                  <a:gd name="T41" fmla="*/ 329 h 368"/>
                  <a:gd name="T42" fmla="*/ 145 w 429"/>
                  <a:gd name="T43" fmla="*/ 323 h 368"/>
                  <a:gd name="T44" fmla="*/ 153 w 429"/>
                  <a:gd name="T45" fmla="*/ 316 h 368"/>
                  <a:gd name="T46" fmla="*/ 160 w 429"/>
                  <a:gd name="T47" fmla="*/ 310 h 368"/>
                  <a:gd name="T48" fmla="*/ 171 w 429"/>
                  <a:gd name="T49" fmla="*/ 304 h 368"/>
                  <a:gd name="T50" fmla="*/ 182 w 429"/>
                  <a:gd name="T51" fmla="*/ 299 h 368"/>
                  <a:gd name="T52" fmla="*/ 197 w 429"/>
                  <a:gd name="T53" fmla="*/ 300 h 368"/>
                  <a:gd name="T54" fmla="*/ 212 w 429"/>
                  <a:gd name="T55" fmla="*/ 307 h 368"/>
                  <a:gd name="T56" fmla="*/ 220 w 429"/>
                  <a:gd name="T57" fmla="*/ 313 h 368"/>
                  <a:gd name="T58" fmla="*/ 227 w 429"/>
                  <a:gd name="T59" fmla="*/ 320 h 368"/>
                  <a:gd name="T60" fmla="*/ 234 w 429"/>
                  <a:gd name="T61" fmla="*/ 326 h 368"/>
                  <a:gd name="T62" fmla="*/ 242 w 429"/>
                  <a:gd name="T63" fmla="*/ 332 h 368"/>
                  <a:gd name="T64" fmla="*/ 246 w 429"/>
                  <a:gd name="T65" fmla="*/ 339 h 368"/>
                  <a:gd name="T66" fmla="*/ 253 w 429"/>
                  <a:gd name="T67" fmla="*/ 345 h 368"/>
                  <a:gd name="T68" fmla="*/ 260 w 429"/>
                  <a:gd name="T69" fmla="*/ 351 h 368"/>
                  <a:gd name="T70" fmla="*/ 268 w 429"/>
                  <a:gd name="T71" fmla="*/ 358 h 368"/>
                  <a:gd name="T72" fmla="*/ 279 w 429"/>
                  <a:gd name="T73" fmla="*/ 364 h 368"/>
                  <a:gd name="T74" fmla="*/ 294 w 429"/>
                  <a:gd name="T75" fmla="*/ 367 h 368"/>
                  <a:gd name="T76" fmla="*/ 305 w 429"/>
                  <a:gd name="T77" fmla="*/ 361 h 368"/>
                  <a:gd name="T78" fmla="*/ 312 w 429"/>
                  <a:gd name="T79" fmla="*/ 355 h 368"/>
                  <a:gd name="T80" fmla="*/ 320 w 429"/>
                  <a:gd name="T81" fmla="*/ 348 h 368"/>
                  <a:gd name="T82" fmla="*/ 324 w 429"/>
                  <a:gd name="T83" fmla="*/ 340 h 368"/>
                  <a:gd name="T84" fmla="*/ 327 w 429"/>
                  <a:gd name="T85" fmla="*/ 332 h 368"/>
                  <a:gd name="T86" fmla="*/ 335 w 429"/>
                  <a:gd name="T87" fmla="*/ 321 h 368"/>
                  <a:gd name="T88" fmla="*/ 338 w 429"/>
                  <a:gd name="T89" fmla="*/ 310 h 368"/>
                  <a:gd name="T90" fmla="*/ 342 w 429"/>
                  <a:gd name="T91" fmla="*/ 299 h 368"/>
                  <a:gd name="T92" fmla="*/ 350 w 429"/>
                  <a:gd name="T93" fmla="*/ 285 h 368"/>
                  <a:gd name="T94" fmla="*/ 353 w 429"/>
                  <a:gd name="T95" fmla="*/ 270 h 368"/>
                  <a:gd name="T96" fmla="*/ 357 w 429"/>
                  <a:gd name="T97" fmla="*/ 256 h 368"/>
                  <a:gd name="T98" fmla="*/ 364 w 429"/>
                  <a:gd name="T99" fmla="*/ 238 h 368"/>
                  <a:gd name="T100" fmla="*/ 368 w 429"/>
                  <a:gd name="T101" fmla="*/ 222 h 368"/>
                  <a:gd name="T102" fmla="*/ 372 w 429"/>
                  <a:gd name="T103" fmla="*/ 205 h 368"/>
                  <a:gd name="T104" fmla="*/ 376 w 429"/>
                  <a:gd name="T105" fmla="*/ 187 h 368"/>
                  <a:gd name="T106" fmla="*/ 383 w 429"/>
                  <a:gd name="T107" fmla="*/ 168 h 368"/>
                  <a:gd name="T108" fmla="*/ 387 w 429"/>
                  <a:gd name="T109" fmla="*/ 149 h 368"/>
                  <a:gd name="T110" fmla="*/ 390 w 429"/>
                  <a:gd name="T111" fmla="*/ 132 h 368"/>
                  <a:gd name="T112" fmla="*/ 398 w 429"/>
                  <a:gd name="T113" fmla="*/ 113 h 368"/>
                  <a:gd name="T114" fmla="*/ 402 w 429"/>
                  <a:gd name="T115" fmla="*/ 94 h 368"/>
                  <a:gd name="T116" fmla="*/ 405 w 429"/>
                  <a:gd name="T117" fmla="*/ 76 h 368"/>
                  <a:gd name="T118" fmla="*/ 413 w 429"/>
                  <a:gd name="T119" fmla="*/ 57 h 368"/>
                  <a:gd name="T120" fmla="*/ 416 w 429"/>
                  <a:gd name="T121" fmla="*/ 39 h 368"/>
                  <a:gd name="T122" fmla="*/ 420 w 429"/>
                  <a:gd name="T123" fmla="*/ 24 h 368"/>
                  <a:gd name="T124" fmla="*/ 428 w 429"/>
                  <a:gd name="T125" fmla="*/ 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29" h="368">
                    <a:moveTo>
                      <a:pt x="0" y="200"/>
                    </a:moveTo>
                    <a:lnTo>
                      <a:pt x="4" y="205"/>
                    </a:lnTo>
                    <a:lnTo>
                      <a:pt x="4" y="210"/>
                    </a:lnTo>
                    <a:lnTo>
                      <a:pt x="4" y="213"/>
                    </a:lnTo>
                    <a:lnTo>
                      <a:pt x="4" y="218"/>
                    </a:lnTo>
                    <a:lnTo>
                      <a:pt x="8" y="222"/>
                    </a:lnTo>
                    <a:lnTo>
                      <a:pt x="8" y="227"/>
                    </a:lnTo>
                    <a:lnTo>
                      <a:pt x="8" y="230"/>
                    </a:lnTo>
                    <a:lnTo>
                      <a:pt x="12" y="235"/>
                    </a:lnTo>
                    <a:lnTo>
                      <a:pt x="12" y="238"/>
                    </a:lnTo>
                    <a:lnTo>
                      <a:pt x="12" y="243"/>
                    </a:lnTo>
                    <a:lnTo>
                      <a:pt x="15" y="248"/>
                    </a:lnTo>
                    <a:lnTo>
                      <a:pt x="15" y="251"/>
                    </a:lnTo>
                    <a:lnTo>
                      <a:pt x="15" y="256"/>
                    </a:lnTo>
                    <a:lnTo>
                      <a:pt x="19" y="259"/>
                    </a:lnTo>
                    <a:lnTo>
                      <a:pt x="19" y="262"/>
                    </a:lnTo>
                    <a:lnTo>
                      <a:pt x="19" y="267"/>
                    </a:lnTo>
                    <a:lnTo>
                      <a:pt x="23" y="270"/>
                    </a:lnTo>
                    <a:lnTo>
                      <a:pt x="23" y="275"/>
                    </a:lnTo>
                    <a:lnTo>
                      <a:pt x="23" y="278"/>
                    </a:lnTo>
                    <a:lnTo>
                      <a:pt x="26" y="281"/>
                    </a:lnTo>
                    <a:lnTo>
                      <a:pt x="26" y="285"/>
                    </a:lnTo>
                    <a:lnTo>
                      <a:pt x="26" y="288"/>
                    </a:lnTo>
                    <a:lnTo>
                      <a:pt x="30" y="292"/>
                    </a:lnTo>
                    <a:lnTo>
                      <a:pt x="30" y="296"/>
                    </a:lnTo>
                    <a:lnTo>
                      <a:pt x="30" y="299"/>
                    </a:lnTo>
                    <a:lnTo>
                      <a:pt x="34" y="302"/>
                    </a:lnTo>
                    <a:lnTo>
                      <a:pt x="34" y="305"/>
                    </a:lnTo>
                    <a:lnTo>
                      <a:pt x="34" y="307"/>
                    </a:lnTo>
                    <a:lnTo>
                      <a:pt x="38" y="310"/>
                    </a:lnTo>
                    <a:lnTo>
                      <a:pt x="38" y="313"/>
                    </a:lnTo>
                    <a:lnTo>
                      <a:pt x="38" y="316"/>
                    </a:lnTo>
                    <a:lnTo>
                      <a:pt x="41" y="320"/>
                    </a:lnTo>
                    <a:lnTo>
                      <a:pt x="41" y="321"/>
                    </a:lnTo>
                    <a:lnTo>
                      <a:pt x="41" y="324"/>
                    </a:lnTo>
                    <a:lnTo>
                      <a:pt x="45" y="327"/>
                    </a:lnTo>
                    <a:lnTo>
                      <a:pt x="45" y="329"/>
                    </a:lnTo>
                    <a:lnTo>
                      <a:pt x="45" y="332"/>
                    </a:lnTo>
                    <a:lnTo>
                      <a:pt x="49" y="334"/>
                    </a:lnTo>
                    <a:lnTo>
                      <a:pt x="49" y="335"/>
                    </a:lnTo>
                    <a:lnTo>
                      <a:pt x="49" y="339"/>
                    </a:lnTo>
                    <a:lnTo>
                      <a:pt x="52" y="340"/>
                    </a:lnTo>
                    <a:lnTo>
                      <a:pt x="52" y="342"/>
                    </a:lnTo>
                    <a:lnTo>
                      <a:pt x="52" y="345"/>
                    </a:lnTo>
                    <a:lnTo>
                      <a:pt x="56" y="347"/>
                    </a:lnTo>
                    <a:lnTo>
                      <a:pt x="56" y="348"/>
                    </a:lnTo>
                    <a:lnTo>
                      <a:pt x="56" y="350"/>
                    </a:lnTo>
                    <a:lnTo>
                      <a:pt x="60" y="351"/>
                    </a:lnTo>
                    <a:lnTo>
                      <a:pt x="60" y="353"/>
                    </a:lnTo>
                    <a:lnTo>
                      <a:pt x="60" y="355"/>
                    </a:lnTo>
                    <a:lnTo>
                      <a:pt x="64" y="356"/>
                    </a:lnTo>
                    <a:lnTo>
                      <a:pt x="64" y="358"/>
                    </a:lnTo>
                    <a:lnTo>
                      <a:pt x="67" y="359"/>
                    </a:lnTo>
                    <a:lnTo>
                      <a:pt x="67" y="361"/>
                    </a:lnTo>
                    <a:lnTo>
                      <a:pt x="71" y="362"/>
                    </a:lnTo>
                    <a:lnTo>
                      <a:pt x="75" y="364"/>
                    </a:lnTo>
                    <a:lnTo>
                      <a:pt x="78" y="366"/>
                    </a:lnTo>
                    <a:lnTo>
                      <a:pt x="82" y="367"/>
                    </a:lnTo>
                    <a:lnTo>
                      <a:pt x="86" y="367"/>
                    </a:lnTo>
                    <a:lnTo>
                      <a:pt x="90" y="367"/>
                    </a:lnTo>
                    <a:lnTo>
                      <a:pt x="93" y="366"/>
                    </a:lnTo>
                    <a:lnTo>
                      <a:pt x="97" y="364"/>
                    </a:lnTo>
                    <a:lnTo>
                      <a:pt x="101" y="362"/>
                    </a:lnTo>
                    <a:lnTo>
                      <a:pt x="104" y="361"/>
                    </a:lnTo>
                    <a:lnTo>
                      <a:pt x="108" y="359"/>
                    </a:lnTo>
                    <a:lnTo>
                      <a:pt x="108" y="358"/>
                    </a:lnTo>
                    <a:lnTo>
                      <a:pt x="112" y="356"/>
                    </a:lnTo>
                    <a:lnTo>
                      <a:pt x="112" y="355"/>
                    </a:lnTo>
                    <a:lnTo>
                      <a:pt x="116" y="353"/>
                    </a:lnTo>
                    <a:lnTo>
                      <a:pt x="116" y="351"/>
                    </a:lnTo>
                    <a:lnTo>
                      <a:pt x="119" y="350"/>
                    </a:lnTo>
                    <a:lnTo>
                      <a:pt x="119" y="348"/>
                    </a:lnTo>
                    <a:lnTo>
                      <a:pt x="123" y="347"/>
                    </a:lnTo>
                    <a:lnTo>
                      <a:pt x="123" y="345"/>
                    </a:lnTo>
                    <a:lnTo>
                      <a:pt x="127" y="343"/>
                    </a:lnTo>
                    <a:lnTo>
                      <a:pt x="127" y="342"/>
                    </a:lnTo>
                    <a:lnTo>
                      <a:pt x="127" y="340"/>
                    </a:lnTo>
                    <a:lnTo>
                      <a:pt x="127" y="339"/>
                    </a:lnTo>
                    <a:lnTo>
                      <a:pt x="130" y="337"/>
                    </a:lnTo>
                    <a:lnTo>
                      <a:pt x="130" y="335"/>
                    </a:lnTo>
                    <a:lnTo>
                      <a:pt x="134" y="334"/>
                    </a:lnTo>
                    <a:lnTo>
                      <a:pt x="134" y="332"/>
                    </a:lnTo>
                    <a:lnTo>
                      <a:pt x="138" y="331"/>
                    </a:lnTo>
                    <a:lnTo>
                      <a:pt x="138" y="329"/>
                    </a:lnTo>
                    <a:lnTo>
                      <a:pt x="138" y="327"/>
                    </a:lnTo>
                    <a:lnTo>
                      <a:pt x="142" y="326"/>
                    </a:lnTo>
                    <a:lnTo>
                      <a:pt x="142" y="324"/>
                    </a:lnTo>
                    <a:lnTo>
                      <a:pt x="145" y="323"/>
                    </a:lnTo>
                    <a:lnTo>
                      <a:pt x="145" y="321"/>
                    </a:lnTo>
                    <a:lnTo>
                      <a:pt x="149" y="320"/>
                    </a:lnTo>
                    <a:lnTo>
                      <a:pt x="149" y="318"/>
                    </a:lnTo>
                    <a:lnTo>
                      <a:pt x="153" y="316"/>
                    </a:lnTo>
                    <a:lnTo>
                      <a:pt x="153" y="315"/>
                    </a:lnTo>
                    <a:lnTo>
                      <a:pt x="156" y="313"/>
                    </a:lnTo>
                    <a:lnTo>
                      <a:pt x="156" y="312"/>
                    </a:lnTo>
                    <a:lnTo>
                      <a:pt x="160" y="310"/>
                    </a:lnTo>
                    <a:lnTo>
                      <a:pt x="160" y="308"/>
                    </a:lnTo>
                    <a:lnTo>
                      <a:pt x="164" y="307"/>
                    </a:lnTo>
                    <a:lnTo>
                      <a:pt x="168" y="305"/>
                    </a:lnTo>
                    <a:lnTo>
                      <a:pt x="171" y="304"/>
                    </a:lnTo>
                    <a:lnTo>
                      <a:pt x="171" y="302"/>
                    </a:lnTo>
                    <a:lnTo>
                      <a:pt x="175" y="300"/>
                    </a:lnTo>
                    <a:lnTo>
                      <a:pt x="179" y="299"/>
                    </a:lnTo>
                    <a:lnTo>
                      <a:pt x="182" y="299"/>
                    </a:lnTo>
                    <a:lnTo>
                      <a:pt x="186" y="299"/>
                    </a:lnTo>
                    <a:lnTo>
                      <a:pt x="190" y="299"/>
                    </a:lnTo>
                    <a:lnTo>
                      <a:pt x="194" y="299"/>
                    </a:lnTo>
                    <a:lnTo>
                      <a:pt x="197" y="300"/>
                    </a:lnTo>
                    <a:lnTo>
                      <a:pt x="201" y="302"/>
                    </a:lnTo>
                    <a:lnTo>
                      <a:pt x="205" y="304"/>
                    </a:lnTo>
                    <a:lnTo>
                      <a:pt x="208" y="305"/>
                    </a:lnTo>
                    <a:lnTo>
                      <a:pt x="212" y="307"/>
                    </a:lnTo>
                    <a:lnTo>
                      <a:pt x="216" y="308"/>
                    </a:lnTo>
                    <a:lnTo>
                      <a:pt x="216" y="310"/>
                    </a:lnTo>
                    <a:lnTo>
                      <a:pt x="220" y="312"/>
                    </a:lnTo>
                    <a:lnTo>
                      <a:pt x="220" y="313"/>
                    </a:lnTo>
                    <a:lnTo>
                      <a:pt x="223" y="315"/>
                    </a:lnTo>
                    <a:lnTo>
                      <a:pt x="223" y="316"/>
                    </a:lnTo>
                    <a:lnTo>
                      <a:pt x="227" y="318"/>
                    </a:lnTo>
                    <a:lnTo>
                      <a:pt x="227" y="320"/>
                    </a:lnTo>
                    <a:lnTo>
                      <a:pt x="231" y="321"/>
                    </a:lnTo>
                    <a:lnTo>
                      <a:pt x="231" y="323"/>
                    </a:lnTo>
                    <a:lnTo>
                      <a:pt x="234" y="324"/>
                    </a:lnTo>
                    <a:lnTo>
                      <a:pt x="234" y="326"/>
                    </a:lnTo>
                    <a:lnTo>
                      <a:pt x="234" y="327"/>
                    </a:lnTo>
                    <a:lnTo>
                      <a:pt x="238" y="329"/>
                    </a:lnTo>
                    <a:lnTo>
                      <a:pt x="238" y="331"/>
                    </a:lnTo>
                    <a:lnTo>
                      <a:pt x="242" y="332"/>
                    </a:lnTo>
                    <a:lnTo>
                      <a:pt x="242" y="334"/>
                    </a:lnTo>
                    <a:lnTo>
                      <a:pt x="242" y="335"/>
                    </a:lnTo>
                    <a:lnTo>
                      <a:pt x="246" y="337"/>
                    </a:lnTo>
                    <a:lnTo>
                      <a:pt x="246" y="339"/>
                    </a:lnTo>
                    <a:lnTo>
                      <a:pt x="249" y="340"/>
                    </a:lnTo>
                    <a:lnTo>
                      <a:pt x="249" y="342"/>
                    </a:lnTo>
                    <a:lnTo>
                      <a:pt x="249" y="343"/>
                    </a:lnTo>
                    <a:lnTo>
                      <a:pt x="253" y="345"/>
                    </a:lnTo>
                    <a:lnTo>
                      <a:pt x="253" y="347"/>
                    </a:lnTo>
                    <a:lnTo>
                      <a:pt x="257" y="348"/>
                    </a:lnTo>
                    <a:lnTo>
                      <a:pt x="257" y="350"/>
                    </a:lnTo>
                    <a:lnTo>
                      <a:pt x="260" y="351"/>
                    </a:lnTo>
                    <a:lnTo>
                      <a:pt x="260" y="353"/>
                    </a:lnTo>
                    <a:lnTo>
                      <a:pt x="264" y="355"/>
                    </a:lnTo>
                    <a:lnTo>
                      <a:pt x="264" y="356"/>
                    </a:lnTo>
                    <a:lnTo>
                      <a:pt x="268" y="358"/>
                    </a:lnTo>
                    <a:lnTo>
                      <a:pt x="268" y="359"/>
                    </a:lnTo>
                    <a:lnTo>
                      <a:pt x="272" y="361"/>
                    </a:lnTo>
                    <a:lnTo>
                      <a:pt x="275" y="362"/>
                    </a:lnTo>
                    <a:lnTo>
                      <a:pt x="279" y="364"/>
                    </a:lnTo>
                    <a:lnTo>
                      <a:pt x="283" y="366"/>
                    </a:lnTo>
                    <a:lnTo>
                      <a:pt x="286" y="367"/>
                    </a:lnTo>
                    <a:lnTo>
                      <a:pt x="290" y="367"/>
                    </a:lnTo>
                    <a:lnTo>
                      <a:pt x="294" y="367"/>
                    </a:lnTo>
                    <a:lnTo>
                      <a:pt x="298" y="366"/>
                    </a:lnTo>
                    <a:lnTo>
                      <a:pt x="301" y="364"/>
                    </a:lnTo>
                    <a:lnTo>
                      <a:pt x="305" y="362"/>
                    </a:lnTo>
                    <a:lnTo>
                      <a:pt x="305" y="361"/>
                    </a:lnTo>
                    <a:lnTo>
                      <a:pt x="309" y="359"/>
                    </a:lnTo>
                    <a:lnTo>
                      <a:pt x="309" y="358"/>
                    </a:lnTo>
                    <a:lnTo>
                      <a:pt x="312" y="356"/>
                    </a:lnTo>
                    <a:lnTo>
                      <a:pt x="312" y="355"/>
                    </a:lnTo>
                    <a:lnTo>
                      <a:pt x="316" y="353"/>
                    </a:lnTo>
                    <a:lnTo>
                      <a:pt x="316" y="351"/>
                    </a:lnTo>
                    <a:lnTo>
                      <a:pt x="316" y="350"/>
                    </a:lnTo>
                    <a:lnTo>
                      <a:pt x="320" y="348"/>
                    </a:lnTo>
                    <a:lnTo>
                      <a:pt x="320" y="347"/>
                    </a:lnTo>
                    <a:lnTo>
                      <a:pt x="320" y="345"/>
                    </a:lnTo>
                    <a:lnTo>
                      <a:pt x="324" y="342"/>
                    </a:lnTo>
                    <a:lnTo>
                      <a:pt x="324" y="340"/>
                    </a:lnTo>
                    <a:lnTo>
                      <a:pt x="324" y="339"/>
                    </a:lnTo>
                    <a:lnTo>
                      <a:pt x="327" y="335"/>
                    </a:lnTo>
                    <a:lnTo>
                      <a:pt x="327" y="334"/>
                    </a:lnTo>
                    <a:lnTo>
                      <a:pt x="327" y="332"/>
                    </a:lnTo>
                    <a:lnTo>
                      <a:pt x="331" y="329"/>
                    </a:lnTo>
                    <a:lnTo>
                      <a:pt x="331" y="327"/>
                    </a:lnTo>
                    <a:lnTo>
                      <a:pt x="331" y="324"/>
                    </a:lnTo>
                    <a:lnTo>
                      <a:pt x="335" y="321"/>
                    </a:lnTo>
                    <a:lnTo>
                      <a:pt x="335" y="320"/>
                    </a:lnTo>
                    <a:lnTo>
                      <a:pt x="335" y="316"/>
                    </a:lnTo>
                    <a:lnTo>
                      <a:pt x="338" y="313"/>
                    </a:lnTo>
                    <a:lnTo>
                      <a:pt x="338" y="310"/>
                    </a:lnTo>
                    <a:lnTo>
                      <a:pt x="338" y="307"/>
                    </a:lnTo>
                    <a:lnTo>
                      <a:pt x="342" y="305"/>
                    </a:lnTo>
                    <a:lnTo>
                      <a:pt x="342" y="302"/>
                    </a:lnTo>
                    <a:lnTo>
                      <a:pt x="342" y="299"/>
                    </a:lnTo>
                    <a:lnTo>
                      <a:pt x="346" y="296"/>
                    </a:lnTo>
                    <a:lnTo>
                      <a:pt x="346" y="292"/>
                    </a:lnTo>
                    <a:lnTo>
                      <a:pt x="346" y="288"/>
                    </a:lnTo>
                    <a:lnTo>
                      <a:pt x="350" y="285"/>
                    </a:lnTo>
                    <a:lnTo>
                      <a:pt x="350" y="281"/>
                    </a:lnTo>
                    <a:lnTo>
                      <a:pt x="350" y="278"/>
                    </a:lnTo>
                    <a:lnTo>
                      <a:pt x="353" y="275"/>
                    </a:lnTo>
                    <a:lnTo>
                      <a:pt x="353" y="270"/>
                    </a:lnTo>
                    <a:lnTo>
                      <a:pt x="353" y="267"/>
                    </a:lnTo>
                    <a:lnTo>
                      <a:pt x="357" y="262"/>
                    </a:lnTo>
                    <a:lnTo>
                      <a:pt x="357" y="259"/>
                    </a:lnTo>
                    <a:lnTo>
                      <a:pt x="357" y="256"/>
                    </a:lnTo>
                    <a:lnTo>
                      <a:pt x="361" y="251"/>
                    </a:lnTo>
                    <a:lnTo>
                      <a:pt x="361" y="248"/>
                    </a:lnTo>
                    <a:lnTo>
                      <a:pt x="361" y="243"/>
                    </a:lnTo>
                    <a:lnTo>
                      <a:pt x="364" y="238"/>
                    </a:lnTo>
                    <a:lnTo>
                      <a:pt x="364" y="235"/>
                    </a:lnTo>
                    <a:lnTo>
                      <a:pt x="364" y="230"/>
                    </a:lnTo>
                    <a:lnTo>
                      <a:pt x="368" y="227"/>
                    </a:lnTo>
                    <a:lnTo>
                      <a:pt x="368" y="222"/>
                    </a:lnTo>
                    <a:lnTo>
                      <a:pt x="368" y="218"/>
                    </a:lnTo>
                    <a:lnTo>
                      <a:pt x="372" y="213"/>
                    </a:lnTo>
                    <a:lnTo>
                      <a:pt x="372" y="210"/>
                    </a:lnTo>
                    <a:lnTo>
                      <a:pt x="372" y="205"/>
                    </a:lnTo>
                    <a:lnTo>
                      <a:pt x="372" y="200"/>
                    </a:lnTo>
                    <a:lnTo>
                      <a:pt x="376" y="195"/>
                    </a:lnTo>
                    <a:lnTo>
                      <a:pt x="376" y="191"/>
                    </a:lnTo>
                    <a:lnTo>
                      <a:pt x="376" y="187"/>
                    </a:lnTo>
                    <a:lnTo>
                      <a:pt x="379" y="183"/>
                    </a:lnTo>
                    <a:lnTo>
                      <a:pt x="379" y="178"/>
                    </a:lnTo>
                    <a:lnTo>
                      <a:pt x="379" y="173"/>
                    </a:lnTo>
                    <a:lnTo>
                      <a:pt x="383" y="168"/>
                    </a:lnTo>
                    <a:lnTo>
                      <a:pt x="383" y="164"/>
                    </a:lnTo>
                    <a:lnTo>
                      <a:pt x="383" y="159"/>
                    </a:lnTo>
                    <a:lnTo>
                      <a:pt x="387" y="154"/>
                    </a:lnTo>
                    <a:lnTo>
                      <a:pt x="387" y="149"/>
                    </a:lnTo>
                    <a:lnTo>
                      <a:pt x="387" y="145"/>
                    </a:lnTo>
                    <a:lnTo>
                      <a:pt x="390" y="140"/>
                    </a:lnTo>
                    <a:lnTo>
                      <a:pt x="390" y="135"/>
                    </a:lnTo>
                    <a:lnTo>
                      <a:pt x="390" y="132"/>
                    </a:lnTo>
                    <a:lnTo>
                      <a:pt x="394" y="127"/>
                    </a:lnTo>
                    <a:lnTo>
                      <a:pt x="394" y="122"/>
                    </a:lnTo>
                    <a:lnTo>
                      <a:pt x="394" y="117"/>
                    </a:lnTo>
                    <a:lnTo>
                      <a:pt x="398" y="113"/>
                    </a:lnTo>
                    <a:lnTo>
                      <a:pt x="398" y="108"/>
                    </a:lnTo>
                    <a:lnTo>
                      <a:pt x="398" y="103"/>
                    </a:lnTo>
                    <a:lnTo>
                      <a:pt x="402" y="98"/>
                    </a:lnTo>
                    <a:lnTo>
                      <a:pt x="402" y="94"/>
                    </a:lnTo>
                    <a:lnTo>
                      <a:pt x="402" y="89"/>
                    </a:lnTo>
                    <a:lnTo>
                      <a:pt x="405" y="84"/>
                    </a:lnTo>
                    <a:lnTo>
                      <a:pt x="405" y="79"/>
                    </a:lnTo>
                    <a:lnTo>
                      <a:pt x="405" y="76"/>
                    </a:lnTo>
                    <a:lnTo>
                      <a:pt x="409" y="71"/>
                    </a:lnTo>
                    <a:lnTo>
                      <a:pt x="409" y="67"/>
                    </a:lnTo>
                    <a:lnTo>
                      <a:pt x="409" y="62"/>
                    </a:lnTo>
                    <a:lnTo>
                      <a:pt x="413" y="57"/>
                    </a:lnTo>
                    <a:lnTo>
                      <a:pt x="413" y="52"/>
                    </a:lnTo>
                    <a:lnTo>
                      <a:pt x="413" y="49"/>
                    </a:lnTo>
                    <a:lnTo>
                      <a:pt x="416" y="44"/>
                    </a:lnTo>
                    <a:lnTo>
                      <a:pt x="416" y="39"/>
                    </a:lnTo>
                    <a:lnTo>
                      <a:pt x="416" y="36"/>
                    </a:lnTo>
                    <a:lnTo>
                      <a:pt x="420" y="32"/>
                    </a:lnTo>
                    <a:lnTo>
                      <a:pt x="420" y="27"/>
                    </a:lnTo>
                    <a:lnTo>
                      <a:pt x="420" y="24"/>
                    </a:lnTo>
                    <a:lnTo>
                      <a:pt x="424" y="19"/>
                    </a:lnTo>
                    <a:lnTo>
                      <a:pt x="424" y="16"/>
                    </a:lnTo>
                    <a:lnTo>
                      <a:pt x="424" y="11"/>
                    </a:lnTo>
                    <a:lnTo>
                      <a:pt x="428" y="8"/>
                    </a:lnTo>
                    <a:lnTo>
                      <a:pt x="428" y="3"/>
                    </a:lnTo>
                    <a:lnTo>
                      <a:pt x="428" y="0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7" name="Freeform 11"/>
              <p:cNvSpPr>
                <a:spLocks/>
              </p:cNvSpPr>
              <p:nvPr/>
            </p:nvSpPr>
            <p:spPr bwMode="auto">
              <a:xfrm>
                <a:off x="3489" y="2252"/>
                <a:ext cx="372" cy="236"/>
              </a:xfrm>
              <a:custGeom>
                <a:avLst/>
                <a:gdLst>
                  <a:gd name="T0" fmla="*/ 3 w 372"/>
                  <a:gd name="T1" fmla="*/ 91 h 236"/>
                  <a:gd name="T2" fmla="*/ 11 w 372"/>
                  <a:gd name="T3" fmla="*/ 76 h 236"/>
                  <a:gd name="T4" fmla="*/ 14 w 372"/>
                  <a:gd name="T5" fmla="*/ 64 h 236"/>
                  <a:gd name="T6" fmla="*/ 18 w 372"/>
                  <a:gd name="T7" fmla="*/ 52 h 236"/>
                  <a:gd name="T8" fmla="*/ 26 w 372"/>
                  <a:gd name="T9" fmla="*/ 41 h 236"/>
                  <a:gd name="T10" fmla="*/ 29 w 372"/>
                  <a:gd name="T11" fmla="*/ 32 h 236"/>
                  <a:gd name="T12" fmla="*/ 33 w 372"/>
                  <a:gd name="T13" fmla="*/ 24 h 236"/>
                  <a:gd name="T14" fmla="*/ 40 w 372"/>
                  <a:gd name="T15" fmla="*/ 17 h 236"/>
                  <a:gd name="T16" fmla="*/ 44 w 372"/>
                  <a:gd name="T17" fmla="*/ 11 h 236"/>
                  <a:gd name="T18" fmla="*/ 52 w 372"/>
                  <a:gd name="T19" fmla="*/ 5 h 236"/>
                  <a:gd name="T20" fmla="*/ 66 w 372"/>
                  <a:gd name="T21" fmla="*/ 0 h 236"/>
                  <a:gd name="T22" fmla="*/ 81 w 372"/>
                  <a:gd name="T23" fmla="*/ 5 h 236"/>
                  <a:gd name="T24" fmla="*/ 92 w 372"/>
                  <a:gd name="T25" fmla="*/ 11 h 236"/>
                  <a:gd name="T26" fmla="*/ 100 w 372"/>
                  <a:gd name="T27" fmla="*/ 17 h 236"/>
                  <a:gd name="T28" fmla="*/ 104 w 372"/>
                  <a:gd name="T29" fmla="*/ 24 h 236"/>
                  <a:gd name="T30" fmla="*/ 111 w 372"/>
                  <a:gd name="T31" fmla="*/ 30 h 236"/>
                  <a:gd name="T32" fmla="*/ 118 w 372"/>
                  <a:gd name="T33" fmla="*/ 36 h 236"/>
                  <a:gd name="T34" fmla="*/ 122 w 372"/>
                  <a:gd name="T35" fmla="*/ 43 h 236"/>
                  <a:gd name="T36" fmla="*/ 130 w 372"/>
                  <a:gd name="T37" fmla="*/ 49 h 236"/>
                  <a:gd name="T38" fmla="*/ 137 w 372"/>
                  <a:gd name="T39" fmla="*/ 56 h 236"/>
                  <a:gd name="T40" fmla="*/ 148 w 372"/>
                  <a:gd name="T41" fmla="*/ 62 h 236"/>
                  <a:gd name="T42" fmla="*/ 163 w 372"/>
                  <a:gd name="T43" fmla="*/ 68 h 236"/>
                  <a:gd name="T44" fmla="*/ 178 w 372"/>
                  <a:gd name="T45" fmla="*/ 67 h 236"/>
                  <a:gd name="T46" fmla="*/ 193 w 372"/>
                  <a:gd name="T47" fmla="*/ 60 h 236"/>
                  <a:gd name="T48" fmla="*/ 200 w 372"/>
                  <a:gd name="T49" fmla="*/ 54 h 236"/>
                  <a:gd name="T50" fmla="*/ 208 w 372"/>
                  <a:gd name="T51" fmla="*/ 48 h 236"/>
                  <a:gd name="T52" fmla="*/ 215 w 372"/>
                  <a:gd name="T53" fmla="*/ 41 h 236"/>
                  <a:gd name="T54" fmla="*/ 219 w 372"/>
                  <a:gd name="T55" fmla="*/ 35 h 236"/>
                  <a:gd name="T56" fmla="*/ 226 w 372"/>
                  <a:gd name="T57" fmla="*/ 29 h 236"/>
                  <a:gd name="T58" fmla="*/ 234 w 372"/>
                  <a:gd name="T59" fmla="*/ 22 h 236"/>
                  <a:gd name="T60" fmla="*/ 241 w 372"/>
                  <a:gd name="T61" fmla="*/ 16 h 236"/>
                  <a:gd name="T62" fmla="*/ 248 w 372"/>
                  <a:gd name="T63" fmla="*/ 9 h 236"/>
                  <a:gd name="T64" fmla="*/ 260 w 372"/>
                  <a:gd name="T65" fmla="*/ 3 h 236"/>
                  <a:gd name="T66" fmla="*/ 274 w 372"/>
                  <a:gd name="T67" fmla="*/ 0 h 236"/>
                  <a:gd name="T68" fmla="*/ 289 w 372"/>
                  <a:gd name="T69" fmla="*/ 6 h 236"/>
                  <a:gd name="T70" fmla="*/ 293 w 372"/>
                  <a:gd name="T71" fmla="*/ 13 h 236"/>
                  <a:gd name="T72" fmla="*/ 300 w 372"/>
                  <a:gd name="T73" fmla="*/ 19 h 236"/>
                  <a:gd name="T74" fmla="*/ 304 w 372"/>
                  <a:gd name="T75" fmla="*/ 27 h 236"/>
                  <a:gd name="T76" fmla="*/ 308 w 372"/>
                  <a:gd name="T77" fmla="*/ 35 h 236"/>
                  <a:gd name="T78" fmla="*/ 312 w 372"/>
                  <a:gd name="T79" fmla="*/ 44 h 236"/>
                  <a:gd name="T80" fmla="*/ 319 w 372"/>
                  <a:gd name="T81" fmla="*/ 56 h 236"/>
                  <a:gd name="T82" fmla="*/ 323 w 372"/>
                  <a:gd name="T83" fmla="*/ 68 h 236"/>
                  <a:gd name="T84" fmla="*/ 327 w 372"/>
                  <a:gd name="T85" fmla="*/ 81 h 236"/>
                  <a:gd name="T86" fmla="*/ 334 w 372"/>
                  <a:gd name="T87" fmla="*/ 95 h 236"/>
                  <a:gd name="T88" fmla="*/ 338 w 372"/>
                  <a:gd name="T89" fmla="*/ 111 h 236"/>
                  <a:gd name="T90" fmla="*/ 341 w 372"/>
                  <a:gd name="T91" fmla="*/ 127 h 236"/>
                  <a:gd name="T92" fmla="*/ 349 w 372"/>
                  <a:gd name="T93" fmla="*/ 143 h 236"/>
                  <a:gd name="T94" fmla="*/ 353 w 372"/>
                  <a:gd name="T95" fmla="*/ 161 h 236"/>
                  <a:gd name="T96" fmla="*/ 356 w 372"/>
                  <a:gd name="T97" fmla="*/ 178 h 236"/>
                  <a:gd name="T98" fmla="*/ 364 w 372"/>
                  <a:gd name="T99" fmla="*/ 197 h 236"/>
                  <a:gd name="T100" fmla="*/ 367 w 372"/>
                  <a:gd name="T101" fmla="*/ 216 h 236"/>
                  <a:gd name="T102" fmla="*/ 371 w 372"/>
                  <a:gd name="T103" fmla="*/ 235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72" h="236">
                    <a:moveTo>
                      <a:pt x="0" y="102"/>
                    </a:moveTo>
                    <a:lnTo>
                      <a:pt x="3" y="99"/>
                    </a:lnTo>
                    <a:lnTo>
                      <a:pt x="3" y="94"/>
                    </a:lnTo>
                    <a:lnTo>
                      <a:pt x="3" y="91"/>
                    </a:lnTo>
                    <a:lnTo>
                      <a:pt x="7" y="87"/>
                    </a:lnTo>
                    <a:lnTo>
                      <a:pt x="7" y="83"/>
                    </a:lnTo>
                    <a:lnTo>
                      <a:pt x="7" y="79"/>
                    </a:lnTo>
                    <a:lnTo>
                      <a:pt x="11" y="76"/>
                    </a:lnTo>
                    <a:lnTo>
                      <a:pt x="11" y="73"/>
                    </a:lnTo>
                    <a:lnTo>
                      <a:pt x="11" y="70"/>
                    </a:lnTo>
                    <a:lnTo>
                      <a:pt x="14" y="67"/>
                    </a:lnTo>
                    <a:lnTo>
                      <a:pt x="14" y="64"/>
                    </a:lnTo>
                    <a:lnTo>
                      <a:pt x="14" y="60"/>
                    </a:lnTo>
                    <a:lnTo>
                      <a:pt x="18" y="57"/>
                    </a:lnTo>
                    <a:lnTo>
                      <a:pt x="18" y="54"/>
                    </a:lnTo>
                    <a:lnTo>
                      <a:pt x="18" y="52"/>
                    </a:lnTo>
                    <a:lnTo>
                      <a:pt x="22" y="49"/>
                    </a:lnTo>
                    <a:lnTo>
                      <a:pt x="22" y="46"/>
                    </a:lnTo>
                    <a:lnTo>
                      <a:pt x="22" y="44"/>
                    </a:lnTo>
                    <a:lnTo>
                      <a:pt x="26" y="41"/>
                    </a:lnTo>
                    <a:lnTo>
                      <a:pt x="26" y="38"/>
                    </a:lnTo>
                    <a:lnTo>
                      <a:pt x="26" y="36"/>
                    </a:lnTo>
                    <a:lnTo>
                      <a:pt x="29" y="33"/>
                    </a:lnTo>
                    <a:lnTo>
                      <a:pt x="29" y="32"/>
                    </a:lnTo>
                    <a:lnTo>
                      <a:pt x="29" y="30"/>
                    </a:lnTo>
                    <a:lnTo>
                      <a:pt x="33" y="27"/>
                    </a:lnTo>
                    <a:lnTo>
                      <a:pt x="33" y="25"/>
                    </a:lnTo>
                    <a:lnTo>
                      <a:pt x="33" y="24"/>
                    </a:lnTo>
                    <a:lnTo>
                      <a:pt x="37" y="22"/>
                    </a:lnTo>
                    <a:lnTo>
                      <a:pt x="37" y="21"/>
                    </a:lnTo>
                    <a:lnTo>
                      <a:pt x="37" y="19"/>
                    </a:lnTo>
                    <a:lnTo>
                      <a:pt x="40" y="17"/>
                    </a:lnTo>
                    <a:lnTo>
                      <a:pt x="40" y="16"/>
                    </a:lnTo>
                    <a:lnTo>
                      <a:pt x="40" y="14"/>
                    </a:lnTo>
                    <a:lnTo>
                      <a:pt x="44" y="13"/>
                    </a:lnTo>
                    <a:lnTo>
                      <a:pt x="44" y="11"/>
                    </a:lnTo>
                    <a:lnTo>
                      <a:pt x="44" y="9"/>
                    </a:lnTo>
                    <a:lnTo>
                      <a:pt x="48" y="8"/>
                    </a:lnTo>
                    <a:lnTo>
                      <a:pt x="52" y="6"/>
                    </a:lnTo>
                    <a:lnTo>
                      <a:pt x="52" y="5"/>
                    </a:lnTo>
                    <a:lnTo>
                      <a:pt x="55" y="3"/>
                    </a:lnTo>
                    <a:lnTo>
                      <a:pt x="59" y="1"/>
                    </a:lnTo>
                    <a:lnTo>
                      <a:pt x="63" y="0"/>
                    </a:lnTo>
                    <a:lnTo>
                      <a:pt x="66" y="0"/>
                    </a:lnTo>
                    <a:lnTo>
                      <a:pt x="70" y="0"/>
                    </a:lnTo>
                    <a:lnTo>
                      <a:pt x="74" y="1"/>
                    </a:lnTo>
                    <a:lnTo>
                      <a:pt x="78" y="3"/>
                    </a:lnTo>
                    <a:lnTo>
                      <a:pt x="81" y="5"/>
                    </a:lnTo>
                    <a:lnTo>
                      <a:pt x="85" y="6"/>
                    </a:lnTo>
                    <a:lnTo>
                      <a:pt x="85" y="8"/>
                    </a:lnTo>
                    <a:lnTo>
                      <a:pt x="89" y="9"/>
                    </a:lnTo>
                    <a:lnTo>
                      <a:pt x="92" y="11"/>
                    </a:lnTo>
                    <a:lnTo>
                      <a:pt x="92" y="13"/>
                    </a:lnTo>
                    <a:lnTo>
                      <a:pt x="96" y="14"/>
                    </a:lnTo>
                    <a:lnTo>
                      <a:pt x="96" y="16"/>
                    </a:lnTo>
                    <a:lnTo>
                      <a:pt x="100" y="17"/>
                    </a:lnTo>
                    <a:lnTo>
                      <a:pt x="100" y="19"/>
                    </a:lnTo>
                    <a:lnTo>
                      <a:pt x="100" y="21"/>
                    </a:lnTo>
                    <a:lnTo>
                      <a:pt x="104" y="22"/>
                    </a:lnTo>
                    <a:lnTo>
                      <a:pt x="104" y="24"/>
                    </a:lnTo>
                    <a:lnTo>
                      <a:pt x="107" y="25"/>
                    </a:lnTo>
                    <a:lnTo>
                      <a:pt x="107" y="27"/>
                    </a:lnTo>
                    <a:lnTo>
                      <a:pt x="111" y="29"/>
                    </a:lnTo>
                    <a:lnTo>
                      <a:pt x="111" y="30"/>
                    </a:lnTo>
                    <a:lnTo>
                      <a:pt x="111" y="32"/>
                    </a:lnTo>
                    <a:lnTo>
                      <a:pt x="115" y="33"/>
                    </a:lnTo>
                    <a:lnTo>
                      <a:pt x="115" y="35"/>
                    </a:lnTo>
                    <a:lnTo>
                      <a:pt x="118" y="36"/>
                    </a:lnTo>
                    <a:lnTo>
                      <a:pt x="118" y="38"/>
                    </a:lnTo>
                    <a:lnTo>
                      <a:pt x="118" y="40"/>
                    </a:lnTo>
                    <a:lnTo>
                      <a:pt x="122" y="41"/>
                    </a:lnTo>
                    <a:lnTo>
                      <a:pt x="122" y="43"/>
                    </a:lnTo>
                    <a:lnTo>
                      <a:pt x="126" y="44"/>
                    </a:lnTo>
                    <a:lnTo>
                      <a:pt x="126" y="46"/>
                    </a:lnTo>
                    <a:lnTo>
                      <a:pt x="130" y="48"/>
                    </a:lnTo>
                    <a:lnTo>
                      <a:pt x="130" y="49"/>
                    </a:lnTo>
                    <a:lnTo>
                      <a:pt x="133" y="51"/>
                    </a:lnTo>
                    <a:lnTo>
                      <a:pt x="133" y="52"/>
                    </a:lnTo>
                    <a:lnTo>
                      <a:pt x="137" y="54"/>
                    </a:lnTo>
                    <a:lnTo>
                      <a:pt x="137" y="56"/>
                    </a:lnTo>
                    <a:lnTo>
                      <a:pt x="141" y="57"/>
                    </a:lnTo>
                    <a:lnTo>
                      <a:pt x="141" y="59"/>
                    </a:lnTo>
                    <a:lnTo>
                      <a:pt x="144" y="60"/>
                    </a:lnTo>
                    <a:lnTo>
                      <a:pt x="148" y="62"/>
                    </a:lnTo>
                    <a:lnTo>
                      <a:pt x="152" y="64"/>
                    </a:lnTo>
                    <a:lnTo>
                      <a:pt x="156" y="65"/>
                    </a:lnTo>
                    <a:lnTo>
                      <a:pt x="159" y="67"/>
                    </a:lnTo>
                    <a:lnTo>
                      <a:pt x="163" y="68"/>
                    </a:lnTo>
                    <a:lnTo>
                      <a:pt x="167" y="68"/>
                    </a:lnTo>
                    <a:lnTo>
                      <a:pt x="170" y="68"/>
                    </a:lnTo>
                    <a:lnTo>
                      <a:pt x="174" y="68"/>
                    </a:lnTo>
                    <a:lnTo>
                      <a:pt x="178" y="67"/>
                    </a:lnTo>
                    <a:lnTo>
                      <a:pt x="182" y="65"/>
                    </a:lnTo>
                    <a:lnTo>
                      <a:pt x="185" y="64"/>
                    </a:lnTo>
                    <a:lnTo>
                      <a:pt x="189" y="62"/>
                    </a:lnTo>
                    <a:lnTo>
                      <a:pt x="193" y="60"/>
                    </a:lnTo>
                    <a:lnTo>
                      <a:pt x="193" y="59"/>
                    </a:lnTo>
                    <a:lnTo>
                      <a:pt x="196" y="57"/>
                    </a:lnTo>
                    <a:lnTo>
                      <a:pt x="200" y="56"/>
                    </a:lnTo>
                    <a:lnTo>
                      <a:pt x="200" y="54"/>
                    </a:lnTo>
                    <a:lnTo>
                      <a:pt x="204" y="52"/>
                    </a:lnTo>
                    <a:lnTo>
                      <a:pt x="204" y="51"/>
                    </a:lnTo>
                    <a:lnTo>
                      <a:pt x="208" y="49"/>
                    </a:lnTo>
                    <a:lnTo>
                      <a:pt x="208" y="48"/>
                    </a:lnTo>
                    <a:lnTo>
                      <a:pt x="208" y="46"/>
                    </a:lnTo>
                    <a:lnTo>
                      <a:pt x="211" y="44"/>
                    </a:lnTo>
                    <a:lnTo>
                      <a:pt x="211" y="43"/>
                    </a:lnTo>
                    <a:lnTo>
                      <a:pt x="215" y="41"/>
                    </a:lnTo>
                    <a:lnTo>
                      <a:pt x="215" y="40"/>
                    </a:lnTo>
                    <a:lnTo>
                      <a:pt x="219" y="38"/>
                    </a:lnTo>
                    <a:lnTo>
                      <a:pt x="219" y="36"/>
                    </a:lnTo>
                    <a:lnTo>
                      <a:pt x="219" y="35"/>
                    </a:lnTo>
                    <a:lnTo>
                      <a:pt x="222" y="33"/>
                    </a:lnTo>
                    <a:lnTo>
                      <a:pt x="222" y="32"/>
                    </a:lnTo>
                    <a:lnTo>
                      <a:pt x="226" y="30"/>
                    </a:lnTo>
                    <a:lnTo>
                      <a:pt x="226" y="29"/>
                    </a:lnTo>
                    <a:lnTo>
                      <a:pt x="226" y="27"/>
                    </a:lnTo>
                    <a:lnTo>
                      <a:pt x="230" y="25"/>
                    </a:lnTo>
                    <a:lnTo>
                      <a:pt x="230" y="24"/>
                    </a:lnTo>
                    <a:lnTo>
                      <a:pt x="234" y="22"/>
                    </a:lnTo>
                    <a:lnTo>
                      <a:pt x="234" y="21"/>
                    </a:lnTo>
                    <a:lnTo>
                      <a:pt x="237" y="19"/>
                    </a:lnTo>
                    <a:lnTo>
                      <a:pt x="237" y="17"/>
                    </a:lnTo>
                    <a:lnTo>
                      <a:pt x="241" y="16"/>
                    </a:lnTo>
                    <a:lnTo>
                      <a:pt x="241" y="14"/>
                    </a:lnTo>
                    <a:lnTo>
                      <a:pt x="245" y="13"/>
                    </a:lnTo>
                    <a:lnTo>
                      <a:pt x="245" y="11"/>
                    </a:lnTo>
                    <a:lnTo>
                      <a:pt x="248" y="9"/>
                    </a:lnTo>
                    <a:lnTo>
                      <a:pt x="248" y="8"/>
                    </a:lnTo>
                    <a:lnTo>
                      <a:pt x="252" y="6"/>
                    </a:lnTo>
                    <a:lnTo>
                      <a:pt x="256" y="5"/>
                    </a:lnTo>
                    <a:lnTo>
                      <a:pt x="260" y="3"/>
                    </a:lnTo>
                    <a:lnTo>
                      <a:pt x="263" y="1"/>
                    </a:lnTo>
                    <a:lnTo>
                      <a:pt x="267" y="0"/>
                    </a:lnTo>
                    <a:lnTo>
                      <a:pt x="271" y="0"/>
                    </a:lnTo>
                    <a:lnTo>
                      <a:pt x="274" y="0"/>
                    </a:lnTo>
                    <a:lnTo>
                      <a:pt x="278" y="1"/>
                    </a:lnTo>
                    <a:lnTo>
                      <a:pt x="282" y="3"/>
                    </a:lnTo>
                    <a:lnTo>
                      <a:pt x="286" y="5"/>
                    </a:lnTo>
                    <a:lnTo>
                      <a:pt x="289" y="6"/>
                    </a:lnTo>
                    <a:lnTo>
                      <a:pt x="289" y="8"/>
                    </a:lnTo>
                    <a:lnTo>
                      <a:pt x="293" y="9"/>
                    </a:lnTo>
                    <a:lnTo>
                      <a:pt x="293" y="11"/>
                    </a:lnTo>
                    <a:lnTo>
                      <a:pt x="293" y="13"/>
                    </a:lnTo>
                    <a:lnTo>
                      <a:pt x="297" y="14"/>
                    </a:lnTo>
                    <a:lnTo>
                      <a:pt x="297" y="16"/>
                    </a:lnTo>
                    <a:lnTo>
                      <a:pt x="297" y="17"/>
                    </a:lnTo>
                    <a:lnTo>
                      <a:pt x="300" y="19"/>
                    </a:lnTo>
                    <a:lnTo>
                      <a:pt x="300" y="21"/>
                    </a:lnTo>
                    <a:lnTo>
                      <a:pt x="300" y="22"/>
                    </a:lnTo>
                    <a:lnTo>
                      <a:pt x="304" y="24"/>
                    </a:lnTo>
                    <a:lnTo>
                      <a:pt x="304" y="27"/>
                    </a:lnTo>
                    <a:lnTo>
                      <a:pt x="304" y="29"/>
                    </a:lnTo>
                    <a:lnTo>
                      <a:pt x="308" y="30"/>
                    </a:lnTo>
                    <a:lnTo>
                      <a:pt x="308" y="33"/>
                    </a:lnTo>
                    <a:lnTo>
                      <a:pt x="308" y="35"/>
                    </a:lnTo>
                    <a:lnTo>
                      <a:pt x="312" y="36"/>
                    </a:lnTo>
                    <a:lnTo>
                      <a:pt x="312" y="40"/>
                    </a:lnTo>
                    <a:lnTo>
                      <a:pt x="312" y="41"/>
                    </a:lnTo>
                    <a:lnTo>
                      <a:pt x="312" y="44"/>
                    </a:lnTo>
                    <a:lnTo>
                      <a:pt x="315" y="48"/>
                    </a:lnTo>
                    <a:lnTo>
                      <a:pt x="315" y="49"/>
                    </a:lnTo>
                    <a:lnTo>
                      <a:pt x="315" y="52"/>
                    </a:lnTo>
                    <a:lnTo>
                      <a:pt x="319" y="56"/>
                    </a:lnTo>
                    <a:lnTo>
                      <a:pt x="319" y="59"/>
                    </a:lnTo>
                    <a:lnTo>
                      <a:pt x="319" y="62"/>
                    </a:lnTo>
                    <a:lnTo>
                      <a:pt x="323" y="65"/>
                    </a:lnTo>
                    <a:lnTo>
                      <a:pt x="323" y="68"/>
                    </a:lnTo>
                    <a:lnTo>
                      <a:pt x="323" y="71"/>
                    </a:lnTo>
                    <a:lnTo>
                      <a:pt x="327" y="75"/>
                    </a:lnTo>
                    <a:lnTo>
                      <a:pt x="327" y="78"/>
                    </a:lnTo>
                    <a:lnTo>
                      <a:pt x="327" y="81"/>
                    </a:lnTo>
                    <a:lnTo>
                      <a:pt x="330" y="84"/>
                    </a:lnTo>
                    <a:lnTo>
                      <a:pt x="330" y="87"/>
                    </a:lnTo>
                    <a:lnTo>
                      <a:pt x="330" y="92"/>
                    </a:lnTo>
                    <a:lnTo>
                      <a:pt x="334" y="95"/>
                    </a:lnTo>
                    <a:lnTo>
                      <a:pt x="334" y="99"/>
                    </a:lnTo>
                    <a:lnTo>
                      <a:pt x="334" y="103"/>
                    </a:lnTo>
                    <a:lnTo>
                      <a:pt x="338" y="106"/>
                    </a:lnTo>
                    <a:lnTo>
                      <a:pt x="338" y="111"/>
                    </a:lnTo>
                    <a:lnTo>
                      <a:pt x="338" y="114"/>
                    </a:lnTo>
                    <a:lnTo>
                      <a:pt x="341" y="119"/>
                    </a:lnTo>
                    <a:lnTo>
                      <a:pt x="341" y="122"/>
                    </a:lnTo>
                    <a:lnTo>
                      <a:pt x="341" y="127"/>
                    </a:lnTo>
                    <a:lnTo>
                      <a:pt x="345" y="130"/>
                    </a:lnTo>
                    <a:lnTo>
                      <a:pt x="345" y="135"/>
                    </a:lnTo>
                    <a:lnTo>
                      <a:pt x="345" y="140"/>
                    </a:lnTo>
                    <a:lnTo>
                      <a:pt x="349" y="143"/>
                    </a:lnTo>
                    <a:lnTo>
                      <a:pt x="349" y="148"/>
                    </a:lnTo>
                    <a:lnTo>
                      <a:pt x="349" y="153"/>
                    </a:lnTo>
                    <a:lnTo>
                      <a:pt x="353" y="156"/>
                    </a:lnTo>
                    <a:lnTo>
                      <a:pt x="353" y="161"/>
                    </a:lnTo>
                    <a:lnTo>
                      <a:pt x="353" y="165"/>
                    </a:lnTo>
                    <a:lnTo>
                      <a:pt x="356" y="170"/>
                    </a:lnTo>
                    <a:lnTo>
                      <a:pt x="356" y="175"/>
                    </a:lnTo>
                    <a:lnTo>
                      <a:pt x="356" y="178"/>
                    </a:lnTo>
                    <a:lnTo>
                      <a:pt x="360" y="183"/>
                    </a:lnTo>
                    <a:lnTo>
                      <a:pt x="360" y="188"/>
                    </a:lnTo>
                    <a:lnTo>
                      <a:pt x="360" y="192"/>
                    </a:lnTo>
                    <a:lnTo>
                      <a:pt x="364" y="197"/>
                    </a:lnTo>
                    <a:lnTo>
                      <a:pt x="364" y="202"/>
                    </a:lnTo>
                    <a:lnTo>
                      <a:pt x="364" y="207"/>
                    </a:lnTo>
                    <a:lnTo>
                      <a:pt x="367" y="211"/>
                    </a:lnTo>
                    <a:lnTo>
                      <a:pt x="367" y="216"/>
                    </a:lnTo>
                    <a:lnTo>
                      <a:pt x="367" y="221"/>
                    </a:lnTo>
                    <a:lnTo>
                      <a:pt x="371" y="226"/>
                    </a:lnTo>
                    <a:lnTo>
                      <a:pt x="371" y="231"/>
                    </a:lnTo>
                    <a:lnTo>
                      <a:pt x="371" y="235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7" name="Rectangle 51"/>
            <p:cNvSpPr>
              <a:spLocks noChangeArrowheads="1"/>
            </p:cNvSpPr>
            <p:nvPr/>
          </p:nvSpPr>
          <p:spPr bwMode="auto">
            <a:xfrm>
              <a:off x="8388352" y="3338509"/>
              <a:ext cx="442913" cy="369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038" rIns="0" bIns="46038">
              <a:spAutoFit/>
            </a:bodyPr>
            <a:lstStyle/>
            <a:p>
              <a:r>
                <a:rPr lang="en-US" altLang="en-US" sz="1800" dirty="0">
                  <a:latin typeface="Arial" charset="0"/>
                </a:rPr>
                <a:t>A+B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DD46B62-C896-F650-7A6D-15E17BF32F35}"/>
              </a:ext>
            </a:extLst>
          </p:cNvPr>
          <p:cNvGrpSpPr/>
          <p:nvPr/>
        </p:nvGrpSpPr>
        <p:grpSpPr>
          <a:xfrm>
            <a:off x="152403" y="4103689"/>
            <a:ext cx="4438652" cy="379413"/>
            <a:chOff x="152403" y="4103689"/>
            <a:chExt cx="4438652" cy="379413"/>
          </a:xfrm>
        </p:grpSpPr>
        <p:sp>
          <p:nvSpPr>
            <p:cNvPr id="14360" name="Rectangle 24"/>
            <p:cNvSpPr>
              <a:spLocks noChangeArrowheads="1"/>
            </p:cNvSpPr>
            <p:nvPr/>
          </p:nvSpPr>
          <p:spPr bwMode="auto">
            <a:xfrm>
              <a:off x="152403" y="4103689"/>
              <a:ext cx="1522413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>
                  <a:solidFill>
                    <a:srgbClr val="114FFB"/>
                  </a:solidFill>
                  <a:latin typeface="Arial" charset="0"/>
                </a:rPr>
                <a:t>+ 0.8 sin(5x) </a:t>
              </a:r>
            </a:p>
          </p:txBody>
        </p:sp>
        <p:grpSp>
          <p:nvGrpSpPr>
            <p:cNvPr id="14367" name="Group 31"/>
            <p:cNvGrpSpPr>
              <a:grpSpLocks/>
            </p:cNvGrpSpPr>
            <p:nvPr/>
          </p:nvGrpSpPr>
          <p:grpSpPr bwMode="auto">
            <a:xfrm>
              <a:off x="2352679" y="4151314"/>
              <a:ext cx="2238376" cy="128588"/>
              <a:chOff x="1303" y="3125"/>
              <a:chExt cx="1057" cy="108"/>
            </a:xfrm>
          </p:grpSpPr>
          <p:sp>
            <p:nvSpPr>
              <p:cNvPr id="14368" name="Freeform 32"/>
              <p:cNvSpPr>
                <a:spLocks/>
              </p:cNvSpPr>
              <p:nvPr/>
            </p:nvSpPr>
            <p:spPr bwMode="auto">
              <a:xfrm>
                <a:off x="1303" y="3125"/>
                <a:ext cx="279" cy="108"/>
              </a:xfrm>
              <a:custGeom>
                <a:avLst/>
                <a:gdLst>
                  <a:gd name="T0" fmla="*/ 3 w 279"/>
                  <a:gd name="T1" fmla="*/ 46 h 108"/>
                  <a:gd name="T2" fmla="*/ 10 w 279"/>
                  <a:gd name="T3" fmla="*/ 36 h 108"/>
                  <a:gd name="T4" fmla="*/ 13 w 279"/>
                  <a:gd name="T5" fmla="*/ 27 h 108"/>
                  <a:gd name="T6" fmla="*/ 16 w 279"/>
                  <a:gd name="T7" fmla="*/ 19 h 108"/>
                  <a:gd name="T8" fmla="*/ 23 w 279"/>
                  <a:gd name="T9" fmla="*/ 12 h 108"/>
                  <a:gd name="T10" fmla="*/ 26 w 279"/>
                  <a:gd name="T11" fmla="*/ 6 h 108"/>
                  <a:gd name="T12" fmla="*/ 29 w 279"/>
                  <a:gd name="T13" fmla="*/ 2 h 108"/>
                  <a:gd name="T14" fmla="*/ 35 w 279"/>
                  <a:gd name="T15" fmla="*/ 0 h 108"/>
                  <a:gd name="T16" fmla="*/ 42 w 279"/>
                  <a:gd name="T17" fmla="*/ 1 h 108"/>
                  <a:gd name="T18" fmla="*/ 45 w 279"/>
                  <a:gd name="T19" fmla="*/ 4 h 108"/>
                  <a:gd name="T20" fmla="*/ 51 w 279"/>
                  <a:gd name="T21" fmla="*/ 9 h 108"/>
                  <a:gd name="T22" fmla="*/ 55 w 279"/>
                  <a:gd name="T23" fmla="*/ 16 h 108"/>
                  <a:gd name="T24" fmla="*/ 58 w 279"/>
                  <a:gd name="T25" fmla="*/ 24 h 108"/>
                  <a:gd name="T26" fmla="*/ 61 w 279"/>
                  <a:gd name="T27" fmla="*/ 32 h 108"/>
                  <a:gd name="T28" fmla="*/ 67 w 279"/>
                  <a:gd name="T29" fmla="*/ 42 h 108"/>
                  <a:gd name="T30" fmla="*/ 71 w 279"/>
                  <a:gd name="T31" fmla="*/ 52 h 108"/>
                  <a:gd name="T32" fmla="*/ 74 w 279"/>
                  <a:gd name="T33" fmla="*/ 62 h 108"/>
                  <a:gd name="T34" fmla="*/ 80 w 279"/>
                  <a:gd name="T35" fmla="*/ 72 h 108"/>
                  <a:gd name="T36" fmla="*/ 83 w 279"/>
                  <a:gd name="T37" fmla="*/ 81 h 108"/>
                  <a:gd name="T38" fmla="*/ 87 w 279"/>
                  <a:gd name="T39" fmla="*/ 89 h 108"/>
                  <a:gd name="T40" fmla="*/ 93 w 279"/>
                  <a:gd name="T41" fmla="*/ 96 h 108"/>
                  <a:gd name="T42" fmla="*/ 96 w 279"/>
                  <a:gd name="T43" fmla="*/ 101 h 108"/>
                  <a:gd name="T44" fmla="*/ 99 w 279"/>
                  <a:gd name="T45" fmla="*/ 105 h 108"/>
                  <a:gd name="T46" fmla="*/ 106 w 279"/>
                  <a:gd name="T47" fmla="*/ 107 h 108"/>
                  <a:gd name="T48" fmla="*/ 112 w 279"/>
                  <a:gd name="T49" fmla="*/ 106 h 108"/>
                  <a:gd name="T50" fmla="*/ 115 w 279"/>
                  <a:gd name="T51" fmla="*/ 103 h 108"/>
                  <a:gd name="T52" fmla="*/ 119 w 279"/>
                  <a:gd name="T53" fmla="*/ 99 h 108"/>
                  <a:gd name="T54" fmla="*/ 125 w 279"/>
                  <a:gd name="T55" fmla="*/ 93 h 108"/>
                  <a:gd name="T56" fmla="*/ 128 w 279"/>
                  <a:gd name="T57" fmla="*/ 85 h 108"/>
                  <a:gd name="T58" fmla="*/ 131 w 279"/>
                  <a:gd name="T59" fmla="*/ 76 h 108"/>
                  <a:gd name="T60" fmla="*/ 138 w 279"/>
                  <a:gd name="T61" fmla="*/ 67 h 108"/>
                  <a:gd name="T62" fmla="*/ 141 w 279"/>
                  <a:gd name="T63" fmla="*/ 57 h 108"/>
                  <a:gd name="T64" fmla="*/ 144 w 279"/>
                  <a:gd name="T65" fmla="*/ 47 h 108"/>
                  <a:gd name="T66" fmla="*/ 151 w 279"/>
                  <a:gd name="T67" fmla="*/ 37 h 108"/>
                  <a:gd name="T68" fmla="*/ 154 w 279"/>
                  <a:gd name="T69" fmla="*/ 28 h 108"/>
                  <a:gd name="T70" fmla="*/ 157 w 279"/>
                  <a:gd name="T71" fmla="*/ 19 h 108"/>
                  <a:gd name="T72" fmla="*/ 160 w 279"/>
                  <a:gd name="T73" fmla="*/ 12 h 108"/>
                  <a:gd name="T74" fmla="*/ 167 w 279"/>
                  <a:gd name="T75" fmla="*/ 6 h 108"/>
                  <a:gd name="T76" fmla="*/ 170 w 279"/>
                  <a:gd name="T77" fmla="*/ 3 h 108"/>
                  <a:gd name="T78" fmla="*/ 173 w 279"/>
                  <a:gd name="T79" fmla="*/ 0 h 108"/>
                  <a:gd name="T80" fmla="*/ 183 w 279"/>
                  <a:gd name="T81" fmla="*/ 1 h 108"/>
                  <a:gd name="T82" fmla="*/ 186 w 279"/>
                  <a:gd name="T83" fmla="*/ 4 h 108"/>
                  <a:gd name="T84" fmla="*/ 189 w 279"/>
                  <a:gd name="T85" fmla="*/ 9 h 108"/>
                  <a:gd name="T86" fmla="*/ 195 w 279"/>
                  <a:gd name="T87" fmla="*/ 15 h 108"/>
                  <a:gd name="T88" fmla="*/ 199 w 279"/>
                  <a:gd name="T89" fmla="*/ 23 h 108"/>
                  <a:gd name="T90" fmla="*/ 202 w 279"/>
                  <a:gd name="T91" fmla="*/ 31 h 108"/>
                  <a:gd name="T92" fmla="*/ 208 w 279"/>
                  <a:gd name="T93" fmla="*/ 41 h 108"/>
                  <a:gd name="T94" fmla="*/ 211 w 279"/>
                  <a:gd name="T95" fmla="*/ 51 h 108"/>
                  <a:gd name="T96" fmla="*/ 214 w 279"/>
                  <a:gd name="T97" fmla="*/ 61 h 108"/>
                  <a:gd name="T98" fmla="*/ 221 w 279"/>
                  <a:gd name="T99" fmla="*/ 71 h 108"/>
                  <a:gd name="T100" fmla="*/ 224 w 279"/>
                  <a:gd name="T101" fmla="*/ 80 h 108"/>
                  <a:gd name="T102" fmla="*/ 227 w 279"/>
                  <a:gd name="T103" fmla="*/ 88 h 108"/>
                  <a:gd name="T104" fmla="*/ 234 w 279"/>
                  <a:gd name="T105" fmla="*/ 95 h 108"/>
                  <a:gd name="T106" fmla="*/ 237 w 279"/>
                  <a:gd name="T107" fmla="*/ 101 h 108"/>
                  <a:gd name="T108" fmla="*/ 240 w 279"/>
                  <a:gd name="T109" fmla="*/ 105 h 108"/>
                  <a:gd name="T110" fmla="*/ 246 w 279"/>
                  <a:gd name="T111" fmla="*/ 107 h 108"/>
                  <a:gd name="T112" fmla="*/ 253 w 279"/>
                  <a:gd name="T113" fmla="*/ 106 h 108"/>
                  <a:gd name="T114" fmla="*/ 256 w 279"/>
                  <a:gd name="T115" fmla="*/ 103 h 108"/>
                  <a:gd name="T116" fmla="*/ 262 w 279"/>
                  <a:gd name="T117" fmla="*/ 98 h 108"/>
                  <a:gd name="T118" fmla="*/ 266 w 279"/>
                  <a:gd name="T119" fmla="*/ 91 h 108"/>
                  <a:gd name="T120" fmla="*/ 269 w 279"/>
                  <a:gd name="T121" fmla="*/ 83 h 108"/>
                  <a:gd name="T122" fmla="*/ 272 w 279"/>
                  <a:gd name="T123" fmla="*/ 75 h 108"/>
                  <a:gd name="T124" fmla="*/ 278 w 279"/>
                  <a:gd name="T125" fmla="*/ 6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9" h="108">
                    <a:moveTo>
                      <a:pt x="0" y="54"/>
                    </a:moveTo>
                    <a:lnTo>
                      <a:pt x="3" y="51"/>
                    </a:lnTo>
                    <a:lnTo>
                      <a:pt x="3" y="49"/>
                    </a:lnTo>
                    <a:lnTo>
                      <a:pt x="3" y="46"/>
                    </a:lnTo>
                    <a:lnTo>
                      <a:pt x="7" y="43"/>
                    </a:lnTo>
                    <a:lnTo>
                      <a:pt x="7" y="41"/>
                    </a:lnTo>
                    <a:lnTo>
                      <a:pt x="7" y="39"/>
                    </a:lnTo>
                    <a:lnTo>
                      <a:pt x="10" y="36"/>
                    </a:lnTo>
                    <a:lnTo>
                      <a:pt x="10" y="34"/>
                    </a:lnTo>
                    <a:lnTo>
                      <a:pt x="10" y="31"/>
                    </a:lnTo>
                    <a:lnTo>
                      <a:pt x="13" y="29"/>
                    </a:lnTo>
                    <a:lnTo>
                      <a:pt x="13" y="27"/>
                    </a:lnTo>
                    <a:lnTo>
                      <a:pt x="13" y="25"/>
                    </a:lnTo>
                    <a:lnTo>
                      <a:pt x="16" y="23"/>
                    </a:lnTo>
                    <a:lnTo>
                      <a:pt x="16" y="21"/>
                    </a:lnTo>
                    <a:lnTo>
                      <a:pt x="16" y="19"/>
                    </a:lnTo>
                    <a:lnTo>
                      <a:pt x="19" y="17"/>
                    </a:lnTo>
                    <a:lnTo>
                      <a:pt x="19" y="15"/>
                    </a:lnTo>
                    <a:lnTo>
                      <a:pt x="19" y="13"/>
                    </a:lnTo>
                    <a:lnTo>
                      <a:pt x="23" y="12"/>
                    </a:lnTo>
                    <a:lnTo>
                      <a:pt x="23" y="10"/>
                    </a:lnTo>
                    <a:lnTo>
                      <a:pt x="23" y="9"/>
                    </a:lnTo>
                    <a:lnTo>
                      <a:pt x="26" y="7"/>
                    </a:lnTo>
                    <a:lnTo>
                      <a:pt x="26" y="6"/>
                    </a:lnTo>
                    <a:lnTo>
                      <a:pt x="26" y="5"/>
                    </a:lnTo>
                    <a:lnTo>
                      <a:pt x="29" y="4"/>
                    </a:lnTo>
                    <a:lnTo>
                      <a:pt x="29" y="3"/>
                    </a:lnTo>
                    <a:lnTo>
                      <a:pt x="29" y="2"/>
                    </a:lnTo>
                    <a:lnTo>
                      <a:pt x="32" y="2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5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42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5" y="4"/>
                    </a:lnTo>
                    <a:lnTo>
                      <a:pt x="48" y="5"/>
                    </a:lnTo>
                    <a:lnTo>
                      <a:pt x="48" y="6"/>
                    </a:lnTo>
                    <a:lnTo>
                      <a:pt x="48" y="8"/>
                    </a:lnTo>
                    <a:lnTo>
                      <a:pt x="51" y="9"/>
                    </a:lnTo>
                    <a:lnTo>
                      <a:pt x="51" y="11"/>
                    </a:lnTo>
                    <a:lnTo>
                      <a:pt x="51" y="12"/>
                    </a:lnTo>
                    <a:lnTo>
                      <a:pt x="55" y="14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5" y="19"/>
                    </a:lnTo>
                    <a:lnTo>
                      <a:pt x="58" y="21"/>
                    </a:lnTo>
                    <a:lnTo>
                      <a:pt x="58" y="24"/>
                    </a:lnTo>
                    <a:lnTo>
                      <a:pt x="58" y="26"/>
                    </a:lnTo>
                    <a:lnTo>
                      <a:pt x="61" y="28"/>
                    </a:lnTo>
                    <a:lnTo>
                      <a:pt x="61" y="30"/>
                    </a:lnTo>
                    <a:lnTo>
                      <a:pt x="61" y="32"/>
                    </a:lnTo>
                    <a:lnTo>
                      <a:pt x="64" y="35"/>
                    </a:lnTo>
                    <a:lnTo>
                      <a:pt x="64" y="37"/>
                    </a:lnTo>
                    <a:lnTo>
                      <a:pt x="64" y="39"/>
                    </a:lnTo>
                    <a:lnTo>
                      <a:pt x="67" y="42"/>
                    </a:lnTo>
                    <a:lnTo>
                      <a:pt x="67" y="44"/>
                    </a:lnTo>
                    <a:lnTo>
                      <a:pt x="67" y="47"/>
                    </a:lnTo>
                    <a:lnTo>
                      <a:pt x="71" y="49"/>
                    </a:lnTo>
                    <a:lnTo>
                      <a:pt x="71" y="52"/>
                    </a:lnTo>
                    <a:lnTo>
                      <a:pt x="71" y="54"/>
                    </a:lnTo>
                    <a:lnTo>
                      <a:pt x="74" y="57"/>
                    </a:lnTo>
                    <a:lnTo>
                      <a:pt x="74" y="60"/>
                    </a:lnTo>
                    <a:lnTo>
                      <a:pt x="74" y="62"/>
                    </a:lnTo>
                    <a:lnTo>
                      <a:pt x="77" y="64"/>
                    </a:lnTo>
                    <a:lnTo>
                      <a:pt x="77" y="67"/>
                    </a:lnTo>
                    <a:lnTo>
                      <a:pt x="77" y="69"/>
                    </a:lnTo>
                    <a:lnTo>
                      <a:pt x="80" y="72"/>
                    </a:lnTo>
                    <a:lnTo>
                      <a:pt x="80" y="74"/>
                    </a:lnTo>
                    <a:lnTo>
                      <a:pt x="80" y="76"/>
                    </a:lnTo>
                    <a:lnTo>
                      <a:pt x="83" y="79"/>
                    </a:lnTo>
                    <a:lnTo>
                      <a:pt x="83" y="81"/>
                    </a:lnTo>
                    <a:lnTo>
                      <a:pt x="83" y="83"/>
                    </a:lnTo>
                    <a:lnTo>
                      <a:pt x="87" y="85"/>
                    </a:lnTo>
                    <a:lnTo>
                      <a:pt x="87" y="87"/>
                    </a:lnTo>
                    <a:lnTo>
                      <a:pt x="87" y="89"/>
                    </a:lnTo>
                    <a:lnTo>
                      <a:pt x="90" y="91"/>
                    </a:lnTo>
                    <a:lnTo>
                      <a:pt x="90" y="93"/>
                    </a:lnTo>
                    <a:lnTo>
                      <a:pt x="90" y="94"/>
                    </a:lnTo>
                    <a:lnTo>
                      <a:pt x="93" y="96"/>
                    </a:lnTo>
                    <a:lnTo>
                      <a:pt x="93" y="97"/>
                    </a:lnTo>
                    <a:lnTo>
                      <a:pt x="93" y="99"/>
                    </a:lnTo>
                    <a:lnTo>
                      <a:pt x="96" y="100"/>
                    </a:lnTo>
                    <a:lnTo>
                      <a:pt x="96" y="101"/>
                    </a:lnTo>
                    <a:lnTo>
                      <a:pt x="96" y="102"/>
                    </a:lnTo>
                    <a:lnTo>
                      <a:pt x="99" y="103"/>
                    </a:lnTo>
                    <a:lnTo>
                      <a:pt x="99" y="104"/>
                    </a:lnTo>
                    <a:lnTo>
                      <a:pt x="99" y="105"/>
                    </a:lnTo>
                    <a:lnTo>
                      <a:pt x="103" y="106"/>
                    </a:lnTo>
                    <a:lnTo>
                      <a:pt x="103" y="106"/>
                    </a:lnTo>
                    <a:lnTo>
                      <a:pt x="103" y="106"/>
                    </a:lnTo>
                    <a:lnTo>
                      <a:pt x="106" y="107"/>
                    </a:lnTo>
                    <a:lnTo>
                      <a:pt x="109" y="107"/>
                    </a:lnTo>
                    <a:lnTo>
                      <a:pt x="109" y="107"/>
                    </a:lnTo>
                    <a:lnTo>
                      <a:pt x="109" y="106"/>
                    </a:lnTo>
                    <a:lnTo>
                      <a:pt x="112" y="106"/>
                    </a:lnTo>
                    <a:lnTo>
                      <a:pt x="112" y="106"/>
                    </a:lnTo>
                    <a:lnTo>
                      <a:pt x="112" y="105"/>
                    </a:lnTo>
                    <a:lnTo>
                      <a:pt x="115" y="104"/>
                    </a:lnTo>
                    <a:lnTo>
                      <a:pt x="115" y="103"/>
                    </a:lnTo>
                    <a:lnTo>
                      <a:pt x="115" y="102"/>
                    </a:lnTo>
                    <a:lnTo>
                      <a:pt x="119" y="101"/>
                    </a:lnTo>
                    <a:lnTo>
                      <a:pt x="119" y="100"/>
                    </a:lnTo>
                    <a:lnTo>
                      <a:pt x="119" y="99"/>
                    </a:lnTo>
                    <a:lnTo>
                      <a:pt x="122" y="97"/>
                    </a:lnTo>
                    <a:lnTo>
                      <a:pt x="122" y="96"/>
                    </a:lnTo>
                    <a:lnTo>
                      <a:pt x="122" y="94"/>
                    </a:lnTo>
                    <a:lnTo>
                      <a:pt x="125" y="93"/>
                    </a:lnTo>
                    <a:lnTo>
                      <a:pt x="125" y="91"/>
                    </a:lnTo>
                    <a:lnTo>
                      <a:pt x="125" y="89"/>
                    </a:lnTo>
                    <a:lnTo>
                      <a:pt x="128" y="87"/>
                    </a:lnTo>
                    <a:lnTo>
                      <a:pt x="128" y="85"/>
                    </a:lnTo>
                    <a:lnTo>
                      <a:pt x="128" y="83"/>
                    </a:lnTo>
                    <a:lnTo>
                      <a:pt x="131" y="81"/>
                    </a:lnTo>
                    <a:lnTo>
                      <a:pt x="131" y="79"/>
                    </a:lnTo>
                    <a:lnTo>
                      <a:pt x="131" y="76"/>
                    </a:lnTo>
                    <a:lnTo>
                      <a:pt x="135" y="74"/>
                    </a:lnTo>
                    <a:lnTo>
                      <a:pt x="135" y="72"/>
                    </a:lnTo>
                    <a:lnTo>
                      <a:pt x="135" y="69"/>
                    </a:lnTo>
                    <a:lnTo>
                      <a:pt x="138" y="67"/>
                    </a:lnTo>
                    <a:lnTo>
                      <a:pt x="138" y="64"/>
                    </a:lnTo>
                    <a:lnTo>
                      <a:pt x="138" y="62"/>
                    </a:lnTo>
                    <a:lnTo>
                      <a:pt x="141" y="60"/>
                    </a:lnTo>
                    <a:lnTo>
                      <a:pt x="141" y="57"/>
                    </a:lnTo>
                    <a:lnTo>
                      <a:pt x="141" y="54"/>
                    </a:lnTo>
                    <a:lnTo>
                      <a:pt x="144" y="52"/>
                    </a:lnTo>
                    <a:lnTo>
                      <a:pt x="144" y="49"/>
                    </a:lnTo>
                    <a:lnTo>
                      <a:pt x="144" y="47"/>
                    </a:lnTo>
                    <a:lnTo>
                      <a:pt x="147" y="44"/>
                    </a:lnTo>
                    <a:lnTo>
                      <a:pt x="147" y="42"/>
                    </a:lnTo>
                    <a:lnTo>
                      <a:pt x="147" y="39"/>
                    </a:lnTo>
                    <a:lnTo>
                      <a:pt x="151" y="37"/>
                    </a:lnTo>
                    <a:lnTo>
                      <a:pt x="151" y="35"/>
                    </a:lnTo>
                    <a:lnTo>
                      <a:pt x="151" y="32"/>
                    </a:lnTo>
                    <a:lnTo>
                      <a:pt x="154" y="30"/>
                    </a:lnTo>
                    <a:lnTo>
                      <a:pt x="154" y="28"/>
                    </a:lnTo>
                    <a:lnTo>
                      <a:pt x="154" y="26"/>
                    </a:lnTo>
                    <a:lnTo>
                      <a:pt x="157" y="24"/>
                    </a:lnTo>
                    <a:lnTo>
                      <a:pt x="157" y="21"/>
                    </a:lnTo>
                    <a:lnTo>
                      <a:pt x="157" y="19"/>
                    </a:lnTo>
                    <a:lnTo>
                      <a:pt x="160" y="17"/>
                    </a:lnTo>
                    <a:lnTo>
                      <a:pt x="160" y="16"/>
                    </a:lnTo>
                    <a:lnTo>
                      <a:pt x="160" y="14"/>
                    </a:lnTo>
                    <a:lnTo>
                      <a:pt x="160" y="12"/>
                    </a:lnTo>
                    <a:lnTo>
                      <a:pt x="163" y="11"/>
                    </a:lnTo>
                    <a:lnTo>
                      <a:pt x="163" y="9"/>
                    </a:lnTo>
                    <a:lnTo>
                      <a:pt x="163" y="8"/>
                    </a:lnTo>
                    <a:lnTo>
                      <a:pt x="167" y="6"/>
                    </a:lnTo>
                    <a:lnTo>
                      <a:pt x="167" y="5"/>
                    </a:lnTo>
                    <a:lnTo>
                      <a:pt x="167" y="4"/>
                    </a:lnTo>
                    <a:lnTo>
                      <a:pt x="170" y="3"/>
                    </a:lnTo>
                    <a:lnTo>
                      <a:pt x="170" y="3"/>
                    </a:lnTo>
                    <a:lnTo>
                      <a:pt x="170" y="2"/>
                    </a:lnTo>
                    <a:lnTo>
                      <a:pt x="173" y="1"/>
                    </a:lnTo>
                    <a:lnTo>
                      <a:pt x="173" y="1"/>
                    </a:lnTo>
                    <a:lnTo>
                      <a:pt x="173" y="0"/>
                    </a:lnTo>
                    <a:lnTo>
                      <a:pt x="176" y="0"/>
                    </a:lnTo>
                    <a:lnTo>
                      <a:pt x="179" y="0"/>
                    </a:lnTo>
                    <a:lnTo>
                      <a:pt x="179" y="1"/>
                    </a:lnTo>
                    <a:lnTo>
                      <a:pt x="183" y="1"/>
                    </a:lnTo>
                    <a:lnTo>
                      <a:pt x="183" y="2"/>
                    </a:lnTo>
                    <a:lnTo>
                      <a:pt x="183" y="2"/>
                    </a:lnTo>
                    <a:lnTo>
                      <a:pt x="186" y="3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9" y="6"/>
                    </a:lnTo>
                    <a:lnTo>
                      <a:pt x="189" y="7"/>
                    </a:lnTo>
                    <a:lnTo>
                      <a:pt x="189" y="9"/>
                    </a:lnTo>
                    <a:lnTo>
                      <a:pt x="192" y="10"/>
                    </a:lnTo>
                    <a:lnTo>
                      <a:pt x="192" y="12"/>
                    </a:lnTo>
                    <a:lnTo>
                      <a:pt x="192" y="13"/>
                    </a:lnTo>
                    <a:lnTo>
                      <a:pt x="195" y="15"/>
                    </a:lnTo>
                    <a:lnTo>
                      <a:pt x="195" y="17"/>
                    </a:lnTo>
                    <a:lnTo>
                      <a:pt x="195" y="19"/>
                    </a:lnTo>
                    <a:lnTo>
                      <a:pt x="199" y="21"/>
                    </a:lnTo>
                    <a:lnTo>
                      <a:pt x="199" y="23"/>
                    </a:lnTo>
                    <a:lnTo>
                      <a:pt x="199" y="25"/>
                    </a:lnTo>
                    <a:lnTo>
                      <a:pt x="202" y="27"/>
                    </a:lnTo>
                    <a:lnTo>
                      <a:pt x="202" y="29"/>
                    </a:lnTo>
                    <a:lnTo>
                      <a:pt x="202" y="31"/>
                    </a:lnTo>
                    <a:lnTo>
                      <a:pt x="205" y="34"/>
                    </a:lnTo>
                    <a:lnTo>
                      <a:pt x="205" y="36"/>
                    </a:lnTo>
                    <a:lnTo>
                      <a:pt x="205" y="39"/>
                    </a:lnTo>
                    <a:lnTo>
                      <a:pt x="208" y="41"/>
                    </a:lnTo>
                    <a:lnTo>
                      <a:pt x="208" y="43"/>
                    </a:lnTo>
                    <a:lnTo>
                      <a:pt x="208" y="46"/>
                    </a:lnTo>
                    <a:lnTo>
                      <a:pt x="211" y="49"/>
                    </a:lnTo>
                    <a:lnTo>
                      <a:pt x="211" y="51"/>
                    </a:lnTo>
                    <a:lnTo>
                      <a:pt x="211" y="54"/>
                    </a:lnTo>
                    <a:lnTo>
                      <a:pt x="214" y="56"/>
                    </a:lnTo>
                    <a:lnTo>
                      <a:pt x="214" y="58"/>
                    </a:lnTo>
                    <a:lnTo>
                      <a:pt x="214" y="61"/>
                    </a:lnTo>
                    <a:lnTo>
                      <a:pt x="218" y="64"/>
                    </a:lnTo>
                    <a:lnTo>
                      <a:pt x="218" y="66"/>
                    </a:lnTo>
                    <a:lnTo>
                      <a:pt x="218" y="68"/>
                    </a:lnTo>
                    <a:lnTo>
                      <a:pt x="221" y="71"/>
                    </a:lnTo>
                    <a:lnTo>
                      <a:pt x="221" y="73"/>
                    </a:lnTo>
                    <a:lnTo>
                      <a:pt x="221" y="76"/>
                    </a:lnTo>
                    <a:lnTo>
                      <a:pt x="224" y="78"/>
                    </a:lnTo>
                    <a:lnTo>
                      <a:pt x="224" y="80"/>
                    </a:lnTo>
                    <a:lnTo>
                      <a:pt x="224" y="82"/>
                    </a:lnTo>
                    <a:lnTo>
                      <a:pt x="227" y="84"/>
                    </a:lnTo>
                    <a:lnTo>
                      <a:pt x="227" y="86"/>
                    </a:lnTo>
                    <a:lnTo>
                      <a:pt x="227" y="88"/>
                    </a:lnTo>
                    <a:lnTo>
                      <a:pt x="230" y="90"/>
                    </a:lnTo>
                    <a:lnTo>
                      <a:pt x="230" y="92"/>
                    </a:lnTo>
                    <a:lnTo>
                      <a:pt x="230" y="94"/>
                    </a:lnTo>
                    <a:lnTo>
                      <a:pt x="234" y="95"/>
                    </a:lnTo>
                    <a:lnTo>
                      <a:pt x="234" y="97"/>
                    </a:lnTo>
                    <a:lnTo>
                      <a:pt x="234" y="98"/>
                    </a:lnTo>
                    <a:lnTo>
                      <a:pt x="237" y="100"/>
                    </a:lnTo>
                    <a:lnTo>
                      <a:pt x="237" y="101"/>
                    </a:lnTo>
                    <a:lnTo>
                      <a:pt x="237" y="102"/>
                    </a:lnTo>
                    <a:lnTo>
                      <a:pt x="240" y="103"/>
                    </a:lnTo>
                    <a:lnTo>
                      <a:pt x="240" y="104"/>
                    </a:lnTo>
                    <a:lnTo>
                      <a:pt x="240" y="105"/>
                    </a:lnTo>
                    <a:lnTo>
                      <a:pt x="243" y="105"/>
                    </a:lnTo>
                    <a:lnTo>
                      <a:pt x="243" y="106"/>
                    </a:lnTo>
                    <a:lnTo>
                      <a:pt x="243" y="106"/>
                    </a:lnTo>
                    <a:lnTo>
                      <a:pt x="246" y="107"/>
                    </a:lnTo>
                    <a:lnTo>
                      <a:pt x="250" y="107"/>
                    </a:lnTo>
                    <a:lnTo>
                      <a:pt x="250" y="107"/>
                    </a:lnTo>
                    <a:lnTo>
                      <a:pt x="253" y="106"/>
                    </a:lnTo>
                    <a:lnTo>
                      <a:pt x="253" y="106"/>
                    </a:lnTo>
                    <a:lnTo>
                      <a:pt x="253" y="105"/>
                    </a:lnTo>
                    <a:lnTo>
                      <a:pt x="256" y="104"/>
                    </a:lnTo>
                    <a:lnTo>
                      <a:pt x="256" y="104"/>
                    </a:lnTo>
                    <a:lnTo>
                      <a:pt x="256" y="103"/>
                    </a:lnTo>
                    <a:lnTo>
                      <a:pt x="259" y="102"/>
                    </a:lnTo>
                    <a:lnTo>
                      <a:pt x="259" y="101"/>
                    </a:lnTo>
                    <a:lnTo>
                      <a:pt x="259" y="99"/>
                    </a:lnTo>
                    <a:lnTo>
                      <a:pt x="262" y="98"/>
                    </a:lnTo>
                    <a:lnTo>
                      <a:pt x="262" y="96"/>
                    </a:lnTo>
                    <a:lnTo>
                      <a:pt x="262" y="95"/>
                    </a:lnTo>
                    <a:lnTo>
                      <a:pt x="266" y="93"/>
                    </a:lnTo>
                    <a:lnTo>
                      <a:pt x="266" y="91"/>
                    </a:lnTo>
                    <a:lnTo>
                      <a:pt x="266" y="90"/>
                    </a:lnTo>
                    <a:lnTo>
                      <a:pt x="266" y="88"/>
                    </a:lnTo>
                    <a:lnTo>
                      <a:pt x="269" y="86"/>
                    </a:lnTo>
                    <a:lnTo>
                      <a:pt x="269" y="83"/>
                    </a:lnTo>
                    <a:lnTo>
                      <a:pt x="269" y="81"/>
                    </a:lnTo>
                    <a:lnTo>
                      <a:pt x="272" y="79"/>
                    </a:lnTo>
                    <a:lnTo>
                      <a:pt x="272" y="77"/>
                    </a:lnTo>
                    <a:lnTo>
                      <a:pt x="272" y="75"/>
                    </a:lnTo>
                    <a:lnTo>
                      <a:pt x="275" y="72"/>
                    </a:lnTo>
                    <a:lnTo>
                      <a:pt x="275" y="70"/>
                    </a:lnTo>
                    <a:lnTo>
                      <a:pt x="275" y="68"/>
                    </a:lnTo>
                    <a:lnTo>
                      <a:pt x="278" y="65"/>
                    </a:lnTo>
                    <a:lnTo>
                      <a:pt x="278" y="63"/>
                    </a:lnTo>
                    <a:lnTo>
                      <a:pt x="278" y="6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9" name="Freeform 33"/>
              <p:cNvSpPr>
                <a:spLocks/>
              </p:cNvSpPr>
              <p:nvPr/>
            </p:nvSpPr>
            <p:spPr bwMode="auto">
              <a:xfrm>
                <a:off x="1581" y="3125"/>
                <a:ext cx="280" cy="108"/>
              </a:xfrm>
              <a:custGeom>
                <a:avLst/>
                <a:gdLst>
                  <a:gd name="T0" fmla="*/ 4 w 280"/>
                  <a:gd name="T1" fmla="*/ 53 h 108"/>
                  <a:gd name="T2" fmla="*/ 10 w 280"/>
                  <a:gd name="T3" fmla="*/ 43 h 108"/>
                  <a:gd name="T4" fmla="*/ 13 w 280"/>
                  <a:gd name="T5" fmla="*/ 33 h 108"/>
                  <a:gd name="T6" fmla="*/ 16 w 280"/>
                  <a:gd name="T7" fmla="*/ 24 h 108"/>
                  <a:gd name="T8" fmla="*/ 23 w 280"/>
                  <a:gd name="T9" fmla="*/ 16 h 108"/>
                  <a:gd name="T10" fmla="*/ 26 w 280"/>
                  <a:gd name="T11" fmla="*/ 10 h 108"/>
                  <a:gd name="T12" fmla="*/ 29 w 280"/>
                  <a:gd name="T13" fmla="*/ 5 h 108"/>
                  <a:gd name="T14" fmla="*/ 36 w 280"/>
                  <a:gd name="T15" fmla="*/ 1 h 108"/>
                  <a:gd name="T16" fmla="*/ 42 w 280"/>
                  <a:gd name="T17" fmla="*/ 0 h 108"/>
                  <a:gd name="T18" fmla="*/ 45 w 280"/>
                  <a:gd name="T19" fmla="*/ 1 h 108"/>
                  <a:gd name="T20" fmla="*/ 48 w 280"/>
                  <a:gd name="T21" fmla="*/ 5 h 108"/>
                  <a:gd name="T22" fmla="*/ 55 w 280"/>
                  <a:gd name="T23" fmla="*/ 10 h 108"/>
                  <a:gd name="T24" fmla="*/ 58 w 280"/>
                  <a:gd name="T25" fmla="*/ 16 h 108"/>
                  <a:gd name="T26" fmla="*/ 61 w 280"/>
                  <a:gd name="T27" fmla="*/ 24 h 108"/>
                  <a:gd name="T28" fmla="*/ 68 w 280"/>
                  <a:gd name="T29" fmla="*/ 33 h 108"/>
                  <a:gd name="T30" fmla="*/ 71 w 280"/>
                  <a:gd name="T31" fmla="*/ 43 h 108"/>
                  <a:gd name="T32" fmla="*/ 74 w 280"/>
                  <a:gd name="T33" fmla="*/ 53 h 108"/>
                  <a:gd name="T34" fmla="*/ 80 w 280"/>
                  <a:gd name="T35" fmla="*/ 63 h 108"/>
                  <a:gd name="T36" fmla="*/ 84 w 280"/>
                  <a:gd name="T37" fmla="*/ 72 h 108"/>
                  <a:gd name="T38" fmla="*/ 87 w 280"/>
                  <a:gd name="T39" fmla="*/ 81 h 108"/>
                  <a:gd name="T40" fmla="*/ 93 w 280"/>
                  <a:gd name="T41" fmla="*/ 90 h 108"/>
                  <a:gd name="T42" fmla="*/ 96 w 280"/>
                  <a:gd name="T43" fmla="*/ 96 h 108"/>
                  <a:gd name="T44" fmla="*/ 100 w 280"/>
                  <a:gd name="T45" fmla="*/ 102 h 108"/>
                  <a:gd name="T46" fmla="*/ 103 w 280"/>
                  <a:gd name="T47" fmla="*/ 105 h 108"/>
                  <a:gd name="T48" fmla="*/ 109 w 280"/>
                  <a:gd name="T49" fmla="*/ 107 h 108"/>
                  <a:gd name="T50" fmla="*/ 116 w 280"/>
                  <a:gd name="T51" fmla="*/ 105 h 108"/>
                  <a:gd name="T52" fmla="*/ 119 w 280"/>
                  <a:gd name="T53" fmla="*/ 102 h 108"/>
                  <a:gd name="T54" fmla="*/ 125 w 280"/>
                  <a:gd name="T55" fmla="*/ 97 h 108"/>
                  <a:gd name="T56" fmla="*/ 128 w 280"/>
                  <a:gd name="T57" fmla="*/ 90 h 108"/>
                  <a:gd name="T58" fmla="*/ 132 w 280"/>
                  <a:gd name="T59" fmla="*/ 82 h 108"/>
                  <a:gd name="T60" fmla="*/ 138 w 280"/>
                  <a:gd name="T61" fmla="*/ 73 h 108"/>
                  <a:gd name="T62" fmla="*/ 141 w 280"/>
                  <a:gd name="T63" fmla="*/ 64 h 108"/>
                  <a:gd name="T64" fmla="*/ 144 w 280"/>
                  <a:gd name="T65" fmla="*/ 54 h 108"/>
                  <a:gd name="T66" fmla="*/ 151 w 280"/>
                  <a:gd name="T67" fmla="*/ 43 h 108"/>
                  <a:gd name="T68" fmla="*/ 154 w 280"/>
                  <a:gd name="T69" fmla="*/ 34 h 108"/>
                  <a:gd name="T70" fmla="*/ 157 w 280"/>
                  <a:gd name="T71" fmla="*/ 25 h 108"/>
                  <a:gd name="T72" fmla="*/ 164 w 280"/>
                  <a:gd name="T73" fmla="*/ 17 h 108"/>
                  <a:gd name="T74" fmla="*/ 167 w 280"/>
                  <a:gd name="T75" fmla="*/ 10 h 108"/>
                  <a:gd name="T76" fmla="*/ 170 w 280"/>
                  <a:gd name="T77" fmla="*/ 5 h 108"/>
                  <a:gd name="T78" fmla="*/ 176 w 280"/>
                  <a:gd name="T79" fmla="*/ 2 h 108"/>
                  <a:gd name="T80" fmla="*/ 183 w 280"/>
                  <a:gd name="T81" fmla="*/ 0 h 108"/>
                  <a:gd name="T82" fmla="*/ 186 w 280"/>
                  <a:gd name="T83" fmla="*/ 2 h 108"/>
                  <a:gd name="T84" fmla="*/ 192 w 280"/>
                  <a:gd name="T85" fmla="*/ 5 h 108"/>
                  <a:gd name="T86" fmla="*/ 196 w 280"/>
                  <a:gd name="T87" fmla="*/ 11 h 108"/>
                  <a:gd name="T88" fmla="*/ 199 w 280"/>
                  <a:gd name="T89" fmla="*/ 17 h 108"/>
                  <a:gd name="T90" fmla="*/ 202 w 280"/>
                  <a:gd name="T91" fmla="*/ 26 h 108"/>
                  <a:gd name="T92" fmla="*/ 208 w 280"/>
                  <a:gd name="T93" fmla="*/ 35 h 108"/>
                  <a:gd name="T94" fmla="*/ 212 w 280"/>
                  <a:gd name="T95" fmla="*/ 44 h 108"/>
                  <a:gd name="T96" fmla="*/ 215 w 280"/>
                  <a:gd name="T97" fmla="*/ 54 h 108"/>
                  <a:gd name="T98" fmla="*/ 221 w 280"/>
                  <a:gd name="T99" fmla="*/ 64 h 108"/>
                  <a:gd name="T100" fmla="*/ 224 w 280"/>
                  <a:gd name="T101" fmla="*/ 74 h 108"/>
                  <a:gd name="T102" fmla="*/ 228 w 280"/>
                  <a:gd name="T103" fmla="*/ 83 h 108"/>
                  <a:gd name="T104" fmla="*/ 234 w 280"/>
                  <a:gd name="T105" fmla="*/ 91 h 108"/>
                  <a:gd name="T106" fmla="*/ 237 w 280"/>
                  <a:gd name="T107" fmla="*/ 97 h 108"/>
                  <a:gd name="T108" fmla="*/ 240 w 280"/>
                  <a:gd name="T109" fmla="*/ 102 h 108"/>
                  <a:gd name="T110" fmla="*/ 247 w 280"/>
                  <a:gd name="T111" fmla="*/ 106 h 108"/>
                  <a:gd name="T112" fmla="*/ 253 w 280"/>
                  <a:gd name="T113" fmla="*/ 107 h 108"/>
                  <a:gd name="T114" fmla="*/ 256 w 280"/>
                  <a:gd name="T115" fmla="*/ 106 h 108"/>
                  <a:gd name="T116" fmla="*/ 260 w 280"/>
                  <a:gd name="T117" fmla="*/ 102 h 108"/>
                  <a:gd name="T118" fmla="*/ 266 w 280"/>
                  <a:gd name="T119" fmla="*/ 97 h 108"/>
                  <a:gd name="T120" fmla="*/ 269 w 280"/>
                  <a:gd name="T121" fmla="*/ 91 h 108"/>
                  <a:gd name="T122" fmla="*/ 272 w 280"/>
                  <a:gd name="T123" fmla="*/ 83 h 108"/>
                  <a:gd name="T124" fmla="*/ 279 w 280"/>
                  <a:gd name="T125" fmla="*/ 74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0" h="108">
                    <a:moveTo>
                      <a:pt x="0" y="60"/>
                    </a:moveTo>
                    <a:lnTo>
                      <a:pt x="4" y="58"/>
                    </a:lnTo>
                    <a:lnTo>
                      <a:pt x="4" y="55"/>
                    </a:lnTo>
                    <a:lnTo>
                      <a:pt x="4" y="53"/>
                    </a:lnTo>
                    <a:lnTo>
                      <a:pt x="7" y="50"/>
                    </a:lnTo>
                    <a:lnTo>
                      <a:pt x="7" y="47"/>
                    </a:lnTo>
                    <a:lnTo>
                      <a:pt x="7" y="45"/>
                    </a:lnTo>
                    <a:lnTo>
                      <a:pt x="10" y="43"/>
                    </a:lnTo>
                    <a:lnTo>
                      <a:pt x="10" y="40"/>
                    </a:lnTo>
                    <a:lnTo>
                      <a:pt x="10" y="38"/>
                    </a:lnTo>
                    <a:lnTo>
                      <a:pt x="13" y="35"/>
                    </a:lnTo>
                    <a:lnTo>
                      <a:pt x="13" y="33"/>
                    </a:lnTo>
                    <a:lnTo>
                      <a:pt x="13" y="31"/>
                    </a:lnTo>
                    <a:lnTo>
                      <a:pt x="16" y="28"/>
                    </a:lnTo>
                    <a:lnTo>
                      <a:pt x="16" y="26"/>
                    </a:lnTo>
                    <a:lnTo>
                      <a:pt x="16" y="24"/>
                    </a:lnTo>
                    <a:lnTo>
                      <a:pt x="20" y="22"/>
                    </a:lnTo>
                    <a:lnTo>
                      <a:pt x="20" y="20"/>
                    </a:lnTo>
                    <a:lnTo>
                      <a:pt x="20" y="18"/>
                    </a:lnTo>
                    <a:lnTo>
                      <a:pt x="23" y="16"/>
                    </a:lnTo>
                    <a:lnTo>
                      <a:pt x="23" y="14"/>
                    </a:lnTo>
                    <a:lnTo>
                      <a:pt x="23" y="13"/>
                    </a:lnTo>
                    <a:lnTo>
                      <a:pt x="26" y="11"/>
                    </a:lnTo>
                    <a:lnTo>
                      <a:pt x="26" y="10"/>
                    </a:lnTo>
                    <a:lnTo>
                      <a:pt x="26" y="8"/>
                    </a:lnTo>
                    <a:lnTo>
                      <a:pt x="29" y="7"/>
                    </a:lnTo>
                    <a:lnTo>
                      <a:pt x="29" y="6"/>
                    </a:lnTo>
                    <a:lnTo>
                      <a:pt x="29" y="5"/>
                    </a:lnTo>
                    <a:lnTo>
                      <a:pt x="32" y="4"/>
                    </a:lnTo>
                    <a:lnTo>
                      <a:pt x="32" y="3"/>
                    </a:lnTo>
                    <a:lnTo>
                      <a:pt x="32" y="2"/>
                    </a:lnTo>
                    <a:lnTo>
                      <a:pt x="36" y="1"/>
                    </a:lnTo>
                    <a:lnTo>
                      <a:pt x="36" y="1"/>
                    </a:lnTo>
                    <a:lnTo>
                      <a:pt x="36" y="1"/>
                    </a:lnTo>
                    <a:lnTo>
                      <a:pt x="39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1"/>
                    </a:lnTo>
                    <a:lnTo>
                      <a:pt x="45" y="1"/>
                    </a:lnTo>
                    <a:lnTo>
                      <a:pt x="45" y="1"/>
                    </a:lnTo>
                    <a:lnTo>
                      <a:pt x="45" y="2"/>
                    </a:lnTo>
                    <a:lnTo>
                      <a:pt x="48" y="3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52" y="6"/>
                    </a:lnTo>
                    <a:lnTo>
                      <a:pt x="52" y="7"/>
                    </a:lnTo>
                    <a:lnTo>
                      <a:pt x="52" y="8"/>
                    </a:lnTo>
                    <a:lnTo>
                      <a:pt x="55" y="10"/>
                    </a:lnTo>
                    <a:lnTo>
                      <a:pt x="55" y="11"/>
                    </a:lnTo>
                    <a:lnTo>
                      <a:pt x="55" y="13"/>
                    </a:lnTo>
                    <a:lnTo>
                      <a:pt x="58" y="14"/>
                    </a:lnTo>
                    <a:lnTo>
                      <a:pt x="58" y="16"/>
                    </a:lnTo>
                    <a:lnTo>
                      <a:pt x="58" y="18"/>
                    </a:lnTo>
                    <a:lnTo>
                      <a:pt x="61" y="20"/>
                    </a:lnTo>
                    <a:lnTo>
                      <a:pt x="61" y="22"/>
                    </a:lnTo>
                    <a:lnTo>
                      <a:pt x="61" y="24"/>
                    </a:lnTo>
                    <a:lnTo>
                      <a:pt x="64" y="26"/>
                    </a:lnTo>
                    <a:lnTo>
                      <a:pt x="64" y="28"/>
                    </a:lnTo>
                    <a:lnTo>
                      <a:pt x="64" y="31"/>
                    </a:lnTo>
                    <a:lnTo>
                      <a:pt x="68" y="33"/>
                    </a:lnTo>
                    <a:lnTo>
                      <a:pt x="68" y="35"/>
                    </a:lnTo>
                    <a:lnTo>
                      <a:pt x="68" y="38"/>
                    </a:lnTo>
                    <a:lnTo>
                      <a:pt x="71" y="40"/>
                    </a:lnTo>
                    <a:lnTo>
                      <a:pt x="71" y="43"/>
                    </a:lnTo>
                    <a:lnTo>
                      <a:pt x="71" y="45"/>
                    </a:lnTo>
                    <a:lnTo>
                      <a:pt x="74" y="47"/>
                    </a:lnTo>
                    <a:lnTo>
                      <a:pt x="74" y="50"/>
                    </a:lnTo>
                    <a:lnTo>
                      <a:pt x="74" y="53"/>
                    </a:lnTo>
                    <a:lnTo>
                      <a:pt x="77" y="55"/>
                    </a:lnTo>
                    <a:lnTo>
                      <a:pt x="77" y="58"/>
                    </a:lnTo>
                    <a:lnTo>
                      <a:pt x="77" y="60"/>
                    </a:lnTo>
                    <a:lnTo>
                      <a:pt x="80" y="63"/>
                    </a:lnTo>
                    <a:lnTo>
                      <a:pt x="80" y="65"/>
                    </a:lnTo>
                    <a:lnTo>
                      <a:pt x="80" y="68"/>
                    </a:lnTo>
                    <a:lnTo>
                      <a:pt x="84" y="70"/>
                    </a:lnTo>
                    <a:lnTo>
                      <a:pt x="84" y="72"/>
                    </a:lnTo>
                    <a:lnTo>
                      <a:pt x="84" y="75"/>
                    </a:lnTo>
                    <a:lnTo>
                      <a:pt x="87" y="77"/>
                    </a:lnTo>
                    <a:lnTo>
                      <a:pt x="87" y="79"/>
                    </a:lnTo>
                    <a:lnTo>
                      <a:pt x="87" y="81"/>
                    </a:lnTo>
                    <a:lnTo>
                      <a:pt x="90" y="83"/>
                    </a:lnTo>
                    <a:lnTo>
                      <a:pt x="90" y="86"/>
                    </a:lnTo>
                    <a:lnTo>
                      <a:pt x="90" y="88"/>
                    </a:lnTo>
                    <a:lnTo>
                      <a:pt x="93" y="90"/>
                    </a:lnTo>
                    <a:lnTo>
                      <a:pt x="93" y="91"/>
                    </a:lnTo>
                    <a:lnTo>
                      <a:pt x="93" y="93"/>
                    </a:lnTo>
                    <a:lnTo>
                      <a:pt x="93" y="95"/>
                    </a:lnTo>
                    <a:lnTo>
                      <a:pt x="96" y="96"/>
                    </a:lnTo>
                    <a:lnTo>
                      <a:pt x="96" y="98"/>
                    </a:lnTo>
                    <a:lnTo>
                      <a:pt x="96" y="99"/>
                    </a:lnTo>
                    <a:lnTo>
                      <a:pt x="100" y="101"/>
                    </a:lnTo>
                    <a:lnTo>
                      <a:pt x="100" y="102"/>
                    </a:lnTo>
                    <a:lnTo>
                      <a:pt x="100" y="103"/>
                    </a:lnTo>
                    <a:lnTo>
                      <a:pt x="103" y="104"/>
                    </a:lnTo>
                    <a:lnTo>
                      <a:pt x="103" y="104"/>
                    </a:lnTo>
                    <a:lnTo>
                      <a:pt x="103" y="105"/>
                    </a:lnTo>
                    <a:lnTo>
                      <a:pt x="106" y="106"/>
                    </a:lnTo>
                    <a:lnTo>
                      <a:pt x="106" y="106"/>
                    </a:lnTo>
                    <a:lnTo>
                      <a:pt x="106" y="107"/>
                    </a:lnTo>
                    <a:lnTo>
                      <a:pt x="109" y="107"/>
                    </a:lnTo>
                    <a:lnTo>
                      <a:pt x="112" y="107"/>
                    </a:lnTo>
                    <a:lnTo>
                      <a:pt x="112" y="106"/>
                    </a:lnTo>
                    <a:lnTo>
                      <a:pt x="116" y="106"/>
                    </a:lnTo>
                    <a:lnTo>
                      <a:pt x="116" y="105"/>
                    </a:lnTo>
                    <a:lnTo>
                      <a:pt x="116" y="105"/>
                    </a:lnTo>
                    <a:lnTo>
                      <a:pt x="119" y="104"/>
                    </a:lnTo>
                    <a:lnTo>
                      <a:pt x="119" y="103"/>
                    </a:lnTo>
                    <a:lnTo>
                      <a:pt x="119" y="102"/>
                    </a:lnTo>
                    <a:lnTo>
                      <a:pt x="122" y="101"/>
                    </a:lnTo>
                    <a:lnTo>
                      <a:pt x="122" y="100"/>
                    </a:lnTo>
                    <a:lnTo>
                      <a:pt x="122" y="98"/>
                    </a:lnTo>
                    <a:lnTo>
                      <a:pt x="125" y="97"/>
                    </a:lnTo>
                    <a:lnTo>
                      <a:pt x="125" y="95"/>
                    </a:lnTo>
                    <a:lnTo>
                      <a:pt x="125" y="94"/>
                    </a:lnTo>
                    <a:lnTo>
                      <a:pt x="128" y="92"/>
                    </a:lnTo>
                    <a:lnTo>
                      <a:pt x="128" y="90"/>
                    </a:lnTo>
                    <a:lnTo>
                      <a:pt x="128" y="88"/>
                    </a:lnTo>
                    <a:lnTo>
                      <a:pt x="132" y="86"/>
                    </a:lnTo>
                    <a:lnTo>
                      <a:pt x="132" y="84"/>
                    </a:lnTo>
                    <a:lnTo>
                      <a:pt x="132" y="82"/>
                    </a:lnTo>
                    <a:lnTo>
                      <a:pt x="135" y="80"/>
                    </a:lnTo>
                    <a:lnTo>
                      <a:pt x="135" y="78"/>
                    </a:lnTo>
                    <a:lnTo>
                      <a:pt x="135" y="76"/>
                    </a:lnTo>
                    <a:lnTo>
                      <a:pt x="138" y="73"/>
                    </a:lnTo>
                    <a:lnTo>
                      <a:pt x="138" y="71"/>
                    </a:lnTo>
                    <a:lnTo>
                      <a:pt x="138" y="68"/>
                    </a:lnTo>
                    <a:lnTo>
                      <a:pt x="141" y="66"/>
                    </a:lnTo>
                    <a:lnTo>
                      <a:pt x="141" y="64"/>
                    </a:lnTo>
                    <a:lnTo>
                      <a:pt x="141" y="61"/>
                    </a:lnTo>
                    <a:lnTo>
                      <a:pt x="144" y="58"/>
                    </a:lnTo>
                    <a:lnTo>
                      <a:pt x="144" y="56"/>
                    </a:lnTo>
                    <a:lnTo>
                      <a:pt x="144" y="54"/>
                    </a:lnTo>
                    <a:lnTo>
                      <a:pt x="148" y="51"/>
                    </a:lnTo>
                    <a:lnTo>
                      <a:pt x="148" y="49"/>
                    </a:lnTo>
                    <a:lnTo>
                      <a:pt x="148" y="46"/>
                    </a:lnTo>
                    <a:lnTo>
                      <a:pt x="151" y="43"/>
                    </a:lnTo>
                    <a:lnTo>
                      <a:pt x="151" y="41"/>
                    </a:lnTo>
                    <a:lnTo>
                      <a:pt x="151" y="39"/>
                    </a:lnTo>
                    <a:lnTo>
                      <a:pt x="154" y="36"/>
                    </a:lnTo>
                    <a:lnTo>
                      <a:pt x="154" y="34"/>
                    </a:lnTo>
                    <a:lnTo>
                      <a:pt x="154" y="31"/>
                    </a:lnTo>
                    <a:lnTo>
                      <a:pt x="157" y="29"/>
                    </a:lnTo>
                    <a:lnTo>
                      <a:pt x="157" y="27"/>
                    </a:lnTo>
                    <a:lnTo>
                      <a:pt x="157" y="25"/>
                    </a:lnTo>
                    <a:lnTo>
                      <a:pt x="160" y="23"/>
                    </a:lnTo>
                    <a:lnTo>
                      <a:pt x="160" y="21"/>
                    </a:lnTo>
                    <a:lnTo>
                      <a:pt x="160" y="19"/>
                    </a:lnTo>
                    <a:lnTo>
                      <a:pt x="164" y="17"/>
                    </a:lnTo>
                    <a:lnTo>
                      <a:pt x="164" y="15"/>
                    </a:lnTo>
                    <a:lnTo>
                      <a:pt x="164" y="13"/>
                    </a:lnTo>
                    <a:lnTo>
                      <a:pt x="167" y="12"/>
                    </a:lnTo>
                    <a:lnTo>
                      <a:pt x="167" y="10"/>
                    </a:lnTo>
                    <a:lnTo>
                      <a:pt x="167" y="9"/>
                    </a:lnTo>
                    <a:lnTo>
                      <a:pt x="170" y="7"/>
                    </a:lnTo>
                    <a:lnTo>
                      <a:pt x="170" y="6"/>
                    </a:lnTo>
                    <a:lnTo>
                      <a:pt x="170" y="5"/>
                    </a:lnTo>
                    <a:lnTo>
                      <a:pt x="173" y="4"/>
                    </a:lnTo>
                    <a:lnTo>
                      <a:pt x="173" y="3"/>
                    </a:lnTo>
                    <a:lnTo>
                      <a:pt x="173" y="2"/>
                    </a:lnTo>
                    <a:lnTo>
                      <a:pt x="176" y="2"/>
                    </a:lnTo>
                    <a:lnTo>
                      <a:pt x="176" y="1"/>
                    </a:lnTo>
                    <a:lnTo>
                      <a:pt x="176" y="1"/>
                    </a:lnTo>
                    <a:lnTo>
                      <a:pt x="180" y="0"/>
                    </a:lnTo>
                    <a:lnTo>
                      <a:pt x="183" y="0"/>
                    </a:lnTo>
                    <a:lnTo>
                      <a:pt x="183" y="0"/>
                    </a:lnTo>
                    <a:lnTo>
                      <a:pt x="186" y="1"/>
                    </a:lnTo>
                    <a:lnTo>
                      <a:pt x="186" y="1"/>
                    </a:lnTo>
                    <a:lnTo>
                      <a:pt x="186" y="2"/>
                    </a:lnTo>
                    <a:lnTo>
                      <a:pt x="189" y="3"/>
                    </a:lnTo>
                    <a:lnTo>
                      <a:pt x="189" y="3"/>
                    </a:lnTo>
                    <a:lnTo>
                      <a:pt x="189" y="4"/>
                    </a:lnTo>
                    <a:lnTo>
                      <a:pt x="192" y="5"/>
                    </a:lnTo>
                    <a:lnTo>
                      <a:pt x="192" y="6"/>
                    </a:lnTo>
                    <a:lnTo>
                      <a:pt x="192" y="8"/>
                    </a:lnTo>
                    <a:lnTo>
                      <a:pt x="196" y="9"/>
                    </a:lnTo>
                    <a:lnTo>
                      <a:pt x="196" y="11"/>
                    </a:lnTo>
                    <a:lnTo>
                      <a:pt x="196" y="12"/>
                    </a:lnTo>
                    <a:lnTo>
                      <a:pt x="199" y="14"/>
                    </a:lnTo>
                    <a:lnTo>
                      <a:pt x="199" y="16"/>
                    </a:lnTo>
                    <a:lnTo>
                      <a:pt x="199" y="17"/>
                    </a:lnTo>
                    <a:lnTo>
                      <a:pt x="199" y="19"/>
                    </a:lnTo>
                    <a:lnTo>
                      <a:pt x="202" y="21"/>
                    </a:lnTo>
                    <a:lnTo>
                      <a:pt x="202" y="24"/>
                    </a:lnTo>
                    <a:lnTo>
                      <a:pt x="202" y="26"/>
                    </a:lnTo>
                    <a:lnTo>
                      <a:pt x="205" y="28"/>
                    </a:lnTo>
                    <a:lnTo>
                      <a:pt x="205" y="30"/>
                    </a:lnTo>
                    <a:lnTo>
                      <a:pt x="205" y="32"/>
                    </a:lnTo>
                    <a:lnTo>
                      <a:pt x="208" y="35"/>
                    </a:lnTo>
                    <a:lnTo>
                      <a:pt x="208" y="37"/>
                    </a:lnTo>
                    <a:lnTo>
                      <a:pt x="208" y="39"/>
                    </a:lnTo>
                    <a:lnTo>
                      <a:pt x="212" y="42"/>
                    </a:lnTo>
                    <a:lnTo>
                      <a:pt x="212" y="44"/>
                    </a:lnTo>
                    <a:lnTo>
                      <a:pt x="212" y="47"/>
                    </a:lnTo>
                    <a:lnTo>
                      <a:pt x="215" y="49"/>
                    </a:lnTo>
                    <a:lnTo>
                      <a:pt x="215" y="52"/>
                    </a:lnTo>
                    <a:lnTo>
                      <a:pt x="215" y="54"/>
                    </a:lnTo>
                    <a:lnTo>
                      <a:pt x="218" y="57"/>
                    </a:lnTo>
                    <a:lnTo>
                      <a:pt x="218" y="60"/>
                    </a:lnTo>
                    <a:lnTo>
                      <a:pt x="218" y="62"/>
                    </a:lnTo>
                    <a:lnTo>
                      <a:pt x="221" y="64"/>
                    </a:lnTo>
                    <a:lnTo>
                      <a:pt x="221" y="67"/>
                    </a:lnTo>
                    <a:lnTo>
                      <a:pt x="221" y="69"/>
                    </a:lnTo>
                    <a:lnTo>
                      <a:pt x="224" y="72"/>
                    </a:lnTo>
                    <a:lnTo>
                      <a:pt x="224" y="74"/>
                    </a:lnTo>
                    <a:lnTo>
                      <a:pt x="224" y="76"/>
                    </a:lnTo>
                    <a:lnTo>
                      <a:pt x="228" y="79"/>
                    </a:lnTo>
                    <a:lnTo>
                      <a:pt x="228" y="81"/>
                    </a:lnTo>
                    <a:lnTo>
                      <a:pt x="228" y="83"/>
                    </a:lnTo>
                    <a:lnTo>
                      <a:pt x="231" y="85"/>
                    </a:lnTo>
                    <a:lnTo>
                      <a:pt x="231" y="87"/>
                    </a:lnTo>
                    <a:lnTo>
                      <a:pt x="231" y="89"/>
                    </a:lnTo>
                    <a:lnTo>
                      <a:pt x="234" y="91"/>
                    </a:lnTo>
                    <a:lnTo>
                      <a:pt x="234" y="93"/>
                    </a:lnTo>
                    <a:lnTo>
                      <a:pt x="234" y="94"/>
                    </a:lnTo>
                    <a:lnTo>
                      <a:pt x="237" y="96"/>
                    </a:lnTo>
                    <a:lnTo>
                      <a:pt x="237" y="97"/>
                    </a:lnTo>
                    <a:lnTo>
                      <a:pt x="237" y="99"/>
                    </a:lnTo>
                    <a:lnTo>
                      <a:pt x="240" y="100"/>
                    </a:lnTo>
                    <a:lnTo>
                      <a:pt x="240" y="101"/>
                    </a:lnTo>
                    <a:lnTo>
                      <a:pt x="240" y="102"/>
                    </a:lnTo>
                    <a:lnTo>
                      <a:pt x="244" y="103"/>
                    </a:lnTo>
                    <a:lnTo>
                      <a:pt x="244" y="104"/>
                    </a:lnTo>
                    <a:lnTo>
                      <a:pt x="244" y="105"/>
                    </a:lnTo>
                    <a:lnTo>
                      <a:pt x="247" y="106"/>
                    </a:lnTo>
                    <a:lnTo>
                      <a:pt x="247" y="106"/>
                    </a:lnTo>
                    <a:lnTo>
                      <a:pt x="247" y="106"/>
                    </a:lnTo>
                    <a:lnTo>
                      <a:pt x="250" y="107"/>
                    </a:lnTo>
                    <a:lnTo>
                      <a:pt x="253" y="107"/>
                    </a:lnTo>
                    <a:lnTo>
                      <a:pt x="253" y="107"/>
                    </a:lnTo>
                    <a:lnTo>
                      <a:pt x="253" y="106"/>
                    </a:lnTo>
                    <a:lnTo>
                      <a:pt x="256" y="106"/>
                    </a:lnTo>
                    <a:lnTo>
                      <a:pt x="256" y="106"/>
                    </a:lnTo>
                    <a:lnTo>
                      <a:pt x="256" y="105"/>
                    </a:lnTo>
                    <a:lnTo>
                      <a:pt x="260" y="104"/>
                    </a:lnTo>
                    <a:lnTo>
                      <a:pt x="260" y="103"/>
                    </a:lnTo>
                    <a:lnTo>
                      <a:pt x="260" y="102"/>
                    </a:lnTo>
                    <a:lnTo>
                      <a:pt x="263" y="101"/>
                    </a:lnTo>
                    <a:lnTo>
                      <a:pt x="263" y="100"/>
                    </a:lnTo>
                    <a:lnTo>
                      <a:pt x="263" y="99"/>
                    </a:lnTo>
                    <a:lnTo>
                      <a:pt x="266" y="97"/>
                    </a:lnTo>
                    <a:lnTo>
                      <a:pt x="266" y="96"/>
                    </a:lnTo>
                    <a:lnTo>
                      <a:pt x="266" y="94"/>
                    </a:lnTo>
                    <a:lnTo>
                      <a:pt x="269" y="93"/>
                    </a:lnTo>
                    <a:lnTo>
                      <a:pt x="269" y="91"/>
                    </a:lnTo>
                    <a:lnTo>
                      <a:pt x="269" y="89"/>
                    </a:lnTo>
                    <a:lnTo>
                      <a:pt x="272" y="87"/>
                    </a:lnTo>
                    <a:lnTo>
                      <a:pt x="272" y="85"/>
                    </a:lnTo>
                    <a:lnTo>
                      <a:pt x="272" y="83"/>
                    </a:lnTo>
                    <a:lnTo>
                      <a:pt x="276" y="81"/>
                    </a:lnTo>
                    <a:lnTo>
                      <a:pt x="276" y="79"/>
                    </a:lnTo>
                    <a:lnTo>
                      <a:pt x="276" y="76"/>
                    </a:lnTo>
                    <a:lnTo>
                      <a:pt x="279" y="74"/>
                    </a:lnTo>
                    <a:lnTo>
                      <a:pt x="279" y="72"/>
                    </a:lnTo>
                    <a:lnTo>
                      <a:pt x="279" y="69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0" name="Freeform 34"/>
              <p:cNvSpPr>
                <a:spLocks/>
              </p:cNvSpPr>
              <p:nvPr/>
            </p:nvSpPr>
            <p:spPr bwMode="auto">
              <a:xfrm>
                <a:off x="1860" y="3125"/>
                <a:ext cx="279" cy="108"/>
              </a:xfrm>
              <a:custGeom>
                <a:avLst/>
                <a:gdLst>
                  <a:gd name="T0" fmla="*/ 3 w 279"/>
                  <a:gd name="T1" fmla="*/ 62 h 108"/>
                  <a:gd name="T2" fmla="*/ 9 w 279"/>
                  <a:gd name="T3" fmla="*/ 52 h 108"/>
                  <a:gd name="T4" fmla="*/ 13 w 279"/>
                  <a:gd name="T5" fmla="*/ 42 h 108"/>
                  <a:gd name="T6" fmla="*/ 16 w 279"/>
                  <a:gd name="T7" fmla="*/ 32 h 108"/>
                  <a:gd name="T8" fmla="*/ 22 w 279"/>
                  <a:gd name="T9" fmla="*/ 24 h 108"/>
                  <a:gd name="T10" fmla="*/ 25 w 279"/>
                  <a:gd name="T11" fmla="*/ 16 h 108"/>
                  <a:gd name="T12" fmla="*/ 29 w 279"/>
                  <a:gd name="T13" fmla="*/ 9 h 108"/>
                  <a:gd name="T14" fmla="*/ 32 w 279"/>
                  <a:gd name="T15" fmla="*/ 4 h 108"/>
                  <a:gd name="T16" fmla="*/ 38 w 279"/>
                  <a:gd name="T17" fmla="*/ 1 h 108"/>
                  <a:gd name="T18" fmla="*/ 45 w 279"/>
                  <a:gd name="T19" fmla="*/ 0 h 108"/>
                  <a:gd name="T20" fmla="*/ 48 w 279"/>
                  <a:gd name="T21" fmla="*/ 2 h 108"/>
                  <a:gd name="T22" fmla="*/ 54 w 279"/>
                  <a:gd name="T23" fmla="*/ 6 h 108"/>
                  <a:gd name="T24" fmla="*/ 57 w 279"/>
                  <a:gd name="T25" fmla="*/ 12 h 108"/>
                  <a:gd name="T26" fmla="*/ 61 w 279"/>
                  <a:gd name="T27" fmla="*/ 19 h 108"/>
                  <a:gd name="T28" fmla="*/ 67 w 279"/>
                  <a:gd name="T29" fmla="*/ 27 h 108"/>
                  <a:gd name="T30" fmla="*/ 70 w 279"/>
                  <a:gd name="T31" fmla="*/ 36 h 108"/>
                  <a:gd name="T32" fmla="*/ 73 w 279"/>
                  <a:gd name="T33" fmla="*/ 46 h 108"/>
                  <a:gd name="T34" fmla="*/ 80 w 279"/>
                  <a:gd name="T35" fmla="*/ 56 h 108"/>
                  <a:gd name="T36" fmla="*/ 83 w 279"/>
                  <a:gd name="T37" fmla="*/ 66 h 108"/>
                  <a:gd name="T38" fmla="*/ 86 w 279"/>
                  <a:gd name="T39" fmla="*/ 76 h 108"/>
                  <a:gd name="T40" fmla="*/ 93 w 279"/>
                  <a:gd name="T41" fmla="*/ 84 h 108"/>
                  <a:gd name="T42" fmla="*/ 96 w 279"/>
                  <a:gd name="T43" fmla="*/ 92 h 108"/>
                  <a:gd name="T44" fmla="*/ 99 w 279"/>
                  <a:gd name="T45" fmla="*/ 98 h 108"/>
                  <a:gd name="T46" fmla="*/ 105 w 279"/>
                  <a:gd name="T47" fmla="*/ 103 h 108"/>
                  <a:gd name="T48" fmla="*/ 109 w 279"/>
                  <a:gd name="T49" fmla="*/ 106 h 108"/>
                  <a:gd name="T50" fmla="*/ 115 w 279"/>
                  <a:gd name="T51" fmla="*/ 107 h 108"/>
                  <a:gd name="T52" fmla="*/ 121 w 279"/>
                  <a:gd name="T53" fmla="*/ 104 h 108"/>
                  <a:gd name="T54" fmla="*/ 125 w 279"/>
                  <a:gd name="T55" fmla="*/ 101 h 108"/>
                  <a:gd name="T56" fmla="*/ 128 w 279"/>
                  <a:gd name="T57" fmla="*/ 95 h 108"/>
                  <a:gd name="T58" fmla="*/ 131 w 279"/>
                  <a:gd name="T59" fmla="*/ 88 h 108"/>
                  <a:gd name="T60" fmla="*/ 137 w 279"/>
                  <a:gd name="T61" fmla="*/ 79 h 108"/>
                  <a:gd name="T62" fmla="*/ 141 w 279"/>
                  <a:gd name="T63" fmla="*/ 70 h 108"/>
                  <a:gd name="T64" fmla="*/ 144 w 279"/>
                  <a:gd name="T65" fmla="*/ 60 h 108"/>
                  <a:gd name="T66" fmla="*/ 150 w 279"/>
                  <a:gd name="T67" fmla="*/ 50 h 108"/>
                  <a:gd name="T68" fmla="*/ 153 w 279"/>
                  <a:gd name="T69" fmla="*/ 40 h 108"/>
                  <a:gd name="T70" fmla="*/ 157 w 279"/>
                  <a:gd name="T71" fmla="*/ 31 h 108"/>
                  <a:gd name="T72" fmla="*/ 163 w 279"/>
                  <a:gd name="T73" fmla="*/ 22 h 108"/>
                  <a:gd name="T74" fmla="*/ 166 w 279"/>
                  <a:gd name="T75" fmla="*/ 14 h 108"/>
                  <a:gd name="T76" fmla="*/ 169 w 279"/>
                  <a:gd name="T77" fmla="*/ 8 h 108"/>
                  <a:gd name="T78" fmla="*/ 176 w 279"/>
                  <a:gd name="T79" fmla="*/ 4 h 108"/>
                  <a:gd name="T80" fmla="*/ 179 w 279"/>
                  <a:gd name="T81" fmla="*/ 1 h 108"/>
                  <a:gd name="T82" fmla="*/ 185 w 279"/>
                  <a:gd name="T83" fmla="*/ 0 h 108"/>
                  <a:gd name="T84" fmla="*/ 189 w 279"/>
                  <a:gd name="T85" fmla="*/ 2 h 108"/>
                  <a:gd name="T86" fmla="*/ 195 w 279"/>
                  <a:gd name="T87" fmla="*/ 6 h 108"/>
                  <a:gd name="T88" fmla="*/ 198 w 279"/>
                  <a:gd name="T89" fmla="*/ 11 h 108"/>
                  <a:gd name="T90" fmla="*/ 201 w 279"/>
                  <a:gd name="T91" fmla="*/ 18 h 108"/>
                  <a:gd name="T92" fmla="*/ 208 w 279"/>
                  <a:gd name="T93" fmla="*/ 26 h 108"/>
                  <a:gd name="T94" fmla="*/ 211 w 279"/>
                  <a:gd name="T95" fmla="*/ 35 h 108"/>
                  <a:gd name="T96" fmla="*/ 214 w 279"/>
                  <a:gd name="T97" fmla="*/ 45 h 108"/>
                  <a:gd name="T98" fmla="*/ 221 w 279"/>
                  <a:gd name="T99" fmla="*/ 55 h 108"/>
                  <a:gd name="T100" fmla="*/ 224 w 279"/>
                  <a:gd name="T101" fmla="*/ 65 h 108"/>
                  <a:gd name="T102" fmla="*/ 227 w 279"/>
                  <a:gd name="T103" fmla="*/ 75 h 108"/>
                  <a:gd name="T104" fmla="*/ 233 w 279"/>
                  <a:gd name="T105" fmla="*/ 83 h 108"/>
                  <a:gd name="T106" fmla="*/ 237 w 279"/>
                  <a:gd name="T107" fmla="*/ 91 h 108"/>
                  <a:gd name="T108" fmla="*/ 240 w 279"/>
                  <a:gd name="T109" fmla="*/ 98 h 108"/>
                  <a:gd name="T110" fmla="*/ 243 w 279"/>
                  <a:gd name="T111" fmla="*/ 103 h 108"/>
                  <a:gd name="T112" fmla="*/ 249 w 279"/>
                  <a:gd name="T113" fmla="*/ 106 h 108"/>
                  <a:gd name="T114" fmla="*/ 256 w 279"/>
                  <a:gd name="T115" fmla="*/ 107 h 108"/>
                  <a:gd name="T116" fmla="*/ 259 w 279"/>
                  <a:gd name="T117" fmla="*/ 105 h 108"/>
                  <a:gd name="T118" fmla="*/ 265 w 279"/>
                  <a:gd name="T119" fmla="*/ 101 h 108"/>
                  <a:gd name="T120" fmla="*/ 269 w 279"/>
                  <a:gd name="T121" fmla="*/ 95 h 108"/>
                  <a:gd name="T122" fmla="*/ 272 w 279"/>
                  <a:gd name="T123" fmla="*/ 88 h 108"/>
                  <a:gd name="T124" fmla="*/ 278 w 279"/>
                  <a:gd name="T125" fmla="*/ 8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9" h="108">
                    <a:moveTo>
                      <a:pt x="0" y="69"/>
                    </a:moveTo>
                    <a:lnTo>
                      <a:pt x="3" y="67"/>
                    </a:lnTo>
                    <a:lnTo>
                      <a:pt x="3" y="64"/>
                    </a:lnTo>
                    <a:lnTo>
                      <a:pt x="3" y="62"/>
                    </a:lnTo>
                    <a:lnTo>
                      <a:pt x="6" y="60"/>
                    </a:lnTo>
                    <a:lnTo>
                      <a:pt x="6" y="57"/>
                    </a:lnTo>
                    <a:lnTo>
                      <a:pt x="6" y="54"/>
                    </a:lnTo>
                    <a:lnTo>
                      <a:pt x="9" y="52"/>
                    </a:lnTo>
                    <a:lnTo>
                      <a:pt x="9" y="49"/>
                    </a:lnTo>
                    <a:lnTo>
                      <a:pt x="9" y="47"/>
                    </a:lnTo>
                    <a:lnTo>
                      <a:pt x="13" y="44"/>
                    </a:lnTo>
                    <a:lnTo>
                      <a:pt x="13" y="42"/>
                    </a:lnTo>
                    <a:lnTo>
                      <a:pt x="13" y="39"/>
                    </a:lnTo>
                    <a:lnTo>
                      <a:pt x="16" y="37"/>
                    </a:lnTo>
                    <a:lnTo>
                      <a:pt x="16" y="35"/>
                    </a:lnTo>
                    <a:lnTo>
                      <a:pt x="16" y="32"/>
                    </a:lnTo>
                    <a:lnTo>
                      <a:pt x="19" y="30"/>
                    </a:lnTo>
                    <a:lnTo>
                      <a:pt x="19" y="28"/>
                    </a:lnTo>
                    <a:lnTo>
                      <a:pt x="19" y="26"/>
                    </a:lnTo>
                    <a:lnTo>
                      <a:pt x="22" y="24"/>
                    </a:lnTo>
                    <a:lnTo>
                      <a:pt x="22" y="21"/>
                    </a:lnTo>
                    <a:lnTo>
                      <a:pt x="22" y="19"/>
                    </a:lnTo>
                    <a:lnTo>
                      <a:pt x="25" y="17"/>
                    </a:lnTo>
                    <a:lnTo>
                      <a:pt x="25" y="16"/>
                    </a:lnTo>
                    <a:lnTo>
                      <a:pt x="25" y="14"/>
                    </a:lnTo>
                    <a:lnTo>
                      <a:pt x="25" y="12"/>
                    </a:lnTo>
                    <a:lnTo>
                      <a:pt x="29" y="11"/>
                    </a:lnTo>
                    <a:lnTo>
                      <a:pt x="29" y="9"/>
                    </a:lnTo>
                    <a:lnTo>
                      <a:pt x="29" y="8"/>
                    </a:lnTo>
                    <a:lnTo>
                      <a:pt x="32" y="6"/>
                    </a:lnTo>
                    <a:lnTo>
                      <a:pt x="32" y="5"/>
                    </a:lnTo>
                    <a:lnTo>
                      <a:pt x="32" y="4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5" y="2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8" y="0"/>
                    </a:lnTo>
                    <a:lnTo>
                      <a:pt x="41" y="0"/>
                    </a:lnTo>
                    <a:lnTo>
                      <a:pt x="45" y="0"/>
                    </a:lnTo>
                    <a:lnTo>
                      <a:pt x="45" y="1"/>
                    </a:lnTo>
                    <a:lnTo>
                      <a:pt x="48" y="1"/>
                    </a:lnTo>
                    <a:lnTo>
                      <a:pt x="48" y="2"/>
                    </a:lnTo>
                    <a:lnTo>
                      <a:pt x="48" y="2"/>
                    </a:lnTo>
                    <a:lnTo>
                      <a:pt x="51" y="3"/>
                    </a:lnTo>
                    <a:lnTo>
                      <a:pt x="51" y="4"/>
                    </a:lnTo>
                    <a:lnTo>
                      <a:pt x="51" y="5"/>
                    </a:lnTo>
                    <a:lnTo>
                      <a:pt x="54" y="6"/>
                    </a:lnTo>
                    <a:lnTo>
                      <a:pt x="54" y="7"/>
                    </a:lnTo>
                    <a:lnTo>
                      <a:pt x="54" y="9"/>
                    </a:lnTo>
                    <a:lnTo>
                      <a:pt x="57" y="10"/>
                    </a:lnTo>
                    <a:lnTo>
                      <a:pt x="57" y="12"/>
                    </a:lnTo>
                    <a:lnTo>
                      <a:pt x="57" y="13"/>
                    </a:lnTo>
                    <a:lnTo>
                      <a:pt x="61" y="15"/>
                    </a:lnTo>
                    <a:lnTo>
                      <a:pt x="61" y="17"/>
                    </a:lnTo>
                    <a:lnTo>
                      <a:pt x="61" y="19"/>
                    </a:lnTo>
                    <a:lnTo>
                      <a:pt x="64" y="21"/>
                    </a:lnTo>
                    <a:lnTo>
                      <a:pt x="64" y="23"/>
                    </a:lnTo>
                    <a:lnTo>
                      <a:pt x="64" y="25"/>
                    </a:lnTo>
                    <a:lnTo>
                      <a:pt x="67" y="27"/>
                    </a:lnTo>
                    <a:lnTo>
                      <a:pt x="67" y="29"/>
                    </a:lnTo>
                    <a:lnTo>
                      <a:pt x="67" y="31"/>
                    </a:lnTo>
                    <a:lnTo>
                      <a:pt x="70" y="34"/>
                    </a:lnTo>
                    <a:lnTo>
                      <a:pt x="70" y="36"/>
                    </a:lnTo>
                    <a:lnTo>
                      <a:pt x="70" y="39"/>
                    </a:lnTo>
                    <a:lnTo>
                      <a:pt x="73" y="41"/>
                    </a:lnTo>
                    <a:lnTo>
                      <a:pt x="73" y="43"/>
                    </a:lnTo>
                    <a:lnTo>
                      <a:pt x="73" y="46"/>
                    </a:lnTo>
                    <a:lnTo>
                      <a:pt x="77" y="49"/>
                    </a:lnTo>
                    <a:lnTo>
                      <a:pt x="77" y="51"/>
                    </a:lnTo>
                    <a:lnTo>
                      <a:pt x="77" y="54"/>
                    </a:lnTo>
                    <a:lnTo>
                      <a:pt x="80" y="56"/>
                    </a:lnTo>
                    <a:lnTo>
                      <a:pt x="80" y="58"/>
                    </a:lnTo>
                    <a:lnTo>
                      <a:pt x="80" y="61"/>
                    </a:lnTo>
                    <a:lnTo>
                      <a:pt x="83" y="64"/>
                    </a:lnTo>
                    <a:lnTo>
                      <a:pt x="83" y="66"/>
                    </a:lnTo>
                    <a:lnTo>
                      <a:pt x="83" y="68"/>
                    </a:lnTo>
                    <a:lnTo>
                      <a:pt x="86" y="71"/>
                    </a:lnTo>
                    <a:lnTo>
                      <a:pt x="86" y="73"/>
                    </a:lnTo>
                    <a:lnTo>
                      <a:pt x="86" y="76"/>
                    </a:lnTo>
                    <a:lnTo>
                      <a:pt x="89" y="78"/>
                    </a:lnTo>
                    <a:lnTo>
                      <a:pt x="89" y="80"/>
                    </a:lnTo>
                    <a:lnTo>
                      <a:pt x="89" y="82"/>
                    </a:lnTo>
                    <a:lnTo>
                      <a:pt x="93" y="84"/>
                    </a:lnTo>
                    <a:lnTo>
                      <a:pt x="93" y="86"/>
                    </a:lnTo>
                    <a:lnTo>
                      <a:pt x="93" y="88"/>
                    </a:lnTo>
                    <a:lnTo>
                      <a:pt x="96" y="90"/>
                    </a:lnTo>
                    <a:lnTo>
                      <a:pt x="96" y="92"/>
                    </a:lnTo>
                    <a:lnTo>
                      <a:pt x="96" y="94"/>
                    </a:lnTo>
                    <a:lnTo>
                      <a:pt x="99" y="95"/>
                    </a:lnTo>
                    <a:lnTo>
                      <a:pt x="99" y="97"/>
                    </a:lnTo>
                    <a:lnTo>
                      <a:pt x="99" y="98"/>
                    </a:lnTo>
                    <a:lnTo>
                      <a:pt x="102" y="100"/>
                    </a:lnTo>
                    <a:lnTo>
                      <a:pt x="102" y="101"/>
                    </a:lnTo>
                    <a:lnTo>
                      <a:pt x="102" y="102"/>
                    </a:lnTo>
                    <a:lnTo>
                      <a:pt x="105" y="103"/>
                    </a:lnTo>
                    <a:lnTo>
                      <a:pt x="105" y="104"/>
                    </a:lnTo>
                    <a:lnTo>
                      <a:pt x="105" y="105"/>
                    </a:lnTo>
                    <a:lnTo>
                      <a:pt x="109" y="105"/>
                    </a:lnTo>
                    <a:lnTo>
                      <a:pt x="109" y="106"/>
                    </a:lnTo>
                    <a:lnTo>
                      <a:pt x="109" y="106"/>
                    </a:lnTo>
                    <a:lnTo>
                      <a:pt x="112" y="107"/>
                    </a:lnTo>
                    <a:lnTo>
                      <a:pt x="115" y="107"/>
                    </a:lnTo>
                    <a:lnTo>
                      <a:pt x="115" y="107"/>
                    </a:lnTo>
                    <a:lnTo>
                      <a:pt x="118" y="106"/>
                    </a:lnTo>
                    <a:lnTo>
                      <a:pt x="118" y="106"/>
                    </a:lnTo>
                    <a:lnTo>
                      <a:pt x="118" y="105"/>
                    </a:lnTo>
                    <a:lnTo>
                      <a:pt x="121" y="104"/>
                    </a:lnTo>
                    <a:lnTo>
                      <a:pt x="121" y="104"/>
                    </a:lnTo>
                    <a:lnTo>
                      <a:pt x="121" y="103"/>
                    </a:lnTo>
                    <a:lnTo>
                      <a:pt x="125" y="102"/>
                    </a:lnTo>
                    <a:lnTo>
                      <a:pt x="125" y="101"/>
                    </a:lnTo>
                    <a:lnTo>
                      <a:pt x="125" y="99"/>
                    </a:lnTo>
                    <a:lnTo>
                      <a:pt x="128" y="98"/>
                    </a:lnTo>
                    <a:lnTo>
                      <a:pt x="128" y="96"/>
                    </a:lnTo>
                    <a:lnTo>
                      <a:pt x="128" y="95"/>
                    </a:lnTo>
                    <a:lnTo>
                      <a:pt x="131" y="93"/>
                    </a:lnTo>
                    <a:lnTo>
                      <a:pt x="131" y="91"/>
                    </a:lnTo>
                    <a:lnTo>
                      <a:pt x="131" y="90"/>
                    </a:lnTo>
                    <a:lnTo>
                      <a:pt x="131" y="88"/>
                    </a:lnTo>
                    <a:lnTo>
                      <a:pt x="134" y="86"/>
                    </a:lnTo>
                    <a:lnTo>
                      <a:pt x="134" y="83"/>
                    </a:lnTo>
                    <a:lnTo>
                      <a:pt x="134" y="81"/>
                    </a:lnTo>
                    <a:lnTo>
                      <a:pt x="137" y="79"/>
                    </a:lnTo>
                    <a:lnTo>
                      <a:pt x="137" y="77"/>
                    </a:lnTo>
                    <a:lnTo>
                      <a:pt x="137" y="75"/>
                    </a:lnTo>
                    <a:lnTo>
                      <a:pt x="141" y="72"/>
                    </a:lnTo>
                    <a:lnTo>
                      <a:pt x="141" y="70"/>
                    </a:lnTo>
                    <a:lnTo>
                      <a:pt x="141" y="68"/>
                    </a:lnTo>
                    <a:lnTo>
                      <a:pt x="144" y="65"/>
                    </a:lnTo>
                    <a:lnTo>
                      <a:pt x="144" y="63"/>
                    </a:lnTo>
                    <a:lnTo>
                      <a:pt x="144" y="60"/>
                    </a:lnTo>
                    <a:lnTo>
                      <a:pt x="147" y="58"/>
                    </a:lnTo>
                    <a:lnTo>
                      <a:pt x="147" y="55"/>
                    </a:lnTo>
                    <a:lnTo>
                      <a:pt x="147" y="53"/>
                    </a:lnTo>
                    <a:lnTo>
                      <a:pt x="150" y="50"/>
                    </a:lnTo>
                    <a:lnTo>
                      <a:pt x="150" y="47"/>
                    </a:lnTo>
                    <a:lnTo>
                      <a:pt x="150" y="45"/>
                    </a:lnTo>
                    <a:lnTo>
                      <a:pt x="153" y="43"/>
                    </a:lnTo>
                    <a:lnTo>
                      <a:pt x="153" y="40"/>
                    </a:lnTo>
                    <a:lnTo>
                      <a:pt x="153" y="38"/>
                    </a:lnTo>
                    <a:lnTo>
                      <a:pt x="157" y="35"/>
                    </a:lnTo>
                    <a:lnTo>
                      <a:pt x="157" y="33"/>
                    </a:lnTo>
                    <a:lnTo>
                      <a:pt x="157" y="31"/>
                    </a:lnTo>
                    <a:lnTo>
                      <a:pt x="160" y="28"/>
                    </a:lnTo>
                    <a:lnTo>
                      <a:pt x="160" y="26"/>
                    </a:lnTo>
                    <a:lnTo>
                      <a:pt x="160" y="24"/>
                    </a:lnTo>
                    <a:lnTo>
                      <a:pt x="163" y="22"/>
                    </a:lnTo>
                    <a:lnTo>
                      <a:pt x="163" y="20"/>
                    </a:lnTo>
                    <a:lnTo>
                      <a:pt x="163" y="18"/>
                    </a:lnTo>
                    <a:lnTo>
                      <a:pt x="166" y="16"/>
                    </a:lnTo>
                    <a:lnTo>
                      <a:pt x="166" y="14"/>
                    </a:lnTo>
                    <a:lnTo>
                      <a:pt x="166" y="13"/>
                    </a:lnTo>
                    <a:lnTo>
                      <a:pt x="169" y="11"/>
                    </a:lnTo>
                    <a:lnTo>
                      <a:pt x="169" y="10"/>
                    </a:lnTo>
                    <a:lnTo>
                      <a:pt x="169" y="8"/>
                    </a:lnTo>
                    <a:lnTo>
                      <a:pt x="173" y="7"/>
                    </a:lnTo>
                    <a:lnTo>
                      <a:pt x="173" y="6"/>
                    </a:lnTo>
                    <a:lnTo>
                      <a:pt x="173" y="5"/>
                    </a:lnTo>
                    <a:lnTo>
                      <a:pt x="176" y="4"/>
                    </a:lnTo>
                    <a:lnTo>
                      <a:pt x="176" y="3"/>
                    </a:lnTo>
                    <a:lnTo>
                      <a:pt x="176" y="2"/>
                    </a:lnTo>
                    <a:lnTo>
                      <a:pt x="179" y="1"/>
                    </a:lnTo>
                    <a:lnTo>
                      <a:pt x="179" y="1"/>
                    </a:lnTo>
                    <a:lnTo>
                      <a:pt x="179" y="1"/>
                    </a:lnTo>
                    <a:lnTo>
                      <a:pt x="182" y="0"/>
                    </a:lnTo>
                    <a:lnTo>
                      <a:pt x="185" y="0"/>
                    </a:lnTo>
                    <a:lnTo>
                      <a:pt x="185" y="0"/>
                    </a:lnTo>
                    <a:lnTo>
                      <a:pt x="185" y="1"/>
                    </a:lnTo>
                    <a:lnTo>
                      <a:pt x="189" y="1"/>
                    </a:lnTo>
                    <a:lnTo>
                      <a:pt x="189" y="1"/>
                    </a:lnTo>
                    <a:lnTo>
                      <a:pt x="189" y="2"/>
                    </a:lnTo>
                    <a:lnTo>
                      <a:pt x="192" y="3"/>
                    </a:lnTo>
                    <a:lnTo>
                      <a:pt x="192" y="4"/>
                    </a:lnTo>
                    <a:lnTo>
                      <a:pt x="192" y="5"/>
                    </a:lnTo>
                    <a:lnTo>
                      <a:pt x="195" y="6"/>
                    </a:lnTo>
                    <a:lnTo>
                      <a:pt x="195" y="7"/>
                    </a:lnTo>
                    <a:lnTo>
                      <a:pt x="195" y="8"/>
                    </a:lnTo>
                    <a:lnTo>
                      <a:pt x="198" y="10"/>
                    </a:lnTo>
                    <a:lnTo>
                      <a:pt x="198" y="11"/>
                    </a:lnTo>
                    <a:lnTo>
                      <a:pt x="198" y="13"/>
                    </a:lnTo>
                    <a:lnTo>
                      <a:pt x="201" y="14"/>
                    </a:lnTo>
                    <a:lnTo>
                      <a:pt x="201" y="16"/>
                    </a:lnTo>
                    <a:lnTo>
                      <a:pt x="201" y="18"/>
                    </a:lnTo>
                    <a:lnTo>
                      <a:pt x="205" y="20"/>
                    </a:lnTo>
                    <a:lnTo>
                      <a:pt x="205" y="22"/>
                    </a:lnTo>
                    <a:lnTo>
                      <a:pt x="205" y="24"/>
                    </a:lnTo>
                    <a:lnTo>
                      <a:pt x="208" y="26"/>
                    </a:lnTo>
                    <a:lnTo>
                      <a:pt x="208" y="28"/>
                    </a:lnTo>
                    <a:lnTo>
                      <a:pt x="208" y="31"/>
                    </a:lnTo>
                    <a:lnTo>
                      <a:pt x="211" y="33"/>
                    </a:lnTo>
                    <a:lnTo>
                      <a:pt x="211" y="35"/>
                    </a:lnTo>
                    <a:lnTo>
                      <a:pt x="211" y="38"/>
                    </a:lnTo>
                    <a:lnTo>
                      <a:pt x="214" y="40"/>
                    </a:lnTo>
                    <a:lnTo>
                      <a:pt x="214" y="43"/>
                    </a:lnTo>
                    <a:lnTo>
                      <a:pt x="214" y="45"/>
                    </a:lnTo>
                    <a:lnTo>
                      <a:pt x="217" y="47"/>
                    </a:lnTo>
                    <a:lnTo>
                      <a:pt x="217" y="50"/>
                    </a:lnTo>
                    <a:lnTo>
                      <a:pt x="217" y="53"/>
                    </a:lnTo>
                    <a:lnTo>
                      <a:pt x="221" y="55"/>
                    </a:lnTo>
                    <a:lnTo>
                      <a:pt x="221" y="58"/>
                    </a:lnTo>
                    <a:lnTo>
                      <a:pt x="221" y="60"/>
                    </a:lnTo>
                    <a:lnTo>
                      <a:pt x="224" y="63"/>
                    </a:lnTo>
                    <a:lnTo>
                      <a:pt x="224" y="65"/>
                    </a:lnTo>
                    <a:lnTo>
                      <a:pt x="224" y="68"/>
                    </a:lnTo>
                    <a:lnTo>
                      <a:pt x="227" y="70"/>
                    </a:lnTo>
                    <a:lnTo>
                      <a:pt x="227" y="72"/>
                    </a:lnTo>
                    <a:lnTo>
                      <a:pt x="227" y="75"/>
                    </a:lnTo>
                    <a:lnTo>
                      <a:pt x="230" y="77"/>
                    </a:lnTo>
                    <a:lnTo>
                      <a:pt x="230" y="79"/>
                    </a:lnTo>
                    <a:lnTo>
                      <a:pt x="230" y="81"/>
                    </a:lnTo>
                    <a:lnTo>
                      <a:pt x="233" y="83"/>
                    </a:lnTo>
                    <a:lnTo>
                      <a:pt x="233" y="86"/>
                    </a:lnTo>
                    <a:lnTo>
                      <a:pt x="233" y="88"/>
                    </a:lnTo>
                    <a:lnTo>
                      <a:pt x="237" y="90"/>
                    </a:lnTo>
                    <a:lnTo>
                      <a:pt x="237" y="91"/>
                    </a:lnTo>
                    <a:lnTo>
                      <a:pt x="237" y="93"/>
                    </a:lnTo>
                    <a:lnTo>
                      <a:pt x="237" y="95"/>
                    </a:lnTo>
                    <a:lnTo>
                      <a:pt x="240" y="96"/>
                    </a:lnTo>
                    <a:lnTo>
                      <a:pt x="240" y="98"/>
                    </a:lnTo>
                    <a:lnTo>
                      <a:pt x="240" y="99"/>
                    </a:lnTo>
                    <a:lnTo>
                      <a:pt x="243" y="101"/>
                    </a:lnTo>
                    <a:lnTo>
                      <a:pt x="243" y="102"/>
                    </a:lnTo>
                    <a:lnTo>
                      <a:pt x="243" y="103"/>
                    </a:lnTo>
                    <a:lnTo>
                      <a:pt x="246" y="104"/>
                    </a:lnTo>
                    <a:lnTo>
                      <a:pt x="246" y="104"/>
                    </a:lnTo>
                    <a:lnTo>
                      <a:pt x="246" y="105"/>
                    </a:lnTo>
                    <a:lnTo>
                      <a:pt x="249" y="106"/>
                    </a:lnTo>
                    <a:lnTo>
                      <a:pt x="249" y="106"/>
                    </a:lnTo>
                    <a:lnTo>
                      <a:pt x="249" y="107"/>
                    </a:lnTo>
                    <a:lnTo>
                      <a:pt x="253" y="107"/>
                    </a:lnTo>
                    <a:lnTo>
                      <a:pt x="256" y="107"/>
                    </a:lnTo>
                    <a:lnTo>
                      <a:pt x="256" y="106"/>
                    </a:lnTo>
                    <a:lnTo>
                      <a:pt x="259" y="106"/>
                    </a:lnTo>
                    <a:lnTo>
                      <a:pt x="259" y="105"/>
                    </a:lnTo>
                    <a:lnTo>
                      <a:pt x="259" y="105"/>
                    </a:lnTo>
                    <a:lnTo>
                      <a:pt x="262" y="104"/>
                    </a:lnTo>
                    <a:lnTo>
                      <a:pt x="262" y="103"/>
                    </a:lnTo>
                    <a:lnTo>
                      <a:pt x="262" y="102"/>
                    </a:lnTo>
                    <a:lnTo>
                      <a:pt x="265" y="101"/>
                    </a:lnTo>
                    <a:lnTo>
                      <a:pt x="265" y="100"/>
                    </a:lnTo>
                    <a:lnTo>
                      <a:pt x="265" y="98"/>
                    </a:lnTo>
                    <a:lnTo>
                      <a:pt x="269" y="97"/>
                    </a:lnTo>
                    <a:lnTo>
                      <a:pt x="269" y="95"/>
                    </a:lnTo>
                    <a:lnTo>
                      <a:pt x="269" y="94"/>
                    </a:lnTo>
                    <a:lnTo>
                      <a:pt x="272" y="92"/>
                    </a:lnTo>
                    <a:lnTo>
                      <a:pt x="272" y="90"/>
                    </a:lnTo>
                    <a:lnTo>
                      <a:pt x="272" y="88"/>
                    </a:lnTo>
                    <a:lnTo>
                      <a:pt x="275" y="86"/>
                    </a:lnTo>
                    <a:lnTo>
                      <a:pt x="275" y="84"/>
                    </a:lnTo>
                    <a:lnTo>
                      <a:pt x="275" y="82"/>
                    </a:lnTo>
                    <a:lnTo>
                      <a:pt x="278" y="80"/>
                    </a:lnTo>
                    <a:lnTo>
                      <a:pt x="278" y="78"/>
                    </a:lnTo>
                    <a:lnTo>
                      <a:pt x="278" y="76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1" name="Freeform 35"/>
              <p:cNvSpPr>
                <a:spLocks/>
              </p:cNvSpPr>
              <p:nvPr/>
            </p:nvSpPr>
            <p:spPr bwMode="auto">
              <a:xfrm>
                <a:off x="2138" y="3125"/>
                <a:ext cx="222" cy="108"/>
              </a:xfrm>
              <a:custGeom>
                <a:avLst/>
                <a:gdLst>
                  <a:gd name="T0" fmla="*/ 3 w 222"/>
                  <a:gd name="T1" fmla="*/ 68 h 108"/>
                  <a:gd name="T2" fmla="*/ 10 w 222"/>
                  <a:gd name="T3" fmla="*/ 58 h 108"/>
                  <a:gd name="T4" fmla="*/ 13 w 222"/>
                  <a:gd name="T5" fmla="*/ 49 h 108"/>
                  <a:gd name="T6" fmla="*/ 16 w 222"/>
                  <a:gd name="T7" fmla="*/ 39 h 108"/>
                  <a:gd name="T8" fmla="*/ 23 w 222"/>
                  <a:gd name="T9" fmla="*/ 29 h 108"/>
                  <a:gd name="T10" fmla="*/ 26 w 222"/>
                  <a:gd name="T11" fmla="*/ 21 h 108"/>
                  <a:gd name="T12" fmla="*/ 29 w 222"/>
                  <a:gd name="T13" fmla="*/ 13 h 108"/>
                  <a:gd name="T14" fmla="*/ 35 w 222"/>
                  <a:gd name="T15" fmla="*/ 7 h 108"/>
                  <a:gd name="T16" fmla="*/ 39 w 222"/>
                  <a:gd name="T17" fmla="*/ 3 h 108"/>
                  <a:gd name="T18" fmla="*/ 42 w 222"/>
                  <a:gd name="T19" fmla="*/ 1 h 108"/>
                  <a:gd name="T20" fmla="*/ 51 w 222"/>
                  <a:gd name="T21" fmla="*/ 1 h 108"/>
                  <a:gd name="T22" fmla="*/ 55 w 222"/>
                  <a:gd name="T23" fmla="*/ 3 h 108"/>
                  <a:gd name="T24" fmla="*/ 58 w 222"/>
                  <a:gd name="T25" fmla="*/ 8 h 108"/>
                  <a:gd name="T26" fmla="*/ 64 w 222"/>
                  <a:gd name="T27" fmla="*/ 14 h 108"/>
                  <a:gd name="T28" fmla="*/ 67 w 222"/>
                  <a:gd name="T29" fmla="*/ 21 h 108"/>
                  <a:gd name="T30" fmla="*/ 71 w 222"/>
                  <a:gd name="T31" fmla="*/ 30 h 108"/>
                  <a:gd name="T32" fmla="*/ 74 w 222"/>
                  <a:gd name="T33" fmla="*/ 39 h 108"/>
                  <a:gd name="T34" fmla="*/ 80 w 222"/>
                  <a:gd name="T35" fmla="*/ 49 h 108"/>
                  <a:gd name="T36" fmla="*/ 83 w 222"/>
                  <a:gd name="T37" fmla="*/ 60 h 108"/>
                  <a:gd name="T38" fmla="*/ 87 w 222"/>
                  <a:gd name="T39" fmla="*/ 69 h 108"/>
                  <a:gd name="T40" fmla="*/ 93 w 222"/>
                  <a:gd name="T41" fmla="*/ 79 h 108"/>
                  <a:gd name="T42" fmla="*/ 96 w 222"/>
                  <a:gd name="T43" fmla="*/ 87 h 108"/>
                  <a:gd name="T44" fmla="*/ 99 w 222"/>
                  <a:gd name="T45" fmla="*/ 94 h 108"/>
                  <a:gd name="T46" fmla="*/ 106 w 222"/>
                  <a:gd name="T47" fmla="*/ 100 h 108"/>
                  <a:gd name="T48" fmla="*/ 109 w 222"/>
                  <a:gd name="T49" fmla="*/ 104 h 108"/>
                  <a:gd name="T50" fmla="*/ 112 w 222"/>
                  <a:gd name="T51" fmla="*/ 106 h 108"/>
                  <a:gd name="T52" fmla="*/ 119 w 222"/>
                  <a:gd name="T53" fmla="*/ 106 h 108"/>
                  <a:gd name="T54" fmla="*/ 125 w 222"/>
                  <a:gd name="T55" fmla="*/ 104 h 108"/>
                  <a:gd name="T56" fmla="*/ 128 w 222"/>
                  <a:gd name="T57" fmla="*/ 100 h 108"/>
                  <a:gd name="T58" fmla="*/ 131 w 222"/>
                  <a:gd name="T59" fmla="*/ 94 h 108"/>
                  <a:gd name="T60" fmla="*/ 138 w 222"/>
                  <a:gd name="T61" fmla="*/ 87 h 108"/>
                  <a:gd name="T62" fmla="*/ 141 w 222"/>
                  <a:gd name="T63" fmla="*/ 79 h 108"/>
                  <a:gd name="T64" fmla="*/ 144 w 222"/>
                  <a:gd name="T65" fmla="*/ 69 h 108"/>
                  <a:gd name="T66" fmla="*/ 151 w 222"/>
                  <a:gd name="T67" fmla="*/ 60 h 108"/>
                  <a:gd name="T68" fmla="*/ 154 w 222"/>
                  <a:gd name="T69" fmla="*/ 49 h 108"/>
                  <a:gd name="T70" fmla="*/ 157 w 222"/>
                  <a:gd name="T71" fmla="*/ 39 h 108"/>
                  <a:gd name="T72" fmla="*/ 163 w 222"/>
                  <a:gd name="T73" fmla="*/ 30 h 108"/>
                  <a:gd name="T74" fmla="*/ 167 w 222"/>
                  <a:gd name="T75" fmla="*/ 21 h 108"/>
                  <a:gd name="T76" fmla="*/ 170 w 222"/>
                  <a:gd name="T77" fmla="*/ 14 h 108"/>
                  <a:gd name="T78" fmla="*/ 173 w 222"/>
                  <a:gd name="T79" fmla="*/ 8 h 108"/>
                  <a:gd name="T80" fmla="*/ 179 w 222"/>
                  <a:gd name="T81" fmla="*/ 3 h 108"/>
                  <a:gd name="T82" fmla="*/ 183 w 222"/>
                  <a:gd name="T83" fmla="*/ 1 h 108"/>
                  <a:gd name="T84" fmla="*/ 189 w 222"/>
                  <a:gd name="T85" fmla="*/ 1 h 108"/>
                  <a:gd name="T86" fmla="*/ 195 w 222"/>
                  <a:gd name="T87" fmla="*/ 3 h 108"/>
                  <a:gd name="T88" fmla="*/ 198 w 222"/>
                  <a:gd name="T89" fmla="*/ 7 h 108"/>
                  <a:gd name="T90" fmla="*/ 202 w 222"/>
                  <a:gd name="T91" fmla="*/ 13 h 108"/>
                  <a:gd name="T92" fmla="*/ 208 w 222"/>
                  <a:gd name="T93" fmla="*/ 21 h 108"/>
                  <a:gd name="T94" fmla="*/ 211 w 222"/>
                  <a:gd name="T95" fmla="*/ 29 h 108"/>
                  <a:gd name="T96" fmla="*/ 214 w 222"/>
                  <a:gd name="T97" fmla="*/ 39 h 108"/>
                  <a:gd name="T98" fmla="*/ 221 w 222"/>
                  <a:gd name="T99" fmla="*/ 4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22" h="108">
                    <a:moveTo>
                      <a:pt x="0" y="76"/>
                    </a:moveTo>
                    <a:lnTo>
                      <a:pt x="3" y="73"/>
                    </a:lnTo>
                    <a:lnTo>
                      <a:pt x="3" y="71"/>
                    </a:lnTo>
                    <a:lnTo>
                      <a:pt x="3" y="68"/>
                    </a:lnTo>
                    <a:lnTo>
                      <a:pt x="7" y="66"/>
                    </a:lnTo>
                    <a:lnTo>
                      <a:pt x="7" y="64"/>
                    </a:lnTo>
                    <a:lnTo>
                      <a:pt x="7" y="61"/>
                    </a:lnTo>
                    <a:lnTo>
                      <a:pt x="10" y="58"/>
                    </a:lnTo>
                    <a:lnTo>
                      <a:pt x="10" y="56"/>
                    </a:lnTo>
                    <a:lnTo>
                      <a:pt x="10" y="54"/>
                    </a:lnTo>
                    <a:lnTo>
                      <a:pt x="13" y="51"/>
                    </a:lnTo>
                    <a:lnTo>
                      <a:pt x="13" y="49"/>
                    </a:lnTo>
                    <a:lnTo>
                      <a:pt x="13" y="46"/>
                    </a:lnTo>
                    <a:lnTo>
                      <a:pt x="16" y="43"/>
                    </a:lnTo>
                    <a:lnTo>
                      <a:pt x="16" y="41"/>
                    </a:lnTo>
                    <a:lnTo>
                      <a:pt x="16" y="39"/>
                    </a:lnTo>
                    <a:lnTo>
                      <a:pt x="19" y="36"/>
                    </a:lnTo>
                    <a:lnTo>
                      <a:pt x="19" y="34"/>
                    </a:lnTo>
                    <a:lnTo>
                      <a:pt x="19" y="31"/>
                    </a:lnTo>
                    <a:lnTo>
                      <a:pt x="23" y="29"/>
                    </a:lnTo>
                    <a:lnTo>
                      <a:pt x="23" y="27"/>
                    </a:lnTo>
                    <a:lnTo>
                      <a:pt x="23" y="25"/>
                    </a:lnTo>
                    <a:lnTo>
                      <a:pt x="26" y="23"/>
                    </a:lnTo>
                    <a:lnTo>
                      <a:pt x="26" y="21"/>
                    </a:lnTo>
                    <a:lnTo>
                      <a:pt x="26" y="19"/>
                    </a:lnTo>
                    <a:lnTo>
                      <a:pt x="29" y="17"/>
                    </a:lnTo>
                    <a:lnTo>
                      <a:pt x="29" y="15"/>
                    </a:lnTo>
                    <a:lnTo>
                      <a:pt x="29" y="13"/>
                    </a:lnTo>
                    <a:lnTo>
                      <a:pt x="32" y="12"/>
                    </a:lnTo>
                    <a:lnTo>
                      <a:pt x="32" y="10"/>
                    </a:lnTo>
                    <a:lnTo>
                      <a:pt x="32" y="9"/>
                    </a:lnTo>
                    <a:lnTo>
                      <a:pt x="35" y="7"/>
                    </a:lnTo>
                    <a:lnTo>
                      <a:pt x="35" y="6"/>
                    </a:lnTo>
                    <a:lnTo>
                      <a:pt x="35" y="5"/>
                    </a:lnTo>
                    <a:lnTo>
                      <a:pt x="39" y="4"/>
                    </a:lnTo>
                    <a:lnTo>
                      <a:pt x="39" y="3"/>
                    </a:lnTo>
                    <a:lnTo>
                      <a:pt x="39" y="2"/>
                    </a:lnTo>
                    <a:lnTo>
                      <a:pt x="42" y="2"/>
                    </a:lnTo>
                    <a:lnTo>
                      <a:pt x="42" y="1"/>
                    </a:lnTo>
                    <a:lnTo>
                      <a:pt x="42" y="1"/>
                    </a:lnTo>
                    <a:lnTo>
                      <a:pt x="45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51" y="1"/>
                    </a:lnTo>
                    <a:lnTo>
                      <a:pt x="51" y="1"/>
                    </a:lnTo>
                    <a:lnTo>
                      <a:pt x="51" y="2"/>
                    </a:lnTo>
                    <a:lnTo>
                      <a:pt x="55" y="3"/>
                    </a:lnTo>
                    <a:lnTo>
                      <a:pt x="55" y="3"/>
                    </a:lnTo>
                    <a:lnTo>
                      <a:pt x="55" y="4"/>
                    </a:lnTo>
                    <a:lnTo>
                      <a:pt x="58" y="5"/>
                    </a:lnTo>
                    <a:lnTo>
                      <a:pt x="58" y="6"/>
                    </a:lnTo>
                    <a:lnTo>
                      <a:pt x="58" y="8"/>
                    </a:lnTo>
                    <a:lnTo>
                      <a:pt x="61" y="9"/>
                    </a:lnTo>
                    <a:lnTo>
                      <a:pt x="61" y="11"/>
                    </a:lnTo>
                    <a:lnTo>
                      <a:pt x="61" y="12"/>
                    </a:lnTo>
                    <a:lnTo>
                      <a:pt x="64" y="14"/>
                    </a:lnTo>
                    <a:lnTo>
                      <a:pt x="64" y="16"/>
                    </a:lnTo>
                    <a:lnTo>
                      <a:pt x="64" y="17"/>
                    </a:lnTo>
                    <a:lnTo>
                      <a:pt x="64" y="19"/>
                    </a:lnTo>
                    <a:lnTo>
                      <a:pt x="67" y="21"/>
                    </a:lnTo>
                    <a:lnTo>
                      <a:pt x="67" y="24"/>
                    </a:lnTo>
                    <a:lnTo>
                      <a:pt x="67" y="26"/>
                    </a:lnTo>
                    <a:lnTo>
                      <a:pt x="71" y="28"/>
                    </a:lnTo>
                    <a:lnTo>
                      <a:pt x="71" y="30"/>
                    </a:lnTo>
                    <a:lnTo>
                      <a:pt x="71" y="32"/>
                    </a:lnTo>
                    <a:lnTo>
                      <a:pt x="74" y="35"/>
                    </a:lnTo>
                    <a:lnTo>
                      <a:pt x="74" y="37"/>
                    </a:lnTo>
                    <a:lnTo>
                      <a:pt x="74" y="39"/>
                    </a:lnTo>
                    <a:lnTo>
                      <a:pt x="77" y="42"/>
                    </a:lnTo>
                    <a:lnTo>
                      <a:pt x="77" y="44"/>
                    </a:lnTo>
                    <a:lnTo>
                      <a:pt x="77" y="47"/>
                    </a:lnTo>
                    <a:lnTo>
                      <a:pt x="80" y="49"/>
                    </a:lnTo>
                    <a:lnTo>
                      <a:pt x="80" y="52"/>
                    </a:lnTo>
                    <a:lnTo>
                      <a:pt x="80" y="54"/>
                    </a:lnTo>
                    <a:lnTo>
                      <a:pt x="83" y="57"/>
                    </a:lnTo>
                    <a:lnTo>
                      <a:pt x="83" y="60"/>
                    </a:lnTo>
                    <a:lnTo>
                      <a:pt x="83" y="62"/>
                    </a:lnTo>
                    <a:lnTo>
                      <a:pt x="87" y="64"/>
                    </a:lnTo>
                    <a:lnTo>
                      <a:pt x="87" y="67"/>
                    </a:lnTo>
                    <a:lnTo>
                      <a:pt x="87" y="69"/>
                    </a:lnTo>
                    <a:lnTo>
                      <a:pt x="90" y="72"/>
                    </a:lnTo>
                    <a:lnTo>
                      <a:pt x="90" y="74"/>
                    </a:lnTo>
                    <a:lnTo>
                      <a:pt x="90" y="76"/>
                    </a:lnTo>
                    <a:lnTo>
                      <a:pt x="93" y="79"/>
                    </a:lnTo>
                    <a:lnTo>
                      <a:pt x="93" y="81"/>
                    </a:lnTo>
                    <a:lnTo>
                      <a:pt x="93" y="83"/>
                    </a:lnTo>
                    <a:lnTo>
                      <a:pt x="96" y="85"/>
                    </a:lnTo>
                    <a:lnTo>
                      <a:pt x="96" y="87"/>
                    </a:lnTo>
                    <a:lnTo>
                      <a:pt x="96" y="89"/>
                    </a:lnTo>
                    <a:lnTo>
                      <a:pt x="99" y="91"/>
                    </a:lnTo>
                    <a:lnTo>
                      <a:pt x="99" y="93"/>
                    </a:lnTo>
                    <a:lnTo>
                      <a:pt x="99" y="94"/>
                    </a:lnTo>
                    <a:lnTo>
                      <a:pt x="103" y="96"/>
                    </a:lnTo>
                    <a:lnTo>
                      <a:pt x="103" y="97"/>
                    </a:lnTo>
                    <a:lnTo>
                      <a:pt x="103" y="99"/>
                    </a:lnTo>
                    <a:lnTo>
                      <a:pt x="106" y="100"/>
                    </a:lnTo>
                    <a:lnTo>
                      <a:pt x="106" y="101"/>
                    </a:lnTo>
                    <a:lnTo>
                      <a:pt x="106" y="102"/>
                    </a:lnTo>
                    <a:lnTo>
                      <a:pt x="109" y="103"/>
                    </a:lnTo>
                    <a:lnTo>
                      <a:pt x="109" y="104"/>
                    </a:lnTo>
                    <a:lnTo>
                      <a:pt x="109" y="105"/>
                    </a:lnTo>
                    <a:lnTo>
                      <a:pt x="112" y="106"/>
                    </a:lnTo>
                    <a:lnTo>
                      <a:pt x="112" y="106"/>
                    </a:lnTo>
                    <a:lnTo>
                      <a:pt x="112" y="106"/>
                    </a:lnTo>
                    <a:lnTo>
                      <a:pt x="115" y="107"/>
                    </a:lnTo>
                    <a:lnTo>
                      <a:pt x="119" y="107"/>
                    </a:lnTo>
                    <a:lnTo>
                      <a:pt x="119" y="107"/>
                    </a:lnTo>
                    <a:lnTo>
                      <a:pt x="119" y="106"/>
                    </a:lnTo>
                    <a:lnTo>
                      <a:pt x="122" y="106"/>
                    </a:lnTo>
                    <a:lnTo>
                      <a:pt x="122" y="106"/>
                    </a:lnTo>
                    <a:lnTo>
                      <a:pt x="122" y="105"/>
                    </a:lnTo>
                    <a:lnTo>
                      <a:pt x="125" y="104"/>
                    </a:lnTo>
                    <a:lnTo>
                      <a:pt x="125" y="103"/>
                    </a:lnTo>
                    <a:lnTo>
                      <a:pt x="125" y="102"/>
                    </a:lnTo>
                    <a:lnTo>
                      <a:pt x="128" y="101"/>
                    </a:lnTo>
                    <a:lnTo>
                      <a:pt x="128" y="100"/>
                    </a:lnTo>
                    <a:lnTo>
                      <a:pt x="128" y="99"/>
                    </a:lnTo>
                    <a:lnTo>
                      <a:pt x="131" y="97"/>
                    </a:lnTo>
                    <a:lnTo>
                      <a:pt x="131" y="96"/>
                    </a:lnTo>
                    <a:lnTo>
                      <a:pt x="131" y="94"/>
                    </a:lnTo>
                    <a:lnTo>
                      <a:pt x="135" y="93"/>
                    </a:lnTo>
                    <a:lnTo>
                      <a:pt x="135" y="91"/>
                    </a:lnTo>
                    <a:lnTo>
                      <a:pt x="135" y="89"/>
                    </a:lnTo>
                    <a:lnTo>
                      <a:pt x="138" y="87"/>
                    </a:lnTo>
                    <a:lnTo>
                      <a:pt x="138" y="85"/>
                    </a:lnTo>
                    <a:lnTo>
                      <a:pt x="138" y="83"/>
                    </a:lnTo>
                    <a:lnTo>
                      <a:pt x="141" y="81"/>
                    </a:lnTo>
                    <a:lnTo>
                      <a:pt x="141" y="79"/>
                    </a:lnTo>
                    <a:lnTo>
                      <a:pt x="141" y="76"/>
                    </a:lnTo>
                    <a:lnTo>
                      <a:pt x="144" y="74"/>
                    </a:lnTo>
                    <a:lnTo>
                      <a:pt x="144" y="72"/>
                    </a:lnTo>
                    <a:lnTo>
                      <a:pt x="144" y="69"/>
                    </a:lnTo>
                    <a:lnTo>
                      <a:pt x="147" y="67"/>
                    </a:lnTo>
                    <a:lnTo>
                      <a:pt x="147" y="64"/>
                    </a:lnTo>
                    <a:lnTo>
                      <a:pt x="147" y="62"/>
                    </a:lnTo>
                    <a:lnTo>
                      <a:pt x="151" y="60"/>
                    </a:lnTo>
                    <a:lnTo>
                      <a:pt x="151" y="57"/>
                    </a:lnTo>
                    <a:lnTo>
                      <a:pt x="151" y="54"/>
                    </a:lnTo>
                    <a:lnTo>
                      <a:pt x="154" y="52"/>
                    </a:lnTo>
                    <a:lnTo>
                      <a:pt x="154" y="49"/>
                    </a:lnTo>
                    <a:lnTo>
                      <a:pt x="154" y="47"/>
                    </a:lnTo>
                    <a:lnTo>
                      <a:pt x="157" y="44"/>
                    </a:lnTo>
                    <a:lnTo>
                      <a:pt x="157" y="42"/>
                    </a:lnTo>
                    <a:lnTo>
                      <a:pt x="157" y="39"/>
                    </a:lnTo>
                    <a:lnTo>
                      <a:pt x="160" y="37"/>
                    </a:lnTo>
                    <a:lnTo>
                      <a:pt x="160" y="35"/>
                    </a:lnTo>
                    <a:lnTo>
                      <a:pt x="160" y="32"/>
                    </a:lnTo>
                    <a:lnTo>
                      <a:pt x="163" y="30"/>
                    </a:lnTo>
                    <a:lnTo>
                      <a:pt x="163" y="28"/>
                    </a:lnTo>
                    <a:lnTo>
                      <a:pt x="163" y="26"/>
                    </a:lnTo>
                    <a:lnTo>
                      <a:pt x="167" y="24"/>
                    </a:lnTo>
                    <a:lnTo>
                      <a:pt x="167" y="21"/>
                    </a:lnTo>
                    <a:lnTo>
                      <a:pt x="167" y="19"/>
                    </a:lnTo>
                    <a:lnTo>
                      <a:pt x="170" y="17"/>
                    </a:lnTo>
                    <a:lnTo>
                      <a:pt x="170" y="16"/>
                    </a:lnTo>
                    <a:lnTo>
                      <a:pt x="170" y="14"/>
                    </a:lnTo>
                    <a:lnTo>
                      <a:pt x="170" y="12"/>
                    </a:lnTo>
                    <a:lnTo>
                      <a:pt x="173" y="11"/>
                    </a:lnTo>
                    <a:lnTo>
                      <a:pt x="173" y="9"/>
                    </a:lnTo>
                    <a:lnTo>
                      <a:pt x="173" y="8"/>
                    </a:lnTo>
                    <a:lnTo>
                      <a:pt x="176" y="6"/>
                    </a:lnTo>
                    <a:lnTo>
                      <a:pt x="176" y="5"/>
                    </a:lnTo>
                    <a:lnTo>
                      <a:pt x="176" y="4"/>
                    </a:lnTo>
                    <a:lnTo>
                      <a:pt x="179" y="3"/>
                    </a:lnTo>
                    <a:lnTo>
                      <a:pt x="179" y="3"/>
                    </a:lnTo>
                    <a:lnTo>
                      <a:pt x="179" y="2"/>
                    </a:lnTo>
                    <a:lnTo>
                      <a:pt x="183" y="1"/>
                    </a:lnTo>
                    <a:lnTo>
                      <a:pt x="183" y="1"/>
                    </a:lnTo>
                    <a:lnTo>
                      <a:pt x="183" y="0"/>
                    </a:lnTo>
                    <a:lnTo>
                      <a:pt x="186" y="0"/>
                    </a:lnTo>
                    <a:lnTo>
                      <a:pt x="189" y="0"/>
                    </a:lnTo>
                    <a:lnTo>
                      <a:pt x="189" y="1"/>
                    </a:lnTo>
                    <a:lnTo>
                      <a:pt x="192" y="1"/>
                    </a:lnTo>
                    <a:lnTo>
                      <a:pt x="192" y="2"/>
                    </a:lnTo>
                    <a:lnTo>
                      <a:pt x="192" y="2"/>
                    </a:lnTo>
                    <a:lnTo>
                      <a:pt x="195" y="3"/>
                    </a:lnTo>
                    <a:lnTo>
                      <a:pt x="195" y="4"/>
                    </a:lnTo>
                    <a:lnTo>
                      <a:pt x="195" y="5"/>
                    </a:lnTo>
                    <a:lnTo>
                      <a:pt x="198" y="6"/>
                    </a:lnTo>
                    <a:lnTo>
                      <a:pt x="198" y="7"/>
                    </a:lnTo>
                    <a:lnTo>
                      <a:pt x="198" y="9"/>
                    </a:lnTo>
                    <a:lnTo>
                      <a:pt x="202" y="10"/>
                    </a:lnTo>
                    <a:lnTo>
                      <a:pt x="202" y="12"/>
                    </a:lnTo>
                    <a:lnTo>
                      <a:pt x="202" y="13"/>
                    </a:lnTo>
                    <a:lnTo>
                      <a:pt x="205" y="15"/>
                    </a:lnTo>
                    <a:lnTo>
                      <a:pt x="205" y="17"/>
                    </a:lnTo>
                    <a:lnTo>
                      <a:pt x="205" y="19"/>
                    </a:lnTo>
                    <a:lnTo>
                      <a:pt x="208" y="21"/>
                    </a:lnTo>
                    <a:lnTo>
                      <a:pt x="208" y="23"/>
                    </a:lnTo>
                    <a:lnTo>
                      <a:pt x="208" y="25"/>
                    </a:lnTo>
                    <a:lnTo>
                      <a:pt x="211" y="27"/>
                    </a:lnTo>
                    <a:lnTo>
                      <a:pt x="211" y="29"/>
                    </a:lnTo>
                    <a:lnTo>
                      <a:pt x="211" y="31"/>
                    </a:lnTo>
                    <a:lnTo>
                      <a:pt x="214" y="34"/>
                    </a:lnTo>
                    <a:lnTo>
                      <a:pt x="214" y="36"/>
                    </a:lnTo>
                    <a:lnTo>
                      <a:pt x="214" y="39"/>
                    </a:lnTo>
                    <a:lnTo>
                      <a:pt x="218" y="41"/>
                    </a:lnTo>
                    <a:lnTo>
                      <a:pt x="218" y="43"/>
                    </a:lnTo>
                    <a:lnTo>
                      <a:pt x="218" y="46"/>
                    </a:lnTo>
                    <a:lnTo>
                      <a:pt x="221" y="49"/>
                    </a:lnTo>
                    <a:lnTo>
                      <a:pt x="221" y="51"/>
                    </a:lnTo>
                    <a:lnTo>
                      <a:pt x="221" y="53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5" name="Rectangle 49"/>
            <p:cNvSpPr>
              <a:spLocks noChangeArrowheads="1"/>
            </p:cNvSpPr>
            <p:nvPr/>
          </p:nvSpPr>
          <p:spPr bwMode="auto">
            <a:xfrm>
              <a:off x="1905003" y="4116389"/>
              <a:ext cx="349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>
                  <a:latin typeface="Arial" charset="0"/>
                </a:rPr>
                <a:t>C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BADBF7F-A7E7-1BC9-890C-0AAAB691868C}"/>
              </a:ext>
            </a:extLst>
          </p:cNvPr>
          <p:cNvGrpSpPr/>
          <p:nvPr/>
        </p:nvGrpSpPr>
        <p:grpSpPr>
          <a:xfrm>
            <a:off x="5486404" y="3910014"/>
            <a:ext cx="3340101" cy="763588"/>
            <a:chOff x="5486404" y="3910014"/>
            <a:chExt cx="3340101" cy="763588"/>
          </a:xfrm>
        </p:grpSpPr>
        <p:grpSp>
          <p:nvGrpSpPr>
            <p:cNvPr id="14348" name="Group 12"/>
            <p:cNvGrpSpPr>
              <a:grpSpLocks/>
            </p:cNvGrpSpPr>
            <p:nvPr/>
          </p:nvGrpSpPr>
          <p:grpSpPr bwMode="auto">
            <a:xfrm>
              <a:off x="5486404" y="3910014"/>
              <a:ext cx="2597151" cy="577850"/>
              <a:chOff x="2634" y="2923"/>
              <a:chExt cx="1227" cy="485"/>
            </a:xfrm>
          </p:grpSpPr>
          <p:sp>
            <p:nvSpPr>
              <p:cNvPr id="14349" name="Freeform 13"/>
              <p:cNvSpPr>
                <a:spLocks/>
              </p:cNvSpPr>
              <p:nvPr/>
            </p:nvSpPr>
            <p:spPr bwMode="auto">
              <a:xfrm>
                <a:off x="2634" y="2923"/>
                <a:ext cx="388" cy="244"/>
              </a:xfrm>
              <a:custGeom>
                <a:avLst/>
                <a:gdLst>
                  <a:gd name="T0" fmla="*/ 4 w 388"/>
                  <a:gd name="T1" fmla="*/ 219 h 244"/>
                  <a:gd name="T2" fmla="*/ 11 w 388"/>
                  <a:gd name="T3" fmla="*/ 187 h 244"/>
                  <a:gd name="T4" fmla="*/ 15 w 388"/>
                  <a:gd name="T5" fmla="*/ 159 h 244"/>
                  <a:gd name="T6" fmla="*/ 19 w 388"/>
                  <a:gd name="T7" fmla="*/ 130 h 244"/>
                  <a:gd name="T8" fmla="*/ 26 w 388"/>
                  <a:gd name="T9" fmla="*/ 103 h 244"/>
                  <a:gd name="T10" fmla="*/ 30 w 388"/>
                  <a:gd name="T11" fmla="*/ 79 h 244"/>
                  <a:gd name="T12" fmla="*/ 34 w 388"/>
                  <a:gd name="T13" fmla="*/ 59 h 244"/>
                  <a:gd name="T14" fmla="*/ 41 w 388"/>
                  <a:gd name="T15" fmla="*/ 41 h 244"/>
                  <a:gd name="T16" fmla="*/ 45 w 388"/>
                  <a:gd name="T17" fmla="*/ 27 h 244"/>
                  <a:gd name="T18" fmla="*/ 48 w 388"/>
                  <a:gd name="T19" fmla="*/ 14 h 244"/>
                  <a:gd name="T20" fmla="*/ 56 w 388"/>
                  <a:gd name="T21" fmla="*/ 6 h 244"/>
                  <a:gd name="T22" fmla="*/ 67 w 388"/>
                  <a:gd name="T23" fmla="*/ 0 h 244"/>
                  <a:gd name="T24" fmla="*/ 74 w 388"/>
                  <a:gd name="T25" fmla="*/ 6 h 244"/>
                  <a:gd name="T26" fmla="*/ 78 w 388"/>
                  <a:gd name="T27" fmla="*/ 13 h 244"/>
                  <a:gd name="T28" fmla="*/ 86 w 388"/>
                  <a:gd name="T29" fmla="*/ 20 h 244"/>
                  <a:gd name="T30" fmla="*/ 89 w 388"/>
                  <a:gd name="T31" fmla="*/ 28 h 244"/>
                  <a:gd name="T32" fmla="*/ 93 w 388"/>
                  <a:gd name="T33" fmla="*/ 38 h 244"/>
                  <a:gd name="T34" fmla="*/ 100 w 388"/>
                  <a:gd name="T35" fmla="*/ 47 h 244"/>
                  <a:gd name="T36" fmla="*/ 104 w 388"/>
                  <a:gd name="T37" fmla="*/ 55 h 244"/>
                  <a:gd name="T38" fmla="*/ 108 w 388"/>
                  <a:gd name="T39" fmla="*/ 65 h 244"/>
                  <a:gd name="T40" fmla="*/ 115 w 388"/>
                  <a:gd name="T41" fmla="*/ 71 h 244"/>
                  <a:gd name="T42" fmla="*/ 119 w 388"/>
                  <a:gd name="T43" fmla="*/ 78 h 244"/>
                  <a:gd name="T44" fmla="*/ 130 w 388"/>
                  <a:gd name="T45" fmla="*/ 84 h 244"/>
                  <a:gd name="T46" fmla="*/ 145 w 388"/>
                  <a:gd name="T47" fmla="*/ 81 h 244"/>
                  <a:gd name="T48" fmla="*/ 152 w 388"/>
                  <a:gd name="T49" fmla="*/ 74 h 244"/>
                  <a:gd name="T50" fmla="*/ 156 w 388"/>
                  <a:gd name="T51" fmla="*/ 68 h 244"/>
                  <a:gd name="T52" fmla="*/ 160 w 388"/>
                  <a:gd name="T53" fmla="*/ 60 h 244"/>
                  <a:gd name="T54" fmla="*/ 167 w 388"/>
                  <a:gd name="T55" fmla="*/ 54 h 244"/>
                  <a:gd name="T56" fmla="*/ 171 w 388"/>
                  <a:gd name="T57" fmla="*/ 46 h 244"/>
                  <a:gd name="T58" fmla="*/ 175 w 388"/>
                  <a:gd name="T59" fmla="*/ 38 h 244"/>
                  <a:gd name="T60" fmla="*/ 182 w 388"/>
                  <a:gd name="T61" fmla="*/ 30 h 244"/>
                  <a:gd name="T62" fmla="*/ 186 w 388"/>
                  <a:gd name="T63" fmla="*/ 24 h 244"/>
                  <a:gd name="T64" fmla="*/ 190 w 388"/>
                  <a:gd name="T65" fmla="*/ 17 h 244"/>
                  <a:gd name="T66" fmla="*/ 201 w 388"/>
                  <a:gd name="T67" fmla="*/ 11 h 244"/>
                  <a:gd name="T68" fmla="*/ 216 w 388"/>
                  <a:gd name="T69" fmla="*/ 14 h 244"/>
                  <a:gd name="T70" fmla="*/ 223 w 388"/>
                  <a:gd name="T71" fmla="*/ 20 h 244"/>
                  <a:gd name="T72" fmla="*/ 227 w 388"/>
                  <a:gd name="T73" fmla="*/ 27 h 244"/>
                  <a:gd name="T74" fmla="*/ 234 w 388"/>
                  <a:gd name="T75" fmla="*/ 33 h 244"/>
                  <a:gd name="T76" fmla="*/ 238 w 388"/>
                  <a:gd name="T77" fmla="*/ 41 h 244"/>
                  <a:gd name="T78" fmla="*/ 242 w 388"/>
                  <a:gd name="T79" fmla="*/ 49 h 244"/>
                  <a:gd name="T80" fmla="*/ 249 w 388"/>
                  <a:gd name="T81" fmla="*/ 57 h 244"/>
                  <a:gd name="T82" fmla="*/ 253 w 388"/>
                  <a:gd name="T83" fmla="*/ 63 h 244"/>
                  <a:gd name="T84" fmla="*/ 260 w 388"/>
                  <a:gd name="T85" fmla="*/ 71 h 244"/>
                  <a:gd name="T86" fmla="*/ 264 w 388"/>
                  <a:gd name="T87" fmla="*/ 78 h 244"/>
                  <a:gd name="T88" fmla="*/ 275 w 388"/>
                  <a:gd name="T89" fmla="*/ 84 h 244"/>
                  <a:gd name="T90" fmla="*/ 290 w 388"/>
                  <a:gd name="T91" fmla="*/ 81 h 244"/>
                  <a:gd name="T92" fmla="*/ 294 w 388"/>
                  <a:gd name="T93" fmla="*/ 74 h 244"/>
                  <a:gd name="T94" fmla="*/ 301 w 388"/>
                  <a:gd name="T95" fmla="*/ 68 h 244"/>
                  <a:gd name="T96" fmla="*/ 305 w 388"/>
                  <a:gd name="T97" fmla="*/ 60 h 244"/>
                  <a:gd name="T98" fmla="*/ 309 w 388"/>
                  <a:gd name="T99" fmla="*/ 52 h 244"/>
                  <a:gd name="T100" fmla="*/ 312 w 388"/>
                  <a:gd name="T101" fmla="*/ 43 h 244"/>
                  <a:gd name="T102" fmla="*/ 320 w 388"/>
                  <a:gd name="T103" fmla="*/ 33 h 244"/>
                  <a:gd name="T104" fmla="*/ 323 w 388"/>
                  <a:gd name="T105" fmla="*/ 25 h 244"/>
                  <a:gd name="T106" fmla="*/ 327 w 388"/>
                  <a:gd name="T107" fmla="*/ 16 h 244"/>
                  <a:gd name="T108" fmla="*/ 335 w 388"/>
                  <a:gd name="T109" fmla="*/ 9 h 244"/>
                  <a:gd name="T110" fmla="*/ 342 w 388"/>
                  <a:gd name="T111" fmla="*/ 3 h 244"/>
                  <a:gd name="T112" fmla="*/ 353 w 388"/>
                  <a:gd name="T113" fmla="*/ 3 h 244"/>
                  <a:gd name="T114" fmla="*/ 361 w 388"/>
                  <a:gd name="T115" fmla="*/ 9 h 244"/>
                  <a:gd name="T116" fmla="*/ 364 w 388"/>
                  <a:gd name="T117" fmla="*/ 19 h 244"/>
                  <a:gd name="T118" fmla="*/ 368 w 388"/>
                  <a:gd name="T119" fmla="*/ 32 h 244"/>
                  <a:gd name="T120" fmla="*/ 375 w 388"/>
                  <a:gd name="T121" fmla="*/ 47 h 244"/>
                  <a:gd name="T122" fmla="*/ 379 w 388"/>
                  <a:gd name="T123" fmla="*/ 67 h 244"/>
                  <a:gd name="T124" fmla="*/ 383 w 388"/>
                  <a:gd name="T125" fmla="*/ 89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88" h="244">
                    <a:moveTo>
                      <a:pt x="0" y="243"/>
                    </a:moveTo>
                    <a:lnTo>
                      <a:pt x="4" y="235"/>
                    </a:lnTo>
                    <a:lnTo>
                      <a:pt x="4" y="227"/>
                    </a:lnTo>
                    <a:lnTo>
                      <a:pt x="4" y="219"/>
                    </a:lnTo>
                    <a:lnTo>
                      <a:pt x="8" y="211"/>
                    </a:lnTo>
                    <a:lnTo>
                      <a:pt x="8" y="203"/>
                    </a:lnTo>
                    <a:lnTo>
                      <a:pt x="8" y="195"/>
                    </a:lnTo>
                    <a:lnTo>
                      <a:pt x="11" y="187"/>
                    </a:lnTo>
                    <a:lnTo>
                      <a:pt x="11" y="181"/>
                    </a:lnTo>
                    <a:lnTo>
                      <a:pt x="11" y="173"/>
                    </a:lnTo>
                    <a:lnTo>
                      <a:pt x="15" y="165"/>
                    </a:lnTo>
                    <a:lnTo>
                      <a:pt x="15" y="159"/>
                    </a:lnTo>
                    <a:lnTo>
                      <a:pt x="15" y="151"/>
                    </a:lnTo>
                    <a:lnTo>
                      <a:pt x="19" y="144"/>
                    </a:lnTo>
                    <a:lnTo>
                      <a:pt x="19" y="136"/>
                    </a:lnTo>
                    <a:lnTo>
                      <a:pt x="19" y="130"/>
                    </a:lnTo>
                    <a:lnTo>
                      <a:pt x="22" y="124"/>
                    </a:lnTo>
                    <a:lnTo>
                      <a:pt x="22" y="116"/>
                    </a:lnTo>
                    <a:lnTo>
                      <a:pt x="22" y="109"/>
                    </a:lnTo>
                    <a:lnTo>
                      <a:pt x="26" y="103"/>
                    </a:lnTo>
                    <a:lnTo>
                      <a:pt x="26" y="97"/>
                    </a:lnTo>
                    <a:lnTo>
                      <a:pt x="26" y="92"/>
                    </a:lnTo>
                    <a:lnTo>
                      <a:pt x="30" y="86"/>
                    </a:lnTo>
                    <a:lnTo>
                      <a:pt x="30" y="79"/>
                    </a:lnTo>
                    <a:lnTo>
                      <a:pt x="30" y="74"/>
                    </a:lnTo>
                    <a:lnTo>
                      <a:pt x="34" y="70"/>
                    </a:lnTo>
                    <a:lnTo>
                      <a:pt x="34" y="63"/>
                    </a:lnTo>
                    <a:lnTo>
                      <a:pt x="34" y="59"/>
                    </a:lnTo>
                    <a:lnTo>
                      <a:pt x="37" y="54"/>
                    </a:lnTo>
                    <a:lnTo>
                      <a:pt x="37" y="49"/>
                    </a:lnTo>
                    <a:lnTo>
                      <a:pt x="37" y="44"/>
                    </a:lnTo>
                    <a:lnTo>
                      <a:pt x="41" y="41"/>
                    </a:lnTo>
                    <a:lnTo>
                      <a:pt x="41" y="36"/>
                    </a:lnTo>
                    <a:lnTo>
                      <a:pt x="41" y="33"/>
                    </a:lnTo>
                    <a:lnTo>
                      <a:pt x="45" y="30"/>
                    </a:lnTo>
                    <a:lnTo>
                      <a:pt x="45" y="27"/>
                    </a:lnTo>
                    <a:lnTo>
                      <a:pt x="45" y="24"/>
                    </a:lnTo>
                    <a:lnTo>
                      <a:pt x="48" y="20"/>
                    </a:lnTo>
                    <a:lnTo>
                      <a:pt x="48" y="17"/>
                    </a:lnTo>
                    <a:lnTo>
                      <a:pt x="48" y="14"/>
                    </a:lnTo>
                    <a:lnTo>
                      <a:pt x="52" y="13"/>
                    </a:lnTo>
                    <a:lnTo>
                      <a:pt x="52" y="11"/>
                    </a:lnTo>
                    <a:lnTo>
                      <a:pt x="52" y="8"/>
                    </a:lnTo>
                    <a:lnTo>
                      <a:pt x="56" y="6"/>
                    </a:lnTo>
                    <a:lnTo>
                      <a:pt x="56" y="5"/>
                    </a:lnTo>
                    <a:lnTo>
                      <a:pt x="60" y="3"/>
                    </a:lnTo>
                    <a:lnTo>
                      <a:pt x="63" y="1"/>
                    </a:lnTo>
                    <a:lnTo>
                      <a:pt x="67" y="0"/>
                    </a:lnTo>
                    <a:lnTo>
                      <a:pt x="71" y="1"/>
                    </a:lnTo>
                    <a:lnTo>
                      <a:pt x="71" y="3"/>
                    </a:lnTo>
                    <a:lnTo>
                      <a:pt x="74" y="5"/>
                    </a:lnTo>
                    <a:lnTo>
                      <a:pt x="74" y="6"/>
                    </a:lnTo>
                    <a:lnTo>
                      <a:pt x="74" y="8"/>
                    </a:lnTo>
                    <a:lnTo>
                      <a:pt x="78" y="9"/>
                    </a:lnTo>
                    <a:lnTo>
                      <a:pt x="78" y="11"/>
                    </a:lnTo>
                    <a:lnTo>
                      <a:pt x="78" y="13"/>
                    </a:lnTo>
                    <a:lnTo>
                      <a:pt x="82" y="14"/>
                    </a:lnTo>
                    <a:lnTo>
                      <a:pt x="82" y="16"/>
                    </a:lnTo>
                    <a:lnTo>
                      <a:pt x="82" y="17"/>
                    </a:lnTo>
                    <a:lnTo>
                      <a:pt x="86" y="20"/>
                    </a:lnTo>
                    <a:lnTo>
                      <a:pt x="86" y="22"/>
                    </a:lnTo>
                    <a:lnTo>
                      <a:pt x="86" y="24"/>
                    </a:lnTo>
                    <a:lnTo>
                      <a:pt x="89" y="27"/>
                    </a:lnTo>
                    <a:lnTo>
                      <a:pt x="89" y="28"/>
                    </a:lnTo>
                    <a:lnTo>
                      <a:pt x="89" y="30"/>
                    </a:lnTo>
                    <a:lnTo>
                      <a:pt x="93" y="33"/>
                    </a:lnTo>
                    <a:lnTo>
                      <a:pt x="93" y="35"/>
                    </a:lnTo>
                    <a:lnTo>
                      <a:pt x="93" y="38"/>
                    </a:lnTo>
                    <a:lnTo>
                      <a:pt x="97" y="40"/>
                    </a:lnTo>
                    <a:lnTo>
                      <a:pt x="97" y="43"/>
                    </a:lnTo>
                    <a:lnTo>
                      <a:pt x="97" y="44"/>
                    </a:lnTo>
                    <a:lnTo>
                      <a:pt x="100" y="47"/>
                    </a:lnTo>
                    <a:lnTo>
                      <a:pt x="100" y="49"/>
                    </a:lnTo>
                    <a:lnTo>
                      <a:pt x="100" y="52"/>
                    </a:lnTo>
                    <a:lnTo>
                      <a:pt x="104" y="54"/>
                    </a:lnTo>
                    <a:lnTo>
                      <a:pt x="104" y="55"/>
                    </a:lnTo>
                    <a:lnTo>
                      <a:pt x="104" y="59"/>
                    </a:lnTo>
                    <a:lnTo>
                      <a:pt x="108" y="60"/>
                    </a:lnTo>
                    <a:lnTo>
                      <a:pt x="108" y="62"/>
                    </a:lnTo>
                    <a:lnTo>
                      <a:pt x="108" y="65"/>
                    </a:lnTo>
                    <a:lnTo>
                      <a:pt x="112" y="67"/>
                    </a:lnTo>
                    <a:lnTo>
                      <a:pt x="112" y="68"/>
                    </a:lnTo>
                    <a:lnTo>
                      <a:pt x="112" y="70"/>
                    </a:lnTo>
                    <a:lnTo>
                      <a:pt x="115" y="71"/>
                    </a:lnTo>
                    <a:lnTo>
                      <a:pt x="115" y="73"/>
                    </a:lnTo>
                    <a:lnTo>
                      <a:pt x="115" y="74"/>
                    </a:lnTo>
                    <a:lnTo>
                      <a:pt x="119" y="76"/>
                    </a:lnTo>
                    <a:lnTo>
                      <a:pt x="119" y="78"/>
                    </a:lnTo>
                    <a:lnTo>
                      <a:pt x="123" y="79"/>
                    </a:lnTo>
                    <a:lnTo>
                      <a:pt x="123" y="81"/>
                    </a:lnTo>
                    <a:lnTo>
                      <a:pt x="126" y="82"/>
                    </a:lnTo>
                    <a:lnTo>
                      <a:pt x="130" y="84"/>
                    </a:lnTo>
                    <a:lnTo>
                      <a:pt x="134" y="86"/>
                    </a:lnTo>
                    <a:lnTo>
                      <a:pt x="138" y="84"/>
                    </a:lnTo>
                    <a:lnTo>
                      <a:pt x="141" y="82"/>
                    </a:lnTo>
                    <a:lnTo>
                      <a:pt x="145" y="81"/>
                    </a:lnTo>
                    <a:lnTo>
                      <a:pt x="145" y="79"/>
                    </a:lnTo>
                    <a:lnTo>
                      <a:pt x="149" y="78"/>
                    </a:lnTo>
                    <a:lnTo>
                      <a:pt x="149" y="76"/>
                    </a:lnTo>
                    <a:lnTo>
                      <a:pt x="152" y="74"/>
                    </a:lnTo>
                    <a:lnTo>
                      <a:pt x="152" y="73"/>
                    </a:lnTo>
                    <a:lnTo>
                      <a:pt x="152" y="71"/>
                    </a:lnTo>
                    <a:lnTo>
                      <a:pt x="156" y="70"/>
                    </a:lnTo>
                    <a:lnTo>
                      <a:pt x="156" y="68"/>
                    </a:lnTo>
                    <a:lnTo>
                      <a:pt x="156" y="67"/>
                    </a:lnTo>
                    <a:lnTo>
                      <a:pt x="160" y="65"/>
                    </a:lnTo>
                    <a:lnTo>
                      <a:pt x="160" y="62"/>
                    </a:lnTo>
                    <a:lnTo>
                      <a:pt x="160" y="60"/>
                    </a:lnTo>
                    <a:lnTo>
                      <a:pt x="164" y="59"/>
                    </a:lnTo>
                    <a:lnTo>
                      <a:pt x="164" y="57"/>
                    </a:lnTo>
                    <a:lnTo>
                      <a:pt x="164" y="55"/>
                    </a:lnTo>
                    <a:lnTo>
                      <a:pt x="167" y="54"/>
                    </a:lnTo>
                    <a:lnTo>
                      <a:pt x="167" y="51"/>
                    </a:lnTo>
                    <a:lnTo>
                      <a:pt x="167" y="49"/>
                    </a:lnTo>
                    <a:lnTo>
                      <a:pt x="171" y="47"/>
                    </a:lnTo>
                    <a:lnTo>
                      <a:pt x="171" y="46"/>
                    </a:lnTo>
                    <a:lnTo>
                      <a:pt x="171" y="43"/>
                    </a:lnTo>
                    <a:lnTo>
                      <a:pt x="175" y="41"/>
                    </a:lnTo>
                    <a:lnTo>
                      <a:pt x="175" y="40"/>
                    </a:lnTo>
                    <a:lnTo>
                      <a:pt x="175" y="38"/>
                    </a:lnTo>
                    <a:lnTo>
                      <a:pt x="178" y="35"/>
                    </a:lnTo>
                    <a:lnTo>
                      <a:pt x="178" y="33"/>
                    </a:lnTo>
                    <a:lnTo>
                      <a:pt x="178" y="32"/>
                    </a:lnTo>
                    <a:lnTo>
                      <a:pt x="182" y="30"/>
                    </a:lnTo>
                    <a:lnTo>
                      <a:pt x="182" y="28"/>
                    </a:lnTo>
                    <a:lnTo>
                      <a:pt x="182" y="27"/>
                    </a:lnTo>
                    <a:lnTo>
                      <a:pt x="186" y="25"/>
                    </a:lnTo>
                    <a:lnTo>
                      <a:pt x="186" y="24"/>
                    </a:lnTo>
                    <a:lnTo>
                      <a:pt x="186" y="22"/>
                    </a:lnTo>
                    <a:lnTo>
                      <a:pt x="186" y="20"/>
                    </a:lnTo>
                    <a:lnTo>
                      <a:pt x="190" y="19"/>
                    </a:lnTo>
                    <a:lnTo>
                      <a:pt x="190" y="17"/>
                    </a:lnTo>
                    <a:lnTo>
                      <a:pt x="193" y="16"/>
                    </a:lnTo>
                    <a:lnTo>
                      <a:pt x="193" y="14"/>
                    </a:lnTo>
                    <a:lnTo>
                      <a:pt x="197" y="13"/>
                    </a:lnTo>
                    <a:lnTo>
                      <a:pt x="201" y="11"/>
                    </a:lnTo>
                    <a:lnTo>
                      <a:pt x="204" y="9"/>
                    </a:lnTo>
                    <a:lnTo>
                      <a:pt x="208" y="11"/>
                    </a:lnTo>
                    <a:lnTo>
                      <a:pt x="212" y="13"/>
                    </a:lnTo>
                    <a:lnTo>
                      <a:pt x="216" y="14"/>
                    </a:lnTo>
                    <a:lnTo>
                      <a:pt x="219" y="16"/>
                    </a:lnTo>
                    <a:lnTo>
                      <a:pt x="219" y="17"/>
                    </a:lnTo>
                    <a:lnTo>
                      <a:pt x="223" y="19"/>
                    </a:lnTo>
                    <a:lnTo>
                      <a:pt x="223" y="20"/>
                    </a:lnTo>
                    <a:lnTo>
                      <a:pt x="223" y="22"/>
                    </a:lnTo>
                    <a:lnTo>
                      <a:pt x="227" y="24"/>
                    </a:lnTo>
                    <a:lnTo>
                      <a:pt x="227" y="25"/>
                    </a:lnTo>
                    <a:lnTo>
                      <a:pt x="227" y="27"/>
                    </a:lnTo>
                    <a:lnTo>
                      <a:pt x="231" y="28"/>
                    </a:lnTo>
                    <a:lnTo>
                      <a:pt x="231" y="30"/>
                    </a:lnTo>
                    <a:lnTo>
                      <a:pt x="231" y="32"/>
                    </a:lnTo>
                    <a:lnTo>
                      <a:pt x="234" y="33"/>
                    </a:lnTo>
                    <a:lnTo>
                      <a:pt x="234" y="35"/>
                    </a:lnTo>
                    <a:lnTo>
                      <a:pt x="234" y="36"/>
                    </a:lnTo>
                    <a:lnTo>
                      <a:pt x="238" y="38"/>
                    </a:lnTo>
                    <a:lnTo>
                      <a:pt x="238" y="41"/>
                    </a:lnTo>
                    <a:lnTo>
                      <a:pt x="238" y="43"/>
                    </a:lnTo>
                    <a:lnTo>
                      <a:pt x="242" y="44"/>
                    </a:lnTo>
                    <a:lnTo>
                      <a:pt x="242" y="46"/>
                    </a:lnTo>
                    <a:lnTo>
                      <a:pt x="242" y="49"/>
                    </a:lnTo>
                    <a:lnTo>
                      <a:pt x="245" y="51"/>
                    </a:lnTo>
                    <a:lnTo>
                      <a:pt x="245" y="52"/>
                    </a:lnTo>
                    <a:lnTo>
                      <a:pt x="245" y="54"/>
                    </a:lnTo>
                    <a:lnTo>
                      <a:pt x="249" y="57"/>
                    </a:lnTo>
                    <a:lnTo>
                      <a:pt x="249" y="59"/>
                    </a:lnTo>
                    <a:lnTo>
                      <a:pt x="249" y="60"/>
                    </a:lnTo>
                    <a:lnTo>
                      <a:pt x="253" y="62"/>
                    </a:lnTo>
                    <a:lnTo>
                      <a:pt x="253" y="63"/>
                    </a:lnTo>
                    <a:lnTo>
                      <a:pt x="253" y="65"/>
                    </a:lnTo>
                    <a:lnTo>
                      <a:pt x="257" y="67"/>
                    </a:lnTo>
                    <a:lnTo>
                      <a:pt x="257" y="70"/>
                    </a:lnTo>
                    <a:lnTo>
                      <a:pt x="260" y="71"/>
                    </a:lnTo>
                    <a:lnTo>
                      <a:pt x="260" y="73"/>
                    </a:lnTo>
                    <a:lnTo>
                      <a:pt x="260" y="74"/>
                    </a:lnTo>
                    <a:lnTo>
                      <a:pt x="264" y="76"/>
                    </a:lnTo>
                    <a:lnTo>
                      <a:pt x="264" y="78"/>
                    </a:lnTo>
                    <a:lnTo>
                      <a:pt x="268" y="79"/>
                    </a:lnTo>
                    <a:lnTo>
                      <a:pt x="268" y="81"/>
                    </a:lnTo>
                    <a:lnTo>
                      <a:pt x="271" y="82"/>
                    </a:lnTo>
                    <a:lnTo>
                      <a:pt x="275" y="84"/>
                    </a:lnTo>
                    <a:lnTo>
                      <a:pt x="279" y="86"/>
                    </a:lnTo>
                    <a:lnTo>
                      <a:pt x="283" y="84"/>
                    </a:lnTo>
                    <a:lnTo>
                      <a:pt x="286" y="82"/>
                    </a:lnTo>
                    <a:lnTo>
                      <a:pt x="290" y="81"/>
                    </a:lnTo>
                    <a:lnTo>
                      <a:pt x="290" y="79"/>
                    </a:lnTo>
                    <a:lnTo>
                      <a:pt x="294" y="78"/>
                    </a:lnTo>
                    <a:lnTo>
                      <a:pt x="294" y="76"/>
                    </a:lnTo>
                    <a:lnTo>
                      <a:pt x="294" y="74"/>
                    </a:lnTo>
                    <a:lnTo>
                      <a:pt x="297" y="73"/>
                    </a:lnTo>
                    <a:lnTo>
                      <a:pt x="297" y="71"/>
                    </a:lnTo>
                    <a:lnTo>
                      <a:pt x="297" y="70"/>
                    </a:lnTo>
                    <a:lnTo>
                      <a:pt x="301" y="68"/>
                    </a:lnTo>
                    <a:lnTo>
                      <a:pt x="301" y="67"/>
                    </a:lnTo>
                    <a:lnTo>
                      <a:pt x="301" y="65"/>
                    </a:lnTo>
                    <a:lnTo>
                      <a:pt x="305" y="63"/>
                    </a:lnTo>
                    <a:lnTo>
                      <a:pt x="305" y="60"/>
                    </a:lnTo>
                    <a:lnTo>
                      <a:pt x="305" y="59"/>
                    </a:lnTo>
                    <a:lnTo>
                      <a:pt x="309" y="57"/>
                    </a:lnTo>
                    <a:lnTo>
                      <a:pt x="309" y="54"/>
                    </a:lnTo>
                    <a:lnTo>
                      <a:pt x="309" y="52"/>
                    </a:lnTo>
                    <a:lnTo>
                      <a:pt x="309" y="51"/>
                    </a:lnTo>
                    <a:lnTo>
                      <a:pt x="312" y="47"/>
                    </a:lnTo>
                    <a:lnTo>
                      <a:pt x="312" y="46"/>
                    </a:lnTo>
                    <a:lnTo>
                      <a:pt x="312" y="43"/>
                    </a:lnTo>
                    <a:lnTo>
                      <a:pt x="316" y="41"/>
                    </a:lnTo>
                    <a:lnTo>
                      <a:pt x="316" y="38"/>
                    </a:lnTo>
                    <a:lnTo>
                      <a:pt x="316" y="36"/>
                    </a:lnTo>
                    <a:lnTo>
                      <a:pt x="320" y="33"/>
                    </a:lnTo>
                    <a:lnTo>
                      <a:pt x="320" y="32"/>
                    </a:lnTo>
                    <a:lnTo>
                      <a:pt x="320" y="28"/>
                    </a:lnTo>
                    <a:lnTo>
                      <a:pt x="323" y="27"/>
                    </a:lnTo>
                    <a:lnTo>
                      <a:pt x="323" y="25"/>
                    </a:lnTo>
                    <a:lnTo>
                      <a:pt x="323" y="22"/>
                    </a:lnTo>
                    <a:lnTo>
                      <a:pt x="327" y="20"/>
                    </a:lnTo>
                    <a:lnTo>
                      <a:pt x="327" y="19"/>
                    </a:lnTo>
                    <a:lnTo>
                      <a:pt x="327" y="16"/>
                    </a:lnTo>
                    <a:lnTo>
                      <a:pt x="331" y="14"/>
                    </a:lnTo>
                    <a:lnTo>
                      <a:pt x="331" y="13"/>
                    </a:lnTo>
                    <a:lnTo>
                      <a:pt x="331" y="11"/>
                    </a:lnTo>
                    <a:lnTo>
                      <a:pt x="335" y="9"/>
                    </a:lnTo>
                    <a:lnTo>
                      <a:pt x="335" y="8"/>
                    </a:lnTo>
                    <a:lnTo>
                      <a:pt x="335" y="6"/>
                    </a:lnTo>
                    <a:lnTo>
                      <a:pt x="338" y="5"/>
                    </a:lnTo>
                    <a:lnTo>
                      <a:pt x="342" y="3"/>
                    </a:lnTo>
                    <a:lnTo>
                      <a:pt x="346" y="1"/>
                    </a:lnTo>
                    <a:lnTo>
                      <a:pt x="349" y="0"/>
                    </a:lnTo>
                    <a:lnTo>
                      <a:pt x="353" y="1"/>
                    </a:lnTo>
                    <a:lnTo>
                      <a:pt x="353" y="3"/>
                    </a:lnTo>
                    <a:lnTo>
                      <a:pt x="357" y="5"/>
                    </a:lnTo>
                    <a:lnTo>
                      <a:pt x="357" y="6"/>
                    </a:lnTo>
                    <a:lnTo>
                      <a:pt x="357" y="8"/>
                    </a:lnTo>
                    <a:lnTo>
                      <a:pt x="361" y="9"/>
                    </a:lnTo>
                    <a:lnTo>
                      <a:pt x="361" y="13"/>
                    </a:lnTo>
                    <a:lnTo>
                      <a:pt x="361" y="14"/>
                    </a:lnTo>
                    <a:lnTo>
                      <a:pt x="364" y="16"/>
                    </a:lnTo>
                    <a:lnTo>
                      <a:pt x="364" y="19"/>
                    </a:lnTo>
                    <a:lnTo>
                      <a:pt x="364" y="22"/>
                    </a:lnTo>
                    <a:lnTo>
                      <a:pt x="368" y="25"/>
                    </a:lnTo>
                    <a:lnTo>
                      <a:pt x="368" y="28"/>
                    </a:lnTo>
                    <a:lnTo>
                      <a:pt x="368" y="32"/>
                    </a:lnTo>
                    <a:lnTo>
                      <a:pt x="372" y="36"/>
                    </a:lnTo>
                    <a:lnTo>
                      <a:pt x="372" y="40"/>
                    </a:lnTo>
                    <a:lnTo>
                      <a:pt x="372" y="44"/>
                    </a:lnTo>
                    <a:lnTo>
                      <a:pt x="375" y="47"/>
                    </a:lnTo>
                    <a:lnTo>
                      <a:pt x="375" y="52"/>
                    </a:lnTo>
                    <a:lnTo>
                      <a:pt x="375" y="57"/>
                    </a:lnTo>
                    <a:lnTo>
                      <a:pt x="379" y="62"/>
                    </a:lnTo>
                    <a:lnTo>
                      <a:pt x="379" y="67"/>
                    </a:lnTo>
                    <a:lnTo>
                      <a:pt x="379" y="73"/>
                    </a:lnTo>
                    <a:lnTo>
                      <a:pt x="383" y="78"/>
                    </a:lnTo>
                    <a:lnTo>
                      <a:pt x="383" y="84"/>
                    </a:lnTo>
                    <a:lnTo>
                      <a:pt x="383" y="89"/>
                    </a:lnTo>
                    <a:lnTo>
                      <a:pt x="387" y="95"/>
                    </a:lnTo>
                    <a:lnTo>
                      <a:pt x="387" y="102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0" name="Freeform 14"/>
              <p:cNvSpPr>
                <a:spLocks/>
              </p:cNvSpPr>
              <p:nvPr/>
            </p:nvSpPr>
            <p:spPr bwMode="auto">
              <a:xfrm>
                <a:off x="3021" y="3025"/>
                <a:ext cx="387" cy="383"/>
              </a:xfrm>
              <a:custGeom>
                <a:avLst/>
                <a:gdLst>
                  <a:gd name="T0" fmla="*/ 3 w 387"/>
                  <a:gd name="T1" fmla="*/ 19 h 383"/>
                  <a:gd name="T2" fmla="*/ 7 w 387"/>
                  <a:gd name="T3" fmla="*/ 47 h 383"/>
                  <a:gd name="T4" fmla="*/ 14 w 387"/>
                  <a:gd name="T5" fmla="*/ 76 h 383"/>
                  <a:gd name="T6" fmla="*/ 18 w 387"/>
                  <a:gd name="T7" fmla="*/ 106 h 383"/>
                  <a:gd name="T8" fmla="*/ 22 w 387"/>
                  <a:gd name="T9" fmla="*/ 138 h 383"/>
                  <a:gd name="T10" fmla="*/ 29 w 387"/>
                  <a:gd name="T11" fmla="*/ 168 h 383"/>
                  <a:gd name="T12" fmla="*/ 33 w 387"/>
                  <a:gd name="T13" fmla="*/ 200 h 383"/>
                  <a:gd name="T14" fmla="*/ 37 w 387"/>
                  <a:gd name="T15" fmla="*/ 228 h 383"/>
                  <a:gd name="T16" fmla="*/ 44 w 387"/>
                  <a:gd name="T17" fmla="*/ 257 h 383"/>
                  <a:gd name="T18" fmla="*/ 48 w 387"/>
                  <a:gd name="T19" fmla="*/ 282 h 383"/>
                  <a:gd name="T20" fmla="*/ 52 w 387"/>
                  <a:gd name="T21" fmla="*/ 306 h 383"/>
                  <a:gd name="T22" fmla="*/ 55 w 387"/>
                  <a:gd name="T23" fmla="*/ 327 h 383"/>
                  <a:gd name="T24" fmla="*/ 63 w 387"/>
                  <a:gd name="T25" fmla="*/ 344 h 383"/>
                  <a:gd name="T26" fmla="*/ 66 w 387"/>
                  <a:gd name="T27" fmla="*/ 359 h 383"/>
                  <a:gd name="T28" fmla="*/ 70 w 387"/>
                  <a:gd name="T29" fmla="*/ 370 h 383"/>
                  <a:gd name="T30" fmla="*/ 78 w 387"/>
                  <a:gd name="T31" fmla="*/ 376 h 383"/>
                  <a:gd name="T32" fmla="*/ 85 w 387"/>
                  <a:gd name="T33" fmla="*/ 382 h 383"/>
                  <a:gd name="T34" fmla="*/ 96 w 387"/>
                  <a:gd name="T35" fmla="*/ 376 h 383"/>
                  <a:gd name="T36" fmla="*/ 104 w 387"/>
                  <a:gd name="T37" fmla="*/ 368 h 383"/>
                  <a:gd name="T38" fmla="*/ 107 w 387"/>
                  <a:gd name="T39" fmla="*/ 362 h 383"/>
                  <a:gd name="T40" fmla="*/ 111 w 387"/>
                  <a:gd name="T41" fmla="*/ 352 h 383"/>
                  <a:gd name="T42" fmla="*/ 118 w 387"/>
                  <a:gd name="T43" fmla="*/ 343 h 383"/>
                  <a:gd name="T44" fmla="*/ 122 w 387"/>
                  <a:gd name="T45" fmla="*/ 333 h 383"/>
                  <a:gd name="T46" fmla="*/ 126 w 387"/>
                  <a:gd name="T47" fmla="*/ 325 h 383"/>
                  <a:gd name="T48" fmla="*/ 133 w 387"/>
                  <a:gd name="T49" fmla="*/ 317 h 383"/>
                  <a:gd name="T50" fmla="*/ 137 w 387"/>
                  <a:gd name="T51" fmla="*/ 309 h 383"/>
                  <a:gd name="T52" fmla="*/ 144 w 387"/>
                  <a:gd name="T53" fmla="*/ 303 h 383"/>
                  <a:gd name="T54" fmla="*/ 156 w 387"/>
                  <a:gd name="T55" fmla="*/ 297 h 383"/>
                  <a:gd name="T56" fmla="*/ 167 w 387"/>
                  <a:gd name="T57" fmla="*/ 303 h 383"/>
                  <a:gd name="T58" fmla="*/ 174 w 387"/>
                  <a:gd name="T59" fmla="*/ 309 h 383"/>
                  <a:gd name="T60" fmla="*/ 178 w 387"/>
                  <a:gd name="T61" fmla="*/ 316 h 383"/>
                  <a:gd name="T62" fmla="*/ 182 w 387"/>
                  <a:gd name="T63" fmla="*/ 322 h 383"/>
                  <a:gd name="T64" fmla="*/ 189 w 387"/>
                  <a:gd name="T65" fmla="*/ 330 h 383"/>
                  <a:gd name="T66" fmla="*/ 193 w 387"/>
                  <a:gd name="T67" fmla="*/ 338 h 383"/>
                  <a:gd name="T68" fmla="*/ 196 w 387"/>
                  <a:gd name="T69" fmla="*/ 346 h 383"/>
                  <a:gd name="T70" fmla="*/ 204 w 387"/>
                  <a:gd name="T71" fmla="*/ 354 h 383"/>
                  <a:gd name="T72" fmla="*/ 208 w 387"/>
                  <a:gd name="T73" fmla="*/ 360 h 383"/>
                  <a:gd name="T74" fmla="*/ 215 w 387"/>
                  <a:gd name="T75" fmla="*/ 366 h 383"/>
                  <a:gd name="T76" fmla="*/ 226 w 387"/>
                  <a:gd name="T77" fmla="*/ 373 h 383"/>
                  <a:gd name="T78" fmla="*/ 241 w 387"/>
                  <a:gd name="T79" fmla="*/ 366 h 383"/>
                  <a:gd name="T80" fmla="*/ 248 w 387"/>
                  <a:gd name="T81" fmla="*/ 360 h 383"/>
                  <a:gd name="T82" fmla="*/ 252 w 387"/>
                  <a:gd name="T83" fmla="*/ 354 h 383"/>
                  <a:gd name="T84" fmla="*/ 256 w 387"/>
                  <a:gd name="T85" fmla="*/ 346 h 383"/>
                  <a:gd name="T86" fmla="*/ 263 w 387"/>
                  <a:gd name="T87" fmla="*/ 338 h 383"/>
                  <a:gd name="T88" fmla="*/ 267 w 387"/>
                  <a:gd name="T89" fmla="*/ 330 h 383"/>
                  <a:gd name="T90" fmla="*/ 271 w 387"/>
                  <a:gd name="T91" fmla="*/ 322 h 383"/>
                  <a:gd name="T92" fmla="*/ 278 w 387"/>
                  <a:gd name="T93" fmla="*/ 316 h 383"/>
                  <a:gd name="T94" fmla="*/ 282 w 387"/>
                  <a:gd name="T95" fmla="*/ 309 h 383"/>
                  <a:gd name="T96" fmla="*/ 289 w 387"/>
                  <a:gd name="T97" fmla="*/ 303 h 383"/>
                  <a:gd name="T98" fmla="*/ 300 w 387"/>
                  <a:gd name="T99" fmla="*/ 297 h 383"/>
                  <a:gd name="T100" fmla="*/ 312 w 387"/>
                  <a:gd name="T101" fmla="*/ 303 h 383"/>
                  <a:gd name="T102" fmla="*/ 319 w 387"/>
                  <a:gd name="T103" fmla="*/ 309 h 383"/>
                  <a:gd name="T104" fmla="*/ 323 w 387"/>
                  <a:gd name="T105" fmla="*/ 317 h 383"/>
                  <a:gd name="T106" fmla="*/ 326 w 387"/>
                  <a:gd name="T107" fmla="*/ 325 h 383"/>
                  <a:gd name="T108" fmla="*/ 334 w 387"/>
                  <a:gd name="T109" fmla="*/ 333 h 383"/>
                  <a:gd name="T110" fmla="*/ 338 w 387"/>
                  <a:gd name="T111" fmla="*/ 343 h 383"/>
                  <a:gd name="T112" fmla="*/ 341 w 387"/>
                  <a:gd name="T113" fmla="*/ 352 h 383"/>
                  <a:gd name="T114" fmla="*/ 349 w 387"/>
                  <a:gd name="T115" fmla="*/ 362 h 383"/>
                  <a:gd name="T116" fmla="*/ 352 w 387"/>
                  <a:gd name="T117" fmla="*/ 368 h 383"/>
                  <a:gd name="T118" fmla="*/ 360 w 387"/>
                  <a:gd name="T119" fmla="*/ 376 h 383"/>
                  <a:gd name="T120" fmla="*/ 371 w 387"/>
                  <a:gd name="T121" fmla="*/ 382 h 383"/>
                  <a:gd name="T122" fmla="*/ 378 w 387"/>
                  <a:gd name="T123" fmla="*/ 376 h 383"/>
                  <a:gd name="T124" fmla="*/ 382 w 387"/>
                  <a:gd name="T125" fmla="*/ 370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87" h="383">
                    <a:moveTo>
                      <a:pt x="0" y="0"/>
                    </a:moveTo>
                    <a:lnTo>
                      <a:pt x="0" y="6"/>
                    </a:lnTo>
                    <a:lnTo>
                      <a:pt x="3" y="12"/>
                    </a:lnTo>
                    <a:lnTo>
                      <a:pt x="3" y="19"/>
                    </a:lnTo>
                    <a:lnTo>
                      <a:pt x="3" y="25"/>
                    </a:lnTo>
                    <a:lnTo>
                      <a:pt x="7" y="33"/>
                    </a:lnTo>
                    <a:lnTo>
                      <a:pt x="7" y="39"/>
                    </a:lnTo>
                    <a:lnTo>
                      <a:pt x="7" y="47"/>
                    </a:lnTo>
                    <a:lnTo>
                      <a:pt x="11" y="54"/>
                    </a:lnTo>
                    <a:lnTo>
                      <a:pt x="11" y="61"/>
                    </a:lnTo>
                    <a:lnTo>
                      <a:pt x="11" y="68"/>
                    </a:lnTo>
                    <a:lnTo>
                      <a:pt x="14" y="76"/>
                    </a:lnTo>
                    <a:lnTo>
                      <a:pt x="14" y="84"/>
                    </a:lnTo>
                    <a:lnTo>
                      <a:pt x="14" y="92"/>
                    </a:lnTo>
                    <a:lnTo>
                      <a:pt x="18" y="98"/>
                    </a:lnTo>
                    <a:lnTo>
                      <a:pt x="18" y="106"/>
                    </a:lnTo>
                    <a:lnTo>
                      <a:pt x="18" y="114"/>
                    </a:lnTo>
                    <a:lnTo>
                      <a:pt x="22" y="122"/>
                    </a:lnTo>
                    <a:lnTo>
                      <a:pt x="22" y="130"/>
                    </a:lnTo>
                    <a:lnTo>
                      <a:pt x="22" y="138"/>
                    </a:lnTo>
                    <a:lnTo>
                      <a:pt x="26" y="146"/>
                    </a:lnTo>
                    <a:lnTo>
                      <a:pt x="26" y="154"/>
                    </a:lnTo>
                    <a:lnTo>
                      <a:pt x="26" y="162"/>
                    </a:lnTo>
                    <a:lnTo>
                      <a:pt x="29" y="168"/>
                    </a:lnTo>
                    <a:lnTo>
                      <a:pt x="29" y="176"/>
                    </a:lnTo>
                    <a:lnTo>
                      <a:pt x="29" y="184"/>
                    </a:lnTo>
                    <a:lnTo>
                      <a:pt x="33" y="192"/>
                    </a:lnTo>
                    <a:lnTo>
                      <a:pt x="33" y="200"/>
                    </a:lnTo>
                    <a:lnTo>
                      <a:pt x="33" y="206"/>
                    </a:lnTo>
                    <a:lnTo>
                      <a:pt x="37" y="214"/>
                    </a:lnTo>
                    <a:lnTo>
                      <a:pt x="37" y="222"/>
                    </a:lnTo>
                    <a:lnTo>
                      <a:pt x="37" y="228"/>
                    </a:lnTo>
                    <a:lnTo>
                      <a:pt x="40" y="236"/>
                    </a:lnTo>
                    <a:lnTo>
                      <a:pt x="40" y="243"/>
                    </a:lnTo>
                    <a:lnTo>
                      <a:pt x="40" y="250"/>
                    </a:lnTo>
                    <a:lnTo>
                      <a:pt x="44" y="257"/>
                    </a:lnTo>
                    <a:lnTo>
                      <a:pt x="44" y="263"/>
                    </a:lnTo>
                    <a:lnTo>
                      <a:pt x="44" y="270"/>
                    </a:lnTo>
                    <a:lnTo>
                      <a:pt x="44" y="276"/>
                    </a:lnTo>
                    <a:lnTo>
                      <a:pt x="48" y="282"/>
                    </a:lnTo>
                    <a:lnTo>
                      <a:pt x="48" y="289"/>
                    </a:lnTo>
                    <a:lnTo>
                      <a:pt x="48" y="295"/>
                    </a:lnTo>
                    <a:lnTo>
                      <a:pt x="52" y="300"/>
                    </a:lnTo>
                    <a:lnTo>
                      <a:pt x="52" y="306"/>
                    </a:lnTo>
                    <a:lnTo>
                      <a:pt x="52" y="311"/>
                    </a:lnTo>
                    <a:lnTo>
                      <a:pt x="55" y="317"/>
                    </a:lnTo>
                    <a:lnTo>
                      <a:pt x="55" y="322"/>
                    </a:lnTo>
                    <a:lnTo>
                      <a:pt x="55" y="327"/>
                    </a:lnTo>
                    <a:lnTo>
                      <a:pt x="59" y="332"/>
                    </a:lnTo>
                    <a:lnTo>
                      <a:pt x="59" y="336"/>
                    </a:lnTo>
                    <a:lnTo>
                      <a:pt x="59" y="339"/>
                    </a:lnTo>
                    <a:lnTo>
                      <a:pt x="63" y="344"/>
                    </a:lnTo>
                    <a:lnTo>
                      <a:pt x="63" y="347"/>
                    </a:lnTo>
                    <a:lnTo>
                      <a:pt x="63" y="352"/>
                    </a:lnTo>
                    <a:lnTo>
                      <a:pt x="66" y="355"/>
                    </a:lnTo>
                    <a:lnTo>
                      <a:pt x="66" y="359"/>
                    </a:lnTo>
                    <a:lnTo>
                      <a:pt x="66" y="362"/>
                    </a:lnTo>
                    <a:lnTo>
                      <a:pt x="70" y="363"/>
                    </a:lnTo>
                    <a:lnTo>
                      <a:pt x="70" y="366"/>
                    </a:lnTo>
                    <a:lnTo>
                      <a:pt x="70" y="370"/>
                    </a:lnTo>
                    <a:lnTo>
                      <a:pt x="74" y="371"/>
                    </a:lnTo>
                    <a:lnTo>
                      <a:pt x="74" y="373"/>
                    </a:lnTo>
                    <a:lnTo>
                      <a:pt x="74" y="374"/>
                    </a:lnTo>
                    <a:lnTo>
                      <a:pt x="78" y="376"/>
                    </a:lnTo>
                    <a:lnTo>
                      <a:pt x="78" y="378"/>
                    </a:lnTo>
                    <a:lnTo>
                      <a:pt x="81" y="379"/>
                    </a:lnTo>
                    <a:lnTo>
                      <a:pt x="81" y="381"/>
                    </a:lnTo>
                    <a:lnTo>
                      <a:pt x="85" y="382"/>
                    </a:lnTo>
                    <a:lnTo>
                      <a:pt x="89" y="381"/>
                    </a:lnTo>
                    <a:lnTo>
                      <a:pt x="92" y="379"/>
                    </a:lnTo>
                    <a:lnTo>
                      <a:pt x="96" y="378"/>
                    </a:lnTo>
                    <a:lnTo>
                      <a:pt x="96" y="376"/>
                    </a:lnTo>
                    <a:lnTo>
                      <a:pt x="100" y="374"/>
                    </a:lnTo>
                    <a:lnTo>
                      <a:pt x="100" y="373"/>
                    </a:lnTo>
                    <a:lnTo>
                      <a:pt x="100" y="371"/>
                    </a:lnTo>
                    <a:lnTo>
                      <a:pt x="104" y="368"/>
                    </a:lnTo>
                    <a:lnTo>
                      <a:pt x="104" y="366"/>
                    </a:lnTo>
                    <a:lnTo>
                      <a:pt x="104" y="365"/>
                    </a:lnTo>
                    <a:lnTo>
                      <a:pt x="107" y="363"/>
                    </a:lnTo>
                    <a:lnTo>
                      <a:pt x="107" y="362"/>
                    </a:lnTo>
                    <a:lnTo>
                      <a:pt x="107" y="359"/>
                    </a:lnTo>
                    <a:lnTo>
                      <a:pt x="111" y="357"/>
                    </a:lnTo>
                    <a:lnTo>
                      <a:pt x="111" y="354"/>
                    </a:lnTo>
                    <a:lnTo>
                      <a:pt x="111" y="352"/>
                    </a:lnTo>
                    <a:lnTo>
                      <a:pt x="115" y="351"/>
                    </a:lnTo>
                    <a:lnTo>
                      <a:pt x="115" y="347"/>
                    </a:lnTo>
                    <a:lnTo>
                      <a:pt x="115" y="346"/>
                    </a:lnTo>
                    <a:lnTo>
                      <a:pt x="118" y="343"/>
                    </a:lnTo>
                    <a:lnTo>
                      <a:pt x="118" y="341"/>
                    </a:lnTo>
                    <a:lnTo>
                      <a:pt x="118" y="338"/>
                    </a:lnTo>
                    <a:lnTo>
                      <a:pt x="122" y="336"/>
                    </a:lnTo>
                    <a:lnTo>
                      <a:pt x="122" y="333"/>
                    </a:lnTo>
                    <a:lnTo>
                      <a:pt x="122" y="332"/>
                    </a:lnTo>
                    <a:lnTo>
                      <a:pt x="126" y="328"/>
                    </a:lnTo>
                    <a:lnTo>
                      <a:pt x="126" y="327"/>
                    </a:lnTo>
                    <a:lnTo>
                      <a:pt x="126" y="325"/>
                    </a:lnTo>
                    <a:lnTo>
                      <a:pt x="130" y="322"/>
                    </a:lnTo>
                    <a:lnTo>
                      <a:pt x="130" y="320"/>
                    </a:lnTo>
                    <a:lnTo>
                      <a:pt x="130" y="319"/>
                    </a:lnTo>
                    <a:lnTo>
                      <a:pt x="133" y="317"/>
                    </a:lnTo>
                    <a:lnTo>
                      <a:pt x="133" y="314"/>
                    </a:lnTo>
                    <a:lnTo>
                      <a:pt x="133" y="312"/>
                    </a:lnTo>
                    <a:lnTo>
                      <a:pt x="137" y="311"/>
                    </a:lnTo>
                    <a:lnTo>
                      <a:pt x="137" y="309"/>
                    </a:lnTo>
                    <a:lnTo>
                      <a:pt x="137" y="308"/>
                    </a:lnTo>
                    <a:lnTo>
                      <a:pt x="141" y="306"/>
                    </a:lnTo>
                    <a:lnTo>
                      <a:pt x="141" y="305"/>
                    </a:lnTo>
                    <a:lnTo>
                      <a:pt x="144" y="303"/>
                    </a:lnTo>
                    <a:lnTo>
                      <a:pt x="144" y="301"/>
                    </a:lnTo>
                    <a:lnTo>
                      <a:pt x="148" y="300"/>
                    </a:lnTo>
                    <a:lnTo>
                      <a:pt x="152" y="298"/>
                    </a:lnTo>
                    <a:lnTo>
                      <a:pt x="156" y="297"/>
                    </a:lnTo>
                    <a:lnTo>
                      <a:pt x="159" y="298"/>
                    </a:lnTo>
                    <a:lnTo>
                      <a:pt x="163" y="300"/>
                    </a:lnTo>
                    <a:lnTo>
                      <a:pt x="167" y="301"/>
                    </a:lnTo>
                    <a:lnTo>
                      <a:pt x="167" y="303"/>
                    </a:lnTo>
                    <a:lnTo>
                      <a:pt x="170" y="305"/>
                    </a:lnTo>
                    <a:lnTo>
                      <a:pt x="170" y="306"/>
                    </a:lnTo>
                    <a:lnTo>
                      <a:pt x="170" y="308"/>
                    </a:lnTo>
                    <a:lnTo>
                      <a:pt x="174" y="309"/>
                    </a:lnTo>
                    <a:lnTo>
                      <a:pt x="174" y="311"/>
                    </a:lnTo>
                    <a:lnTo>
                      <a:pt x="174" y="312"/>
                    </a:lnTo>
                    <a:lnTo>
                      <a:pt x="178" y="314"/>
                    </a:lnTo>
                    <a:lnTo>
                      <a:pt x="178" y="316"/>
                    </a:lnTo>
                    <a:lnTo>
                      <a:pt x="178" y="317"/>
                    </a:lnTo>
                    <a:lnTo>
                      <a:pt x="182" y="319"/>
                    </a:lnTo>
                    <a:lnTo>
                      <a:pt x="182" y="320"/>
                    </a:lnTo>
                    <a:lnTo>
                      <a:pt x="182" y="322"/>
                    </a:lnTo>
                    <a:lnTo>
                      <a:pt x="185" y="325"/>
                    </a:lnTo>
                    <a:lnTo>
                      <a:pt x="185" y="327"/>
                    </a:lnTo>
                    <a:lnTo>
                      <a:pt x="185" y="328"/>
                    </a:lnTo>
                    <a:lnTo>
                      <a:pt x="189" y="330"/>
                    </a:lnTo>
                    <a:lnTo>
                      <a:pt x="189" y="333"/>
                    </a:lnTo>
                    <a:lnTo>
                      <a:pt x="189" y="335"/>
                    </a:lnTo>
                    <a:lnTo>
                      <a:pt x="193" y="336"/>
                    </a:lnTo>
                    <a:lnTo>
                      <a:pt x="193" y="338"/>
                    </a:lnTo>
                    <a:lnTo>
                      <a:pt x="193" y="341"/>
                    </a:lnTo>
                    <a:lnTo>
                      <a:pt x="196" y="343"/>
                    </a:lnTo>
                    <a:lnTo>
                      <a:pt x="196" y="344"/>
                    </a:lnTo>
                    <a:lnTo>
                      <a:pt x="196" y="346"/>
                    </a:lnTo>
                    <a:lnTo>
                      <a:pt x="200" y="347"/>
                    </a:lnTo>
                    <a:lnTo>
                      <a:pt x="200" y="349"/>
                    </a:lnTo>
                    <a:lnTo>
                      <a:pt x="200" y="352"/>
                    </a:lnTo>
                    <a:lnTo>
                      <a:pt x="204" y="354"/>
                    </a:lnTo>
                    <a:lnTo>
                      <a:pt x="204" y="355"/>
                    </a:lnTo>
                    <a:lnTo>
                      <a:pt x="204" y="357"/>
                    </a:lnTo>
                    <a:lnTo>
                      <a:pt x="208" y="359"/>
                    </a:lnTo>
                    <a:lnTo>
                      <a:pt x="208" y="360"/>
                    </a:lnTo>
                    <a:lnTo>
                      <a:pt x="211" y="362"/>
                    </a:lnTo>
                    <a:lnTo>
                      <a:pt x="211" y="363"/>
                    </a:lnTo>
                    <a:lnTo>
                      <a:pt x="211" y="365"/>
                    </a:lnTo>
                    <a:lnTo>
                      <a:pt x="215" y="366"/>
                    </a:lnTo>
                    <a:lnTo>
                      <a:pt x="215" y="368"/>
                    </a:lnTo>
                    <a:lnTo>
                      <a:pt x="219" y="370"/>
                    </a:lnTo>
                    <a:lnTo>
                      <a:pt x="222" y="371"/>
                    </a:lnTo>
                    <a:lnTo>
                      <a:pt x="226" y="373"/>
                    </a:lnTo>
                    <a:lnTo>
                      <a:pt x="230" y="371"/>
                    </a:lnTo>
                    <a:lnTo>
                      <a:pt x="234" y="370"/>
                    </a:lnTo>
                    <a:lnTo>
                      <a:pt x="237" y="368"/>
                    </a:lnTo>
                    <a:lnTo>
                      <a:pt x="241" y="366"/>
                    </a:lnTo>
                    <a:lnTo>
                      <a:pt x="241" y="365"/>
                    </a:lnTo>
                    <a:lnTo>
                      <a:pt x="245" y="363"/>
                    </a:lnTo>
                    <a:lnTo>
                      <a:pt x="245" y="362"/>
                    </a:lnTo>
                    <a:lnTo>
                      <a:pt x="248" y="360"/>
                    </a:lnTo>
                    <a:lnTo>
                      <a:pt x="248" y="359"/>
                    </a:lnTo>
                    <a:lnTo>
                      <a:pt x="248" y="357"/>
                    </a:lnTo>
                    <a:lnTo>
                      <a:pt x="252" y="355"/>
                    </a:lnTo>
                    <a:lnTo>
                      <a:pt x="252" y="354"/>
                    </a:lnTo>
                    <a:lnTo>
                      <a:pt x="252" y="352"/>
                    </a:lnTo>
                    <a:lnTo>
                      <a:pt x="256" y="349"/>
                    </a:lnTo>
                    <a:lnTo>
                      <a:pt x="256" y="347"/>
                    </a:lnTo>
                    <a:lnTo>
                      <a:pt x="256" y="346"/>
                    </a:lnTo>
                    <a:lnTo>
                      <a:pt x="260" y="344"/>
                    </a:lnTo>
                    <a:lnTo>
                      <a:pt x="260" y="343"/>
                    </a:lnTo>
                    <a:lnTo>
                      <a:pt x="260" y="341"/>
                    </a:lnTo>
                    <a:lnTo>
                      <a:pt x="263" y="338"/>
                    </a:lnTo>
                    <a:lnTo>
                      <a:pt x="263" y="336"/>
                    </a:lnTo>
                    <a:lnTo>
                      <a:pt x="263" y="335"/>
                    </a:lnTo>
                    <a:lnTo>
                      <a:pt x="267" y="333"/>
                    </a:lnTo>
                    <a:lnTo>
                      <a:pt x="267" y="330"/>
                    </a:lnTo>
                    <a:lnTo>
                      <a:pt x="267" y="328"/>
                    </a:lnTo>
                    <a:lnTo>
                      <a:pt x="271" y="327"/>
                    </a:lnTo>
                    <a:lnTo>
                      <a:pt x="271" y="325"/>
                    </a:lnTo>
                    <a:lnTo>
                      <a:pt x="271" y="322"/>
                    </a:lnTo>
                    <a:lnTo>
                      <a:pt x="274" y="320"/>
                    </a:lnTo>
                    <a:lnTo>
                      <a:pt x="274" y="319"/>
                    </a:lnTo>
                    <a:lnTo>
                      <a:pt x="274" y="317"/>
                    </a:lnTo>
                    <a:lnTo>
                      <a:pt x="278" y="316"/>
                    </a:lnTo>
                    <a:lnTo>
                      <a:pt x="278" y="314"/>
                    </a:lnTo>
                    <a:lnTo>
                      <a:pt x="278" y="312"/>
                    </a:lnTo>
                    <a:lnTo>
                      <a:pt x="282" y="311"/>
                    </a:lnTo>
                    <a:lnTo>
                      <a:pt x="282" y="309"/>
                    </a:lnTo>
                    <a:lnTo>
                      <a:pt x="282" y="308"/>
                    </a:lnTo>
                    <a:lnTo>
                      <a:pt x="286" y="306"/>
                    </a:lnTo>
                    <a:lnTo>
                      <a:pt x="286" y="305"/>
                    </a:lnTo>
                    <a:lnTo>
                      <a:pt x="289" y="303"/>
                    </a:lnTo>
                    <a:lnTo>
                      <a:pt x="289" y="301"/>
                    </a:lnTo>
                    <a:lnTo>
                      <a:pt x="293" y="300"/>
                    </a:lnTo>
                    <a:lnTo>
                      <a:pt x="297" y="298"/>
                    </a:lnTo>
                    <a:lnTo>
                      <a:pt x="300" y="297"/>
                    </a:lnTo>
                    <a:lnTo>
                      <a:pt x="304" y="298"/>
                    </a:lnTo>
                    <a:lnTo>
                      <a:pt x="308" y="300"/>
                    </a:lnTo>
                    <a:lnTo>
                      <a:pt x="312" y="301"/>
                    </a:lnTo>
                    <a:lnTo>
                      <a:pt x="312" y="303"/>
                    </a:lnTo>
                    <a:lnTo>
                      <a:pt x="315" y="305"/>
                    </a:lnTo>
                    <a:lnTo>
                      <a:pt x="315" y="306"/>
                    </a:lnTo>
                    <a:lnTo>
                      <a:pt x="315" y="308"/>
                    </a:lnTo>
                    <a:lnTo>
                      <a:pt x="319" y="309"/>
                    </a:lnTo>
                    <a:lnTo>
                      <a:pt x="319" y="311"/>
                    </a:lnTo>
                    <a:lnTo>
                      <a:pt x="319" y="312"/>
                    </a:lnTo>
                    <a:lnTo>
                      <a:pt x="323" y="314"/>
                    </a:lnTo>
                    <a:lnTo>
                      <a:pt x="323" y="317"/>
                    </a:lnTo>
                    <a:lnTo>
                      <a:pt x="323" y="319"/>
                    </a:lnTo>
                    <a:lnTo>
                      <a:pt x="326" y="320"/>
                    </a:lnTo>
                    <a:lnTo>
                      <a:pt x="326" y="322"/>
                    </a:lnTo>
                    <a:lnTo>
                      <a:pt x="326" y="325"/>
                    </a:lnTo>
                    <a:lnTo>
                      <a:pt x="330" y="327"/>
                    </a:lnTo>
                    <a:lnTo>
                      <a:pt x="330" y="328"/>
                    </a:lnTo>
                    <a:lnTo>
                      <a:pt x="330" y="332"/>
                    </a:lnTo>
                    <a:lnTo>
                      <a:pt x="334" y="333"/>
                    </a:lnTo>
                    <a:lnTo>
                      <a:pt x="334" y="336"/>
                    </a:lnTo>
                    <a:lnTo>
                      <a:pt x="334" y="338"/>
                    </a:lnTo>
                    <a:lnTo>
                      <a:pt x="338" y="341"/>
                    </a:lnTo>
                    <a:lnTo>
                      <a:pt x="338" y="343"/>
                    </a:lnTo>
                    <a:lnTo>
                      <a:pt x="338" y="346"/>
                    </a:lnTo>
                    <a:lnTo>
                      <a:pt x="341" y="347"/>
                    </a:lnTo>
                    <a:lnTo>
                      <a:pt x="341" y="351"/>
                    </a:lnTo>
                    <a:lnTo>
                      <a:pt x="341" y="352"/>
                    </a:lnTo>
                    <a:lnTo>
                      <a:pt x="345" y="354"/>
                    </a:lnTo>
                    <a:lnTo>
                      <a:pt x="345" y="357"/>
                    </a:lnTo>
                    <a:lnTo>
                      <a:pt x="345" y="359"/>
                    </a:lnTo>
                    <a:lnTo>
                      <a:pt x="349" y="362"/>
                    </a:lnTo>
                    <a:lnTo>
                      <a:pt x="349" y="363"/>
                    </a:lnTo>
                    <a:lnTo>
                      <a:pt x="349" y="365"/>
                    </a:lnTo>
                    <a:lnTo>
                      <a:pt x="352" y="366"/>
                    </a:lnTo>
                    <a:lnTo>
                      <a:pt x="352" y="368"/>
                    </a:lnTo>
                    <a:lnTo>
                      <a:pt x="352" y="371"/>
                    </a:lnTo>
                    <a:lnTo>
                      <a:pt x="356" y="373"/>
                    </a:lnTo>
                    <a:lnTo>
                      <a:pt x="356" y="374"/>
                    </a:lnTo>
                    <a:lnTo>
                      <a:pt x="360" y="376"/>
                    </a:lnTo>
                    <a:lnTo>
                      <a:pt x="360" y="378"/>
                    </a:lnTo>
                    <a:lnTo>
                      <a:pt x="364" y="379"/>
                    </a:lnTo>
                    <a:lnTo>
                      <a:pt x="367" y="381"/>
                    </a:lnTo>
                    <a:lnTo>
                      <a:pt x="371" y="382"/>
                    </a:lnTo>
                    <a:lnTo>
                      <a:pt x="375" y="381"/>
                    </a:lnTo>
                    <a:lnTo>
                      <a:pt x="375" y="379"/>
                    </a:lnTo>
                    <a:lnTo>
                      <a:pt x="378" y="378"/>
                    </a:lnTo>
                    <a:lnTo>
                      <a:pt x="378" y="376"/>
                    </a:lnTo>
                    <a:lnTo>
                      <a:pt x="378" y="374"/>
                    </a:lnTo>
                    <a:lnTo>
                      <a:pt x="382" y="373"/>
                    </a:lnTo>
                    <a:lnTo>
                      <a:pt x="382" y="371"/>
                    </a:lnTo>
                    <a:lnTo>
                      <a:pt x="382" y="370"/>
                    </a:lnTo>
                    <a:lnTo>
                      <a:pt x="386" y="366"/>
                    </a:lnTo>
                    <a:lnTo>
                      <a:pt x="386" y="363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1" name="Freeform 15"/>
              <p:cNvSpPr>
                <a:spLocks/>
              </p:cNvSpPr>
              <p:nvPr/>
            </p:nvSpPr>
            <p:spPr bwMode="auto">
              <a:xfrm>
                <a:off x="3407" y="2923"/>
                <a:ext cx="372" cy="466"/>
              </a:xfrm>
              <a:custGeom>
                <a:avLst/>
                <a:gdLst>
                  <a:gd name="T0" fmla="*/ 4 w 372"/>
                  <a:gd name="T1" fmla="*/ 457 h 466"/>
                  <a:gd name="T2" fmla="*/ 7 w 372"/>
                  <a:gd name="T3" fmla="*/ 441 h 466"/>
                  <a:gd name="T4" fmla="*/ 15 w 372"/>
                  <a:gd name="T5" fmla="*/ 424 h 466"/>
                  <a:gd name="T6" fmla="*/ 18 w 372"/>
                  <a:gd name="T7" fmla="*/ 402 h 466"/>
                  <a:gd name="T8" fmla="*/ 22 w 372"/>
                  <a:gd name="T9" fmla="*/ 378 h 466"/>
                  <a:gd name="T10" fmla="*/ 26 w 372"/>
                  <a:gd name="T11" fmla="*/ 352 h 466"/>
                  <a:gd name="T12" fmla="*/ 33 w 372"/>
                  <a:gd name="T13" fmla="*/ 324 h 466"/>
                  <a:gd name="T14" fmla="*/ 37 w 372"/>
                  <a:gd name="T15" fmla="*/ 294 h 466"/>
                  <a:gd name="T16" fmla="*/ 41 w 372"/>
                  <a:gd name="T17" fmla="*/ 264 h 466"/>
                  <a:gd name="T18" fmla="*/ 48 w 372"/>
                  <a:gd name="T19" fmla="*/ 232 h 466"/>
                  <a:gd name="T20" fmla="*/ 52 w 372"/>
                  <a:gd name="T21" fmla="*/ 200 h 466"/>
                  <a:gd name="T22" fmla="*/ 56 w 372"/>
                  <a:gd name="T23" fmla="*/ 170 h 466"/>
                  <a:gd name="T24" fmla="*/ 63 w 372"/>
                  <a:gd name="T25" fmla="*/ 141 h 466"/>
                  <a:gd name="T26" fmla="*/ 67 w 372"/>
                  <a:gd name="T27" fmla="*/ 114 h 466"/>
                  <a:gd name="T28" fmla="*/ 70 w 372"/>
                  <a:gd name="T29" fmla="*/ 89 h 466"/>
                  <a:gd name="T30" fmla="*/ 78 w 372"/>
                  <a:gd name="T31" fmla="*/ 67 h 466"/>
                  <a:gd name="T32" fmla="*/ 82 w 372"/>
                  <a:gd name="T33" fmla="*/ 47 h 466"/>
                  <a:gd name="T34" fmla="*/ 85 w 372"/>
                  <a:gd name="T35" fmla="*/ 32 h 466"/>
                  <a:gd name="T36" fmla="*/ 93 w 372"/>
                  <a:gd name="T37" fmla="*/ 19 h 466"/>
                  <a:gd name="T38" fmla="*/ 96 w 372"/>
                  <a:gd name="T39" fmla="*/ 9 h 466"/>
                  <a:gd name="T40" fmla="*/ 104 w 372"/>
                  <a:gd name="T41" fmla="*/ 3 h 466"/>
                  <a:gd name="T42" fmla="*/ 115 w 372"/>
                  <a:gd name="T43" fmla="*/ 3 h 466"/>
                  <a:gd name="T44" fmla="*/ 122 w 372"/>
                  <a:gd name="T45" fmla="*/ 9 h 466"/>
                  <a:gd name="T46" fmla="*/ 126 w 372"/>
                  <a:gd name="T47" fmla="*/ 16 h 466"/>
                  <a:gd name="T48" fmla="*/ 134 w 372"/>
                  <a:gd name="T49" fmla="*/ 25 h 466"/>
                  <a:gd name="T50" fmla="*/ 137 w 372"/>
                  <a:gd name="T51" fmla="*/ 33 h 466"/>
                  <a:gd name="T52" fmla="*/ 141 w 372"/>
                  <a:gd name="T53" fmla="*/ 43 h 466"/>
                  <a:gd name="T54" fmla="*/ 148 w 372"/>
                  <a:gd name="T55" fmla="*/ 52 h 466"/>
                  <a:gd name="T56" fmla="*/ 152 w 372"/>
                  <a:gd name="T57" fmla="*/ 60 h 466"/>
                  <a:gd name="T58" fmla="*/ 156 w 372"/>
                  <a:gd name="T59" fmla="*/ 68 h 466"/>
                  <a:gd name="T60" fmla="*/ 160 w 372"/>
                  <a:gd name="T61" fmla="*/ 74 h 466"/>
                  <a:gd name="T62" fmla="*/ 167 w 372"/>
                  <a:gd name="T63" fmla="*/ 81 h 466"/>
                  <a:gd name="T64" fmla="*/ 182 w 372"/>
                  <a:gd name="T65" fmla="*/ 84 h 466"/>
                  <a:gd name="T66" fmla="*/ 193 w 372"/>
                  <a:gd name="T67" fmla="*/ 78 h 466"/>
                  <a:gd name="T68" fmla="*/ 197 w 372"/>
                  <a:gd name="T69" fmla="*/ 71 h 466"/>
                  <a:gd name="T70" fmla="*/ 204 w 372"/>
                  <a:gd name="T71" fmla="*/ 63 h 466"/>
                  <a:gd name="T72" fmla="*/ 208 w 372"/>
                  <a:gd name="T73" fmla="*/ 57 h 466"/>
                  <a:gd name="T74" fmla="*/ 212 w 372"/>
                  <a:gd name="T75" fmla="*/ 49 h 466"/>
                  <a:gd name="T76" fmla="*/ 219 w 372"/>
                  <a:gd name="T77" fmla="*/ 41 h 466"/>
                  <a:gd name="T78" fmla="*/ 223 w 372"/>
                  <a:gd name="T79" fmla="*/ 33 h 466"/>
                  <a:gd name="T80" fmla="*/ 226 w 372"/>
                  <a:gd name="T81" fmla="*/ 27 h 466"/>
                  <a:gd name="T82" fmla="*/ 234 w 372"/>
                  <a:gd name="T83" fmla="*/ 20 h 466"/>
                  <a:gd name="T84" fmla="*/ 241 w 372"/>
                  <a:gd name="T85" fmla="*/ 14 h 466"/>
                  <a:gd name="T86" fmla="*/ 252 w 372"/>
                  <a:gd name="T87" fmla="*/ 11 h 466"/>
                  <a:gd name="T88" fmla="*/ 264 w 372"/>
                  <a:gd name="T89" fmla="*/ 16 h 466"/>
                  <a:gd name="T90" fmla="*/ 271 w 372"/>
                  <a:gd name="T91" fmla="*/ 22 h 466"/>
                  <a:gd name="T92" fmla="*/ 275 w 372"/>
                  <a:gd name="T93" fmla="*/ 28 h 466"/>
                  <a:gd name="T94" fmla="*/ 278 w 372"/>
                  <a:gd name="T95" fmla="*/ 35 h 466"/>
                  <a:gd name="T96" fmla="*/ 282 w 372"/>
                  <a:gd name="T97" fmla="*/ 43 h 466"/>
                  <a:gd name="T98" fmla="*/ 290 w 372"/>
                  <a:gd name="T99" fmla="*/ 51 h 466"/>
                  <a:gd name="T100" fmla="*/ 293 w 372"/>
                  <a:gd name="T101" fmla="*/ 59 h 466"/>
                  <a:gd name="T102" fmla="*/ 297 w 372"/>
                  <a:gd name="T103" fmla="*/ 67 h 466"/>
                  <a:gd name="T104" fmla="*/ 304 w 372"/>
                  <a:gd name="T105" fmla="*/ 73 h 466"/>
                  <a:gd name="T106" fmla="*/ 308 w 372"/>
                  <a:gd name="T107" fmla="*/ 79 h 466"/>
                  <a:gd name="T108" fmla="*/ 323 w 372"/>
                  <a:gd name="T109" fmla="*/ 86 h 466"/>
                  <a:gd name="T110" fmla="*/ 334 w 372"/>
                  <a:gd name="T111" fmla="*/ 79 h 466"/>
                  <a:gd name="T112" fmla="*/ 342 w 372"/>
                  <a:gd name="T113" fmla="*/ 73 h 466"/>
                  <a:gd name="T114" fmla="*/ 345 w 372"/>
                  <a:gd name="T115" fmla="*/ 67 h 466"/>
                  <a:gd name="T116" fmla="*/ 349 w 372"/>
                  <a:gd name="T117" fmla="*/ 59 h 466"/>
                  <a:gd name="T118" fmla="*/ 356 w 372"/>
                  <a:gd name="T119" fmla="*/ 49 h 466"/>
                  <a:gd name="T120" fmla="*/ 360 w 372"/>
                  <a:gd name="T121" fmla="*/ 40 h 466"/>
                  <a:gd name="T122" fmla="*/ 364 w 372"/>
                  <a:gd name="T123" fmla="*/ 30 h 466"/>
                  <a:gd name="T124" fmla="*/ 371 w 372"/>
                  <a:gd name="T125" fmla="*/ 22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72" h="466">
                    <a:moveTo>
                      <a:pt x="0" y="465"/>
                    </a:moveTo>
                    <a:lnTo>
                      <a:pt x="0" y="464"/>
                    </a:lnTo>
                    <a:lnTo>
                      <a:pt x="4" y="461"/>
                    </a:lnTo>
                    <a:lnTo>
                      <a:pt x="4" y="457"/>
                    </a:lnTo>
                    <a:lnTo>
                      <a:pt x="4" y="454"/>
                    </a:lnTo>
                    <a:lnTo>
                      <a:pt x="7" y="449"/>
                    </a:lnTo>
                    <a:lnTo>
                      <a:pt x="7" y="446"/>
                    </a:lnTo>
                    <a:lnTo>
                      <a:pt x="7" y="441"/>
                    </a:lnTo>
                    <a:lnTo>
                      <a:pt x="11" y="438"/>
                    </a:lnTo>
                    <a:lnTo>
                      <a:pt x="11" y="434"/>
                    </a:lnTo>
                    <a:lnTo>
                      <a:pt x="11" y="429"/>
                    </a:lnTo>
                    <a:lnTo>
                      <a:pt x="15" y="424"/>
                    </a:lnTo>
                    <a:lnTo>
                      <a:pt x="15" y="419"/>
                    </a:lnTo>
                    <a:lnTo>
                      <a:pt x="15" y="413"/>
                    </a:lnTo>
                    <a:lnTo>
                      <a:pt x="18" y="408"/>
                    </a:lnTo>
                    <a:lnTo>
                      <a:pt x="18" y="402"/>
                    </a:lnTo>
                    <a:lnTo>
                      <a:pt x="18" y="397"/>
                    </a:lnTo>
                    <a:lnTo>
                      <a:pt x="22" y="391"/>
                    </a:lnTo>
                    <a:lnTo>
                      <a:pt x="22" y="384"/>
                    </a:lnTo>
                    <a:lnTo>
                      <a:pt x="22" y="378"/>
                    </a:lnTo>
                    <a:lnTo>
                      <a:pt x="26" y="372"/>
                    </a:lnTo>
                    <a:lnTo>
                      <a:pt x="26" y="365"/>
                    </a:lnTo>
                    <a:lnTo>
                      <a:pt x="26" y="359"/>
                    </a:lnTo>
                    <a:lnTo>
                      <a:pt x="26" y="352"/>
                    </a:lnTo>
                    <a:lnTo>
                      <a:pt x="30" y="345"/>
                    </a:lnTo>
                    <a:lnTo>
                      <a:pt x="30" y="338"/>
                    </a:lnTo>
                    <a:lnTo>
                      <a:pt x="30" y="330"/>
                    </a:lnTo>
                    <a:lnTo>
                      <a:pt x="33" y="324"/>
                    </a:lnTo>
                    <a:lnTo>
                      <a:pt x="33" y="316"/>
                    </a:lnTo>
                    <a:lnTo>
                      <a:pt x="33" y="308"/>
                    </a:lnTo>
                    <a:lnTo>
                      <a:pt x="37" y="302"/>
                    </a:lnTo>
                    <a:lnTo>
                      <a:pt x="37" y="294"/>
                    </a:lnTo>
                    <a:lnTo>
                      <a:pt x="37" y="286"/>
                    </a:lnTo>
                    <a:lnTo>
                      <a:pt x="41" y="278"/>
                    </a:lnTo>
                    <a:lnTo>
                      <a:pt x="41" y="270"/>
                    </a:lnTo>
                    <a:lnTo>
                      <a:pt x="41" y="264"/>
                    </a:lnTo>
                    <a:lnTo>
                      <a:pt x="44" y="256"/>
                    </a:lnTo>
                    <a:lnTo>
                      <a:pt x="44" y="248"/>
                    </a:lnTo>
                    <a:lnTo>
                      <a:pt x="44" y="240"/>
                    </a:lnTo>
                    <a:lnTo>
                      <a:pt x="48" y="232"/>
                    </a:lnTo>
                    <a:lnTo>
                      <a:pt x="48" y="224"/>
                    </a:lnTo>
                    <a:lnTo>
                      <a:pt x="48" y="216"/>
                    </a:lnTo>
                    <a:lnTo>
                      <a:pt x="52" y="208"/>
                    </a:lnTo>
                    <a:lnTo>
                      <a:pt x="52" y="200"/>
                    </a:lnTo>
                    <a:lnTo>
                      <a:pt x="52" y="194"/>
                    </a:lnTo>
                    <a:lnTo>
                      <a:pt x="56" y="186"/>
                    </a:lnTo>
                    <a:lnTo>
                      <a:pt x="56" y="178"/>
                    </a:lnTo>
                    <a:lnTo>
                      <a:pt x="56" y="170"/>
                    </a:lnTo>
                    <a:lnTo>
                      <a:pt x="59" y="163"/>
                    </a:lnTo>
                    <a:lnTo>
                      <a:pt x="59" y="156"/>
                    </a:lnTo>
                    <a:lnTo>
                      <a:pt x="59" y="149"/>
                    </a:lnTo>
                    <a:lnTo>
                      <a:pt x="63" y="141"/>
                    </a:lnTo>
                    <a:lnTo>
                      <a:pt x="63" y="135"/>
                    </a:lnTo>
                    <a:lnTo>
                      <a:pt x="63" y="127"/>
                    </a:lnTo>
                    <a:lnTo>
                      <a:pt x="67" y="121"/>
                    </a:lnTo>
                    <a:lnTo>
                      <a:pt x="67" y="114"/>
                    </a:lnTo>
                    <a:lnTo>
                      <a:pt x="67" y="108"/>
                    </a:lnTo>
                    <a:lnTo>
                      <a:pt x="70" y="102"/>
                    </a:lnTo>
                    <a:lnTo>
                      <a:pt x="70" y="95"/>
                    </a:lnTo>
                    <a:lnTo>
                      <a:pt x="70" y="89"/>
                    </a:lnTo>
                    <a:lnTo>
                      <a:pt x="74" y="84"/>
                    </a:lnTo>
                    <a:lnTo>
                      <a:pt x="74" y="78"/>
                    </a:lnTo>
                    <a:lnTo>
                      <a:pt x="74" y="73"/>
                    </a:lnTo>
                    <a:lnTo>
                      <a:pt x="78" y="67"/>
                    </a:lnTo>
                    <a:lnTo>
                      <a:pt x="78" y="62"/>
                    </a:lnTo>
                    <a:lnTo>
                      <a:pt x="78" y="57"/>
                    </a:lnTo>
                    <a:lnTo>
                      <a:pt x="82" y="52"/>
                    </a:lnTo>
                    <a:lnTo>
                      <a:pt x="82" y="47"/>
                    </a:lnTo>
                    <a:lnTo>
                      <a:pt x="82" y="44"/>
                    </a:lnTo>
                    <a:lnTo>
                      <a:pt x="85" y="40"/>
                    </a:lnTo>
                    <a:lnTo>
                      <a:pt x="85" y="36"/>
                    </a:lnTo>
                    <a:lnTo>
                      <a:pt x="85" y="32"/>
                    </a:lnTo>
                    <a:lnTo>
                      <a:pt x="89" y="28"/>
                    </a:lnTo>
                    <a:lnTo>
                      <a:pt x="89" y="25"/>
                    </a:lnTo>
                    <a:lnTo>
                      <a:pt x="89" y="22"/>
                    </a:lnTo>
                    <a:lnTo>
                      <a:pt x="93" y="19"/>
                    </a:lnTo>
                    <a:lnTo>
                      <a:pt x="93" y="16"/>
                    </a:lnTo>
                    <a:lnTo>
                      <a:pt x="93" y="14"/>
                    </a:lnTo>
                    <a:lnTo>
                      <a:pt x="96" y="13"/>
                    </a:lnTo>
                    <a:lnTo>
                      <a:pt x="96" y="9"/>
                    </a:lnTo>
                    <a:lnTo>
                      <a:pt x="96" y="8"/>
                    </a:lnTo>
                    <a:lnTo>
                      <a:pt x="100" y="6"/>
                    </a:lnTo>
                    <a:lnTo>
                      <a:pt x="100" y="5"/>
                    </a:lnTo>
                    <a:lnTo>
                      <a:pt x="104" y="3"/>
                    </a:lnTo>
                    <a:lnTo>
                      <a:pt x="108" y="1"/>
                    </a:lnTo>
                    <a:lnTo>
                      <a:pt x="111" y="0"/>
                    </a:lnTo>
                    <a:lnTo>
                      <a:pt x="115" y="1"/>
                    </a:lnTo>
                    <a:lnTo>
                      <a:pt x="115" y="3"/>
                    </a:lnTo>
                    <a:lnTo>
                      <a:pt x="119" y="5"/>
                    </a:lnTo>
                    <a:lnTo>
                      <a:pt x="119" y="6"/>
                    </a:lnTo>
                    <a:lnTo>
                      <a:pt x="122" y="8"/>
                    </a:lnTo>
                    <a:lnTo>
                      <a:pt x="122" y="9"/>
                    </a:lnTo>
                    <a:lnTo>
                      <a:pt x="122" y="11"/>
                    </a:lnTo>
                    <a:lnTo>
                      <a:pt x="126" y="13"/>
                    </a:lnTo>
                    <a:lnTo>
                      <a:pt x="126" y="14"/>
                    </a:lnTo>
                    <a:lnTo>
                      <a:pt x="126" y="16"/>
                    </a:lnTo>
                    <a:lnTo>
                      <a:pt x="130" y="19"/>
                    </a:lnTo>
                    <a:lnTo>
                      <a:pt x="130" y="20"/>
                    </a:lnTo>
                    <a:lnTo>
                      <a:pt x="130" y="22"/>
                    </a:lnTo>
                    <a:lnTo>
                      <a:pt x="134" y="25"/>
                    </a:lnTo>
                    <a:lnTo>
                      <a:pt x="134" y="27"/>
                    </a:lnTo>
                    <a:lnTo>
                      <a:pt x="134" y="28"/>
                    </a:lnTo>
                    <a:lnTo>
                      <a:pt x="137" y="32"/>
                    </a:lnTo>
                    <a:lnTo>
                      <a:pt x="137" y="33"/>
                    </a:lnTo>
                    <a:lnTo>
                      <a:pt x="137" y="36"/>
                    </a:lnTo>
                    <a:lnTo>
                      <a:pt x="141" y="38"/>
                    </a:lnTo>
                    <a:lnTo>
                      <a:pt x="141" y="41"/>
                    </a:lnTo>
                    <a:lnTo>
                      <a:pt x="141" y="43"/>
                    </a:lnTo>
                    <a:lnTo>
                      <a:pt x="145" y="46"/>
                    </a:lnTo>
                    <a:lnTo>
                      <a:pt x="145" y="47"/>
                    </a:lnTo>
                    <a:lnTo>
                      <a:pt x="145" y="51"/>
                    </a:lnTo>
                    <a:lnTo>
                      <a:pt x="148" y="52"/>
                    </a:lnTo>
                    <a:lnTo>
                      <a:pt x="148" y="54"/>
                    </a:lnTo>
                    <a:lnTo>
                      <a:pt x="148" y="57"/>
                    </a:lnTo>
                    <a:lnTo>
                      <a:pt x="148" y="59"/>
                    </a:lnTo>
                    <a:lnTo>
                      <a:pt x="152" y="60"/>
                    </a:lnTo>
                    <a:lnTo>
                      <a:pt x="152" y="63"/>
                    </a:lnTo>
                    <a:lnTo>
                      <a:pt x="152" y="65"/>
                    </a:lnTo>
                    <a:lnTo>
                      <a:pt x="156" y="67"/>
                    </a:lnTo>
                    <a:lnTo>
                      <a:pt x="156" y="68"/>
                    </a:lnTo>
                    <a:lnTo>
                      <a:pt x="156" y="70"/>
                    </a:lnTo>
                    <a:lnTo>
                      <a:pt x="160" y="71"/>
                    </a:lnTo>
                    <a:lnTo>
                      <a:pt x="160" y="73"/>
                    </a:lnTo>
                    <a:lnTo>
                      <a:pt x="160" y="74"/>
                    </a:lnTo>
                    <a:lnTo>
                      <a:pt x="163" y="76"/>
                    </a:lnTo>
                    <a:lnTo>
                      <a:pt x="163" y="78"/>
                    </a:lnTo>
                    <a:lnTo>
                      <a:pt x="163" y="79"/>
                    </a:lnTo>
                    <a:lnTo>
                      <a:pt x="167" y="81"/>
                    </a:lnTo>
                    <a:lnTo>
                      <a:pt x="171" y="82"/>
                    </a:lnTo>
                    <a:lnTo>
                      <a:pt x="174" y="84"/>
                    </a:lnTo>
                    <a:lnTo>
                      <a:pt x="178" y="86"/>
                    </a:lnTo>
                    <a:lnTo>
                      <a:pt x="182" y="84"/>
                    </a:lnTo>
                    <a:lnTo>
                      <a:pt x="186" y="82"/>
                    </a:lnTo>
                    <a:lnTo>
                      <a:pt x="189" y="81"/>
                    </a:lnTo>
                    <a:lnTo>
                      <a:pt x="189" y="79"/>
                    </a:lnTo>
                    <a:lnTo>
                      <a:pt x="193" y="78"/>
                    </a:lnTo>
                    <a:lnTo>
                      <a:pt x="193" y="76"/>
                    </a:lnTo>
                    <a:lnTo>
                      <a:pt x="193" y="74"/>
                    </a:lnTo>
                    <a:lnTo>
                      <a:pt x="197" y="73"/>
                    </a:lnTo>
                    <a:lnTo>
                      <a:pt x="197" y="71"/>
                    </a:lnTo>
                    <a:lnTo>
                      <a:pt x="200" y="70"/>
                    </a:lnTo>
                    <a:lnTo>
                      <a:pt x="200" y="67"/>
                    </a:lnTo>
                    <a:lnTo>
                      <a:pt x="200" y="65"/>
                    </a:lnTo>
                    <a:lnTo>
                      <a:pt x="204" y="63"/>
                    </a:lnTo>
                    <a:lnTo>
                      <a:pt x="204" y="62"/>
                    </a:lnTo>
                    <a:lnTo>
                      <a:pt x="204" y="60"/>
                    </a:lnTo>
                    <a:lnTo>
                      <a:pt x="208" y="59"/>
                    </a:lnTo>
                    <a:lnTo>
                      <a:pt x="208" y="57"/>
                    </a:lnTo>
                    <a:lnTo>
                      <a:pt x="208" y="54"/>
                    </a:lnTo>
                    <a:lnTo>
                      <a:pt x="212" y="52"/>
                    </a:lnTo>
                    <a:lnTo>
                      <a:pt x="212" y="51"/>
                    </a:lnTo>
                    <a:lnTo>
                      <a:pt x="212" y="49"/>
                    </a:lnTo>
                    <a:lnTo>
                      <a:pt x="215" y="46"/>
                    </a:lnTo>
                    <a:lnTo>
                      <a:pt x="215" y="44"/>
                    </a:lnTo>
                    <a:lnTo>
                      <a:pt x="215" y="43"/>
                    </a:lnTo>
                    <a:lnTo>
                      <a:pt x="219" y="41"/>
                    </a:lnTo>
                    <a:lnTo>
                      <a:pt x="219" y="38"/>
                    </a:lnTo>
                    <a:lnTo>
                      <a:pt x="219" y="36"/>
                    </a:lnTo>
                    <a:lnTo>
                      <a:pt x="223" y="35"/>
                    </a:lnTo>
                    <a:lnTo>
                      <a:pt x="223" y="33"/>
                    </a:lnTo>
                    <a:lnTo>
                      <a:pt x="223" y="32"/>
                    </a:lnTo>
                    <a:lnTo>
                      <a:pt x="226" y="30"/>
                    </a:lnTo>
                    <a:lnTo>
                      <a:pt x="226" y="28"/>
                    </a:lnTo>
                    <a:lnTo>
                      <a:pt x="226" y="27"/>
                    </a:lnTo>
                    <a:lnTo>
                      <a:pt x="230" y="25"/>
                    </a:lnTo>
                    <a:lnTo>
                      <a:pt x="230" y="24"/>
                    </a:lnTo>
                    <a:lnTo>
                      <a:pt x="230" y="22"/>
                    </a:lnTo>
                    <a:lnTo>
                      <a:pt x="234" y="20"/>
                    </a:lnTo>
                    <a:lnTo>
                      <a:pt x="234" y="19"/>
                    </a:lnTo>
                    <a:lnTo>
                      <a:pt x="234" y="17"/>
                    </a:lnTo>
                    <a:lnTo>
                      <a:pt x="238" y="16"/>
                    </a:lnTo>
                    <a:lnTo>
                      <a:pt x="241" y="14"/>
                    </a:lnTo>
                    <a:lnTo>
                      <a:pt x="241" y="13"/>
                    </a:lnTo>
                    <a:lnTo>
                      <a:pt x="245" y="11"/>
                    </a:lnTo>
                    <a:lnTo>
                      <a:pt x="249" y="9"/>
                    </a:lnTo>
                    <a:lnTo>
                      <a:pt x="252" y="11"/>
                    </a:lnTo>
                    <a:lnTo>
                      <a:pt x="256" y="11"/>
                    </a:lnTo>
                    <a:lnTo>
                      <a:pt x="260" y="13"/>
                    </a:lnTo>
                    <a:lnTo>
                      <a:pt x="264" y="14"/>
                    </a:lnTo>
                    <a:lnTo>
                      <a:pt x="264" y="16"/>
                    </a:lnTo>
                    <a:lnTo>
                      <a:pt x="267" y="17"/>
                    </a:lnTo>
                    <a:lnTo>
                      <a:pt x="267" y="19"/>
                    </a:lnTo>
                    <a:lnTo>
                      <a:pt x="267" y="20"/>
                    </a:lnTo>
                    <a:lnTo>
                      <a:pt x="271" y="22"/>
                    </a:lnTo>
                    <a:lnTo>
                      <a:pt x="271" y="24"/>
                    </a:lnTo>
                    <a:lnTo>
                      <a:pt x="271" y="25"/>
                    </a:lnTo>
                    <a:lnTo>
                      <a:pt x="271" y="27"/>
                    </a:lnTo>
                    <a:lnTo>
                      <a:pt x="275" y="28"/>
                    </a:lnTo>
                    <a:lnTo>
                      <a:pt x="275" y="30"/>
                    </a:lnTo>
                    <a:lnTo>
                      <a:pt x="275" y="32"/>
                    </a:lnTo>
                    <a:lnTo>
                      <a:pt x="278" y="33"/>
                    </a:lnTo>
                    <a:lnTo>
                      <a:pt x="278" y="35"/>
                    </a:lnTo>
                    <a:lnTo>
                      <a:pt x="278" y="38"/>
                    </a:lnTo>
                    <a:lnTo>
                      <a:pt x="282" y="40"/>
                    </a:lnTo>
                    <a:lnTo>
                      <a:pt x="282" y="41"/>
                    </a:lnTo>
                    <a:lnTo>
                      <a:pt x="282" y="43"/>
                    </a:lnTo>
                    <a:lnTo>
                      <a:pt x="286" y="46"/>
                    </a:lnTo>
                    <a:lnTo>
                      <a:pt x="286" y="47"/>
                    </a:lnTo>
                    <a:lnTo>
                      <a:pt x="286" y="49"/>
                    </a:lnTo>
                    <a:lnTo>
                      <a:pt x="290" y="51"/>
                    </a:lnTo>
                    <a:lnTo>
                      <a:pt x="290" y="54"/>
                    </a:lnTo>
                    <a:lnTo>
                      <a:pt x="290" y="55"/>
                    </a:lnTo>
                    <a:lnTo>
                      <a:pt x="293" y="57"/>
                    </a:lnTo>
                    <a:lnTo>
                      <a:pt x="293" y="59"/>
                    </a:lnTo>
                    <a:lnTo>
                      <a:pt x="293" y="60"/>
                    </a:lnTo>
                    <a:lnTo>
                      <a:pt x="297" y="62"/>
                    </a:lnTo>
                    <a:lnTo>
                      <a:pt x="297" y="65"/>
                    </a:lnTo>
                    <a:lnTo>
                      <a:pt x="297" y="67"/>
                    </a:lnTo>
                    <a:lnTo>
                      <a:pt x="301" y="68"/>
                    </a:lnTo>
                    <a:lnTo>
                      <a:pt x="301" y="70"/>
                    </a:lnTo>
                    <a:lnTo>
                      <a:pt x="301" y="71"/>
                    </a:lnTo>
                    <a:lnTo>
                      <a:pt x="304" y="73"/>
                    </a:lnTo>
                    <a:lnTo>
                      <a:pt x="304" y="74"/>
                    </a:lnTo>
                    <a:lnTo>
                      <a:pt x="308" y="76"/>
                    </a:lnTo>
                    <a:lnTo>
                      <a:pt x="308" y="78"/>
                    </a:lnTo>
                    <a:lnTo>
                      <a:pt x="308" y="79"/>
                    </a:lnTo>
                    <a:lnTo>
                      <a:pt x="312" y="81"/>
                    </a:lnTo>
                    <a:lnTo>
                      <a:pt x="316" y="82"/>
                    </a:lnTo>
                    <a:lnTo>
                      <a:pt x="319" y="84"/>
                    </a:lnTo>
                    <a:lnTo>
                      <a:pt x="323" y="86"/>
                    </a:lnTo>
                    <a:lnTo>
                      <a:pt x="327" y="84"/>
                    </a:lnTo>
                    <a:lnTo>
                      <a:pt x="330" y="82"/>
                    </a:lnTo>
                    <a:lnTo>
                      <a:pt x="334" y="81"/>
                    </a:lnTo>
                    <a:lnTo>
                      <a:pt x="334" y="79"/>
                    </a:lnTo>
                    <a:lnTo>
                      <a:pt x="338" y="78"/>
                    </a:lnTo>
                    <a:lnTo>
                      <a:pt x="338" y="76"/>
                    </a:lnTo>
                    <a:lnTo>
                      <a:pt x="338" y="74"/>
                    </a:lnTo>
                    <a:lnTo>
                      <a:pt x="342" y="73"/>
                    </a:lnTo>
                    <a:lnTo>
                      <a:pt x="342" y="71"/>
                    </a:lnTo>
                    <a:lnTo>
                      <a:pt x="342" y="70"/>
                    </a:lnTo>
                    <a:lnTo>
                      <a:pt x="345" y="68"/>
                    </a:lnTo>
                    <a:lnTo>
                      <a:pt x="345" y="67"/>
                    </a:lnTo>
                    <a:lnTo>
                      <a:pt x="345" y="65"/>
                    </a:lnTo>
                    <a:lnTo>
                      <a:pt x="349" y="62"/>
                    </a:lnTo>
                    <a:lnTo>
                      <a:pt x="349" y="60"/>
                    </a:lnTo>
                    <a:lnTo>
                      <a:pt x="349" y="59"/>
                    </a:lnTo>
                    <a:lnTo>
                      <a:pt x="353" y="55"/>
                    </a:lnTo>
                    <a:lnTo>
                      <a:pt x="353" y="54"/>
                    </a:lnTo>
                    <a:lnTo>
                      <a:pt x="353" y="52"/>
                    </a:lnTo>
                    <a:lnTo>
                      <a:pt x="356" y="49"/>
                    </a:lnTo>
                    <a:lnTo>
                      <a:pt x="356" y="47"/>
                    </a:lnTo>
                    <a:lnTo>
                      <a:pt x="356" y="44"/>
                    </a:lnTo>
                    <a:lnTo>
                      <a:pt x="360" y="43"/>
                    </a:lnTo>
                    <a:lnTo>
                      <a:pt x="360" y="40"/>
                    </a:lnTo>
                    <a:lnTo>
                      <a:pt x="360" y="38"/>
                    </a:lnTo>
                    <a:lnTo>
                      <a:pt x="364" y="35"/>
                    </a:lnTo>
                    <a:lnTo>
                      <a:pt x="364" y="33"/>
                    </a:lnTo>
                    <a:lnTo>
                      <a:pt x="364" y="30"/>
                    </a:lnTo>
                    <a:lnTo>
                      <a:pt x="368" y="28"/>
                    </a:lnTo>
                    <a:lnTo>
                      <a:pt x="368" y="27"/>
                    </a:lnTo>
                    <a:lnTo>
                      <a:pt x="368" y="24"/>
                    </a:lnTo>
                    <a:lnTo>
                      <a:pt x="371" y="22"/>
                    </a:lnTo>
                    <a:lnTo>
                      <a:pt x="371" y="20"/>
                    </a:lnTo>
                    <a:lnTo>
                      <a:pt x="371" y="17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2" name="Freeform 16"/>
              <p:cNvSpPr>
                <a:spLocks/>
              </p:cNvSpPr>
              <p:nvPr/>
            </p:nvSpPr>
            <p:spPr bwMode="auto">
              <a:xfrm>
                <a:off x="3778" y="2923"/>
                <a:ext cx="83" cy="242"/>
              </a:xfrm>
              <a:custGeom>
                <a:avLst/>
                <a:gdLst>
                  <a:gd name="T0" fmla="*/ 0 w 83"/>
                  <a:gd name="T1" fmla="*/ 17 h 242"/>
                  <a:gd name="T2" fmla="*/ 4 w 83"/>
                  <a:gd name="T3" fmla="*/ 16 h 242"/>
                  <a:gd name="T4" fmla="*/ 4 w 83"/>
                  <a:gd name="T5" fmla="*/ 14 h 242"/>
                  <a:gd name="T6" fmla="*/ 4 w 83"/>
                  <a:gd name="T7" fmla="*/ 13 h 242"/>
                  <a:gd name="T8" fmla="*/ 8 w 83"/>
                  <a:gd name="T9" fmla="*/ 11 h 242"/>
                  <a:gd name="T10" fmla="*/ 8 w 83"/>
                  <a:gd name="T11" fmla="*/ 9 h 242"/>
                  <a:gd name="T12" fmla="*/ 8 w 83"/>
                  <a:gd name="T13" fmla="*/ 8 h 242"/>
                  <a:gd name="T14" fmla="*/ 11 w 83"/>
                  <a:gd name="T15" fmla="*/ 6 h 242"/>
                  <a:gd name="T16" fmla="*/ 11 w 83"/>
                  <a:gd name="T17" fmla="*/ 5 h 242"/>
                  <a:gd name="T18" fmla="*/ 15 w 83"/>
                  <a:gd name="T19" fmla="*/ 3 h 242"/>
                  <a:gd name="T20" fmla="*/ 19 w 83"/>
                  <a:gd name="T21" fmla="*/ 1 h 242"/>
                  <a:gd name="T22" fmla="*/ 23 w 83"/>
                  <a:gd name="T23" fmla="*/ 0 h 242"/>
                  <a:gd name="T24" fmla="*/ 26 w 83"/>
                  <a:gd name="T25" fmla="*/ 1 h 242"/>
                  <a:gd name="T26" fmla="*/ 26 w 83"/>
                  <a:gd name="T27" fmla="*/ 3 h 242"/>
                  <a:gd name="T28" fmla="*/ 30 w 83"/>
                  <a:gd name="T29" fmla="*/ 5 h 242"/>
                  <a:gd name="T30" fmla="*/ 30 w 83"/>
                  <a:gd name="T31" fmla="*/ 6 h 242"/>
                  <a:gd name="T32" fmla="*/ 30 w 83"/>
                  <a:gd name="T33" fmla="*/ 8 h 242"/>
                  <a:gd name="T34" fmla="*/ 34 w 83"/>
                  <a:gd name="T35" fmla="*/ 11 h 242"/>
                  <a:gd name="T36" fmla="*/ 34 w 83"/>
                  <a:gd name="T37" fmla="*/ 13 h 242"/>
                  <a:gd name="T38" fmla="*/ 34 w 83"/>
                  <a:gd name="T39" fmla="*/ 14 h 242"/>
                  <a:gd name="T40" fmla="*/ 38 w 83"/>
                  <a:gd name="T41" fmla="*/ 17 h 242"/>
                  <a:gd name="T42" fmla="*/ 38 w 83"/>
                  <a:gd name="T43" fmla="*/ 20 h 242"/>
                  <a:gd name="T44" fmla="*/ 38 w 83"/>
                  <a:gd name="T45" fmla="*/ 24 h 242"/>
                  <a:gd name="T46" fmla="*/ 41 w 83"/>
                  <a:gd name="T47" fmla="*/ 27 h 242"/>
                  <a:gd name="T48" fmla="*/ 41 w 83"/>
                  <a:gd name="T49" fmla="*/ 30 h 242"/>
                  <a:gd name="T50" fmla="*/ 41 w 83"/>
                  <a:gd name="T51" fmla="*/ 33 h 242"/>
                  <a:gd name="T52" fmla="*/ 45 w 83"/>
                  <a:gd name="T53" fmla="*/ 36 h 242"/>
                  <a:gd name="T54" fmla="*/ 45 w 83"/>
                  <a:gd name="T55" fmla="*/ 41 h 242"/>
                  <a:gd name="T56" fmla="*/ 45 w 83"/>
                  <a:gd name="T57" fmla="*/ 44 h 242"/>
                  <a:gd name="T58" fmla="*/ 49 w 83"/>
                  <a:gd name="T59" fmla="*/ 49 h 242"/>
                  <a:gd name="T60" fmla="*/ 49 w 83"/>
                  <a:gd name="T61" fmla="*/ 54 h 242"/>
                  <a:gd name="T62" fmla="*/ 49 w 83"/>
                  <a:gd name="T63" fmla="*/ 59 h 242"/>
                  <a:gd name="T64" fmla="*/ 52 w 83"/>
                  <a:gd name="T65" fmla="*/ 63 h 242"/>
                  <a:gd name="T66" fmla="*/ 52 w 83"/>
                  <a:gd name="T67" fmla="*/ 70 h 242"/>
                  <a:gd name="T68" fmla="*/ 52 w 83"/>
                  <a:gd name="T69" fmla="*/ 74 h 242"/>
                  <a:gd name="T70" fmla="*/ 56 w 83"/>
                  <a:gd name="T71" fmla="*/ 79 h 242"/>
                  <a:gd name="T72" fmla="*/ 56 w 83"/>
                  <a:gd name="T73" fmla="*/ 86 h 242"/>
                  <a:gd name="T74" fmla="*/ 56 w 83"/>
                  <a:gd name="T75" fmla="*/ 92 h 242"/>
                  <a:gd name="T76" fmla="*/ 60 w 83"/>
                  <a:gd name="T77" fmla="*/ 97 h 242"/>
                  <a:gd name="T78" fmla="*/ 60 w 83"/>
                  <a:gd name="T79" fmla="*/ 103 h 242"/>
                  <a:gd name="T80" fmla="*/ 60 w 83"/>
                  <a:gd name="T81" fmla="*/ 109 h 242"/>
                  <a:gd name="T82" fmla="*/ 64 w 83"/>
                  <a:gd name="T83" fmla="*/ 116 h 242"/>
                  <a:gd name="T84" fmla="*/ 64 w 83"/>
                  <a:gd name="T85" fmla="*/ 124 h 242"/>
                  <a:gd name="T86" fmla="*/ 64 w 83"/>
                  <a:gd name="T87" fmla="*/ 130 h 242"/>
                  <a:gd name="T88" fmla="*/ 67 w 83"/>
                  <a:gd name="T89" fmla="*/ 136 h 242"/>
                  <a:gd name="T90" fmla="*/ 67 w 83"/>
                  <a:gd name="T91" fmla="*/ 144 h 242"/>
                  <a:gd name="T92" fmla="*/ 67 w 83"/>
                  <a:gd name="T93" fmla="*/ 151 h 242"/>
                  <a:gd name="T94" fmla="*/ 71 w 83"/>
                  <a:gd name="T95" fmla="*/ 159 h 242"/>
                  <a:gd name="T96" fmla="*/ 71 w 83"/>
                  <a:gd name="T97" fmla="*/ 165 h 242"/>
                  <a:gd name="T98" fmla="*/ 71 w 83"/>
                  <a:gd name="T99" fmla="*/ 173 h 242"/>
                  <a:gd name="T100" fmla="*/ 75 w 83"/>
                  <a:gd name="T101" fmla="*/ 181 h 242"/>
                  <a:gd name="T102" fmla="*/ 75 w 83"/>
                  <a:gd name="T103" fmla="*/ 187 h 242"/>
                  <a:gd name="T104" fmla="*/ 75 w 83"/>
                  <a:gd name="T105" fmla="*/ 195 h 242"/>
                  <a:gd name="T106" fmla="*/ 78 w 83"/>
                  <a:gd name="T107" fmla="*/ 203 h 242"/>
                  <a:gd name="T108" fmla="*/ 78 w 83"/>
                  <a:gd name="T109" fmla="*/ 211 h 242"/>
                  <a:gd name="T110" fmla="*/ 78 w 83"/>
                  <a:gd name="T111" fmla="*/ 219 h 242"/>
                  <a:gd name="T112" fmla="*/ 82 w 83"/>
                  <a:gd name="T113" fmla="*/ 227 h 242"/>
                  <a:gd name="T114" fmla="*/ 82 w 83"/>
                  <a:gd name="T115" fmla="*/ 235 h 242"/>
                  <a:gd name="T116" fmla="*/ 82 w 83"/>
                  <a:gd name="T117" fmla="*/ 241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3" h="242">
                    <a:moveTo>
                      <a:pt x="0" y="17"/>
                    </a:moveTo>
                    <a:lnTo>
                      <a:pt x="4" y="16"/>
                    </a:lnTo>
                    <a:lnTo>
                      <a:pt x="4" y="14"/>
                    </a:lnTo>
                    <a:lnTo>
                      <a:pt x="4" y="13"/>
                    </a:lnTo>
                    <a:lnTo>
                      <a:pt x="8" y="11"/>
                    </a:lnTo>
                    <a:lnTo>
                      <a:pt x="8" y="9"/>
                    </a:lnTo>
                    <a:lnTo>
                      <a:pt x="8" y="8"/>
                    </a:lnTo>
                    <a:lnTo>
                      <a:pt x="11" y="6"/>
                    </a:lnTo>
                    <a:lnTo>
                      <a:pt x="11" y="5"/>
                    </a:lnTo>
                    <a:lnTo>
                      <a:pt x="15" y="3"/>
                    </a:lnTo>
                    <a:lnTo>
                      <a:pt x="19" y="1"/>
                    </a:lnTo>
                    <a:lnTo>
                      <a:pt x="23" y="0"/>
                    </a:lnTo>
                    <a:lnTo>
                      <a:pt x="26" y="1"/>
                    </a:lnTo>
                    <a:lnTo>
                      <a:pt x="26" y="3"/>
                    </a:lnTo>
                    <a:lnTo>
                      <a:pt x="30" y="5"/>
                    </a:lnTo>
                    <a:lnTo>
                      <a:pt x="30" y="6"/>
                    </a:lnTo>
                    <a:lnTo>
                      <a:pt x="30" y="8"/>
                    </a:lnTo>
                    <a:lnTo>
                      <a:pt x="34" y="11"/>
                    </a:lnTo>
                    <a:lnTo>
                      <a:pt x="34" y="13"/>
                    </a:lnTo>
                    <a:lnTo>
                      <a:pt x="34" y="14"/>
                    </a:lnTo>
                    <a:lnTo>
                      <a:pt x="38" y="17"/>
                    </a:lnTo>
                    <a:lnTo>
                      <a:pt x="38" y="20"/>
                    </a:lnTo>
                    <a:lnTo>
                      <a:pt x="38" y="24"/>
                    </a:lnTo>
                    <a:lnTo>
                      <a:pt x="41" y="27"/>
                    </a:lnTo>
                    <a:lnTo>
                      <a:pt x="41" y="30"/>
                    </a:lnTo>
                    <a:lnTo>
                      <a:pt x="41" y="33"/>
                    </a:lnTo>
                    <a:lnTo>
                      <a:pt x="45" y="36"/>
                    </a:lnTo>
                    <a:lnTo>
                      <a:pt x="45" y="41"/>
                    </a:lnTo>
                    <a:lnTo>
                      <a:pt x="45" y="44"/>
                    </a:lnTo>
                    <a:lnTo>
                      <a:pt x="49" y="49"/>
                    </a:lnTo>
                    <a:lnTo>
                      <a:pt x="49" y="54"/>
                    </a:lnTo>
                    <a:lnTo>
                      <a:pt x="49" y="59"/>
                    </a:lnTo>
                    <a:lnTo>
                      <a:pt x="52" y="63"/>
                    </a:lnTo>
                    <a:lnTo>
                      <a:pt x="52" y="70"/>
                    </a:lnTo>
                    <a:lnTo>
                      <a:pt x="52" y="74"/>
                    </a:lnTo>
                    <a:lnTo>
                      <a:pt x="56" y="79"/>
                    </a:lnTo>
                    <a:lnTo>
                      <a:pt x="56" y="86"/>
                    </a:lnTo>
                    <a:lnTo>
                      <a:pt x="56" y="92"/>
                    </a:lnTo>
                    <a:lnTo>
                      <a:pt x="60" y="97"/>
                    </a:lnTo>
                    <a:lnTo>
                      <a:pt x="60" y="103"/>
                    </a:lnTo>
                    <a:lnTo>
                      <a:pt x="60" y="109"/>
                    </a:lnTo>
                    <a:lnTo>
                      <a:pt x="64" y="116"/>
                    </a:lnTo>
                    <a:lnTo>
                      <a:pt x="64" y="124"/>
                    </a:lnTo>
                    <a:lnTo>
                      <a:pt x="64" y="130"/>
                    </a:lnTo>
                    <a:lnTo>
                      <a:pt x="67" y="136"/>
                    </a:lnTo>
                    <a:lnTo>
                      <a:pt x="67" y="144"/>
                    </a:lnTo>
                    <a:lnTo>
                      <a:pt x="67" y="151"/>
                    </a:lnTo>
                    <a:lnTo>
                      <a:pt x="71" y="159"/>
                    </a:lnTo>
                    <a:lnTo>
                      <a:pt x="71" y="165"/>
                    </a:lnTo>
                    <a:lnTo>
                      <a:pt x="71" y="173"/>
                    </a:lnTo>
                    <a:lnTo>
                      <a:pt x="75" y="181"/>
                    </a:lnTo>
                    <a:lnTo>
                      <a:pt x="75" y="187"/>
                    </a:lnTo>
                    <a:lnTo>
                      <a:pt x="75" y="195"/>
                    </a:lnTo>
                    <a:lnTo>
                      <a:pt x="78" y="203"/>
                    </a:lnTo>
                    <a:lnTo>
                      <a:pt x="78" y="211"/>
                    </a:lnTo>
                    <a:lnTo>
                      <a:pt x="78" y="219"/>
                    </a:lnTo>
                    <a:lnTo>
                      <a:pt x="82" y="227"/>
                    </a:lnTo>
                    <a:lnTo>
                      <a:pt x="82" y="235"/>
                    </a:lnTo>
                    <a:lnTo>
                      <a:pt x="82" y="241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8" name="Rectangle 52"/>
            <p:cNvSpPr>
              <a:spLocks noChangeArrowheads="1"/>
            </p:cNvSpPr>
            <p:nvPr/>
          </p:nvSpPr>
          <p:spPr bwMode="auto">
            <a:xfrm>
              <a:off x="8081967" y="4303714"/>
              <a:ext cx="744538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038" rIns="0" bIns="46038">
              <a:spAutoFit/>
            </a:bodyPr>
            <a:lstStyle/>
            <a:p>
              <a:r>
                <a:rPr lang="en-US" altLang="en-US" sz="1800">
                  <a:latin typeface="Arial" charset="0"/>
                </a:rPr>
                <a:t>A+B+C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AF4731-CAC4-86BD-6856-450791D1D020}"/>
              </a:ext>
            </a:extLst>
          </p:cNvPr>
          <p:cNvGrpSpPr/>
          <p:nvPr/>
        </p:nvGrpSpPr>
        <p:grpSpPr>
          <a:xfrm>
            <a:off x="152401" y="4891088"/>
            <a:ext cx="4438650" cy="366713"/>
            <a:chOff x="152401" y="4891088"/>
            <a:chExt cx="4438650" cy="366713"/>
          </a:xfrm>
        </p:grpSpPr>
        <p:sp>
          <p:nvSpPr>
            <p:cNvPr id="14361" name="Rectangle 25"/>
            <p:cNvSpPr>
              <a:spLocks noChangeArrowheads="1"/>
            </p:cNvSpPr>
            <p:nvPr/>
          </p:nvSpPr>
          <p:spPr bwMode="auto">
            <a:xfrm>
              <a:off x="152401" y="4891088"/>
              <a:ext cx="1522413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>
                  <a:solidFill>
                    <a:srgbClr val="114FFB"/>
                  </a:solidFill>
                  <a:latin typeface="Arial" charset="0"/>
                </a:rPr>
                <a:t>+ 0.4 sin(7x) </a:t>
              </a:r>
            </a:p>
          </p:txBody>
        </p:sp>
        <p:grpSp>
          <p:nvGrpSpPr>
            <p:cNvPr id="14362" name="Group 26"/>
            <p:cNvGrpSpPr>
              <a:grpSpLocks/>
            </p:cNvGrpSpPr>
            <p:nvPr/>
          </p:nvGrpSpPr>
          <p:grpSpPr bwMode="auto">
            <a:xfrm>
              <a:off x="2352676" y="4926013"/>
              <a:ext cx="2238375" cy="144463"/>
              <a:chOff x="1303" y="3776"/>
              <a:chExt cx="1057" cy="121"/>
            </a:xfrm>
          </p:grpSpPr>
          <p:sp>
            <p:nvSpPr>
              <p:cNvPr id="14363" name="Freeform 27"/>
              <p:cNvSpPr>
                <a:spLocks/>
              </p:cNvSpPr>
              <p:nvPr/>
            </p:nvSpPr>
            <p:spPr bwMode="auto">
              <a:xfrm>
                <a:off x="1303" y="3776"/>
                <a:ext cx="276" cy="121"/>
              </a:xfrm>
              <a:custGeom>
                <a:avLst/>
                <a:gdLst>
                  <a:gd name="T0" fmla="*/ 3 w 276"/>
                  <a:gd name="T1" fmla="*/ 48 h 121"/>
                  <a:gd name="T2" fmla="*/ 10 w 276"/>
                  <a:gd name="T3" fmla="*/ 33 h 121"/>
                  <a:gd name="T4" fmla="*/ 13 w 276"/>
                  <a:gd name="T5" fmla="*/ 20 h 121"/>
                  <a:gd name="T6" fmla="*/ 16 w 276"/>
                  <a:gd name="T7" fmla="*/ 10 h 121"/>
                  <a:gd name="T8" fmla="*/ 23 w 276"/>
                  <a:gd name="T9" fmla="*/ 3 h 121"/>
                  <a:gd name="T10" fmla="*/ 29 w 276"/>
                  <a:gd name="T11" fmla="*/ 0 h 121"/>
                  <a:gd name="T12" fmla="*/ 32 w 276"/>
                  <a:gd name="T13" fmla="*/ 3 h 121"/>
                  <a:gd name="T14" fmla="*/ 35 w 276"/>
                  <a:gd name="T15" fmla="*/ 11 h 121"/>
                  <a:gd name="T16" fmla="*/ 42 w 276"/>
                  <a:gd name="T17" fmla="*/ 21 h 121"/>
                  <a:gd name="T18" fmla="*/ 45 w 276"/>
                  <a:gd name="T19" fmla="*/ 35 h 121"/>
                  <a:gd name="T20" fmla="*/ 48 w 276"/>
                  <a:gd name="T21" fmla="*/ 50 h 121"/>
                  <a:gd name="T22" fmla="*/ 55 w 276"/>
                  <a:gd name="T23" fmla="*/ 66 h 121"/>
                  <a:gd name="T24" fmla="*/ 58 w 276"/>
                  <a:gd name="T25" fmla="*/ 81 h 121"/>
                  <a:gd name="T26" fmla="*/ 61 w 276"/>
                  <a:gd name="T27" fmla="*/ 95 h 121"/>
                  <a:gd name="T28" fmla="*/ 64 w 276"/>
                  <a:gd name="T29" fmla="*/ 106 h 121"/>
                  <a:gd name="T30" fmla="*/ 71 w 276"/>
                  <a:gd name="T31" fmla="*/ 115 h 121"/>
                  <a:gd name="T32" fmla="*/ 74 w 276"/>
                  <a:gd name="T33" fmla="*/ 119 h 121"/>
                  <a:gd name="T34" fmla="*/ 80 w 276"/>
                  <a:gd name="T35" fmla="*/ 119 h 121"/>
                  <a:gd name="T36" fmla="*/ 83 w 276"/>
                  <a:gd name="T37" fmla="*/ 115 h 121"/>
                  <a:gd name="T38" fmla="*/ 87 w 276"/>
                  <a:gd name="T39" fmla="*/ 106 h 121"/>
                  <a:gd name="T40" fmla="*/ 93 w 276"/>
                  <a:gd name="T41" fmla="*/ 94 h 121"/>
                  <a:gd name="T42" fmla="*/ 96 w 276"/>
                  <a:gd name="T43" fmla="*/ 81 h 121"/>
                  <a:gd name="T44" fmla="*/ 99 w 276"/>
                  <a:gd name="T45" fmla="*/ 65 h 121"/>
                  <a:gd name="T46" fmla="*/ 106 w 276"/>
                  <a:gd name="T47" fmla="*/ 49 h 121"/>
                  <a:gd name="T48" fmla="*/ 109 w 276"/>
                  <a:gd name="T49" fmla="*/ 34 h 121"/>
                  <a:gd name="T50" fmla="*/ 112 w 276"/>
                  <a:gd name="T51" fmla="*/ 21 h 121"/>
                  <a:gd name="T52" fmla="*/ 119 w 276"/>
                  <a:gd name="T53" fmla="*/ 10 h 121"/>
                  <a:gd name="T54" fmla="*/ 122 w 276"/>
                  <a:gd name="T55" fmla="*/ 3 h 121"/>
                  <a:gd name="T56" fmla="*/ 128 w 276"/>
                  <a:gd name="T57" fmla="*/ 0 h 121"/>
                  <a:gd name="T58" fmla="*/ 131 w 276"/>
                  <a:gd name="T59" fmla="*/ 3 h 121"/>
                  <a:gd name="T60" fmla="*/ 138 w 276"/>
                  <a:gd name="T61" fmla="*/ 10 h 121"/>
                  <a:gd name="T62" fmla="*/ 141 w 276"/>
                  <a:gd name="T63" fmla="*/ 21 h 121"/>
                  <a:gd name="T64" fmla="*/ 144 w 276"/>
                  <a:gd name="T65" fmla="*/ 34 h 121"/>
                  <a:gd name="T66" fmla="*/ 151 w 276"/>
                  <a:gd name="T67" fmla="*/ 49 h 121"/>
                  <a:gd name="T68" fmla="*/ 154 w 276"/>
                  <a:gd name="T69" fmla="*/ 64 h 121"/>
                  <a:gd name="T70" fmla="*/ 157 w 276"/>
                  <a:gd name="T71" fmla="*/ 80 h 121"/>
                  <a:gd name="T72" fmla="*/ 160 w 276"/>
                  <a:gd name="T73" fmla="*/ 94 h 121"/>
                  <a:gd name="T74" fmla="*/ 167 w 276"/>
                  <a:gd name="T75" fmla="*/ 106 h 121"/>
                  <a:gd name="T76" fmla="*/ 170 w 276"/>
                  <a:gd name="T77" fmla="*/ 114 h 121"/>
                  <a:gd name="T78" fmla="*/ 173 w 276"/>
                  <a:gd name="T79" fmla="*/ 119 h 121"/>
                  <a:gd name="T80" fmla="*/ 179 w 276"/>
                  <a:gd name="T81" fmla="*/ 119 h 121"/>
                  <a:gd name="T82" fmla="*/ 183 w 276"/>
                  <a:gd name="T83" fmla="*/ 115 h 121"/>
                  <a:gd name="T84" fmla="*/ 189 w 276"/>
                  <a:gd name="T85" fmla="*/ 107 h 121"/>
                  <a:gd name="T86" fmla="*/ 192 w 276"/>
                  <a:gd name="T87" fmla="*/ 95 h 121"/>
                  <a:gd name="T88" fmla="*/ 195 w 276"/>
                  <a:gd name="T89" fmla="*/ 81 h 121"/>
                  <a:gd name="T90" fmla="*/ 202 w 276"/>
                  <a:gd name="T91" fmla="*/ 66 h 121"/>
                  <a:gd name="T92" fmla="*/ 205 w 276"/>
                  <a:gd name="T93" fmla="*/ 50 h 121"/>
                  <a:gd name="T94" fmla="*/ 208 w 276"/>
                  <a:gd name="T95" fmla="*/ 35 h 121"/>
                  <a:gd name="T96" fmla="*/ 214 w 276"/>
                  <a:gd name="T97" fmla="*/ 21 h 121"/>
                  <a:gd name="T98" fmla="*/ 218 w 276"/>
                  <a:gd name="T99" fmla="*/ 11 h 121"/>
                  <a:gd name="T100" fmla="*/ 221 w 276"/>
                  <a:gd name="T101" fmla="*/ 3 h 121"/>
                  <a:gd name="T102" fmla="*/ 227 w 276"/>
                  <a:gd name="T103" fmla="*/ 0 h 121"/>
                  <a:gd name="T104" fmla="*/ 230 w 276"/>
                  <a:gd name="T105" fmla="*/ 2 h 121"/>
                  <a:gd name="T106" fmla="*/ 237 w 276"/>
                  <a:gd name="T107" fmla="*/ 8 h 121"/>
                  <a:gd name="T108" fmla="*/ 240 w 276"/>
                  <a:gd name="T109" fmla="*/ 17 h 121"/>
                  <a:gd name="T110" fmla="*/ 243 w 276"/>
                  <a:gd name="T111" fmla="*/ 29 h 121"/>
                  <a:gd name="T112" fmla="*/ 250 w 276"/>
                  <a:gd name="T113" fmla="*/ 44 h 121"/>
                  <a:gd name="T114" fmla="*/ 253 w 276"/>
                  <a:gd name="T115" fmla="*/ 60 h 121"/>
                  <a:gd name="T116" fmla="*/ 256 w 276"/>
                  <a:gd name="T117" fmla="*/ 75 h 121"/>
                  <a:gd name="T118" fmla="*/ 262 w 276"/>
                  <a:gd name="T119" fmla="*/ 90 h 121"/>
                  <a:gd name="T120" fmla="*/ 266 w 276"/>
                  <a:gd name="T121" fmla="*/ 102 h 121"/>
                  <a:gd name="T122" fmla="*/ 269 w 276"/>
                  <a:gd name="T123" fmla="*/ 112 h 121"/>
                  <a:gd name="T124" fmla="*/ 272 w 276"/>
                  <a:gd name="T125" fmla="*/ 118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6" h="121">
                    <a:moveTo>
                      <a:pt x="0" y="60"/>
                    </a:moveTo>
                    <a:lnTo>
                      <a:pt x="3" y="56"/>
                    </a:lnTo>
                    <a:lnTo>
                      <a:pt x="3" y="52"/>
                    </a:lnTo>
                    <a:lnTo>
                      <a:pt x="3" y="48"/>
                    </a:lnTo>
                    <a:lnTo>
                      <a:pt x="7" y="44"/>
                    </a:lnTo>
                    <a:lnTo>
                      <a:pt x="7" y="41"/>
                    </a:lnTo>
                    <a:lnTo>
                      <a:pt x="7" y="37"/>
                    </a:lnTo>
                    <a:lnTo>
                      <a:pt x="10" y="33"/>
                    </a:lnTo>
                    <a:lnTo>
                      <a:pt x="10" y="30"/>
                    </a:lnTo>
                    <a:lnTo>
                      <a:pt x="10" y="26"/>
                    </a:lnTo>
                    <a:lnTo>
                      <a:pt x="13" y="23"/>
                    </a:lnTo>
                    <a:lnTo>
                      <a:pt x="13" y="20"/>
                    </a:lnTo>
                    <a:lnTo>
                      <a:pt x="13" y="17"/>
                    </a:lnTo>
                    <a:lnTo>
                      <a:pt x="16" y="15"/>
                    </a:lnTo>
                    <a:lnTo>
                      <a:pt x="16" y="12"/>
                    </a:lnTo>
                    <a:lnTo>
                      <a:pt x="16" y="10"/>
                    </a:lnTo>
                    <a:lnTo>
                      <a:pt x="19" y="8"/>
                    </a:lnTo>
                    <a:lnTo>
                      <a:pt x="19" y="6"/>
                    </a:lnTo>
                    <a:lnTo>
                      <a:pt x="19" y="4"/>
                    </a:lnTo>
                    <a:lnTo>
                      <a:pt x="23" y="3"/>
                    </a:lnTo>
                    <a:lnTo>
                      <a:pt x="23" y="2"/>
                    </a:lnTo>
                    <a:lnTo>
                      <a:pt x="23" y="1"/>
                    </a:lnTo>
                    <a:lnTo>
                      <a:pt x="26" y="0"/>
                    </a:lnTo>
                    <a:lnTo>
                      <a:pt x="29" y="0"/>
                    </a:lnTo>
                    <a:lnTo>
                      <a:pt x="29" y="1"/>
                    </a:lnTo>
                    <a:lnTo>
                      <a:pt x="29" y="1"/>
                    </a:lnTo>
                    <a:lnTo>
                      <a:pt x="32" y="2"/>
                    </a:lnTo>
                    <a:lnTo>
                      <a:pt x="32" y="3"/>
                    </a:lnTo>
                    <a:lnTo>
                      <a:pt x="32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5" y="11"/>
                    </a:lnTo>
                    <a:lnTo>
                      <a:pt x="39" y="13"/>
                    </a:lnTo>
                    <a:lnTo>
                      <a:pt x="39" y="16"/>
                    </a:lnTo>
                    <a:lnTo>
                      <a:pt x="39" y="18"/>
                    </a:lnTo>
                    <a:lnTo>
                      <a:pt x="42" y="21"/>
                    </a:lnTo>
                    <a:lnTo>
                      <a:pt x="42" y="24"/>
                    </a:lnTo>
                    <a:lnTo>
                      <a:pt x="42" y="28"/>
                    </a:lnTo>
                    <a:lnTo>
                      <a:pt x="45" y="31"/>
                    </a:lnTo>
                    <a:lnTo>
                      <a:pt x="45" y="35"/>
                    </a:lnTo>
                    <a:lnTo>
                      <a:pt x="45" y="38"/>
                    </a:lnTo>
                    <a:lnTo>
                      <a:pt x="48" y="42"/>
                    </a:lnTo>
                    <a:lnTo>
                      <a:pt x="48" y="46"/>
                    </a:lnTo>
                    <a:lnTo>
                      <a:pt x="48" y="50"/>
                    </a:lnTo>
                    <a:lnTo>
                      <a:pt x="51" y="54"/>
                    </a:lnTo>
                    <a:lnTo>
                      <a:pt x="51" y="58"/>
                    </a:lnTo>
                    <a:lnTo>
                      <a:pt x="51" y="61"/>
                    </a:lnTo>
                    <a:lnTo>
                      <a:pt x="55" y="66"/>
                    </a:lnTo>
                    <a:lnTo>
                      <a:pt x="55" y="69"/>
                    </a:lnTo>
                    <a:lnTo>
                      <a:pt x="55" y="73"/>
                    </a:lnTo>
                    <a:lnTo>
                      <a:pt x="55" y="77"/>
                    </a:lnTo>
                    <a:lnTo>
                      <a:pt x="58" y="81"/>
                    </a:lnTo>
                    <a:lnTo>
                      <a:pt x="58" y="84"/>
                    </a:lnTo>
                    <a:lnTo>
                      <a:pt x="58" y="88"/>
                    </a:lnTo>
                    <a:lnTo>
                      <a:pt x="61" y="92"/>
                    </a:lnTo>
                    <a:lnTo>
                      <a:pt x="61" y="95"/>
                    </a:lnTo>
                    <a:lnTo>
                      <a:pt x="61" y="98"/>
                    </a:lnTo>
                    <a:lnTo>
                      <a:pt x="64" y="101"/>
                    </a:lnTo>
                    <a:lnTo>
                      <a:pt x="64" y="104"/>
                    </a:lnTo>
                    <a:lnTo>
                      <a:pt x="64" y="106"/>
                    </a:lnTo>
                    <a:lnTo>
                      <a:pt x="67" y="109"/>
                    </a:lnTo>
                    <a:lnTo>
                      <a:pt x="67" y="111"/>
                    </a:lnTo>
                    <a:lnTo>
                      <a:pt x="67" y="113"/>
                    </a:lnTo>
                    <a:lnTo>
                      <a:pt x="71" y="115"/>
                    </a:lnTo>
                    <a:lnTo>
                      <a:pt x="71" y="116"/>
                    </a:lnTo>
                    <a:lnTo>
                      <a:pt x="71" y="117"/>
                    </a:lnTo>
                    <a:lnTo>
                      <a:pt x="74" y="119"/>
                    </a:lnTo>
                    <a:lnTo>
                      <a:pt x="74" y="119"/>
                    </a:lnTo>
                    <a:lnTo>
                      <a:pt x="74" y="120"/>
                    </a:lnTo>
                    <a:lnTo>
                      <a:pt x="77" y="120"/>
                    </a:lnTo>
                    <a:lnTo>
                      <a:pt x="77" y="120"/>
                    </a:lnTo>
                    <a:lnTo>
                      <a:pt x="80" y="119"/>
                    </a:lnTo>
                    <a:lnTo>
                      <a:pt x="80" y="119"/>
                    </a:lnTo>
                    <a:lnTo>
                      <a:pt x="80" y="117"/>
                    </a:lnTo>
                    <a:lnTo>
                      <a:pt x="83" y="116"/>
                    </a:lnTo>
                    <a:lnTo>
                      <a:pt x="83" y="115"/>
                    </a:lnTo>
                    <a:lnTo>
                      <a:pt x="83" y="113"/>
                    </a:lnTo>
                    <a:lnTo>
                      <a:pt x="87" y="111"/>
                    </a:lnTo>
                    <a:lnTo>
                      <a:pt x="87" y="108"/>
                    </a:lnTo>
                    <a:lnTo>
                      <a:pt x="87" y="106"/>
                    </a:lnTo>
                    <a:lnTo>
                      <a:pt x="90" y="104"/>
                    </a:lnTo>
                    <a:lnTo>
                      <a:pt x="90" y="100"/>
                    </a:lnTo>
                    <a:lnTo>
                      <a:pt x="90" y="97"/>
                    </a:lnTo>
                    <a:lnTo>
                      <a:pt x="93" y="94"/>
                    </a:lnTo>
                    <a:lnTo>
                      <a:pt x="93" y="91"/>
                    </a:lnTo>
                    <a:lnTo>
                      <a:pt x="93" y="87"/>
                    </a:lnTo>
                    <a:lnTo>
                      <a:pt x="96" y="84"/>
                    </a:lnTo>
                    <a:lnTo>
                      <a:pt x="96" y="81"/>
                    </a:lnTo>
                    <a:lnTo>
                      <a:pt x="96" y="77"/>
                    </a:lnTo>
                    <a:lnTo>
                      <a:pt x="99" y="73"/>
                    </a:lnTo>
                    <a:lnTo>
                      <a:pt x="99" y="69"/>
                    </a:lnTo>
                    <a:lnTo>
                      <a:pt x="99" y="65"/>
                    </a:lnTo>
                    <a:lnTo>
                      <a:pt x="103" y="61"/>
                    </a:lnTo>
                    <a:lnTo>
                      <a:pt x="103" y="57"/>
                    </a:lnTo>
                    <a:lnTo>
                      <a:pt x="103" y="53"/>
                    </a:lnTo>
                    <a:lnTo>
                      <a:pt x="106" y="49"/>
                    </a:lnTo>
                    <a:lnTo>
                      <a:pt x="106" y="45"/>
                    </a:lnTo>
                    <a:lnTo>
                      <a:pt x="106" y="41"/>
                    </a:lnTo>
                    <a:lnTo>
                      <a:pt x="109" y="38"/>
                    </a:lnTo>
                    <a:lnTo>
                      <a:pt x="109" y="34"/>
                    </a:lnTo>
                    <a:lnTo>
                      <a:pt x="109" y="31"/>
                    </a:lnTo>
                    <a:lnTo>
                      <a:pt x="112" y="27"/>
                    </a:lnTo>
                    <a:lnTo>
                      <a:pt x="112" y="24"/>
                    </a:lnTo>
                    <a:lnTo>
                      <a:pt x="112" y="21"/>
                    </a:lnTo>
                    <a:lnTo>
                      <a:pt x="115" y="18"/>
                    </a:lnTo>
                    <a:lnTo>
                      <a:pt x="115" y="15"/>
                    </a:lnTo>
                    <a:lnTo>
                      <a:pt x="115" y="13"/>
                    </a:lnTo>
                    <a:lnTo>
                      <a:pt x="119" y="10"/>
                    </a:lnTo>
                    <a:lnTo>
                      <a:pt x="119" y="8"/>
                    </a:lnTo>
                    <a:lnTo>
                      <a:pt x="119" y="6"/>
                    </a:lnTo>
                    <a:lnTo>
                      <a:pt x="122" y="5"/>
                    </a:lnTo>
                    <a:lnTo>
                      <a:pt x="122" y="3"/>
                    </a:lnTo>
                    <a:lnTo>
                      <a:pt x="122" y="2"/>
                    </a:lnTo>
                    <a:lnTo>
                      <a:pt x="125" y="1"/>
                    </a:lnTo>
                    <a:lnTo>
                      <a:pt x="125" y="0"/>
                    </a:lnTo>
                    <a:lnTo>
                      <a:pt x="128" y="0"/>
                    </a:lnTo>
                    <a:lnTo>
                      <a:pt x="128" y="0"/>
                    </a:lnTo>
                    <a:lnTo>
                      <a:pt x="131" y="1"/>
                    </a:lnTo>
                    <a:lnTo>
                      <a:pt x="131" y="2"/>
                    </a:lnTo>
                    <a:lnTo>
                      <a:pt x="131" y="3"/>
                    </a:lnTo>
                    <a:lnTo>
                      <a:pt x="135" y="5"/>
                    </a:lnTo>
                    <a:lnTo>
                      <a:pt x="135" y="6"/>
                    </a:lnTo>
                    <a:lnTo>
                      <a:pt x="135" y="8"/>
                    </a:lnTo>
                    <a:lnTo>
                      <a:pt x="138" y="10"/>
                    </a:lnTo>
                    <a:lnTo>
                      <a:pt x="138" y="13"/>
                    </a:lnTo>
                    <a:lnTo>
                      <a:pt x="138" y="15"/>
                    </a:lnTo>
                    <a:lnTo>
                      <a:pt x="141" y="18"/>
                    </a:lnTo>
                    <a:lnTo>
                      <a:pt x="141" y="21"/>
                    </a:lnTo>
                    <a:lnTo>
                      <a:pt x="141" y="24"/>
                    </a:lnTo>
                    <a:lnTo>
                      <a:pt x="144" y="27"/>
                    </a:lnTo>
                    <a:lnTo>
                      <a:pt x="144" y="30"/>
                    </a:lnTo>
                    <a:lnTo>
                      <a:pt x="144" y="34"/>
                    </a:lnTo>
                    <a:lnTo>
                      <a:pt x="147" y="38"/>
                    </a:lnTo>
                    <a:lnTo>
                      <a:pt x="147" y="41"/>
                    </a:lnTo>
                    <a:lnTo>
                      <a:pt x="147" y="45"/>
                    </a:lnTo>
                    <a:lnTo>
                      <a:pt x="151" y="49"/>
                    </a:lnTo>
                    <a:lnTo>
                      <a:pt x="151" y="53"/>
                    </a:lnTo>
                    <a:lnTo>
                      <a:pt x="151" y="57"/>
                    </a:lnTo>
                    <a:lnTo>
                      <a:pt x="154" y="61"/>
                    </a:lnTo>
                    <a:lnTo>
                      <a:pt x="154" y="64"/>
                    </a:lnTo>
                    <a:lnTo>
                      <a:pt x="154" y="69"/>
                    </a:lnTo>
                    <a:lnTo>
                      <a:pt x="157" y="73"/>
                    </a:lnTo>
                    <a:lnTo>
                      <a:pt x="157" y="76"/>
                    </a:lnTo>
                    <a:lnTo>
                      <a:pt x="157" y="80"/>
                    </a:lnTo>
                    <a:lnTo>
                      <a:pt x="160" y="84"/>
                    </a:lnTo>
                    <a:lnTo>
                      <a:pt x="160" y="87"/>
                    </a:lnTo>
                    <a:lnTo>
                      <a:pt x="160" y="91"/>
                    </a:lnTo>
                    <a:lnTo>
                      <a:pt x="160" y="94"/>
                    </a:lnTo>
                    <a:lnTo>
                      <a:pt x="163" y="97"/>
                    </a:lnTo>
                    <a:lnTo>
                      <a:pt x="163" y="100"/>
                    </a:lnTo>
                    <a:lnTo>
                      <a:pt x="163" y="103"/>
                    </a:lnTo>
                    <a:lnTo>
                      <a:pt x="167" y="106"/>
                    </a:lnTo>
                    <a:lnTo>
                      <a:pt x="167" y="108"/>
                    </a:lnTo>
                    <a:lnTo>
                      <a:pt x="167" y="110"/>
                    </a:lnTo>
                    <a:lnTo>
                      <a:pt x="170" y="112"/>
                    </a:lnTo>
                    <a:lnTo>
                      <a:pt x="170" y="114"/>
                    </a:lnTo>
                    <a:lnTo>
                      <a:pt x="170" y="116"/>
                    </a:lnTo>
                    <a:lnTo>
                      <a:pt x="173" y="117"/>
                    </a:lnTo>
                    <a:lnTo>
                      <a:pt x="173" y="118"/>
                    </a:lnTo>
                    <a:lnTo>
                      <a:pt x="173" y="119"/>
                    </a:lnTo>
                    <a:lnTo>
                      <a:pt x="176" y="120"/>
                    </a:lnTo>
                    <a:lnTo>
                      <a:pt x="176" y="120"/>
                    </a:lnTo>
                    <a:lnTo>
                      <a:pt x="179" y="120"/>
                    </a:lnTo>
                    <a:lnTo>
                      <a:pt x="179" y="119"/>
                    </a:lnTo>
                    <a:lnTo>
                      <a:pt x="179" y="119"/>
                    </a:lnTo>
                    <a:lnTo>
                      <a:pt x="183" y="118"/>
                    </a:lnTo>
                    <a:lnTo>
                      <a:pt x="183" y="116"/>
                    </a:lnTo>
                    <a:lnTo>
                      <a:pt x="183" y="115"/>
                    </a:lnTo>
                    <a:lnTo>
                      <a:pt x="186" y="113"/>
                    </a:lnTo>
                    <a:lnTo>
                      <a:pt x="186" y="111"/>
                    </a:lnTo>
                    <a:lnTo>
                      <a:pt x="186" y="109"/>
                    </a:lnTo>
                    <a:lnTo>
                      <a:pt x="189" y="107"/>
                    </a:lnTo>
                    <a:lnTo>
                      <a:pt x="189" y="104"/>
                    </a:lnTo>
                    <a:lnTo>
                      <a:pt x="189" y="101"/>
                    </a:lnTo>
                    <a:lnTo>
                      <a:pt x="192" y="98"/>
                    </a:lnTo>
                    <a:lnTo>
                      <a:pt x="192" y="95"/>
                    </a:lnTo>
                    <a:lnTo>
                      <a:pt x="192" y="92"/>
                    </a:lnTo>
                    <a:lnTo>
                      <a:pt x="195" y="89"/>
                    </a:lnTo>
                    <a:lnTo>
                      <a:pt x="195" y="85"/>
                    </a:lnTo>
                    <a:lnTo>
                      <a:pt x="195" y="81"/>
                    </a:lnTo>
                    <a:lnTo>
                      <a:pt x="199" y="77"/>
                    </a:lnTo>
                    <a:lnTo>
                      <a:pt x="199" y="74"/>
                    </a:lnTo>
                    <a:lnTo>
                      <a:pt x="199" y="70"/>
                    </a:lnTo>
                    <a:lnTo>
                      <a:pt x="202" y="66"/>
                    </a:lnTo>
                    <a:lnTo>
                      <a:pt x="202" y="62"/>
                    </a:lnTo>
                    <a:lnTo>
                      <a:pt x="202" y="58"/>
                    </a:lnTo>
                    <a:lnTo>
                      <a:pt x="205" y="54"/>
                    </a:lnTo>
                    <a:lnTo>
                      <a:pt x="205" y="50"/>
                    </a:lnTo>
                    <a:lnTo>
                      <a:pt x="205" y="46"/>
                    </a:lnTo>
                    <a:lnTo>
                      <a:pt x="208" y="42"/>
                    </a:lnTo>
                    <a:lnTo>
                      <a:pt x="208" y="39"/>
                    </a:lnTo>
                    <a:lnTo>
                      <a:pt x="208" y="35"/>
                    </a:lnTo>
                    <a:lnTo>
                      <a:pt x="211" y="31"/>
                    </a:lnTo>
                    <a:lnTo>
                      <a:pt x="211" y="28"/>
                    </a:lnTo>
                    <a:lnTo>
                      <a:pt x="211" y="25"/>
                    </a:lnTo>
                    <a:lnTo>
                      <a:pt x="214" y="21"/>
                    </a:lnTo>
                    <a:lnTo>
                      <a:pt x="214" y="19"/>
                    </a:lnTo>
                    <a:lnTo>
                      <a:pt x="214" y="16"/>
                    </a:lnTo>
                    <a:lnTo>
                      <a:pt x="218" y="13"/>
                    </a:lnTo>
                    <a:lnTo>
                      <a:pt x="218" y="11"/>
                    </a:lnTo>
                    <a:lnTo>
                      <a:pt x="218" y="9"/>
                    </a:lnTo>
                    <a:lnTo>
                      <a:pt x="221" y="7"/>
                    </a:lnTo>
                    <a:lnTo>
                      <a:pt x="221" y="5"/>
                    </a:lnTo>
                    <a:lnTo>
                      <a:pt x="221" y="3"/>
                    </a:lnTo>
                    <a:lnTo>
                      <a:pt x="224" y="2"/>
                    </a:lnTo>
                    <a:lnTo>
                      <a:pt x="224" y="1"/>
                    </a:lnTo>
                    <a:lnTo>
                      <a:pt x="224" y="1"/>
                    </a:lnTo>
                    <a:lnTo>
                      <a:pt x="227" y="0"/>
                    </a:lnTo>
                    <a:lnTo>
                      <a:pt x="227" y="0"/>
                    </a:lnTo>
                    <a:lnTo>
                      <a:pt x="230" y="0"/>
                    </a:lnTo>
                    <a:lnTo>
                      <a:pt x="230" y="1"/>
                    </a:lnTo>
                    <a:lnTo>
                      <a:pt x="230" y="2"/>
                    </a:lnTo>
                    <a:lnTo>
                      <a:pt x="234" y="3"/>
                    </a:lnTo>
                    <a:lnTo>
                      <a:pt x="234" y="4"/>
                    </a:lnTo>
                    <a:lnTo>
                      <a:pt x="234" y="6"/>
                    </a:lnTo>
                    <a:lnTo>
                      <a:pt x="237" y="8"/>
                    </a:lnTo>
                    <a:lnTo>
                      <a:pt x="237" y="10"/>
                    </a:lnTo>
                    <a:lnTo>
                      <a:pt x="237" y="12"/>
                    </a:lnTo>
                    <a:lnTo>
                      <a:pt x="240" y="14"/>
                    </a:lnTo>
                    <a:lnTo>
                      <a:pt x="240" y="17"/>
                    </a:lnTo>
                    <a:lnTo>
                      <a:pt x="240" y="20"/>
                    </a:lnTo>
                    <a:lnTo>
                      <a:pt x="243" y="23"/>
                    </a:lnTo>
                    <a:lnTo>
                      <a:pt x="243" y="26"/>
                    </a:lnTo>
                    <a:lnTo>
                      <a:pt x="243" y="29"/>
                    </a:lnTo>
                    <a:lnTo>
                      <a:pt x="246" y="33"/>
                    </a:lnTo>
                    <a:lnTo>
                      <a:pt x="246" y="36"/>
                    </a:lnTo>
                    <a:lnTo>
                      <a:pt x="246" y="40"/>
                    </a:lnTo>
                    <a:lnTo>
                      <a:pt x="250" y="44"/>
                    </a:lnTo>
                    <a:lnTo>
                      <a:pt x="250" y="48"/>
                    </a:lnTo>
                    <a:lnTo>
                      <a:pt x="250" y="52"/>
                    </a:lnTo>
                    <a:lnTo>
                      <a:pt x="253" y="56"/>
                    </a:lnTo>
                    <a:lnTo>
                      <a:pt x="253" y="60"/>
                    </a:lnTo>
                    <a:lnTo>
                      <a:pt x="253" y="64"/>
                    </a:lnTo>
                    <a:lnTo>
                      <a:pt x="256" y="67"/>
                    </a:lnTo>
                    <a:lnTo>
                      <a:pt x="256" y="71"/>
                    </a:lnTo>
                    <a:lnTo>
                      <a:pt x="256" y="75"/>
                    </a:lnTo>
                    <a:lnTo>
                      <a:pt x="259" y="79"/>
                    </a:lnTo>
                    <a:lnTo>
                      <a:pt x="259" y="83"/>
                    </a:lnTo>
                    <a:lnTo>
                      <a:pt x="259" y="86"/>
                    </a:lnTo>
                    <a:lnTo>
                      <a:pt x="262" y="90"/>
                    </a:lnTo>
                    <a:lnTo>
                      <a:pt x="262" y="93"/>
                    </a:lnTo>
                    <a:lnTo>
                      <a:pt x="262" y="97"/>
                    </a:lnTo>
                    <a:lnTo>
                      <a:pt x="266" y="100"/>
                    </a:lnTo>
                    <a:lnTo>
                      <a:pt x="266" y="102"/>
                    </a:lnTo>
                    <a:lnTo>
                      <a:pt x="266" y="105"/>
                    </a:lnTo>
                    <a:lnTo>
                      <a:pt x="266" y="108"/>
                    </a:lnTo>
                    <a:lnTo>
                      <a:pt x="269" y="110"/>
                    </a:lnTo>
                    <a:lnTo>
                      <a:pt x="269" y="112"/>
                    </a:lnTo>
                    <a:lnTo>
                      <a:pt x="269" y="114"/>
                    </a:lnTo>
                    <a:lnTo>
                      <a:pt x="272" y="115"/>
                    </a:lnTo>
                    <a:lnTo>
                      <a:pt x="272" y="117"/>
                    </a:lnTo>
                    <a:lnTo>
                      <a:pt x="272" y="118"/>
                    </a:lnTo>
                    <a:lnTo>
                      <a:pt x="275" y="119"/>
                    </a:lnTo>
                    <a:lnTo>
                      <a:pt x="275" y="12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4" name="Freeform 28"/>
              <p:cNvSpPr>
                <a:spLocks/>
              </p:cNvSpPr>
              <p:nvPr/>
            </p:nvSpPr>
            <p:spPr bwMode="auto">
              <a:xfrm>
                <a:off x="1578" y="3776"/>
                <a:ext cx="280" cy="121"/>
              </a:xfrm>
              <a:custGeom>
                <a:avLst/>
                <a:gdLst>
                  <a:gd name="T0" fmla="*/ 7 w 280"/>
                  <a:gd name="T1" fmla="*/ 119 h 121"/>
                  <a:gd name="T2" fmla="*/ 10 w 280"/>
                  <a:gd name="T3" fmla="*/ 114 h 121"/>
                  <a:gd name="T4" fmla="*/ 13 w 280"/>
                  <a:gd name="T5" fmla="*/ 105 h 121"/>
                  <a:gd name="T6" fmla="*/ 19 w 280"/>
                  <a:gd name="T7" fmla="*/ 93 h 121"/>
                  <a:gd name="T8" fmla="*/ 23 w 280"/>
                  <a:gd name="T9" fmla="*/ 78 h 121"/>
                  <a:gd name="T10" fmla="*/ 26 w 280"/>
                  <a:gd name="T11" fmla="*/ 63 h 121"/>
                  <a:gd name="T12" fmla="*/ 32 w 280"/>
                  <a:gd name="T13" fmla="*/ 47 h 121"/>
                  <a:gd name="T14" fmla="*/ 35 w 280"/>
                  <a:gd name="T15" fmla="*/ 32 h 121"/>
                  <a:gd name="T16" fmla="*/ 39 w 280"/>
                  <a:gd name="T17" fmla="*/ 19 h 121"/>
                  <a:gd name="T18" fmla="*/ 45 w 280"/>
                  <a:gd name="T19" fmla="*/ 9 h 121"/>
                  <a:gd name="T20" fmla="*/ 48 w 280"/>
                  <a:gd name="T21" fmla="*/ 3 h 121"/>
                  <a:gd name="T22" fmla="*/ 55 w 280"/>
                  <a:gd name="T23" fmla="*/ 0 h 121"/>
                  <a:gd name="T24" fmla="*/ 58 w 280"/>
                  <a:gd name="T25" fmla="*/ 3 h 121"/>
                  <a:gd name="T26" fmla="*/ 61 w 280"/>
                  <a:gd name="T27" fmla="*/ 9 h 121"/>
                  <a:gd name="T28" fmla="*/ 67 w 280"/>
                  <a:gd name="T29" fmla="*/ 19 h 121"/>
                  <a:gd name="T30" fmla="*/ 71 w 280"/>
                  <a:gd name="T31" fmla="*/ 32 h 121"/>
                  <a:gd name="T32" fmla="*/ 74 w 280"/>
                  <a:gd name="T33" fmla="*/ 47 h 121"/>
                  <a:gd name="T34" fmla="*/ 80 w 280"/>
                  <a:gd name="T35" fmla="*/ 62 h 121"/>
                  <a:gd name="T36" fmla="*/ 83 w 280"/>
                  <a:gd name="T37" fmla="*/ 78 h 121"/>
                  <a:gd name="T38" fmla="*/ 87 w 280"/>
                  <a:gd name="T39" fmla="*/ 92 h 121"/>
                  <a:gd name="T40" fmla="*/ 93 w 280"/>
                  <a:gd name="T41" fmla="*/ 105 h 121"/>
                  <a:gd name="T42" fmla="*/ 96 w 280"/>
                  <a:gd name="T43" fmla="*/ 114 h 121"/>
                  <a:gd name="T44" fmla="*/ 99 w 280"/>
                  <a:gd name="T45" fmla="*/ 119 h 121"/>
                  <a:gd name="T46" fmla="*/ 106 w 280"/>
                  <a:gd name="T47" fmla="*/ 119 h 121"/>
                  <a:gd name="T48" fmla="*/ 109 w 280"/>
                  <a:gd name="T49" fmla="*/ 114 h 121"/>
                  <a:gd name="T50" fmla="*/ 115 w 280"/>
                  <a:gd name="T51" fmla="*/ 105 h 121"/>
                  <a:gd name="T52" fmla="*/ 119 w 280"/>
                  <a:gd name="T53" fmla="*/ 94 h 121"/>
                  <a:gd name="T54" fmla="*/ 122 w 280"/>
                  <a:gd name="T55" fmla="*/ 79 h 121"/>
                  <a:gd name="T56" fmla="*/ 128 w 280"/>
                  <a:gd name="T57" fmla="*/ 64 h 121"/>
                  <a:gd name="T58" fmla="*/ 131 w 280"/>
                  <a:gd name="T59" fmla="*/ 48 h 121"/>
                  <a:gd name="T60" fmla="*/ 135 w 280"/>
                  <a:gd name="T61" fmla="*/ 33 h 121"/>
                  <a:gd name="T62" fmla="*/ 141 w 280"/>
                  <a:gd name="T63" fmla="*/ 20 h 121"/>
                  <a:gd name="T64" fmla="*/ 144 w 280"/>
                  <a:gd name="T65" fmla="*/ 10 h 121"/>
                  <a:gd name="T66" fmla="*/ 147 w 280"/>
                  <a:gd name="T67" fmla="*/ 3 h 121"/>
                  <a:gd name="T68" fmla="*/ 154 w 280"/>
                  <a:gd name="T69" fmla="*/ 0 h 121"/>
                  <a:gd name="T70" fmla="*/ 157 w 280"/>
                  <a:gd name="T71" fmla="*/ 2 h 121"/>
                  <a:gd name="T72" fmla="*/ 163 w 280"/>
                  <a:gd name="T73" fmla="*/ 9 h 121"/>
                  <a:gd name="T74" fmla="*/ 167 w 280"/>
                  <a:gd name="T75" fmla="*/ 18 h 121"/>
                  <a:gd name="T76" fmla="*/ 170 w 280"/>
                  <a:gd name="T77" fmla="*/ 31 h 121"/>
                  <a:gd name="T78" fmla="*/ 176 w 280"/>
                  <a:gd name="T79" fmla="*/ 46 h 121"/>
                  <a:gd name="T80" fmla="*/ 179 w 280"/>
                  <a:gd name="T81" fmla="*/ 62 h 121"/>
                  <a:gd name="T82" fmla="*/ 183 w 280"/>
                  <a:gd name="T83" fmla="*/ 77 h 121"/>
                  <a:gd name="T84" fmla="*/ 189 w 280"/>
                  <a:gd name="T85" fmla="*/ 92 h 121"/>
                  <a:gd name="T86" fmla="*/ 192 w 280"/>
                  <a:gd name="T87" fmla="*/ 104 h 121"/>
                  <a:gd name="T88" fmla="*/ 195 w 280"/>
                  <a:gd name="T89" fmla="*/ 113 h 121"/>
                  <a:gd name="T90" fmla="*/ 202 w 280"/>
                  <a:gd name="T91" fmla="*/ 119 h 121"/>
                  <a:gd name="T92" fmla="*/ 205 w 280"/>
                  <a:gd name="T93" fmla="*/ 120 h 121"/>
                  <a:gd name="T94" fmla="*/ 208 w 280"/>
                  <a:gd name="T95" fmla="*/ 116 h 121"/>
                  <a:gd name="T96" fmla="*/ 215 w 280"/>
                  <a:gd name="T97" fmla="*/ 108 h 121"/>
                  <a:gd name="T98" fmla="*/ 218 w 280"/>
                  <a:gd name="T99" fmla="*/ 97 h 121"/>
                  <a:gd name="T100" fmla="*/ 221 w 280"/>
                  <a:gd name="T101" fmla="*/ 84 h 121"/>
                  <a:gd name="T102" fmla="*/ 227 w 280"/>
                  <a:gd name="T103" fmla="*/ 69 h 121"/>
                  <a:gd name="T104" fmla="*/ 231 w 280"/>
                  <a:gd name="T105" fmla="*/ 53 h 121"/>
                  <a:gd name="T106" fmla="*/ 234 w 280"/>
                  <a:gd name="T107" fmla="*/ 38 h 121"/>
                  <a:gd name="T108" fmla="*/ 240 w 280"/>
                  <a:gd name="T109" fmla="*/ 24 h 121"/>
                  <a:gd name="T110" fmla="*/ 243 w 280"/>
                  <a:gd name="T111" fmla="*/ 13 h 121"/>
                  <a:gd name="T112" fmla="*/ 247 w 280"/>
                  <a:gd name="T113" fmla="*/ 5 h 121"/>
                  <a:gd name="T114" fmla="*/ 253 w 280"/>
                  <a:gd name="T115" fmla="*/ 0 h 121"/>
                  <a:gd name="T116" fmla="*/ 259 w 280"/>
                  <a:gd name="T117" fmla="*/ 2 h 121"/>
                  <a:gd name="T118" fmla="*/ 263 w 280"/>
                  <a:gd name="T119" fmla="*/ 8 h 121"/>
                  <a:gd name="T120" fmla="*/ 266 w 280"/>
                  <a:gd name="T121" fmla="*/ 18 h 121"/>
                  <a:gd name="T122" fmla="*/ 272 w 280"/>
                  <a:gd name="T123" fmla="*/ 30 h 121"/>
                  <a:gd name="T124" fmla="*/ 275 w 280"/>
                  <a:gd name="T125" fmla="*/ 45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0" h="121">
                    <a:moveTo>
                      <a:pt x="0" y="120"/>
                    </a:moveTo>
                    <a:lnTo>
                      <a:pt x="3" y="120"/>
                    </a:lnTo>
                    <a:lnTo>
                      <a:pt x="3" y="120"/>
                    </a:lnTo>
                    <a:lnTo>
                      <a:pt x="7" y="119"/>
                    </a:lnTo>
                    <a:lnTo>
                      <a:pt x="7" y="118"/>
                    </a:lnTo>
                    <a:lnTo>
                      <a:pt x="7" y="117"/>
                    </a:lnTo>
                    <a:lnTo>
                      <a:pt x="10" y="115"/>
                    </a:lnTo>
                    <a:lnTo>
                      <a:pt x="10" y="114"/>
                    </a:lnTo>
                    <a:lnTo>
                      <a:pt x="10" y="112"/>
                    </a:lnTo>
                    <a:lnTo>
                      <a:pt x="13" y="110"/>
                    </a:lnTo>
                    <a:lnTo>
                      <a:pt x="13" y="107"/>
                    </a:lnTo>
                    <a:lnTo>
                      <a:pt x="13" y="105"/>
                    </a:lnTo>
                    <a:lnTo>
                      <a:pt x="16" y="102"/>
                    </a:lnTo>
                    <a:lnTo>
                      <a:pt x="16" y="99"/>
                    </a:lnTo>
                    <a:lnTo>
                      <a:pt x="16" y="96"/>
                    </a:lnTo>
                    <a:lnTo>
                      <a:pt x="19" y="93"/>
                    </a:lnTo>
                    <a:lnTo>
                      <a:pt x="19" y="89"/>
                    </a:lnTo>
                    <a:lnTo>
                      <a:pt x="19" y="86"/>
                    </a:lnTo>
                    <a:lnTo>
                      <a:pt x="23" y="82"/>
                    </a:lnTo>
                    <a:lnTo>
                      <a:pt x="23" y="78"/>
                    </a:lnTo>
                    <a:lnTo>
                      <a:pt x="23" y="74"/>
                    </a:lnTo>
                    <a:lnTo>
                      <a:pt x="26" y="71"/>
                    </a:lnTo>
                    <a:lnTo>
                      <a:pt x="26" y="67"/>
                    </a:lnTo>
                    <a:lnTo>
                      <a:pt x="26" y="63"/>
                    </a:lnTo>
                    <a:lnTo>
                      <a:pt x="29" y="59"/>
                    </a:lnTo>
                    <a:lnTo>
                      <a:pt x="29" y="55"/>
                    </a:lnTo>
                    <a:lnTo>
                      <a:pt x="29" y="51"/>
                    </a:lnTo>
                    <a:lnTo>
                      <a:pt x="32" y="47"/>
                    </a:lnTo>
                    <a:lnTo>
                      <a:pt x="32" y="43"/>
                    </a:lnTo>
                    <a:lnTo>
                      <a:pt x="32" y="39"/>
                    </a:lnTo>
                    <a:lnTo>
                      <a:pt x="35" y="36"/>
                    </a:lnTo>
                    <a:lnTo>
                      <a:pt x="35" y="32"/>
                    </a:lnTo>
                    <a:lnTo>
                      <a:pt x="35" y="29"/>
                    </a:lnTo>
                    <a:lnTo>
                      <a:pt x="39" y="26"/>
                    </a:lnTo>
                    <a:lnTo>
                      <a:pt x="39" y="22"/>
                    </a:lnTo>
                    <a:lnTo>
                      <a:pt x="39" y="19"/>
                    </a:lnTo>
                    <a:lnTo>
                      <a:pt x="42" y="16"/>
                    </a:lnTo>
                    <a:lnTo>
                      <a:pt x="42" y="14"/>
                    </a:lnTo>
                    <a:lnTo>
                      <a:pt x="42" y="12"/>
                    </a:lnTo>
                    <a:lnTo>
                      <a:pt x="45" y="9"/>
                    </a:lnTo>
                    <a:lnTo>
                      <a:pt x="45" y="7"/>
                    </a:lnTo>
                    <a:lnTo>
                      <a:pt x="45" y="5"/>
                    </a:lnTo>
                    <a:lnTo>
                      <a:pt x="48" y="4"/>
                    </a:lnTo>
                    <a:lnTo>
                      <a:pt x="48" y="3"/>
                    </a:lnTo>
                    <a:lnTo>
                      <a:pt x="48" y="1"/>
                    </a:lnTo>
                    <a:lnTo>
                      <a:pt x="51" y="1"/>
                    </a:lnTo>
                    <a:lnTo>
                      <a:pt x="51" y="0"/>
                    </a:lnTo>
                    <a:lnTo>
                      <a:pt x="55" y="0"/>
                    </a:lnTo>
                    <a:lnTo>
                      <a:pt x="55" y="0"/>
                    </a:lnTo>
                    <a:lnTo>
                      <a:pt x="55" y="1"/>
                    </a:lnTo>
                    <a:lnTo>
                      <a:pt x="58" y="1"/>
                    </a:lnTo>
                    <a:lnTo>
                      <a:pt x="58" y="3"/>
                    </a:lnTo>
                    <a:lnTo>
                      <a:pt x="58" y="4"/>
                    </a:lnTo>
                    <a:lnTo>
                      <a:pt x="61" y="5"/>
                    </a:lnTo>
                    <a:lnTo>
                      <a:pt x="61" y="7"/>
                    </a:lnTo>
                    <a:lnTo>
                      <a:pt x="61" y="9"/>
                    </a:lnTo>
                    <a:lnTo>
                      <a:pt x="64" y="12"/>
                    </a:lnTo>
                    <a:lnTo>
                      <a:pt x="64" y="14"/>
                    </a:lnTo>
                    <a:lnTo>
                      <a:pt x="64" y="16"/>
                    </a:lnTo>
                    <a:lnTo>
                      <a:pt x="67" y="19"/>
                    </a:lnTo>
                    <a:lnTo>
                      <a:pt x="67" y="22"/>
                    </a:lnTo>
                    <a:lnTo>
                      <a:pt x="67" y="25"/>
                    </a:lnTo>
                    <a:lnTo>
                      <a:pt x="71" y="29"/>
                    </a:lnTo>
                    <a:lnTo>
                      <a:pt x="71" y="32"/>
                    </a:lnTo>
                    <a:lnTo>
                      <a:pt x="71" y="36"/>
                    </a:lnTo>
                    <a:lnTo>
                      <a:pt x="74" y="39"/>
                    </a:lnTo>
                    <a:lnTo>
                      <a:pt x="74" y="43"/>
                    </a:lnTo>
                    <a:lnTo>
                      <a:pt x="74" y="47"/>
                    </a:lnTo>
                    <a:lnTo>
                      <a:pt x="77" y="51"/>
                    </a:lnTo>
                    <a:lnTo>
                      <a:pt x="77" y="55"/>
                    </a:lnTo>
                    <a:lnTo>
                      <a:pt x="77" y="59"/>
                    </a:lnTo>
                    <a:lnTo>
                      <a:pt x="80" y="62"/>
                    </a:lnTo>
                    <a:lnTo>
                      <a:pt x="80" y="67"/>
                    </a:lnTo>
                    <a:lnTo>
                      <a:pt x="80" y="71"/>
                    </a:lnTo>
                    <a:lnTo>
                      <a:pt x="83" y="74"/>
                    </a:lnTo>
                    <a:lnTo>
                      <a:pt x="83" y="78"/>
                    </a:lnTo>
                    <a:lnTo>
                      <a:pt x="83" y="82"/>
                    </a:lnTo>
                    <a:lnTo>
                      <a:pt x="87" y="85"/>
                    </a:lnTo>
                    <a:lnTo>
                      <a:pt x="87" y="89"/>
                    </a:lnTo>
                    <a:lnTo>
                      <a:pt x="87" y="92"/>
                    </a:lnTo>
                    <a:lnTo>
                      <a:pt x="90" y="96"/>
                    </a:lnTo>
                    <a:lnTo>
                      <a:pt x="90" y="99"/>
                    </a:lnTo>
                    <a:lnTo>
                      <a:pt x="90" y="102"/>
                    </a:lnTo>
                    <a:lnTo>
                      <a:pt x="93" y="105"/>
                    </a:lnTo>
                    <a:lnTo>
                      <a:pt x="93" y="107"/>
                    </a:lnTo>
                    <a:lnTo>
                      <a:pt x="93" y="109"/>
                    </a:lnTo>
                    <a:lnTo>
                      <a:pt x="96" y="112"/>
                    </a:lnTo>
                    <a:lnTo>
                      <a:pt x="96" y="114"/>
                    </a:lnTo>
                    <a:lnTo>
                      <a:pt x="96" y="115"/>
                    </a:lnTo>
                    <a:lnTo>
                      <a:pt x="96" y="117"/>
                    </a:lnTo>
                    <a:lnTo>
                      <a:pt x="99" y="118"/>
                    </a:lnTo>
                    <a:lnTo>
                      <a:pt x="99" y="119"/>
                    </a:lnTo>
                    <a:lnTo>
                      <a:pt x="99" y="119"/>
                    </a:lnTo>
                    <a:lnTo>
                      <a:pt x="103" y="120"/>
                    </a:lnTo>
                    <a:lnTo>
                      <a:pt x="106" y="120"/>
                    </a:lnTo>
                    <a:lnTo>
                      <a:pt x="106" y="119"/>
                    </a:lnTo>
                    <a:lnTo>
                      <a:pt x="106" y="118"/>
                    </a:lnTo>
                    <a:lnTo>
                      <a:pt x="109" y="117"/>
                    </a:lnTo>
                    <a:lnTo>
                      <a:pt x="109" y="115"/>
                    </a:lnTo>
                    <a:lnTo>
                      <a:pt x="109" y="114"/>
                    </a:lnTo>
                    <a:lnTo>
                      <a:pt x="112" y="112"/>
                    </a:lnTo>
                    <a:lnTo>
                      <a:pt x="112" y="110"/>
                    </a:lnTo>
                    <a:lnTo>
                      <a:pt x="112" y="108"/>
                    </a:lnTo>
                    <a:lnTo>
                      <a:pt x="115" y="105"/>
                    </a:lnTo>
                    <a:lnTo>
                      <a:pt x="115" y="103"/>
                    </a:lnTo>
                    <a:lnTo>
                      <a:pt x="115" y="100"/>
                    </a:lnTo>
                    <a:lnTo>
                      <a:pt x="119" y="97"/>
                    </a:lnTo>
                    <a:lnTo>
                      <a:pt x="119" y="94"/>
                    </a:lnTo>
                    <a:lnTo>
                      <a:pt x="119" y="90"/>
                    </a:lnTo>
                    <a:lnTo>
                      <a:pt x="122" y="87"/>
                    </a:lnTo>
                    <a:lnTo>
                      <a:pt x="122" y="83"/>
                    </a:lnTo>
                    <a:lnTo>
                      <a:pt x="122" y="79"/>
                    </a:lnTo>
                    <a:lnTo>
                      <a:pt x="125" y="76"/>
                    </a:lnTo>
                    <a:lnTo>
                      <a:pt x="125" y="72"/>
                    </a:lnTo>
                    <a:lnTo>
                      <a:pt x="125" y="68"/>
                    </a:lnTo>
                    <a:lnTo>
                      <a:pt x="128" y="64"/>
                    </a:lnTo>
                    <a:lnTo>
                      <a:pt x="128" y="60"/>
                    </a:lnTo>
                    <a:lnTo>
                      <a:pt x="128" y="56"/>
                    </a:lnTo>
                    <a:lnTo>
                      <a:pt x="131" y="52"/>
                    </a:lnTo>
                    <a:lnTo>
                      <a:pt x="131" y="48"/>
                    </a:lnTo>
                    <a:lnTo>
                      <a:pt x="131" y="44"/>
                    </a:lnTo>
                    <a:lnTo>
                      <a:pt x="135" y="40"/>
                    </a:lnTo>
                    <a:lnTo>
                      <a:pt x="135" y="37"/>
                    </a:lnTo>
                    <a:lnTo>
                      <a:pt x="135" y="33"/>
                    </a:lnTo>
                    <a:lnTo>
                      <a:pt x="138" y="29"/>
                    </a:lnTo>
                    <a:lnTo>
                      <a:pt x="138" y="26"/>
                    </a:lnTo>
                    <a:lnTo>
                      <a:pt x="138" y="23"/>
                    </a:lnTo>
                    <a:lnTo>
                      <a:pt x="141" y="20"/>
                    </a:lnTo>
                    <a:lnTo>
                      <a:pt x="141" y="17"/>
                    </a:lnTo>
                    <a:lnTo>
                      <a:pt x="141" y="15"/>
                    </a:lnTo>
                    <a:lnTo>
                      <a:pt x="144" y="12"/>
                    </a:lnTo>
                    <a:lnTo>
                      <a:pt x="144" y="10"/>
                    </a:lnTo>
                    <a:lnTo>
                      <a:pt x="144" y="8"/>
                    </a:lnTo>
                    <a:lnTo>
                      <a:pt x="147" y="6"/>
                    </a:lnTo>
                    <a:lnTo>
                      <a:pt x="147" y="4"/>
                    </a:lnTo>
                    <a:lnTo>
                      <a:pt x="147" y="3"/>
                    </a:lnTo>
                    <a:lnTo>
                      <a:pt x="151" y="2"/>
                    </a:lnTo>
                    <a:lnTo>
                      <a:pt x="151" y="1"/>
                    </a:lnTo>
                    <a:lnTo>
                      <a:pt x="151" y="0"/>
                    </a:lnTo>
                    <a:lnTo>
                      <a:pt x="154" y="0"/>
                    </a:lnTo>
                    <a:lnTo>
                      <a:pt x="154" y="0"/>
                    </a:lnTo>
                    <a:lnTo>
                      <a:pt x="157" y="1"/>
                    </a:lnTo>
                    <a:lnTo>
                      <a:pt x="157" y="1"/>
                    </a:lnTo>
                    <a:lnTo>
                      <a:pt x="157" y="2"/>
                    </a:lnTo>
                    <a:lnTo>
                      <a:pt x="160" y="3"/>
                    </a:lnTo>
                    <a:lnTo>
                      <a:pt x="160" y="5"/>
                    </a:lnTo>
                    <a:lnTo>
                      <a:pt x="160" y="7"/>
                    </a:lnTo>
                    <a:lnTo>
                      <a:pt x="163" y="9"/>
                    </a:lnTo>
                    <a:lnTo>
                      <a:pt x="163" y="11"/>
                    </a:lnTo>
                    <a:lnTo>
                      <a:pt x="163" y="13"/>
                    </a:lnTo>
                    <a:lnTo>
                      <a:pt x="167" y="16"/>
                    </a:lnTo>
                    <a:lnTo>
                      <a:pt x="167" y="18"/>
                    </a:lnTo>
                    <a:lnTo>
                      <a:pt x="167" y="21"/>
                    </a:lnTo>
                    <a:lnTo>
                      <a:pt x="170" y="24"/>
                    </a:lnTo>
                    <a:lnTo>
                      <a:pt x="170" y="28"/>
                    </a:lnTo>
                    <a:lnTo>
                      <a:pt x="170" y="31"/>
                    </a:lnTo>
                    <a:lnTo>
                      <a:pt x="173" y="35"/>
                    </a:lnTo>
                    <a:lnTo>
                      <a:pt x="173" y="38"/>
                    </a:lnTo>
                    <a:lnTo>
                      <a:pt x="173" y="42"/>
                    </a:lnTo>
                    <a:lnTo>
                      <a:pt x="176" y="46"/>
                    </a:lnTo>
                    <a:lnTo>
                      <a:pt x="176" y="50"/>
                    </a:lnTo>
                    <a:lnTo>
                      <a:pt x="176" y="54"/>
                    </a:lnTo>
                    <a:lnTo>
                      <a:pt x="179" y="58"/>
                    </a:lnTo>
                    <a:lnTo>
                      <a:pt x="179" y="62"/>
                    </a:lnTo>
                    <a:lnTo>
                      <a:pt x="179" y="66"/>
                    </a:lnTo>
                    <a:lnTo>
                      <a:pt x="183" y="69"/>
                    </a:lnTo>
                    <a:lnTo>
                      <a:pt x="183" y="74"/>
                    </a:lnTo>
                    <a:lnTo>
                      <a:pt x="183" y="77"/>
                    </a:lnTo>
                    <a:lnTo>
                      <a:pt x="186" y="81"/>
                    </a:lnTo>
                    <a:lnTo>
                      <a:pt x="186" y="85"/>
                    </a:lnTo>
                    <a:lnTo>
                      <a:pt x="186" y="88"/>
                    </a:lnTo>
                    <a:lnTo>
                      <a:pt x="189" y="92"/>
                    </a:lnTo>
                    <a:lnTo>
                      <a:pt x="189" y="95"/>
                    </a:lnTo>
                    <a:lnTo>
                      <a:pt x="189" y="98"/>
                    </a:lnTo>
                    <a:lnTo>
                      <a:pt x="192" y="101"/>
                    </a:lnTo>
                    <a:lnTo>
                      <a:pt x="192" y="104"/>
                    </a:lnTo>
                    <a:lnTo>
                      <a:pt x="192" y="107"/>
                    </a:lnTo>
                    <a:lnTo>
                      <a:pt x="195" y="109"/>
                    </a:lnTo>
                    <a:lnTo>
                      <a:pt x="195" y="111"/>
                    </a:lnTo>
                    <a:lnTo>
                      <a:pt x="195" y="113"/>
                    </a:lnTo>
                    <a:lnTo>
                      <a:pt x="199" y="115"/>
                    </a:lnTo>
                    <a:lnTo>
                      <a:pt x="199" y="116"/>
                    </a:lnTo>
                    <a:lnTo>
                      <a:pt x="199" y="118"/>
                    </a:lnTo>
                    <a:lnTo>
                      <a:pt x="202" y="119"/>
                    </a:lnTo>
                    <a:lnTo>
                      <a:pt x="202" y="119"/>
                    </a:lnTo>
                    <a:lnTo>
                      <a:pt x="202" y="120"/>
                    </a:lnTo>
                    <a:lnTo>
                      <a:pt x="205" y="120"/>
                    </a:lnTo>
                    <a:lnTo>
                      <a:pt x="205" y="120"/>
                    </a:lnTo>
                    <a:lnTo>
                      <a:pt x="205" y="119"/>
                    </a:lnTo>
                    <a:lnTo>
                      <a:pt x="208" y="119"/>
                    </a:lnTo>
                    <a:lnTo>
                      <a:pt x="208" y="117"/>
                    </a:lnTo>
                    <a:lnTo>
                      <a:pt x="208" y="116"/>
                    </a:lnTo>
                    <a:lnTo>
                      <a:pt x="211" y="114"/>
                    </a:lnTo>
                    <a:lnTo>
                      <a:pt x="211" y="113"/>
                    </a:lnTo>
                    <a:lnTo>
                      <a:pt x="211" y="110"/>
                    </a:lnTo>
                    <a:lnTo>
                      <a:pt x="215" y="108"/>
                    </a:lnTo>
                    <a:lnTo>
                      <a:pt x="215" y="106"/>
                    </a:lnTo>
                    <a:lnTo>
                      <a:pt x="215" y="103"/>
                    </a:lnTo>
                    <a:lnTo>
                      <a:pt x="218" y="100"/>
                    </a:lnTo>
                    <a:lnTo>
                      <a:pt x="218" y="97"/>
                    </a:lnTo>
                    <a:lnTo>
                      <a:pt x="218" y="94"/>
                    </a:lnTo>
                    <a:lnTo>
                      <a:pt x="221" y="91"/>
                    </a:lnTo>
                    <a:lnTo>
                      <a:pt x="221" y="87"/>
                    </a:lnTo>
                    <a:lnTo>
                      <a:pt x="221" y="84"/>
                    </a:lnTo>
                    <a:lnTo>
                      <a:pt x="224" y="80"/>
                    </a:lnTo>
                    <a:lnTo>
                      <a:pt x="224" y="76"/>
                    </a:lnTo>
                    <a:lnTo>
                      <a:pt x="224" y="73"/>
                    </a:lnTo>
                    <a:lnTo>
                      <a:pt x="227" y="69"/>
                    </a:lnTo>
                    <a:lnTo>
                      <a:pt x="227" y="65"/>
                    </a:lnTo>
                    <a:lnTo>
                      <a:pt x="227" y="61"/>
                    </a:lnTo>
                    <a:lnTo>
                      <a:pt x="231" y="57"/>
                    </a:lnTo>
                    <a:lnTo>
                      <a:pt x="231" y="53"/>
                    </a:lnTo>
                    <a:lnTo>
                      <a:pt x="231" y="49"/>
                    </a:lnTo>
                    <a:lnTo>
                      <a:pt x="234" y="45"/>
                    </a:lnTo>
                    <a:lnTo>
                      <a:pt x="234" y="41"/>
                    </a:lnTo>
                    <a:lnTo>
                      <a:pt x="234" y="38"/>
                    </a:lnTo>
                    <a:lnTo>
                      <a:pt x="237" y="34"/>
                    </a:lnTo>
                    <a:lnTo>
                      <a:pt x="237" y="30"/>
                    </a:lnTo>
                    <a:lnTo>
                      <a:pt x="237" y="27"/>
                    </a:lnTo>
                    <a:lnTo>
                      <a:pt x="240" y="24"/>
                    </a:lnTo>
                    <a:lnTo>
                      <a:pt x="240" y="21"/>
                    </a:lnTo>
                    <a:lnTo>
                      <a:pt x="240" y="18"/>
                    </a:lnTo>
                    <a:lnTo>
                      <a:pt x="243" y="15"/>
                    </a:lnTo>
                    <a:lnTo>
                      <a:pt x="243" y="13"/>
                    </a:lnTo>
                    <a:lnTo>
                      <a:pt x="243" y="10"/>
                    </a:lnTo>
                    <a:lnTo>
                      <a:pt x="247" y="8"/>
                    </a:lnTo>
                    <a:lnTo>
                      <a:pt x="247" y="6"/>
                    </a:lnTo>
                    <a:lnTo>
                      <a:pt x="247" y="5"/>
                    </a:lnTo>
                    <a:lnTo>
                      <a:pt x="250" y="3"/>
                    </a:lnTo>
                    <a:lnTo>
                      <a:pt x="250" y="2"/>
                    </a:lnTo>
                    <a:lnTo>
                      <a:pt x="250" y="1"/>
                    </a:lnTo>
                    <a:lnTo>
                      <a:pt x="253" y="0"/>
                    </a:lnTo>
                    <a:lnTo>
                      <a:pt x="256" y="0"/>
                    </a:lnTo>
                    <a:lnTo>
                      <a:pt x="256" y="0"/>
                    </a:lnTo>
                    <a:lnTo>
                      <a:pt x="256" y="1"/>
                    </a:lnTo>
                    <a:lnTo>
                      <a:pt x="259" y="2"/>
                    </a:lnTo>
                    <a:lnTo>
                      <a:pt x="259" y="3"/>
                    </a:lnTo>
                    <a:lnTo>
                      <a:pt x="259" y="5"/>
                    </a:lnTo>
                    <a:lnTo>
                      <a:pt x="263" y="6"/>
                    </a:lnTo>
                    <a:lnTo>
                      <a:pt x="263" y="8"/>
                    </a:lnTo>
                    <a:lnTo>
                      <a:pt x="263" y="10"/>
                    </a:lnTo>
                    <a:lnTo>
                      <a:pt x="266" y="13"/>
                    </a:lnTo>
                    <a:lnTo>
                      <a:pt x="266" y="15"/>
                    </a:lnTo>
                    <a:lnTo>
                      <a:pt x="266" y="18"/>
                    </a:lnTo>
                    <a:lnTo>
                      <a:pt x="269" y="21"/>
                    </a:lnTo>
                    <a:lnTo>
                      <a:pt x="269" y="24"/>
                    </a:lnTo>
                    <a:lnTo>
                      <a:pt x="269" y="27"/>
                    </a:lnTo>
                    <a:lnTo>
                      <a:pt x="272" y="30"/>
                    </a:lnTo>
                    <a:lnTo>
                      <a:pt x="272" y="34"/>
                    </a:lnTo>
                    <a:lnTo>
                      <a:pt x="272" y="38"/>
                    </a:lnTo>
                    <a:lnTo>
                      <a:pt x="275" y="41"/>
                    </a:lnTo>
                    <a:lnTo>
                      <a:pt x="275" y="45"/>
                    </a:lnTo>
                    <a:lnTo>
                      <a:pt x="275" y="49"/>
                    </a:lnTo>
                    <a:lnTo>
                      <a:pt x="279" y="53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5" name="Freeform 29"/>
              <p:cNvSpPr>
                <a:spLocks/>
              </p:cNvSpPr>
              <p:nvPr/>
            </p:nvSpPr>
            <p:spPr bwMode="auto">
              <a:xfrm>
                <a:off x="1857" y="3776"/>
                <a:ext cx="273" cy="121"/>
              </a:xfrm>
              <a:custGeom>
                <a:avLst/>
                <a:gdLst>
                  <a:gd name="T0" fmla="*/ 3 w 273"/>
                  <a:gd name="T1" fmla="*/ 65 h 121"/>
                  <a:gd name="T2" fmla="*/ 6 w 273"/>
                  <a:gd name="T3" fmla="*/ 80 h 121"/>
                  <a:gd name="T4" fmla="*/ 9 w 273"/>
                  <a:gd name="T5" fmla="*/ 94 h 121"/>
                  <a:gd name="T6" fmla="*/ 16 w 273"/>
                  <a:gd name="T7" fmla="*/ 106 h 121"/>
                  <a:gd name="T8" fmla="*/ 19 w 273"/>
                  <a:gd name="T9" fmla="*/ 114 h 121"/>
                  <a:gd name="T10" fmla="*/ 22 w 273"/>
                  <a:gd name="T11" fmla="*/ 119 h 121"/>
                  <a:gd name="T12" fmla="*/ 28 w 273"/>
                  <a:gd name="T13" fmla="*/ 119 h 121"/>
                  <a:gd name="T14" fmla="*/ 32 w 273"/>
                  <a:gd name="T15" fmla="*/ 115 h 121"/>
                  <a:gd name="T16" fmla="*/ 35 w 273"/>
                  <a:gd name="T17" fmla="*/ 107 h 121"/>
                  <a:gd name="T18" fmla="*/ 41 w 273"/>
                  <a:gd name="T19" fmla="*/ 95 h 121"/>
                  <a:gd name="T20" fmla="*/ 44 w 273"/>
                  <a:gd name="T21" fmla="*/ 81 h 121"/>
                  <a:gd name="T22" fmla="*/ 48 w 273"/>
                  <a:gd name="T23" fmla="*/ 66 h 121"/>
                  <a:gd name="T24" fmla="*/ 54 w 273"/>
                  <a:gd name="T25" fmla="*/ 50 h 121"/>
                  <a:gd name="T26" fmla="*/ 57 w 273"/>
                  <a:gd name="T27" fmla="*/ 35 h 121"/>
                  <a:gd name="T28" fmla="*/ 60 w 273"/>
                  <a:gd name="T29" fmla="*/ 21 h 121"/>
                  <a:gd name="T30" fmla="*/ 67 w 273"/>
                  <a:gd name="T31" fmla="*/ 11 h 121"/>
                  <a:gd name="T32" fmla="*/ 70 w 273"/>
                  <a:gd name="T33" fmla="*/ 3 h 121"/>
                  <a:gd name="T34" fmla="*/ 73 w 273"/>
                  <a:gd name="T35" fmla="*/ 0 h 121"/>
                  <a:gd name="T36" fmla="*/ 80 w 273"/>
                  <a:gd name="T37" fmla="*/ 2 h 121"/>
                  <a:gd name="T38" fmla="*/ 83 w 273"/>
                  <a:gd name="T39" fmla="*/ 8 h 121"/>
                  <a:gd name="T40" fmla="*/ 89 w 273"/>
                  <a:gd name="T41" fmla="*/ 17 h 121"/>
                  <a:gd name="T42" fmla="*/ 92 w 273"/>
                  <a:gd name="T43" fmla="*/ 29 h 121"/>
                  <a:gd name="T44" fmla="*/ 96 w 273"/>
                  <a:gd name="T45" fmla="*/ 44 h 121"/>
                  <a:gd name="T46" fmla="*/ 102 w 273"/>
                  <a:gd name="T47" fmla="*/ 60 h 121"/>
                  <a:gd name="T48" fmla="*/ 105 w 273"/>
                  <a:gd name="T49" fmla="*/ 76 h 121"/>
                  <a:gd name="T50" fmla="*/ 108 w 273"/>
                  <a:gd name="T51" fmla="*/ 90 h 121"/>
                  <a:gd name="T52" fmla="*/ 115 w 273"/>
                  <a:gd name="T53" fmla="*/ 103 h 121"/>
                  <a:gd name="T54" fmla="*/ 118 w 273"/>
                  <a:gd name="T55" fmla="*/ 112 h 121"/>
                  <a:gd name="T56" fmla="*/ 121 w 273"/>
                  <a:gd name="T57" fmla="*/ 118 h 121"/>
                  <a:gd name="T58" fmla="*/ 128 w 273"/>
                  <a:gd name="T59" fmla="*/ 119 h 121"/>
                  <a:gd name="T60" fmla="*/ 134 w 273"/>
                  <a:gd name="T61" fmla="*/ 115 h 121"/>
                  <a:gd name="T62" fmla="*/ 137 w 273"/>
                  <a:gd name="T63" fmla="*/ 107 h 121"/>
                  <a:gd name="T64" fmla="*/ 140 w 273"/>
                  <a:gd name="T65" fmla="*/ 96 h 121"/>
                  <a:gd name="T66" fmla="*/ 144 w 273"/>
                  <a:gd name="T67" fmla="*/ 82 h 121"/>
                  <a:gd name="T68" fmla="*/ 150 w 273"/>
                  <a:gd name="T69" fmla="*/ 67 h 121"/>
                  <a:gd name="T70" fmla="*/ 153 w 273"/>
                  <a:gd name="T71" fmla="*/ 51 h 121"/>
                  <a:gd name="T72" fmla="*/ 156 w 273"/>
                  <a:gd name="T73" fmla="*/ 36 h 121"/>
                  <a:gd name="T74" fmla="*/ 163 w 273"/>
                  <a:gd name="T75" fmla="*/ 22 h 121"/>
                  <a:gd name="T76" fmla="*/ 166 w 273"/>
                  <a:gd name="T77" fmla="*/ 12 h 121"/>
                  <a:gd name="T78" fmla="*/ 169 w 273"/>
                  <a:gd name="T79" fmla="*/ 4 h 121"/>
                  <a:gd name="T80" fmla="*/ 176 w 273"/>
                  <a:gd name="T81" fmla="*/ 0 h 121"/>
                  <a:gd name="T82" fmla="*/ 179 w 273"/>
                  <a:gd name="T83" fmla="*/ 1 h 121"/>
                  <a:gd name="T84" fmla="*/ 185 w 273"/>
                  <a:gd name="T85" fmla="*/ 7 h 121"/>
                  <a:gd name="T86" fmla="*/ 188 w 273"/>
                  <a:gd name="T87" fmla="*/ 16 h 121"/>
                  <a:gd name="T88" fmla="*/ 192 w 273"/>
                  <a:gd name="T89" fmla="*/ 29 h 121"/>
                  <a:gd name="T90" fmla="*/ 198 w 273"/>
                  <a:gd name="T91" fmla="*/ 43 h 121"/>
                  <a:gd name="T92" fmla="*/ 201 w 273"/>
                  <a:gd name="T93" fmla="*/ 59 h 121"/>
                  <a:gd name="T94" fmla="*/ 204 w 273"/>
                  <a:gd name="T95" fmla="*/ 74 h 121"/>
                  <a:gd name="T96" fmla="*/ 211 w 273"/>
                  <a:gd name="T97" fmla="*/ 89 h 121"/>
                  <a:gd name="T98" fmla="*/ 214 w 273"/>
                  <a:gd name="T99" fmla="*/ 102 h 121"/>
                  <a:gd name="T100" fmla="*/ 217 w 273"/>
                  <a:gd name="T101" fmla="*/ 112 h 121"/>
                  <a:gd name="T102" fmla="*/ 224 w 273"/>
                  <a:gd name="T103" fmla="*/ 118 h 121"/>
                  <a:gd name="T104" fmla="*/ 230 w 273"/>
                  <a:gd name="T105" fmla="*/ 120 h 121"/>
                  <a:gd name="T106" fmla="*/ 233 w 273"/>
                  <a:gd name="T107" fmla="*/ 115 h 121"/>
                  <a:gd name="T108" fmla="*/ 236 w 273"/>
                  <a:gd name="T109" fmla="*/ 108 h 121"/>
                  <a:gd name="T110" fmla="*/ 240 w 273"/>
                  <a:gd name="T111" fmla="*/ 97 h 121"/>
                  <a:gd name="T112" fmla="*/ 246 w 273"/>
                  <a:gd name="T113" fmla="*/ 83 h 121"/>
                  <a:gd name="T114" fmla="*/ 249 w 273"/>
                  <a:gd name="T115" fmla="*/ 67 h 121"/>
                  <a:gd name="T116" fmla="*/ 252 w 273"/>
                  <a:gd name="T117" fmla="*/ 52 h 121"/>
                  <a:gd name="T118" fmla="*/ 259 w 273"/>
                  <a:gd name="T119" fmla="*/ 36 h 121"/>
                  <a:gd name="T120" fmla="*/ 262 w 273"/>
                  <a:gd name="T121" fmla="*/ 23 h 121"/>
                  <a:gd name="T122" fmla="*/ 265 w 273"/>
                  <a:gd name="T123" fmla="*/ 12 h 121"/>
                  <a:gd name="T124" fmla="*/ 272 w 273"/>
                  <a:gd name="T125" fmla="*/ 4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3" h="121">
                    <a:moveTo>
                      <a:pt x="0" y="53"/>
                    </a:moveTo>
                    <a:lnTo>
                      <a:pt x="0" y="57"/>
                    </a:lnTo>
                    <a:lnTo>
                      <a:pt x="0" y="61"/>
                    </a:lnTo>
                    <a:lnTo>
                      <a:pt x="3" y="65"/>
                    </a:lnTo>
                    <a:lnTo>
                      <a:pt x="3" y="69"/>
                    </a:lnTo>
                    <a:lnTo>
                      <a:pt x="3" y="73"/>
                    </a:lnTo>
                    <a:lnTo>
                      <a:pt x="6" y="76"/>
                    </a:lnTo>
                    <a:lnTo>
                      <a:pt x="6" y="80"/>
                    </a:lnTo>
                    <a:lnTo>
                      <a:pt x="6" y="84"/>
                    </a:lnTo>
                    <a:lnTo>
                      <a:pt x="9" y="87"/>
                    </a:lnTo>
                    <a:lnTo>
                      <a:pt x="9" y="91"/>
                    </a:lnTo>
                    <a:lnTo>
                      <a:pt x="9" y="94"/>
                    </a:lnTo>
                    <a:lnTo>
                      <a:pt x="12" y="97"/>
                    </a:lnTo>
                    <a:lnTo>
                      <a:pt x="12" y="100"/>
                    </a:lnTo>
                    <a:lnTo>
                      <a:pt x="12" y="103"/>
                    </a:lnTo>
                    <a:lnTo>
                      <a:pt x="16" y="106"/>
                    </a:lnTo>
                    <a:lnTo>
                      <a:pt x="16" y="108"/>
                    </a:lnTo>
                    <a:lnTo>
                      <a:pt x="16" y="110"/>
                    </a:lnTo>
                    <a:lnTo>
                      <a:pt x="19" y="113"/>
                    </a:lnTo>
                    <a:lnTo>
                      <a:pt x="19" y="114"/>
                    </a:lnTo>
                    <a:lnTo>
                      <a:pt x="19" y="116"/>
                    </a:lnTo>
                    <a:lnTo>
                      <a:pt x="22" y="117"/>
                    </a:lnTo>
                    <a:lnTo>
                      <a:pt x="22" y="119"/>
                    </a:lnTo>
                    <a:lnTo>
                      <a:pt x="22" y="119"/>
                    </a:lnTo>
                    <a:lnTo>
                      <a:pt x="25" y="120"/>
                    </a:lnTo>
                    <a:lnTo>
                      <a:pt x="25" y="120"/>
                    </a:lnTo>
                    <a:lnTo>
                      <a:pt x="28" y="120"/>
                    </a:lnTo>
                    <a:lnTo>
                      <a:pt x="28" y="119"/>
                    </a:lnTo>
                    <a:lnTo>
                      <a:pt x="28" y="119"/>
                    </a:lnTo>
                    <a:lnTo>
                      <a:pt x="28" y="118"/>
                    </a:lnTo>
                    <a:lnTo>
                      <a:pt x="32" y="116"/>
                    </a:lnTo>
                    <a:lnTo>
                      <a:pt x="32" y="115"/>
                    </a:lnTo>
                    <a:lnTo>
                      <a:pt x="32" y="113"/>
                    </a:lnTo>
                    <a:lnTo>
                      <a:pt x="35" y="111"/>
                    </a:lnTo>
                    <a:lnTo>
                      <a:pt x="35" y="109"/>
                    </a:lnTo>
                    <a:lnTo>
                      <a:pt x="35" y="107"/>
                    </a:lnTo>
                    <a:lnTo>
                      <a:pt x="38" y="104"/>
                    </a:lnTo>
                    <a:lnTo>
                      <a:pt x="38" y="101"/>
                    </a:lnTo>
                    <a:lnTo>
                      <a:pt x="38" y="98"/>
                    </a:lnTo>
                    <a:lnTo>
                      <a:pt x="41" y="95"/>
                    </a:lnTo>
                    <a:lnTo>
                      <a:pt x="41" y="92"/>
                    </a:lnTo>
                    <a:lnTo>
                      <a:pt x="41" y="88"/>
                    </a:lnTo>
                    <a:lnTo>
                      <a:pt x="44" y="85"/>
                    </a:lnTo>
                    <a:lnTo>
                      <a:pt x="44" y="81"/>
                    </a:lnTo>
                    <a:lnTo>
                      <a:pt x="44" y="77"/>
                    </a:lnTo>
                    <a:lnTo>
                      <a:pt x="48" y="74"/>
                    </a:lnTo>
                    <a:lnTo>
                      <a:pt x="48" y="69"/>
                    </a:lnTo>
                    <a:lnTo>
                      <a:pt x="48" y="66"/>
                    </a:lnTo>
                    <a:lnTo>
                      <a:pt x="51" y="62"/>
                    </a:lnTo>
                    <a:lnTo>
                      <a:pt x="51" y="58"/>
                    </a:lnTo>
                    <a:lnTo>
                      <a:pt x="51" y="54"/>
                    </a:lnTo>
                    <a:lnTo>
                      <a:pt x="54" y="50"/>
                    </a:lnTo>
                    <a:lnTo>
                      <a:pt x="54" y="46"/>
                    </a:lnTo>
                    <a:lnTo>
                      <a:pt x="54" y="42"/>
                    </a:lnTo>
                    <a:lnTo>
                      <a:pt x="57" y="38"/>
                    </a:lnTo>
                    <a:lnTo>
                      <a:pt x="57" y="35"/>
                    </a:lnTo>
                    <a:lnTo>
                      <a:pt x="57" y="31"/>
                    </a:lnTo>
                    <a:lnTo>
                      <a:pt x="60" y="28"/>
                    </a:lnTo>
                    <a:lnTo>
                      <a:pt x="60" y="24"/>
                    </a:lnTo>
                    <a:lnTo>
                      <a:pt x="60" y="21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3"/>
                    </a:lnTo>
                    <a:lnTo>
                      <a:pt x="67" y="11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70" y="5"/>
                    </a:lnTo>
                    <a:lnTo>
                      <a:pt x="70" y="3"/>
                    </a:lnTo>
                    <a:lnTo>
                      <a:pt x="70" y="2"/>
                    </a:lnTo>
                    <a:lnTo>
                      <a:pt x="73" y="1"/>
                    </a:lnTo>
                    <a:lnTo>
                      <a:pt x="73" y="1"/>
                    </a:lnTo>
                    <a:lnTo>
                      <a:pt x="73" y="0"/>
                    </a:lnTo>
                    <a:lnTo>
                      <a:pt x="76" y="0"/>
                    </a:lnTo>
                    <a:lnTo>
                      <a:pt x="76" y="0"/>
                    </a:lnTo>
                    <a:lnTo>
                      <a:pt x="80" y="1"/>
                    </a:lnTo>
                    <a:lnTo>
                      <a:pt x="80" y="2"/>
                    </a:lnTo>
                    <a:lnTo>
                      <a:pt x="80" y="3"/>
                    </a:lnTo>
                    <a:lnTo>
                      <a:pt x="83" y="4"/>
                    </a:lnTo>
                    <a:lnTo>
                      <a:pt x="83" y="6"/>
                    </a:lnTo>
                    <a:lnTo>
                      <a:pt x="83" y="8"/>
                    </a:lnTo>
                    <a:lnTo>
                      <a:pt x="86" y="10"/>
                    </a:lnTo>
                    <a:lnTo>
                      <a:pt x="86" y="12"/>
                    </a:lnTo>
                    <a:lnTo>
                      <a:pt x="86" y="15"/>
                    </a:lnTo>
                    <a:lnTo>
                      <a:pt x="89" y="17"/>
                    </a:lnTo>
                    <a:lnTo>
                      <a:pt x="89" y="20"/>
                    </a:lnTo>
                    <a:lnTo>
                      <a:pt x="89" y="23"/>
                    </a:lnTo>
                    <a:lnTo>
                      <a:pt x="92" y="26"/>
                    </a:lnTo>
                    <a:lnTo>
                      <a:pt x="92" y="29"/>
                    </a:lnTo>
                    <a:lnTo>
                      <a:pt x="92" y="33"/>
                    </a:lnTo>
                    <a:lnTo>
                      <a:pt x="96" y="37"/>
                    </a:lnTo>
                    <a:lnTo>
                      <a:pt x="96" y="40"/>
                    </a:lnTo>
                    <a:lnTo>
                      <a:pt x="96" y="44"/>
                    </a:lnTo>
                    <a:lnTo>
                      <a:pt x="99" y="48"/>
                    </a:lnTo>
                    <a:lnTo>
                      <a:pt x="99" y="52"/>
                    </a:lnTo>
                    <a:lnTo>
                      <a:pt x="99" y="56"/>
                    </a:lnTo>
                    <a:lnTo>
                      <a:pt x="102" y="60"/>
                    </a:lnTo>
                    <a:lnTo>
                      <a:pt x="102" y="64"/>
                    </a:lnTo>
                    <a:lnTo>
                      <a:pt x="102" y="68"/>
                    </a:lnTo>
                    <a:lnTo>
                      <a:pt x="105" y="72"/>
                    </a:lnTo>
                    <a:lnTo>
                      <a:pt x="105" y="76"/>
                    </a:lnTo>
                    <a:lnTo>
                      <a:pt x="105" y="79"/>
                    </a:lnTo>
                    <a:lnTo>
                      <a:pt x="108" y="83"/>
                    </a:lnTo>
                    <a:lnTo>
                      <a:pt x="108" y="87"/>
                    </a:lnTo>
                    <a:lnTo>
                      <a:pt x="108" y="90"/>
                    </a:lnTo>
                    <a:lnTo>
                      <a:pt x="112" y="94"/>
                    </a:lnTo>
                    <a:lnTo>
                      <a:pt x="112" y="97"/>
                    </a:lnTo>
                    <a:lnTo>
                      <a:pt x="112" y="100"/>
                    </a:lnTo>
                    <a:lnTo>
                      <a:pt x="115" y="103"/>
                    </a:lnTo>
                    <a:lnTo>
                      <a:pt x="115" y="105"/>
                    </a:lnTo>
                    <a:lnTo>
                      <a:pt x="115" y="108"/>
                    </a:lnTo>
                    <a:lnTo>
                      <a:pt x="118" y="110"/>
                    </a:lnTo>
                    <a:lnTo>
                      <a:pt x="118" y="112"/>
                    </a:lnTo>
                    <a:lnTo>
                      <a:pt x="118" y="114"/>
                    </a:lnTo>
                    <a:lnTo>
                      <a:pt x="121" y="115"/>
                    </a:lnTo>
                    <a:lnTo>
                      <a:pt x="121" y="117"/>
                    </a:lnTo>
                    <a:lnTo>
                      <a:pt x="121" y="118"/>
                    </a:lnTo>
                    <a:lnTo>
                      <a:pt x="124" y="119"/>
                    </a:lnTo>
                    <a:lnTo>
                      <a:pt x="124" y="120"/>
                    </a:lnTo>
                    <a:lnTo>
                      <a:pt x="128" y="120"/>
                    </a:lnTo>
                    <a:lnTo>
                      <a:pt x="128" y="119"/>
                    </a:lnTo>
                    <a:lnTo>
                      <a:pt x="131" y="119"/>
                    </a:lnTo>
                    <a:lnTo>
                      <a:pt x="131" y="118"/>
                    </a:lnTo>
                    <a:lnTo>
                      <a:pt x="131" y="117"/>
                    </a:lnTo>
                    <a:lnTo>
                      <a:pt x="134" y="115"/>
                    </a:lnTo>
                    <a:lnTo>
                      <a:pt x="134" y="114"/>
                    </a:lnTo>
                    <a:lnTo>
                      <a:pt x="134" y="112"/>
                    </a:lnTo>
                    <a:lnTo>
                      <a:pt x="134" y="109"/>
                    </a:lnTo>
                    <a:lnTo>
                      <a:pt x="137" y="107"/>
                    </a:lnTo>
                    <a:lnTo>
                      <a:pt x="137" y="105"/>
                    </a:lnTo>
                    <a:lnTo>
                      <a:pt x="137" y="102"/>
                    </a:lnTo>
                    <a:lnTo>
                      <a:pt x="140" y="99"/>
                    </a:lnTo>
                    <a:lnTo>
                      <a:pt x="140" y="96"/>
                    </a:lnTo>
                    <a:lnTo>
                      <a:pt x="140" y="92"/>
                    </a:lnTo>
                    <a:lnTo>
                      <a:pt x="144" y="89"/>
                    </a:lnTo>
                    <a:lnTo>
                      <a:pt x="144" y="85"/>
                    </a:lnTo>
                    <a:lnTo>
                      <a:pt x="144" y="82"/>
                    </a:lnTo>
                    <a:lnTo>
                      <a:pt x="147" y="78"/>
                    </a:lnTo>
                    <a:lnTo>
                      <a:pt x="147" y="74"/>
                    </a:lnTo>
                    <a:lnTo>
                      <a:pt x="147" y="71"/>
                    </a:lnTo>
                    <a:lnTo>
                      <a:pt x="150" y="67"/>
                    </a:lnTo>
                    <a:lnTo>
                      <a:pt x="150" y="62"/>
                    </a:lnTo>
                    <a:lnTo>
                      <a:pt x="150" y="59"/>
                    </a:lnTo>
                    <a:lnTo>
                      <a:pt x="153" y="55"/>
                    </a:lnTo>
                    <a:lnTo>
                      <a:pt x="153" y="51"/>
                    </a:lnTo>
                    <a:lnTo>
                      <a:pt x="153" y="47"/>
                    </a:lnTo>
                    <a:lnTo>
                      <a:pt x="156" y="43"/>
                    </a:lnTo>
                    <a:lnTo>
                      <a:pt x="156" y="39"/>
                    </a:lnTo>
                    <a:lnTo>
                      <a:pt x="156" y="36"/>
                    </a:lnTo>
                    <a:lnTo>
                      <a:pt x="160" y="32"/>
                    </a:lnTo>
                    <a:lnTo>
                      <a:pt x="160" y="29"/>
                    </a:lnTo>
                    <a:lnTo>
                      <a:pt x="160" y="25"/>
                    </a:lnTo>
                    <a:lnTo>
                      <a:pt x="163" y="22"/>
                    </a:lnTo>
                    <a:lnTo>
                      <a:pt x="163" y="19"/>
                    </a:lnTo>
                    <a:lnTo>
                      <a:pt x="163" y="16"/>
                    </a:lnTo>
                    <a:lnTo>
                      <a:pt x="166" y="14"/>
                    </a:lnTo>
                    <a:lnTo>
                      <a:pt x="166" y="12"/>
                    </a:lnTo>
                    <a:lnTo>
                      <a:pt x="166" y="9"/>
                    </a:lnTo>
                    <a:lnTo>
                      <a:pt x="169" y="7"/>
                    </a:lnTo>
                    <a:lnTo>
                      <a:pt x="169" y="5"/>
                    </a:lnTo>
                    <a:lnTo>
                      <a:pt x="169" y="4"/>
                    </a:lnTo>
                    <a:lnTo>
                      <a:pt x="172" y="3"/>
                    </a:lnTo>
                    <a:lnTo>
                      <a:pt x="172" y="1"/>
                    </a:lnTo>
                    <a:lnTo>
                      <a:pt x="172" y="1"/>
                    </a:lnTo>
                    <a:lnTo>
                      <a:pt x="176" y="0"/>
                    </a:lnTo>
                    <a:lnTo>
                      <a:pt x="176" y="0"/>
                    </a:lnTo>
                    <a:lnTo>
                      <a:pt x="179" y="0"/>
                    </a:lnTo>
                    <a:lnTo>
                      <a:pt x="179" y="1"/>
                    </a:lnTo>
                    <a:lnTo>
                      <a:pt x="179" y="1"/>
                    </a:lnTo>
                    <a:lnTo>
                      <a:pt x="182" y="3"/>
                    </a:lnTo>
                    <a:lnTo>
                      <a:pt x="182" y="4"/>
                    </a:lnTo>
                    <a:lnTo>
                      <a:pt x="182" y="5"/>
                    </a:lnTo>
                    <a:lnTo>
                      <a:pt x="185" y="7"/>
                    </a:lnTo>
                    <a:lnTo>
                      <a:pt x="185" y="9"/>
                    </a:lnTo>
                    <a:lnTo>
                      <a:pt x="185" y="12"/>
                    </a:lnTo>
                    <a:lnTo>
                      <a:pt x="188" y="14"/>
                    </a:lnTo>
                    <a:lnTo>
                      <a:pt x="188" y="16"/>
                    </a:lnTo>
                    <a:lnTo>
                      <a:pt x="188" y="19"/>
                    </a:lnTo>
                    <a:lnTo>
                      <a:pt x="192" y="22"/>
                    </a:lnTo>
                    <a:lnTo>
                      <a:pt x="192" y="26"/>
                    </a:lnTo>
                    <a:lnTo>
                      <a:pt x="192" y="29"/>
                    </a:lnTo>
                    <a:lnTo>
                      <a:pt x="195" y="32"/>
                    </a:lnTo>
                    <a:lnTo>
                      <a:pt x="195" y="36"/>
                    </a:lnTo>
                    <a:lnTo>
                      <a:pt x="195" y="39"/>
                    </a:lnTo>
                    <a:lnTo>
                      <a:pt x="198" y="43"/>
                    </a:lnTo>
                    <a:lnTo>
                      <a:pt x="198" y="47"/>
                    </a:lnTo>
                    <a:lnTo>
                      <a:pt x="198" y="51"/>
                    </a:lnTo>
                    <a:lnTo>
                      <a:pt x="201" y="55"/>
                    </a:lnTo>
                    <a:lnTo>
                      <a:pt x="201" y="59"/>
                    </a:lnTo>
                    <a:lnTo>
                      <a:pt x="201" y="63"/>
                    </a:lnTo>
                    <a:lnTo>
                      <a:pt x="204" y="67"/>
                    </a:lnTo>
                    <a:lnTo>
                      <a:pt x="204" y="71"/>
                    </a:lnTo>
                    <a:lnTo>
                      <a:pt x="204" y="74"/>
                    </a:lnTo>
                    <a:lnTo>
                      <a:pt x="208" y="78"/>
                    </a:lnTo>
                    <a:lnTo>
                      <a:pt x="208" y="82"/>
                    </a:lnTo>
                    <a:lnTo>
                      <a:pt x="208" y="86"/>
                    </a:lnTo>
                    <a:lnTo>
                      <a:pt x="211" y="89"/>
                    </a:lnTo>
                    <a:lnTo>
                      <a:pt x="211" y="93"/>
                    </a:lnTo>
                    <a:lnTo>
                      <a:pt x="211" y="96"/>
                    </a:lnTo>
                    <a:lnTo>
                      <a:pt x="214" y="99"/>
                    </a:lnTo>
                    <a:lnTo>
                      <a:pt x="214" y="102"/>
                    </a:lnTo>
                    <a:lnTo>
                      <a:pt x="214" y="105"/>
                    </a:lnTo>
                    <a:lnTo>
                      <a:pt x="217" y="107"/>
                    </a:lnTo>
                    <a:lnTo>
                      <a:pt x="217" y="110"/>
                    </a:lnTo>
                    <a:lnTo>
                      <a:pt x="217" y="112"/>
                    </a:lnTo>
                    <a:lnTo>
                      <a:pt x="220" y="114"/>
                    </a:lnTo>
                    <a:lnTo>
                      <a:pt x="220" y="115"/>
                    </a:lnTo>
                    <a:lnTo>
                      <a:pt x="220" y="117"/>
                    </a:lnTo>
                    <a:lnTo>
                      <a:pt x="224" y="118"/>
                    </a:lnTo>
                    <a:lnTo>
                      <a:pt x="224" y="119"/>
                    </a:lnTo>
                    <a:lnTo>
                      <a:pt x="224" y="120"/>
                    </a:lnTo>
                    <a:lnTo>
                      <a:pt x="227" y="120"/>
                    </a:lnTo>
                    <a:lnTo>
                      <a:pt x="230" y="120"/>
                    </a:lnTo>
                    <a:lnTo>
                      <a:pt x="230" y="119"/>
                    </a:lnTo>
                    <a:lnTo>
                      <a:pt x="230" y="118"/>
                    </a:lnTo>
                    <a:lnTo>
                      <a:pt x="233" y="117"/>
                    </a:lnTo>
                    <a:lnTo>
                      <a:pt x="233" y="115"/>
                    </a:lnTo>
                    <a:lnTo>
                      <a:pt x="233" y="114"/>
                    </a:lnTo>
                    <a:lnTo>
                      <a:pt x="236" y="112"/>
                    </a:lnTo>
                    <a:lnTo>
                      <a:pt x="236" y="110"/>
                    </a:lnTo>
                    <a:lnTo>
                      <a:pt x="236" y="108"/>
                    </a:lnTo>
                    <a:lnTo>
                      <a:pt x="240" y="105"/>
                    </a:lnTo>
                    <a:lnTo>
                      <a:pt x="240" y="102"/>
                    </a:lnTo>
                    <a:lnTo>
                      <a:pt x="240" y="100"/>
                    </a:lnTo>
                    <a:lnTo>
                      <a:pt x="240" y="97"/>
                    </a:lnTo>
                    <a:lnTo>
                      <a:pt x="243" y="93"/>
                    </a:lnTo>
                    <a:lnTo>
                      <a:pt x="243" y="90"/>
                    </a:lnTo>
                    <a:lnTo>
                      <a:pt x="243" y="86"/>
                    </a:lnTo>
                    <a:lnTo>
                      <a:pt x="246" y="83"/>
                    </a:lnTo>
                    <a:lnTo>
                      <a:pt x="246" y="79"/>
                    </a:lnTo>
                    <a:lnTo>
                      <a:pt x="246" y="75"/>
                    </a:lnTo>
                    <a:lnTo>
                      <a:pt x="249" y="71"/>
                    </a:lnTo>
                    <a:lnTo>
                      <a:pt x="249" y="67"/>
                    </a:lnTo>
                    <a:lnTo>
                      <a:pt x="249" y="64"/>
                    </a:lnTo>
                    <a:lnTo>
                      <a:pt x="252" y="60"/>
                    </a:lnTo>
                    <a:lnTo>
                      <a:pt x="252" y="56"/>
                    </a:lnTo>
                    <a:lnTo>
                      <a:pt x="252" y="52"/>
                    </a:lnTo>
                    <a:lnTo>
                      <a:pt x="256" y="48"/>
                    </a:lnTo>
                    <a:lnTo>
                      <a:pt x="256" y="44"/>
                    </a:lnTo>
                    <a:lnTo>
                      <a:pt x="256" y="40"/>
                    </a:lnTo>
                    <a:lnTo>
                      <a:pt x="259" y="36"/>
                    </a:lnTo>
                    <a:lnTo>
                      <a:pt x="259" y="33"/>
                    </a:lnTo>
                    <a:lnTo>
                      <a:pt x="259" y="29"/>
                    </a:lnTo>
                    <a:lnTo>
                      <a:pt x="262" y="26"/>
                    </a:lnTo>
                    <a:lnTo>
                      <a:pt x="262" y="23"/>
                    </a:lnTo>
                    <a:lnTo>
                      <a:pt x="262" y="20"/>
                    </a:lnTo>
                    <a:lnTo>
                      <a:pt x="265" y="17"/>
                    </a:lnTo>
                    <a:lnTo>
                      <a:pt x="265" y="14"/>
                    </a:lnTo>
                    <a:lnTo>
                      <a:pt x="265" y="12"/>
                    </a:lnTo>
                    <a:lnTo>
                      <a:pt x="268" y="10"/>
                    </a:lnTo>
                    <a:lnTo>
                      <a:pt x="268" y="8"/>
                    </a:lnTo>
                    <a:lnTo>
                      <a:pt x="268" y="6"/>
                    </a:lnTo>
                    <a:lnTo>
                      <a:pt x="272" y="4"/>
                    </a:lnTo>
                    <a:lnTo>
                      <a:pt x="272" y="3"/>
                    </a:lnTo>
                    <a:lnTo>
                      <a:pt x="272" y="2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6" name="Freeform 30"/>
              <p:cNvSpPr>
                <a:spLocks/>
              </p:cNvSpPr>
              <p:nvPr/>
            </p:nvSpPr>
            <p:spPr bwMode="auto">
              <a:xfrm>
                <a:off x="2129" y="3776"/>
                <a:ext cx="231" cy="121"/>
              </a:xfrm>
              <a:custGeom>
                <a:avLst/>
                <a:gdLst>
                  <a:gd name="T0" fmla="*/ 6 w 231"/>
                  <a:gd name="T1" fmla="*/ 0 h 121"/>
                  <a:gd name="T2" fmla="*/ 9 w 231"/>
                  <a:gd name="T3" fmla="*/ 2 h 121"/>
                  <a:gd name="T4" fmla="*/ 12 w 231"/>
                  <a:gd name="T5" fmla="*/ 9 h 121"/>
                  <a:gd name="T6" fmla="*/ 19 w 231"/>
                  <a:gd name="T7" fmla="*/ 19 h 121"/>
                  <a:gd name="T8" fmla="*/ 22 w 231"/>
                  <a:gd name="T9" fmla="*/ 31 h 121"/>
                  <a:gd name="T10" fmla="*/ 25 w 231"/>
                  <a:gd name="T11" fmla="*/ 46 h 121"/>
                  <a:gd name="T12" fmla="*/ 32 w 231"/>
                  <a:gd name="T13" fmla="*/ 62 h 121"/>
                  <a:gd name="T14" fmla="*/ 35 w 231"/>
                  <a:gd name="T15" fmla="*/ 77 h 121"/>
                  <a:gd name="T16" fmla="*/ 38 w 231"/>
                  <a:gd name="T17" fmla="*/ 92 h 121"/>
                  <a:gd name="T18" fmla="*/ 44 w 231"/>
                  <a:gd name="T19" fmla="*/ 104 h 121"/>
                  <a:gd name="T20" fmla="*/ 48 w 231"/>
                  <a:gd name="T21" fmla="*/ 113 h 121"/>
                  <a:gd name="T22" fmla="*/ 51 w 231"/>
                  <a:gd name="T23" fmla="*/ 119 h 121"/>
                  <a:gd name="T24" fmla="*/ 57 w 231"/>
                  <a:gd name="T25" fmla="*/ 120 h 121"/>
                  <a:gd name="T26" fmla="*/ 60 w 231"/>
                  <a:gd name="T27" fmla="*/ 116 h 121"/>
                  <a:gd name="T28" fmla="*/ 67 w 231"/>
                  <a:gd name="T29" fmla="*/ 108 h 121"/>
                  <a:gd name="T30" fmla="*/ 70 w 231"/>
                  <a:gd name="T31" fmla="*/ 97 h 121"/>
                  <a:gd name="T32" fmla="*/ 73 w 231"/>
                  <a:gd name="T33" fmla="*/ 84 h 121"/>
                  <a:gd name="T34" fmla="*/ 76 w 231"/>
                  <a:gd name="T35" fmla="*/ 69 h 121"/>
                  <a:gd name="T36" fmla="*/ 83 w 231"/>
                  <a:gd name="T37" fmla="*/ 53 h 121"/>
                  <a:gd name="T38" fmla="*/ 86 w 231"/>
                  <a:gd name="T39" fmla="*/ 38 h 121"/>
                  <a:gd name="T40" fmla="*/ 89 w 231"/>
                  <a:gd name="T41" fmla="*/ 24 h 121"/>
                  <a:gd name="T42" fmla="*/ 96 w 231"/>
                  <a:gd name="T43" fmla="*/ 13 h 121"/>
                  <a:gd name="T44" fmla="*/ 99 w 231"/>
                  <a:gd name="T45" fmla="*/ 5 h 121"/>
                  <a:gd name="T46" fmla="*/ 102 w 231"/>
                  <a:gd name="T47" fmla="*/ 0 h 121"/>
                  <a:gd name="T48" fmla="*/ 108 w 231"/>
                  <a:gd name="T49" fmla="*/ 2 h 121"/>
                  <a:gd name="T50" fmla="*/ 115 w 231"/>
                  <a:gd name="T51" fmla="*/ 8 h 121"/>
                  <a:gd name="T52" fmla="*/ 118 w 231"/>
                  <a:gd name="T53" fmla="*/ 18 h 121"/>
                  <a:gd name="T54" fmla="*/ 121 w 231"/>
                  <a:gd name="T55" fmla="*/ 31 h 121"/>
                  <a:gd name="T56" fmla="*/ 128 w 231"/>
                  <a:gd name="T57" fmla="*/ 45 h 121"/>
                  <a:gd name="T58" fmla="*/ 131 w 231"/>
                  <a:gd name="T59" fmla="*/ 61 h 121"/>
                  <a:gd name="T60" fmla="*/ 134 w 231"/>
                  <a:gd name="T61" fmla="*/ 77 h 121"/>
                  <a:gd name="T62" fmla="*/ 140 w 231"/>
                  <a:gd name="T63" fmla="*/ 91 h 121"/>
                  <a:gd name="T64" fmla="*/ 144 w 231"/>
                  <a:gd name="T65" fmla="*/ 104 h 121"/>
                  <a:gd name="T66" fmla="*/ 147 w 231"/>
                  <a:gd name="T67" fmla="*/ 113 h 121"/>
                  <a:gd name="T68" fmla="*/ 153 w 231"/>
                  <a:gd name="T69" fmla="*/ 119 h 121"/>
                  <a:gd name="T70" fmla="*/ 156 w 231"/>
                  <a:gd name="T71" fmla="*/ 120 h 121"/>
                  <a:gd name="T72" fmla="*/ 163 w 231"/>
                  <a:gd name="T73" fmla="*/ 116 h 121"/>
                  <a:gd name="T74" fmla="*/ 166 w 231"/>
                  <a:gd name="T75" fmla="*/ 109 h 121"/>
                  <a:gd name="T76" fmla="*/ 169 w 231"/>
                  <a:gd name="T77" fmla="*/ 98 h 121"/>
                  <a:gd name="T78" fmla="*/ 176 w 231"/>
                  <a:gd name="T79" fmla="*/ 84 h 121"/>
                  <a:gd name="T80" fmla="*/ 179 w 231"/>
                  <a:gd name="T81" fmla="*/ 69 h 121"/>
                  <a:gd name="T82" fmla="*/ 182 w 231"/>
                  <a:gd name="T83" fmla="*/ 54 h 121"/>
                  <a:gd name="T84" fmla="*/ 185 w 231"/>
                  <a:gd name="T85" fmla="*/ 38 h 121"/>
                  <a:gd name="T86" fmla="*/ 192 w 231"/>
                  <a:gd name="T87" fmla="*/ 24 h 121"/>
                  <a:gd name="T88" fmla="*/ 195 w 231"/>
                  <a:gd name="T89" fmla="*/ 13 h 121"/>
                  <a:gd name="T90" fmla="*/ 198 w 231"/>
                  <a:gd name="T91" fmla="*/ 5 h 121"/>
                  <a:gd name="T92" fmla="*/ 204 w 231"/>
                  <a:gd name="T93" fmla="*/ 1 h 121"/>
                  <a:gd name="T94" fmla="*/ 211 w 231"/>
                  <a:gd name="T95" fmla="*/ 2 h 121"/>
                  <a:gd name="T96" fmla="*/ 214 w 231"/>
                  <a:gd name="T97" fmla="*/ 8 h 121"/>
                  <a:gd name="T98" fmla="*/ 217 w 231"/>
                  <a:gd name="T99" fmla="*/ 17 h 121"/>
                  <a:gd name="T100" fmla="*/ 223 w 231"/>
                  <a:gd name="T101" fmla="*/ 30 h 121"/>
                  <a:gd name="T102" fmla="*/ 227 w 231"/>
                  <a:gd name="T103" fmla="*/ 44 h 121"/>
                  <a:gd name="T104" fmla="*/ 230 w 231"/>
                  <a:gd name="T105" fmla="*/ 6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31" h="121">
                    <a:moveTo>
                      <a:pt x="0" y="2"/>
                    </a:moveTo>
                    <a:lnTo>
                      <a:pt x="3" y="1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9" y="1"/>
                    </a:lnTo>
                    <a:lnTo>
                      <a:pt x="9" y="2"/>
                    </a:lnTo>
                    <a:lnTo>
                      <a:pt x="9" y="3"/>
                    </a:lnTo>
                    <a:lnTo>
                      <a:pt x="12" y="5"/>
                    </a:lnTo>
                    <a:lnTo>
                      <a:pt x="12" y="7"/>
                    </a:lnTo>
                    <a:lnTo>
                      <a:pt x="12" y="9"/>
                    </a:lnTo>
                    <a:lnTo>
                      <a:pt x="16" y="11"/>
                    </a:lnTo>
                    <a:lnTo>
                      <a:pt x="16" y="13"/>
                    </a:lnTo>
                    <a:lnTo>
                      <a:pt x="16" y="16"/>
                    </a:lnTo>
                    <a:lnTo>
                      <a:pt x="19" y="19"/>
                    </a:lnTo>
                    <a:lnTo>
                      <a:pt x="19" y="21"/>
                    </a:lnTo>
                    <a:lnTo>
                      <a:pt x="19" y="25"/>
                    </a:lnTo>
                    <a:lnTo>
                      <a:pt x="22" y="28"/>
                    </a:lnTo>
                    <a:lnTo>
                      <a:pt x="22" y="31"/>
                    </a:lnTo>
                    <a:lnTo>
                      <a:pt x="22" y="35"/>
                    </a:lnTo>
                    <a:lnTo>
                      <a:pt x="25" y="39"/>
                    </a:lnTo>
                    <a:lnTo>
                      <a:pt x="25" y="42"/>
                    </a:lnTo>
                    <a:lnTo>
                      <a:pt x="25" y="46"/>
                    </a:lnTo>
                    <a:lnTo>
                      <a:pt x="28" y="50"/>
                    </a:lnTo>
                    <a:lnTo>
                      <a:pt x="28" y="54"/>
                    </a:lnTo>
                    <a:lnTo>
                      <a:pt x="28" y="58"/>
                    </a:lnTo>
                    <a:lnTo>
                      <a:pt x="32" y="62"/>
                    </a:lnTo>
                    <a:lnTo>
                      <a:pt x="32" y="66"/>
                    </a:lnTo>
                    <a:lnTo>
                      <a:pt x="32" y="70"/>
                    </a:lnTo>
                    <a:lnTo>
                      <a:pt x="35" y="74"/>
                    </a:lnTo>
                    <a:lnTo>
                      <a:pt x="35" y="77"/>
                    </a:lnTo>
                    <a:lnTo>
                      <a:pt x="35" y="81"/>
                    </a:lnTo>
                    <a:lnTo>
                      <a:pt x="38" y="85"/>
                    </a:lnTo>
                    <a:lnTo>
                      <a:pt x="38" y="89"/>
                    </a:lnTo>
                    <a:lnTo>
                      <a:pt x="38" y="92"/>
                    </a:lnTo>
                    <a:lnTo>
                      <a:pt x="41" y="95"/>
                    </a:lnTo>
                    <a:lnTo>
                      <a:pt x="41" y="98"/>
                    </a:lnTo>
                    <a:lnTo>
                      <a:pt x="41" y="101"/>
                    </a:lnTo>
                    <a:lnTo>
                      <a:pt x="44" y="104"/>
                    </a:lnTo>
                    <a:lnTo>
                      <a:pt x="44" y="107"/>
                    </a:lnTo>
                    <a:lnTo>
                      <a:pt x="44" y="109"/>
                    </a:lnTo>
                    <a:lnTo>
                      <a:pt x="48" y="111"/>
                    </a:lnTo>
                    <a:lnTo>
                      <a:pt x="48" y="113"/>
                    </a:lnTo>
                    <a:lnTo>
                      <a:pt x="48" y="115"/>
                    </a:lnTo>
                    <a:lnTo>
                      <a:pt x="51" y="116"/>
                    </a:lnTo>
                    <a:lnTo>
                      <a:pt x="51" y="118"/>
                    </a:lnTo>
                    <a:lnTo>
                      <a:pt x="51" y="119"/>
                    </a:lnTo>
                    <a:lnTo>
                      <a:pt x="54" y="119"/>
                    </a:lnTo>
                    <a:lnTo>
                      <a:pt x="54" y="120"/>
                    </a:lnTo>
                    <a:lnTo>
                      <a:pt x="57" y="120"/>
                    </a:lnTo>
                    <a:lnTo>
                      <a:pt x="57" y="120"/>
                    </a:lnTo>
                    <a:lnTo>
                      <a:pt x="57" y="119"/>
                    </a:lnTo>
                    <a:lnTo>
                      <a:pt x="60" y="118"/>
                    </a:lnTo>
                    <a:lnTo>
                      <a:pt x="60" y="117"/>
                    </a:lnTo>
                    <a:lnTo>
                      <a:pt x="60" y="116"/>
                    </a:lnTo>
                    <a:lnTo>
                      <a:pt x="64" y="114"/>
                    </a:lnTo>
                    <a:lnTo>
                      <a:pt x="64" y="112"/>
                    </a:lnTo>
                    <a:lnTo>
                      <a:pt x="64" y="110"/>
                    </a:lnTo>
                    <a:lnTo>
                      <a:pt x="67" y="108"/>
                    </a:lnTo>
                    <a:lnTo>
                      <a:pt x="67" y="106"/>
                    </a:lnTo>
                    <a:lnTo>
                      <a:pt x="67" y="103"/>
                    </a:lnTo>
                    <a:lnTo>
                      <a:pt x="70" y="100"/>
                    </a:lnTo>
                    <a:lnTo>
                      <a:pt x="70" y="97"/>
                    </a:lnTo>
                    <a:lnTo>
                      <a:pt x="70" y="94"/>
                    </a:lnTo>
                    <a:lnTo>
                      <a:pt x="73" y="91"/>
                    </a:lnTo>
                    <a:lnTo>
                      <a:pt x="73" y="87"/>
                    </a:lnTo>
                    <a:lnTo>
                      <a:pt x="73" y="84"/>
                    </a:lnTo>
                    <a:lnTo>
                      <a:pt x="73" y="80"/>
                    </a:lnTo>
                    <a:lnTo>
                      <a:pt x="76" y="76"/>
                    </a:lnTo>
                    <a:lnTo>
                      <a:pt x="76" y="73"/>
                    </a:lnTo>
                    <a:lnTo>
                      <a:pt x="76" y="69"/>
                    </a:lnTo>
                    <a:lnTo>
                      <a:pt x="80" y="64"/>
                    </a:lnTo>
                    <a:lnTo>
                      <a:pt x="80" y="61"/>
                    </a:lnTo>
                    <a:lnTo>
                      <a:pt x="80" y="57"/>
                    </a:lnTo>
                    <a:lnTo>
                      <a:pt x="83" y="53"/>
                    </a:lnTo>
                    <a:lnTo>
                      <a:pt x="83" y="49"/>
                    </a:lnTo>
                    <a:lnTo>
                      <a:pt x="83" y="45"/>
                    </a:lnTo>
                    <a:lnTo>
                      <a:pt x="86" y="41"/>
                    </a:lnTo>
                    <a:lnTo>
                      <a:pt x="86" y="38"/>
                    </a:lnTo>
                    <a:lnTo>
                      <a:pt x="86" y="34"/>
                    </a:lnTo>
                    <a:lnTo>
                      <a:pt x="89" y="30"/>
                    </a:lnTo>
                    <a:lnTo>
                      <a:pt x="89" y="27"/>
                    </a:lnTo>
                    <a:lnTo>
                      <a:pt x="89" y="24"/>
                    </a:lnTo>
                    <a:lnTo>
                      <a:pt x="92" y="21"/>
                    </a:lnTo>
                    <a:lnTo>
                      <a:pt x="92" y="18"/>
                    </a:lnTo>
                    <a:lnTo>
                      <a:pt x="92" y="15"/>
                    </a:lnTo>
                    <a:lnTo>
                      <a:pt x="96" y="13"/>
                    </a:lnTo>
                    <a:lnTo>
                      <a:pt x="96" y="10"/>
                    </a:lnTo>
                    <a:lnTo>
                      <a:pt x="96" y="8"/>
                    </a:lnTo>
                    <a:lnTo>
                      <a:pt x="99" y="6"/>
                    </a:lnTo>
                    <a:lnTo>
                      <a:pt x="99" y="5"/>
                    </a:lnTo>
                    <a:lnTo>
                      <a:pt x="99" y="3"/>
                    </a:lnTo>
                    <a:lnTo>
                      <a:pt x="102" y="2"/>
                    </a:lnTo>
                    <a:lnTo>
                      <a:pt x="102" y="1"/>
                    </a:lnTo>
                    <a:lnTo>
                      <a:pt x="102" y="0"/>
                    </a:lnTo>
                    <a:lnTo>
                      <a:pt x="105" y="0"/>
                    </a:lnTo>
                    <a:lnTo>
                      <a:pt x="108" y="0"/>
                    </a:lnTo>
                    <a:lnTo>
                      <a:pt x="108" y="1"/>
                    </a:lnTo>
                    <a:lnTo>
                      <a:pt x="108" y="2"/>
                    </a:lnTo>
                    <a:lnTo>
                      <a:pt x="112" y="3"/>
                    </a:lnTo>
                    <a:lnTo>
                      <a:pt x="112" y="5"/>
                    </a:lnTo>
                    <a:lnTo>
                      <a:pt x="112" y="6"/>
                    </a:lnTo>
                    <a:lnTo>
                      <a:pt x="115" y="8"/>
                    </a:lnTo>
                    <a:lnTo>
                      <a:pt x="115" y="10"/>
                    </a:lnTo>
                    <a:lnTo>
                      <a:pt x="115" y="13"/>
                    </a:lnTo>
                    <a:lnTo>
                      <a:pt x="118" y="15"/>
                    </a:lnTo>
                    <a:lnTo>
                      <a:pt x="118" y="18"/>
                    </a:lnTo>
                    <a:lnTo>
                      <a:pt x="118" y="21"/>
                    </a:lnTo>
                    <a:lnTo>
                      <a:pt x="121" y="24"/>
                    </a:lnTo>
                    <a:lnTo>
                      <a:pt x="121" y="27"/>
                    </a:lnTo>
                    <a:lnTo>
                      <a:pt x="121" y="31"/>
                    </a:lnTo>
                    <a:lnTo>
                      <a:pt x="124" y="34"/>
                    </a:lnTo>
                    <a:lnTo>
                      <a:pt x="124" y="38"/>
                    </a:lnTo>
                    <a:lnTo>
                      <a:pt x="124" y="41"/>
                    </a:lnTo>
                    <a:lnTo>
                      <a:pt x="128" y="45"/>
                    </a:lnTo>
                    <a:lnTo>
                      <a:pt x="128" y="49"/>
                    </a:lnTo>
                    <a:lnTo>
                      <a:pt x="128" y="53"/>
                    </a:lnTo>
                    <a:lnTo>
                      <a:pt x="131" y="57"/>
                    </a:lnTo>
                    <a:lnTo>
                      <a:pt x="131" y="61"/>
                    </a:lnTo>
                    <a:lnTo>
                      <a:pt x="131" y="65"/>
                    </a:lnTo>
                    <a:lnTo>
                      <a:pt x="134" y="69"/>
                    </a:lnTo>
                    <a:lnTo>
                      <a:pt x="134" y="73"/>
                    </a:lnTo>
                    <a:lnTo>
                      <a:pt x="134" y="77"/>
                    </a:lnTo>
                    <a:lnTo>
                      <a:pt x="137" y="81"/>
                    </a:lnTo>
                    <a:lnTo>
                      <a:pt x="137" y="84"/>
                    </a:lnTo>
                    <a:lnTo>
                      <a:pt x="137" y="87"/>
                    </a:lnTo>
                    <a:lnTo>
                      <a:pt x="140" y="91"/>
                    </a:lnTo>
                    <a:lnTo>
                      <a:pt x="140" y="94"/>
                    </a:lnTo>
                    <a:lnTo>
                      <a:pt x="140" y="97"/>
                    </a:lnTo>
                    <a:lnTo>
                      <a:pt x="144" y="100"/>
                    </a:lnTo>
                    <a:lnTo>
                      <a:pt x="144" y="104"/>
                    </a:lnTo>
                    <a:lnTo>
                      <a:pt x="144" y="106"/>
                    </a:lnTo>
                    <a:lnTo>
                      <a:pt x="147" y="108"/>
                    </a:lnTo>
                    <a:lnTo>
                      <a:pt x="147" y="111"/>
                    </a:lnTo>
                    <a:lnTo>
                      <a:pt x="147" y="113"/>
                    </a:lnTo>
                    <a:lnTo>
                      <a:pt x="150" y="115"/>
                    </a:lnTo>
                    <a:lnTo>
                      <a:pt x="150" y="116"/>
                    </a:lnTo>
                    <a:lnTo>
                      <a:pt x="150" y="117"/>
                    </a:lnTo>
                    <a:lnTo>
                      <a:pt x="153" y="119"/>
                    </a:lnTo>
                    <a:lnTo>
                      <a:pt x="153" y="119"/>
                    </a:lnTo>
                    <a:lnTo>
                      <a:pt x="153" y="120"/>
                    </a:lnTo>
                    <a:lnTo>
                      <a:pt x="156" y="120"/>
                    </a:lnTo>
                    <a:lnTo>
                      <a:pt x="156" y="120"/>
                    </a:lnTo>
                    <a:lnTo>
                      <a:pt x="160" y="119"/>
                    </a:lnTo>
                    <a:lnTo>
                      <a:pt x="160" y="119"/>
                    </a:lnTo>
                    <a:lnTo>
                      <a:pt x="160" y="117"/>
                    </a:lnTo>
                    <a:lnTo>
                      <a:pt x="163" y="116"/>
                    </a:lnTo>
                    <a:lnTo>
                      <a:pt x="163" y="115"/>
                    </a:lnTo>
                    <a:lnTo>
                      <a:pt x="163" y="113"/>
                    </a:lnTo>
                    <a:lnTo>
                      <a:pt x="166" y="111"/>
                    </a:lnTo>
                    <a:lnTo>
                      <a:pt x="166" y="109"/>
                    </a:lnTo>
                    <a:lnTo>
                      <a:pt x="166" y="106"/>
                    </a:lnTo>
                    <a:lnTo>
                      <a:pt x="169" y="104"/>
                    </a:lnTo>
                    <a:lnTo>
                      <a:pt x="169" y="101"/>
                    </a:lnTo>
                    <a:lnTo>
                      <a:pt x="169" y="98"/>
                    </a:lnTo>
                    <a:lnTo>
                      <a:pt x="172" y="95"/>
                    </a:lnTo>
                    <a:lnTo>
                      <a:pt x="172" y="92"/>
                    </a:lnTo>
                    <a:lnTo>
                      <a:pt x="172" y="88"/>
                    </a:lnTo>
                    <a:lnTo>
                      <a:pt x="176" y="84"/>
                    </a:lnTo>
                    <a:lnTo>
                      <a:pt x="176" y="81"/>
                    </a:lnTo>
                    <a:lnTo>
                      <a:pt x="176" y="77"/>
                    </a:lnTo>
                    <a:lnTo>
                      <a:pt x="179" y="73"/>
                    </a:lnTo>
                    <a:lnTo>
                      <a:pt x="179" y="69"/>
                    </a:lnTo>
                    <a:lnTo>
                      <a:pt x="179" y="66"/>
                    </a:lnTo>
                    <a:lnTo>
                      <a:pt x="179" y="61"/>
                    </a:lnTo>
                    <a:lnTo>
                      <a:pt x="182" y="58"/>
                    </a:lnTo>
                    <a:lnTo>
                      <a:pt x="182" y="54"/>
                    </a:lnTo>
                    <a:lnTo>
                      <a:pt x="182" y="50"/>
                    </a:lnTo>
                    <a:lnTo>
                      <a:pt x="185" y="46"/>
                    </a:lnTo>
                    <a:lnTo>
                      <a:pt x="185" y="42"/>
                    </a:lnTo>
                    <a:lnTo>
                      <a:pt x="185" y="38"/>
                    </a:lnTo>
                    <a:lnTo>
                      <a:pt x="188" y="35"/>
                    </a:lnTo>
                    <a:lnTo>
                      <a:pt x="188" y="31"/>
                    </a:lnTo>
                    <a:lnTo>
                      <a:pt x="188" y="28"/>
                    </a:lnTo>
                    <a:lnTo>
                      <a:pt x="192" y="24"/>
                    </a:lnTo>
                    <a:lnTo>
                      <a:pt x="192" y="21"/>
                    </a:lnTo>
                    <a:lnTo>
                      <a:pt x="192" y="18"/>
                    </a:lnTo>
                    <a:lnTo>
                      <a:pt x="195" y="16"/>
                    </a:lnTo>
                    <a:lnTo>
                      <a:pt x="195" y="13"/>
                    </a:lnTo>
                    <a:lnTo>
                      <a:pt x="195" y="11"/>
                    </a:lnTo>
                    <a:lnTo>
                      <a:pt x="198" y="8"/>
                    </a:lnTo>
                    <a:lnTo>
                      <a:pt x="198" y="6"/>
                    </a:lnTo>
                    <a:lnTo>
                      <a:pt x="198" y="5"/>
                    </a:lnTo>
                    <a:lnTo>
                      <a:pt x="201" y="3"/>
                    </a:lnTo>
                    <a:lnTo>
                      <a:pt x="201" y="2"/>
                    </a:lnTo>
                    <a:lnTo>
                      <a:pt x="201" y="1"/>
                    </a:lnTo>
                    <a:lnTo>
                      <a:pt x="204" y="1"/>
                    </a:lnTo>
                    <a:lnTo>
                      <a:pt x="204" y="0"/>
                    </a:lnTo>
                    <a:lnTo>
                      <a:pt x="207" y="0"/>
                    </a:lnTo>
                    <a:lnTo>
                      <a:pt x="207" y="1"/>
                    </a:lnTo>
                    <a:lnTo>
                      <a:pt x="211" y="2"/>
                    </a:lnTo>
                    <a:lnTo>
                      <a:pt x="211" y="3"/>
                    </a:lnTo>
                    <a:lnTo>
                      <a:pt x="211" y="4"/>
                    </a:lnTo>
                    <a:lnTo>
                      <a:pt x="214" y="6"/>
                    </a:lnTo>
                    <a:lnTo>
                      <a:pt x="214" y="8"/>
                    </a:lnTo>
                    <a:lnTo>
                      <a:pt x="214" y="10"/>
                    </a:lnTo>
                    <a:lnTo>
                      <a:pt x="217" y="12"/>
                    </a:lnTo>
                    <a:lnTo>
                      <a:pt x="217" y="15"/>
                    </a:lnTo>
                    <a:lnTo>
                      <a:pt x="217" y="17"/>
                    </a:lnTo>
                    <a:lnTo>
                      <a:pt x="220" y="20"/>
                    </a:lnTo>
                    <a:lnTo>
                      <a:pt x="220" y="23"/>
                    </a:lnTo>
                    <a:lnTo>
                      <a:pt x="220" y="26"/>
                    </a:lnTo>
                    <a:lnTo>
                      <a:pt x="223" y="30"/>
                    </a:lnTo>
                    <a:lnTo>
                      <a:pt x="223" y="33"/>
                    </a:lnTo>
                    <a:lnTo>
                      <a:pt x="223" y="37"/>
                    </a:lnTo>
                    <a:lnTo>
                      <a:pt x="227" y="41"/>
                    </a:lnTo>
                    <a:lnTo>
                      <a:pt x="227" y="44"/>
                    </a:lnTo>
                    <a:lnTo>
                      <a:pt x="227" y="48"/>
                    </a:lnTo>
                    <a:lnTo>
                      <a:pt x="230" y="52"/>
                    </a:lnTo>
                    <a:lnTo>
                      <a:pt x="230" y="56"/>
                    </a:lnTo>
                    <a:lnTo>
                      <a:pt x="230" y="6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6" name="Rectangle 50"/>
            <p:cNvSpPr>
              <a:spLocks noChangeArrowheads="1"/>
            </p:cNvSpPr>
            <p:nvPr/>
          </p:nvSpPr>
          <p:spPr bwMode="auto">
            <a:xfrm>
              <a:off x="1905001" y="4891088"/>
              <a:ext cx="349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>
                  <a:latin typeface="Arial" charset="0"/>
                </a:rPr>
                <a:t>D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A516E67-4869-2A71-12B8-B06082D62578}"/>
              </a:ext>
            </a:extLst>
          </p:cNvPr>
          <p:cNvGrpSpPr/>
          <p:nvPr/>
        </p:nvGrpSpPr>
        <p:grpSpPr>
          <a:xfrm>
            <a:off x="5486402" y="4745038"/>
            <a:ext cx="3197225" cy="820738"/>
            <a:chOff x="5486402" y="4745038"/>
            <a:chExt cx="3197225" cy="820738"/>
          </a:xfrm>
        </p:grpSpPr>
        <p:grpSp>
          <p:nvGrpSpPr>
            <p:cNvPr id="14353" name="Group 17"/>
            <p:cNvGrpSpPr>
              <a:grpSpLocks/>
            </p:cNvGrpSpPr>
            <p:nvPr/>
          </p:nvGrpSpPr>
          <p:grpSpPr bwMode="auto">
            <a:xfrm>
              <a:off x="5486402" y="4745038"/>
              <a:ext cx="2597150" cy="465138"/>
              <a:chOff x="2634" y="3624"/>
              <a:chExt cx="1227" cy="390"/>
            </a:xfrm>
          </p:grpSpPr>
          <p:sp>
            <p:nvSpPr>
              <p:cNvPr id="14354" name="Freeform 18"/>
              <p:cNvSpPr>
                <a:spLocks/>
              </p:cNvSpPr>
              <p:nvPr/>
            </p:nvSpPr>
            <p:spPr bwMode="auto">
              <a:xfrm>
                <a:off x="2634" y="3624"/>
                <a:ext cx="399" cy="196"/>
              </a:xfrm>
              <a:custGeom>
                <a:avLst/>
                <a:gdLst>
                  <a:gd name="T0" fmla="*/ 4 w 399"/>
                  <a:gd name="T1" fmla="*/ 168 h 196"/>
                  <a:gd name="T2" fmla="*/ 11 w 399"/>
                  <a:gd name="T3" fmla="*/ 135 h 196"/>
                  <a:gd name="T4" fmla="*/ 15 w 399"/>
                  <a:gd name="T5" fmla="*/ 103 h 196"/>
                  <a:gd name="T6" fmla="*/ 19 w 399"/>
                  <a:gd name="T7" fmla="*/ 74 h 196"/>
                  <a:gd name="T8" fmla="*/ 26 w 399"/>
                  <a:gd name="T9" fmla="*/ 49 h 196"/>
                  <a:gd name="T10" fmla="*/ 30 w 399"/>
                  <a:gd name="T11" fmla="*/ 30 h 196"/>
                  <a:gd name="T12" fmla="*/ 34 w 399"/>
                  <a:gd name="T13" fmla="*/ 14 h 196"/>
                  <a:gd name="T14" fmla="*/ 41 w 399"/>
                  <a:gd name="T15" fmla="*/ 4 h 196"/>
                  <a:gd name="T16" fmla="*/ 52 w 399"/>
                  <a:gd name="T17" fmla="*/ 1 h 196"/>
                  <a:gd name="T18" fmla="*/ 56 w 399"/>
                  <a:gd name="T19" fmla="*/ 8 h 196"/>
                  <a:gd name="T20" fmla="*/ 63 w 399"/>
                  <a:gd name="T21" fmla="*/ 17 h 196"/>
                  <a:gd name="T22" fmla="*/ 67 w 399"/>
                  <a:gd name="T23" fmla="*/ 28 h 196"/>
                  <a:gd name="T24" fmla="*/ 71 w 399"/>
                  <a:gd name="T25" fmla="*/ 39 h 196"/>
                  <a:gd name="T26" fmla="*/ 74 w 399"/>
                  <a:gd name="T27" fmla="*/ 52 h 196"/>
                  <a:gd name="T28" fmla="*/ 82 w 399"/>
                  <a:gd name="T29" fmla="*/ 63 h 196"/>
                  <a:gd name="T30" fmla="*/ 86 w 399"/>
                  <a:gd name="T31" fmla="*/ 73 h 196"/>
                  <a:gd name="T32" fmla="*/ 89 w 399"/>
                  <a:gd name="T33" fmla="*/ 79 h 196"/>
                  <a:gd name="T34" fmla="*/ 100 w 399"/>
                  <a:gd name="T35" fmla="*/ 86 h 196"/>
                  <a:gd name="T36" fmla="*/ 112 w 399"/>
                  <a:gd name="T37" fmla="*/ 79 h 196"/>
                  <a:gd name="T38" fmla="*/ 115 w 399"/>
                  <a:gd name="T39" fmla="*/ 73 h 196"/>
                  <a:gd name="T40" fmla="*/ 123 w 399"/>
                  <a:gd name="T41" fmla="*/ 65 h 196"/>
                  <a:gd name="T42" fmla="*/ 126 w 399"/>
                  <a:gd name="T43" fmla="*/ 57 h 196"/>
                  <a:gd name="T44" fmla="*/ 130 w 399"/>
                  <a:gd name="T45" fmla="*/ 47 h 196"/>
                  <a:gd name="T46" fmla="*/ 138 w 399"/>
                  <a:gd name="T47" fmla="*/ 39 h 196"/>
                  <a:gd name="T48" fmla="*/ 141 w 399"/>
                  <a:gd name="T49" fmla="*/ 33 h 196"/>
                  <a:gd name="T50" fmla="*/ 149 w 399"/>
                  <a:gd name="T51" fmla="*/ 27 h 196"/>
                  <a:gd name="T52" fmla="*/ 164 w 399"/>
                  <a:gd name="T53" fmla="*/ 27 h 196"/>
                  <a:gd name="T54" fmla="*/ 171 w 399"/>
                  <a:gd name="T55" fmla="*/ 33 h 196"/>
                  <a:gd name="T56" fmla="*/ 178 w 399"/>
                  <a:gd name="T57" fmla="*/ 39 h 196"/>
                  <a:gd name="T58" fmla="*/ 182 w 399"/>
                  <a:gd name="T59" fmla="*/ 46 h 196"/>
                  <a:gd name="T60" fmla="*/ 186 w 399"/>
                  <a:gd name="T61" fmla="*/ 52 h 196"/>
                  <a:gd name="T62" fmla="*/ 193 w 399"/>
                  <a:gd name="T63" fmla="*/ 59 h 196"/>
                  <a:gd name="T64" fmla="*/ 204 w 399"/>
                  <a:gd name="T65" fmla="*/ 63 h 196"/>
                  <a:gd name="T66" fmla="*/ 219 w 399"/>
                  <a:gd name="T67" fmla="*/ 59 h 196"/>
                  <a:gd name="T68" fmla="*/ 223 w 399"/>
                  <a:gd name="T69" fmla="*/ 52 h 196"/>
                  <a:gd name="T70" fmla="*/ 231 w 399"/>
                  <a:gd name="T71" fmla="*/ 46 h 196"/>
                  <a:gd name="T72" fmla="*/ 234 w 399"/>
                  <a:gd name="T73" fmla="*/ 39 h 196"/>
                  <a:gd name="T74" fmla="*/ 242 w 399"/>
                  <a:gd name="T75" fmla="*/ 33 h 196"/>
                  <a:gd name="T76" fmla="*/ 249 w 399"/>
                  <a:gd name="T77" fmla="*/ 27 h 196"/>
                  <a:gd name="T78" fmla="*/ 264 w 399"/>
                  <a:gd name="T79" fmla="*/ 28 h 196"/>
                  <a:gd name="T80" fmla="*/ 271 w 399"/>
                  <a:gd name="T81" fmla="*/ 35 h 196"/>
                  <a:gd name="T82" fmla="*/ 275 w 399"/>
                  <a:gd name="T83" fmla="*/ 41 h 196"/>
                  <a:gd name="T84" fmla="*/ 283 w 399"/>
                  <a:gd name="T85" fmla="*/ 49 h 196"/>
                  <a:gd name="T86" fmla="*/ 286 w 399"/>
                  <a:gd name="T87" fmla="*/ 59 h 196"/>
                  <a:gd name="T88" fmla="*/ 290 w 399"/>
                  <a:gd name="T89" fmla="*/ 66 h 196"/>
                  <a:gd name="T90" fmla="*/ 297 w 399"/>
                  <a:gd name="T91" fmla="*/ 73 h 196"/>
                  <a:gd name="T92" fmla="*/ 301 w 399"/>
                  <a:gd name="T93" fmla="*/ 79 h 196"/>
                  <a:gd name="T94" fmla="*/ 312 w 399"/>
                  <a:gd name="T95" fmla="*/ 86 h 196"/>
                  <a:gd name="T96" fmla="*/ 320 w 399"/>
                  <a:gd name="T97" fmla="*/ 79 h 196"/>
                  <a:gd name="T98" fmla="*/ 323 w 399"/>
                  <a:gd name="T99" fmla="*/ 73 h 196"/>
                  <a:gd name="T100" fmla="*/ 331 w 399"/>
                  <a:gd name="T101" fmla="*/ 63 h 196"/>
                  <a:gd name="T102" fmla="*/ 335 w 399"/>
                  <a:gd name="T103" fmla="*/ 54 h 196"/>
                  <a:gd name="T104" fmla="*/ 338 w 399"/>
                  <a:gd name="T105" fmla="*/ 41 h 196"/>
                  <a:gd name="T106" fmla="*/ 346 w 399"/>
                  <a:gd name="T107" fmla="*/ 30 h 196"/>
                  <a:gd name="T108" fmla="*/ 349 w 399"/>
                  <a:gd name="T109" fmla="*/ 19 h 196"/>
                  <a:gd name="T110" fmla="*/ 353 w 399"/>
                  <a:gd name="T111" fmla="*/ 9 h 196"/>
                  <a:gd name="T112" fmla="*/ 361 w 399"/>
                  <a:gd name="T113" fmla="*/ 3 h 196"/>
                  <a:gd name="T114" fmla="*/ 372 w 399"/>
                  <a:gd name="T115" fmla="*/ 3 h 196"/>
                  <a:gd name="T116" fmla="*/ 375 w 399"/>
                  <a:gd name="T117" fmla="*/ 11 h 196"/>
                  <a:gd name="T118" fmla="*/ 379 w 399"/>
                  <a:gd name="T119" fmla="*/ 24 h 196"/>
                  <a:gd name="T120" fmla="*/ 387 w 399"/>
                  <a:gd name="T121" fmla="*/ 43 h 196"/>
                  <a:gd name="T122" fmla="*/ 390 w 399"/>
                  <a:gd name="T123" fmla="*/ 65 h 196"/>
                  <a:gd name="T124" fmla="*/ 394 w 399"/>
                  <a:gd name="T125" fmla="*/ 9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99" h="196">
                    <a:moveTo>
                      <a:pt x="0" y="195"/>
                    </a:moveTo>
                    <a:lnTo>
                      <a:pt x="4" y="186"/>
                    </a:lnTo>
                    <a:lnTo>
                      <a:pt x="4" y="178"/>
                    </a:lnTo>
                    <a:lnTo>
                      <a:pt x="4" y="168"/>
                    </a:lnTo>
                    <a:lnTo>
                      <a:pt x="8" y="160"/>
                    </a:lnTo>
                    <a:lnTo>
                      <a:pt x="8" y="151"/>
                    </a:lnTo>
                    <a:lnTo>
                      <a:pt x="8" y="143"/>
                    </a:lnTo>
                    <a:lnTo>
                      <a:pt x="11" y="135"/>
                    </a:lnTo>
                    <a:lnTo>
                      <a:pt x="11" y="127"/>
                    </a:lnTo>
                    <a:lnTo>
                      <a:pt x="11" y="119"/>
                    </a:lnTo>
                    <a:lnTo>
                      <a:pt x="15" y="111"/>
                    </a:lnTo>
                    <a:lnTo>
                      <a:pt x="15" y="103"/>
                    </a:lnTo>
                    <a:lnTo>
                      <a:pt x="15" y="95"/>
                    </a:lnTo>
                    <a:lnTo>
                      <a:pt x="19" y="87"/>
                    </a:lnTo>
                    <a:lnTo>
                      <a:pt x="19" y="81"/>
                    </a:lnTo>
                    <a:lnTo>
                      <a:pt x="19" y="74"/>
                    </a:lnTo>
                    <a:lnTo>
                      <a:pt x="22" y="68"/>
                    </a:lnTo>
                    <a:lnTo>
                      <a:pt x="22" y="62"/>
                    </a:lnTo>
                    <a:lnTo>
                      <a:pt x="22" y="55"/>
                    </a:lnTo>
                    <a:lnTo>
                      <a:pt x="26" y="49"/>
                    </a:lnTo>
                    <a:lnTo>
                      <a:pt x="26" y="44"/>
                    </a:lnTo>
                    <a:lnTo>
                      <a:pt x="26" y="38"/>
                    </a:lnTo>
                    <a:lnTo>
                      <a:pt x="30" y="33"/>
                    </a:lnTo>
                    <a:lnTo>
                      <a:pt x="30" y="30"/>
                    </a:lnTo>
                    <a:lnTo>
                      <a:pt x="30" y="25"/>
                    </a:lnTo>
                    <a:lnTo>
                      <a:pt x="34" y="20"/>
                    </a:lnTo>
                    <a:lnTo>
                      <a:pt x="34" y="17"/>
                    </a:lnTo>
                    <a:lnTo>
                      <a:pt x="34" y="14"/>
                    </a:lnTo>
                    <a:lnTo>
                      <a:pt x="37" y="11"/>
                    </a:lnTo>
                    <a:lnTo>
                      <a:pt x="37" y="9"/>
                    </a:lnTo>
                    <a:lnTo>
                      <a:pt x="37" y="6"/>
                    </a:lnTo>
                    <a:lnTo>
                      <a:pt x="41" y="4"/>
                    </a:lnTo>
                    <a:lnTo>
                      <a:pt x="41" y="3"/>
                    </a:lnTo>
                    <a:lnTo>
                      <a:pt x="45" y="1"/>
                    </a:lnTo>
                    <a:lnTo>
                      <a:pt x="48" y="0"/>
                    </a:lnTo>
                    <a:lnTo>
                      <a:pt x="52" y="1"/>
                    </a:lnTo>
                    <a:lnTo>
                      <a:pt x="52" y="3"/>
                    </a:lnTo>
                    <a:lnTo>
                      <a:pt x="56" y="4"/>
                    </a:lnTo>
                    <a:lnTo>
                      <a:pt x="56" y="6"/>
                    </a:lnTo>
                    <a:lnTo>
                      <a:pt x="56" y="8"/>
                    </a:lnTo>
                    <a:lnTo>
                      <a:pt x="60" y="11"/>
                    </a:lnTo>
                    <a:lnTo>
                      <a:pt x="60" y="12"/>
                    </a:lnTo>
                    <a:lnTo>
                      <a:pt x="60" y="16"/>
                    </a:lnTo>
                    <a:lnTo>
                      <a:pt x="63" y="17"/>
                    </a:lnTo>
                    <a:lnTo>
                      <a:pt x="63" y="20"/>
                    </a:lnTo>
                    <a:lnTo>
                      <a:pt x="63" y="22"/>
                    </a:lnTo>
                    <a:lnTo>
                      <a:pt x="63" y="25"/>
                    </a:lnTo>
                    <a:lnTo>
                      <a:pt x="67" y="28"/>
                    </a:lnTo>
                    <a:lnTo>
                      <a:pt x="67" y="31"/>
                    </a:lnTo>
                    <a:lnTo>
                      <a:pt x="67" y="35"/>
                    </a:lnTo>
                    <a:lnTo>
                      <a:pt x="71" y="38"/>
                    </a:lnTo>
                    <a:lnTo>
                      <a:pt x="71" y="39"/>
                    </a:lnTo>
                    <a:lnTo>
                      <a:pt x="71" y="43"/>
                    </a:lnTo>
                    <a:lnTo>
                      <a:pt x="74" y="46"/>
                    </a:lnTo>
                    <a:lnTo>
                      <a:pt x="74" y="49"/>
                    </a:lnTo>
                    <a:lnTo>
                      <a:pt x="74" y="52"/>
                    </a:lnTo>
                    <a:lnTo>
                      <a:pt x="78" y="55"/>
                    </a:lnTo>
                    <a:lnTo>
                      <a:pt x="78" y="57"/>
                    </a:lnTo>
                    <a:lnTo>
                      <a:pt x="78" y="60"/>
                    </a:lnTo>
                    <a:lnTo>
                      <a:pt x="82" y="63"/>
                    </a:lnTo>
                    <a:lnTo>
                      <a:pt x="82" y="65"/>
                    </a:lnTo>
                    <a:lnTo>
                      <a:pt x="82" y="68"/>
                    </a:lnTo>
                    <a:lnTo>
                      <a:pt x="86" y="70"/>
                    </a:lnTo>
                    <a:lnTo>
                      <a:pt x="86" y="73"/>
                    </a:lnTo>
                    <a:lnTo>
                      <a:pt x="86" y="74"/>
                    </a:lnTo>
                    <a:lnTo>
                      <a:pt x="89" y="76"/>
                    </a:lnTo>
                    <a:lnTo>
                      <a:pt x="89" y="78"/>
                    </a:lnTo>
                    <a:lnTo>
                      <a:pt x="89" y="79"/>
                    </a:lnTo>
                    <a:lnTo>
                      <a:pt x="93" y="81"/>
                    </a:lnTo>
                    <a:lnTo>
                      <a:pt x="93" y="82"/>
                    </a:lnTo>
                    <a:lnTo>
                      <a:pt x="97" y="84"/>
                    </a:lnTo>
                    <a:lnTo>
                      <a:pt x="100" y="86"/>
                    </a:lnTo>
                    <a:lnTo>
                      <a:pt x="104" y="84"/>
                    </a:lnTo>
                    <a:lnTo>
                      <a:pt x="108" y="82"/>
                    </a:lnTo>
                    <a:lnTo>
                      <a:pt x="108" y="81"/>
                    </a:lnTo>
                    <a:lnTo>
                      <a:pt x="112" y="79"/>
                    </a:lnTo>
                    <a:lnTo>
                      <a:pt x="112" y="78"/>
                    </a:lnTo>
                    <a:lnTo>
                      <a:pt x="115" y="76"/>
                    </a:lnTo>
                    <a:lnTo>
                      <a:pt x="115" y="74"/>
                    </a:lnTo>
                    <a:lnTo>
                      <a:pt x="115" y="73"/>
                    </a:lnTo>
                    <a:lnTo>
                      <a:pt x="119" y="71"/>
                    </a:lnTo>
                    <a:lnTo>
                      <a:pt x="119" y="68"/>
                    </a:lnTo>
                    <a:lnTo>
                      <a:pt x="119" y="66"/>
                    </a:lnTo>
                    <a:lnTo>
                      <a:pt x="123" y="65"/>
                    </a:lnTo>
                    <a:lnTo>
                      <a:pt x="123" y="63"/>
                    </a:lnTo>
                    <a:lnTo>
                      <a:pt x="123" y="60"/>
                    </a:lnTo>
                    <a:lnTo>
                      <a:pt x="126" y="59"/>
                    </a:lnTo>
                    <a:lnTo>
                      <a:pt x="126" y="57"/>
                    </a:lnTo>
                    <a:lnTo>
                      <a:pt x="126" y="54"/>
                    </a:lnTo>
                    <a:lnTo>
                      <a:pt x="130" y="52"/>
                    </a:lnTo>
                    <a:lnTo>
                      <a:pt x="130" y="51"/>
                    </a:lnTo>
                    <a:lnTo>
                      <a:pt x="130" y="47"/>
                    </a:lnTo>
                    <a:lnTo>
                      <a:pt x="134" y="46"/>
                    </a:lnTo>
                    <a:lnTo>
                      <a:pt x="134" y="44"/>
                    </a:lnTo>
                    <a:lnTo>
                      <a:pt x="134" y="43"/>
                    </a:lnTo>
                    <a:lnTo>
                      <a:pt x="138" y="39"/>
                    </a:lnTo>
                    <a:lnTo>
                      <a:pt x="138" y="38"/>
                    </a:lnTo>
                    <a:lnTo>
                      <a:pt x="138" y="36"/>
                    </a:lnTo>
                    <a:lnTo>
                      <a:pt x="141" y="35"/>
                    </a:lnTo>
                    <a:lnTo>
                      <a:pt x="141" y="33"/>
                    </a:lnTo>
                    <a:lnTo>
                      <a:pt x="145" y="31"/>
                    </a:lnTo>
                    <a:lnTo>
                      <a:pt x="145" y="30"/>
                    </a:lnTo>
                    <a:lnTo>
                      <a:pt x="149" y="28"/>
                    </a:lnTo>
                    <a:lnTo>
                      <a:pt x="149" y="27"/>
                    </a:lnTo>
                    <a:lnTo>
                      <a:pt x="152" y="25"/>
                    </a:lnTo>
                    <a:lnTo>
                      <a:pt x="156" y="25"/>
                    </a:lnTo>
                    <a:lnTo>
                      <a:pt x="160" y="25"/>
                    </a:lnTo>
                    <a:lnTo>
                      <a:pt x="164" y="27"/>
                    </a:lnTo>
                    <a:lnTo>
                      <a:pt x="167" y="28"/>
                    </a:lnTo>
                    <a:lnTo>
                      <a:pt x="167" y="30"/>
                    </a:lnTo>
                    <a:lnTo>
                      <a:pt x="171" y="31"/>
                    </a:lnTo>
                    <a:lnTo>
                      <a:pt x="171" y="33"/>
                    </a:lnTo>
                    <a:lnTo>
                      <a:pt x="171" y="35"/>
                    </a:lnTo>
                    <a:lnTo>
                      <a:pt x="175" y="36"/>
                    </a:lnTo>
                    <a:lnTo>
                      <a:pt x="175" y="38"/>
                    </a:lnTo>
                    <a:lnTo>
                      <a:pt x="178" y="39"/>
                    </a:lnTo>
                    <a:lnTo>
                      <a:pt x="178" y="41"/>
                    </a:lnTo>
                    <a:lnTo>
                      <a:pt x="178" y="43"/>
                    </a:lnTo>
                    <a:lnTo>
                      <a:pt x="182" y="44"/>
                    </a:lnTo>
                    <a:lnTo>
                      <a:pt x="182" y="46"/>
                    </a:lnTo>
                    <a:lnTo>
                      <a:pt x="182" y="47"/>
                    </a:lnTo>
                    <a:lnTo>
                      <a:pt x="186" y="49"/>
                    </a:lnTo>
                    <a:lnTo>
                      <a:pt x="186" y="51"/>
                    </a:lnTo>
                    <a:lnTo>
                      <a:pt x="186" y="52"/>
                    </a:lnTo>
                    <a:lnTo>
                      <a:pt x="190" y="54"/>
                    </a:lnTo>
                    <a:lnTo>
                      <a:pt x="190" y="55"/>
                    </a:lnTo>
                    <a:lnTo>
                      <a:pt x="190" y="57"/>
                    </a:lnTo>
                    <a:lnTo>
                      <a:pt x="193" y="59"/>
                    </a:lnTo>
                    <a:lnTo>
                      <a:pt x="197" y="60"/>
                    </a:lnTo>
                    <a:lnTo>
                      <a:pt x="197" y="62"/>
                    </a:lnTo>
                    <a:lnTo>
                      <a:pt x="201" y="63"/>
                    </a:lnTo>
                    <a:lnTo>
                      <a:pt x="204" y="63"/>
                    </a:lnTo>
                    <a:lnTo>
                      <a:pt x="208" y="63"/>
                    </a:lnTo>
                    <a:lnTo>
                      <a:pt x="212" y="62"/>
                    </a:lnTo>
                    <a:lnTo>
                      <a:pt x="216" y="60"/>
                    </a:lnTo>
                    <a:lnTo>
                      <a:pt x="219" y="59"/>
                    </a:lnTo>
                    <a:lnTo>
                      <a:pt x="219" y="57"/>
                    </a:lnTo>
                    <a:lnTo>
                      <a:pt x="223" y="55"/>
                    </a:lnTo>
                    <a:lnTo>
                      <a:pt x="223" y="54"/>
                    </a:lnTo>
                    <a:lnTo>
                      <a:pt x="223" y="52"/>
                    </a:lnTo>
                    <a:lnTo>
                      <a:pt x="227" y="51"/>
                    </a:lnTo>
                    <a:lnTo>
                      <a:pt x="227" y="49"/>
                    </a:lnTo>
                    <a:lnTo>
                      <a:pt x="227" y="47"/>
                    </a:lnTo>
                    <a:lnTo>
                      <a:pt x="231" y="46"/>
                    </a:lnTo>
                    <a:lnTo>
                      <a:pt x="231" y="44"/>
                    </a:lnTo>
                    <a:lnTo>
                      <a:pt x="231" y="43"/>
                    </a:lnTo>
                    <a:lnTo>
                      <a:pt x="234" y="41"/>
                    </a:lnTo>
                    <a:lnTo>
                      <a:pt x="234" y="39"/>
                    </a:lnTo>
                    <a:lnTo>
                      <a:pt x="238" y="38"/>
                    </a:lnTo>
                    <a:lnTo>
                      <a:pt x="238" y="36"/>
                    </a:lnTo>
                    <a:lnTo>
                      <a:pt x="238" y="35"/>
                    </a:lnTo>
                    <a:lnTo>
                      <a:pt x="242" y="33"/>
                    </a:lnTo>
                    <a:lnTo>
                      <a:pt x="242" y="31"/>
                    </a:lnTo>
                    <a:lnTo>
                      <a:pt x="245" y="30"/>
                    </a:lnTo>
                    <a:lnTo>
                      <a:pt x="245" y="28"/>
                    </a:lnTo>
                    <a:lnTo>
                      <a:pt x="249" y="27"/>
                    </a:lnTo>
                    <a:lnTo>
                      <a:pt x="253" y="25"/>
                    </a:lnTo>
                    <a:lnTo>
                      <a:pt x="257" y="25"/>
                    </a:lnTo>
                    <a:lnTo>
                      <a:pt x="260" y="27"/>
                    </a:lnTo>
                    <a:lnTo>
                      <a:pt x="264" y="28"/>
                    </a:lnTo>
                    <a:lnTo>
                      <a:pt x="268" y="30"/>
                    </a:lnTo>
                    <a:lnTo>
                      <a:pt x="268" y="31"/>
                    </a:lnTo>
                    <a:lnTo>
                      <a:pt x="271" y="33"/>
                    </a:lnTo>
                    <a:lnTo>
                      <a:pt x="271" y="35"/>
                    </a:lnTo>
                    <a:lnTo>
                      <a:pt x="271" y="36"/>
                    </a:lnTo>
                    <a:lnTo>
                      <a:pt x="275" y="38"/>
                    </a:lnTo>
                    <a:lnTo>
                      <a:pt x="275" y="39"/>
                    </a:lnTo>
                    <a:lnTo>
                      <a:pt x="275" y="41"/>
                    </a:lnTo>
                    <a:lnTo>
                      <a:pt x="279" y="43"/>
                    </a:lnTo>
                    <a:lnTo>
                      <a:pt x="279" y="46"/>
                    </a:lnTo>
                    <a:lnTo>
                      <a:pt x="279" y="47"/>
                    </a:lnTo>
                    <a:lnTo>
                      <a:pt x="283" y="49"/>
                    </a:lnTo>
                    <a:lnTo>
                      <a:pt x="283" y="52"/>
                    </a:lnTo>
                    <a:lnTo>
                      <a:pt x="283" y="54"/>
                    </a:lnTo>
                    <a:lnTo>
                      <a:pt x="286" y="55"/>
                    </a:lnTo>
                    <a:lnTo>
                      <a:pt x="286" y="59"/>
                    </a:lnTo>
                    <a:lnTo>
                      <a:pt x="286" y="60"/>
                    </a:lnTo>
                    <a:lnTo>
                      <a:pt x="290" y="62"/>
                    </a:lnTo>
                    <a:lnTo>
                      <a:pt x="290" y="63"/>
                    </a:lnTo>
                    <a:lnTo>
                      <a:pt x="290" y="66"/>
                    </a:lnTo>
                    <a:lnTo>
                      <a:pt x="294" y="68"/>
                    </a:lnTo>
                    <a:lnTo>
                      <a:pt x="294" y="70"/>
                    </a:lnTo>
                    <a:lnTo>
                      <a:pt x="294" y="71"/>
                    </a:lnTo>
                    <a:lnTo>
                      <a:pt x="297" y="73"/>
                    </a:lnTo>
                    <a:lnTo>
                      <a:pt x="297" y="74"/>
                    </a:lnTo>
                    <a:lnTo>
                      <a:pt x="297" y="76"/>
                    </a:lnTo>
                    <a:lnTo>
                      <a:pt x="301" y="78"/>
                    </a:lnTo>
                    <a:lnTo>
                      <a:pt x="301" y="79"/>
                    </a:lnTo>
                    <a:lnTo>
                      <a:pt x="301" y="81"/>
                    </a:lnTo>
                    <a:lnTo>
                      <a:pt x="305" y="82"/>
                    </a:lnTo>
                    <a:lnTo>
                      <a:pt x="309" y="84"/>
                    </a:lnTo>
                    <a:lnTo>
                      <a:pt x="312" y="86"/>
                    </a:lnTo>
                    <a:lnTo>
                      <a:pt x="316" y="84"/>
                    </a:lnTo>
                    <a:lnTo>
                      <a:pt x="316" y="82"/>
                    </a:lnTo>
                    <a:lnTo>
                      <a:pt x="320" y="81"/>
                    </a:lnTo>
                    <a:lnTo>
                      <a:pt x="320" y="79"/>
                    </a:lnTo>
                    <a:lnTo>
                      <a:pt x="320" y="78"/>
                    </a:lnTo>
                    <a:lnTo>
                      <a:pt x="323" y="76"/>
                    </a:lnTo>
                    <a:lnTo>
                      <a:pt x="323" y="74"/>
                    </a:lnTo>
                    <a:lnTo>
                      <a:pt x="323" y="73"/>
                    </a:lnTo>
                    <a:lnTo>
                      <a:pt x="327" y="71"/>
                    </a:lnTo>
                    <a:lnTo>
                      <a:pt x="327" y="68"/>
                    </a:lnTo>
                    <a:lnTo>
                      <a:pt x="327" y="66"/>
                    </a:lnTo>
                    <a:lnTo>
                      <a:pt x="331" y="63"/>
                    </a:lnTo>
                    <a:lnTo>
                      <a:pt x="331" y="62"/>
                    </a:lnTo>
                    <a:lnTo>
                      <a:pt x="331" y="59"/>
                    </a:lnTo>
                    <a:lnTo>
                      <a:pt x="335" y="55"/>
                    </a:lnTo>
                    <a:lnTo>
                      <a:pt x="335" y="54"/>
                    </a:lnTo>
                    <a:lnTo>
                      <a:pt x="335" y="51"/>
                    </a:lnTo>
                    <a:lnTo>
                      <a:pt x="338" y="47"/>
                    </a:lnTo>
                    <a:lnTo>
                      <a:pt x="338" y="44"/>
                    </a:lnTo>
                    <a:lnTo>
                      <a:pt x="338" y="41"/>
                    </a:lnTo>
                    <a:lnTo>
                      <a:pt x="342" y="38"/>
                    </a:lnTo>
                    <a:lnTo>
                      <a:pt x="342" y="35"/>
                    </a:lnTo>
                    <a:lnTo>
                      <a:pt x="342" y="31"/>
                    </a:lnTo>
                    <a:lnTo>
                      <a:pt x="346" y="30"/>
                    </a:lnTo>
                    <a:lnTo>
                      <a:pt x="346" y="27"/>
                    </a:lnTo>
                    <a:lnTo>
                      <a:pt x="346" y="24"/>
                    </a:lnTo>
                    <a:lnTo>
                      <a:pt x="349" y="20"/>
                    </a:lnTo>
                    <a:lnTo>
                      <a:pt x="349" y="19"/>
                    </a:lnTo>
                    <a:lnTo>
                      <a:pt x="349" y="16"/>
                    </a:lnTo>
                    <a:lnTo>
                      <a:pt x="353" y="14"/>
                    </a:lnTo>
                    <a:lnTo>
                      <a:pt x="353" y="11"/>
                    </a:lnTo>
                    <a:lnTo>
                      <a:pt x="353" y="9"/>
                    </a:lnTo>
                    <a:lnTo>
                      <a:pt x="357" y="8"/>
                    </a:lnTo>
                    <a:lnTo>
                      <a:pt x="357" y="6"/>
                    </a:lnTo>
                    <a:lnTo>
                      <a:pt x="357" y="4"/>
                    </a:lnTo>
                    <a:lnTo>
                      <a:pt x="361" y="3"/>
                    </a:lnTo>
                    <a:lnTo>
                      <a:pt x="361" y="1"/>
                    </a:lnTo>
                    <a:lnTo>
                      <a:pt x="364" y="0"/>
                    </a:lnTo>
                    <a:lnTo>
                      <a:pt x="368" y="1"/>
                    </a:lnTo>
                    <a:lnTo>
                      <a:pt x="372" y="3"/>
                    </a:lnTo>
                    <a:lnTo>
                      <a:pt x="372" y="4"/>
                    </a:lnTo>
                    <a:lnTo>
                      <a:pt x="372" y="6"/>
                    </a:lnTo>
                    <a:lnTo>
                      <a:pt x="375" y="8"/>
                    </a:lnTo>
                    <a:lnTo>
                      <a:pt x="375" y="11"/>
                    </a:lnTo>
                    <a:lnTo>
                      <a:pt x="375" y="14"/>
                    </a:lnTo>
                    <a:lnTo>
                      <a:pt x="379" y="17"/>
                    </a:lnTo>
                    <a:lnTo>
                      <a:pt x="379" y="20"/>
                    </a:lnTo>
                    <a:lnTo>
                      <a:pt x="379" y="24"/>
                    </a:lnTo>
                    <a:lnTo>
                      <a:pt x="383" y="28"/>
                    </a:lnTo>
                    <a:lnTo>
                      <a:pt x="383" y="31"/>
                    </a:lnTo>
                    <a:lnTo>
                      <a:pt x="383" y="36"/>
                    </a:lnTo>
                    <a:lnTo>
                      <a:pt x="387" y="43"/>
                    </a:lnTo>
                    <a:lnTo>
                      <a:pt x="387" y="47"/>
                    </a:lnTo>
                    <a:lnTo>
                      <a:pt x="387" y="54"/>
                    </a:lnTo>
                    <a:lnTo>
                      <a:pt x="390" y="59"/>
                    </a:lnTo>
                    <a:lnTo>
                      <a:pt x="390" y="65"/>
                    </a:lnTo>
                    <a:lnTo>
                      <a:pt x="390" y="71"/>
                    </a:lnTo>
                    <a:lnTo>
                      <a:pt x="394" y="78"/>
                    </a:lnTo>
                    <a:lnTo>
                      <a:pt x="394" y="86"/>
                    </a:lnTo>
                    <a:lnTo>
                      <a:pt x="394" y="92"/>
                    </a:lnTo>
                    <a:lnTo>
                      <a:pt x="398" y="100"/>
                    </a:lnTo>
                    <a:lnTo>
                      <a:pt x="398" y="108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5" name="Freeform 19"/>
              <p:cNvSpPr>
                <a:spLocks/>
              </p:cNvSpPr>
              <p:nvPr/>
            </p:nvSpPr>
            <p:spPr bwMode="auto">
              <a:xfrm>
                <a:off x="3032" y="3732"/>
                <a:ext cx="398" cy="282"/>
              </a:xfrm>
              <a:custGeom>
                <a:avLst/>
                <a:gdLst>
                  <a:gd name="T0" fmla="*/ 3 w 398"/>
                  <a:gd name="T1" fmla="*/ 24 h 282"/>
                  <a:gd name="T2" fmla="*/ 7 w 398"/>
                  <a:gd name="T3" fmla="*/ 57 h 282"/>
                  <a:gd name="T4" fmla="*/ 15 w 398"/>
                  <a:gd name="T5" fmla="*/ 92 h 282"/>
                  <a:gd name="T6" fmla="*/ 18 w 398"/>
                  <a:gd name="T7" fmla="*/ 127 h 282"/>
                  <a:gd name="T8" fmla="*/ 22 w 398"/>
                  <a:gd name="T9" fmla="*/ 161 h 282"/>
                  <a:gd name="T10" fmla="*/ 29 w 398"/>
                  <a:gd name="T11" fmla="*/ 191 h 282"/>
                  <a:gd name="T12" fmla="*/ 33 w 398"/>
                  <a:gd name="T13" fmla="*/ 218 h 282"/>
                  <a:gd name="T14" fmla="*/ 37 w 398"/>
                  <a:gd name="T15" fmla="*/ 240 h 282"/>
                  <a:gd name="T16" fmla="*/ 41 w 398"/>
                  <a:gd name="T17" fmla="*/ 259 h 282"/>
                  <a:gd name="T18" fmla="*/ 48 w 398"/>
                  <a:gd name="T19" fmla="*/ 272 h 282"/>
                  <a:gd name="T20" fmla="*/ 52 w 398"/>
                  <a:gd name="T21" fmla="*/ 280 h 282"/>
                  <a:gd name="T22" fmla="*/ 63 w 398"/>
                  <a:gd name="T23" fmla="*/ 277 h 282"/>
                  <a:gd name="T24" fmla="*/ 70 w 398"/>
                  <a:gd name="T25" fmla="*/ 269 h 282"/>
                  <a:gd name="T26" fmla="*/ 74 w 398"/>
                  <a:gd name="T27" fmla="*/ 259 h 282"/>
                  <a:gd name="T28" fmla="*/ 78 w 398"/>
                  <a:gd name="T29" fmla="*/ 248 h 282"/>
                  <a:gd name="T30" fmla="*/ 85 w 398"/>
                  <a:gd name="T31" fmla="*/ 235 h 282"/>
                  <a:gd name="T32" fmla="*/ 89 w 398"/>
                  <a:gd name="T33" fmla="*/ 224 h 282"/>
                  <a:gd name="T34" fmla="*/ 93 w 398"/>
                  <a:gd name="T35" fmla="*/ 215 h 282"/>
                  <a:gd name="T36" fmla="*/ 100 w 398"/>
                  <a:gd name="T37" fmla="*/ 205 h 282"/>
                  <a:gd name="T38" fmla="*/ 107 w 398"/>
                  <a:gd name="T39" fmla="*/ 199 h 282"/>
                  <a:gd name="T40" fmla="*/ 119 w 398"/>
                  <a:gd name="T41" fmla="*/ 199 h 282"/>
                  <a:gd name="T42" fmla="*/ 126 w 398"/>
                  <a:gd name="T43" fmla="*/ 205 h 282"/>
                  <a:gd name="T44" fmla="*/ 130 w 398"/>
                  <a:gd name="T45" fmla="*/ 211 h 282"/>
                  <a:gd name="T46" fmla="*/ 133 w 398"/>
                  <a:gd name="T47" fmla="*/ 219 h 282"/>
                  <a:gd name="T48" fmla="*/ 141 w 398"/>
                  <a:gd name="T49" fmla="*/ 229 h 282"/>
                  <a:gd name="T50" fmla="*/ 145 w 398"/>
                  <a:gd name="T51" fmla="*/ 237 h 282"/>
                  <a:gd name="T52" fmla="*/ 148 w 398"/>
                  <a:gd name="T53" fmla="*/ 243 h 282"/>
                  <a:gd name="T54" fmla="*/ 156 w 398"/>
                  <a:gd name="T55" fmla="*/ 250 h 282"/>
                  <a:gd name="T56" fmla="*/ 163 w 398"/>
                  <a:gd name="T57" fmla="*/ 256 h 282"/>
                  <a:gd name="T58" fmla="*/ 178 w 398"/>
                  <a:gd name="T59" fmla="*/ 251 h 282"/>
                  <a:gd name="T60" fmla="*/ 185 w 398"/>
                  <a:gd name="T61" fmla="*/ 245 h 282"/>
                  <a:gd name="T62" fmla="*/ 189 w 398"/>
                  <a:gd name="T63" fmla="*/ 239 h 282"/>
                  <a:gd name="T64" fmla="*/ 197 w 398"/>
                  <a:gd name="T65" fmla="*/ 232 h 282"/>
                  <a:gd name="T66" fmla="*/ 200 w 398"/>
                  <a:gd name="T67" fmla="*/ 226 h 282"/>
                  <a:gd name="T68" fmla="*/ 211 w 398"/>
                  <a:gd name="T69" fmla="*/ 219 h 282"/>
                  <a:gd name="T70" fmla="*/ 226 w 398"/>
                  <a:gd name="T71" fmla="*/ 221 h 282"/>
                  <a:gd name="T72" fmla="*/ 234 w 398"/>
                  <a:gd name="T73" fmla="*/ 227 h 282"/>
                  <a:gd name="T74" fmla="*/ 241 w 398"/>
                  <a:gd name="T75" fmla="*/ 234 h 282"/>
                  <a:gd name="T76" fmla="*/ 245 w 398"/>
                  <a:gd name="T77" fmla="*/ 240 h 282"/>
                  <a:gd name="T78" fmla="*/ 249 w 398"/>
                  <a:gd name="T79" fmla="*/ 246 h 282"/>
                  <a:gd name="T80" fmla="*/ 256 w 398"/>
                  <a:gd name="T81" fmla="*/ 253 h 282"/>
                  <a:gd name="T82" fmla="*/ 271 w 398"/>
                  <a:gd name="T83" fmla="*/ 256 h 282"/>
                  <a:gd name="T84" fmla="*/ 278 w 398"/>
                  <a:gd name="T85" fmla="*/ 250 h 282"/>
                  <a:gd name="T86" fmla="*/ 282 w 398"/>
                  <a:gd name="T87" fmla="*/ 243 h 282"/>
                  <a:gd name="T88" fmla="*/ 289 w 398"/>
                  <a:gd name="T89" fmla="*/ 237 h 282"/>
                  <a:gd name="T90" fmla="*/ 293 w 398"/>
                  <a:gd name="T91" fmla="*/ 229 h 282"/>
                  <a:gd name="T92" fmla="*/ 297 w 398"/>
                  <a:gd name="T93" fmla="*/ 219 h 282"/>
                  <a:gd name="T94" fmla="*/ 304 w 398"/>
                  <a:gd name="T95" fmla="*/ 211 h 282"/>
                  <a:gd name="T96" fmla="*/ 308 w 398"/>
                  <a:gd name="T97" fmla="*/ 205 h 282"/>
                  <a:gd name="T98" fmla="*/ 315 w 398"/>
                  <a:gd name="T99" fmla="*/ 199 h 282"/>
                  <a:gd name="T100" fmla="*/ 327 w 398"/>
                  <a:gd name="T101" fmla="*/ 199 h 282"/>
                  <a:gd name="T102" fmla="*/ 334 w 398"/>
                  <a:gd name="T103" fmla="*/ 205 h 282"/>
                  <a:gd name="T104" fmla="*/ 338 w 398"/>
                  <a:gd name="T105" fmla="*/ 215 h 282"/>
                  <a:gd name="T106" fmla="*/ 345 w 398"/>
                  <a:gd name="T107" fmla="*/ 224 h 282"/>
                  <a:gd name="T108" fmla="*/ 349 w 398"/>
                  <a:gd name="T109" fmla="*/ 235 h 282"/>
                  <a:gd name="T110" fmla="*/ 353 w 398"/>
                  <a:gd name="T111" fmla="*/ 248 h 282"/>
                  <a:gd name="T112" fmla="*/ 360 w 398"/>
                  <a:gd name="T113" fmla="*/ 259 h 282"/>
                  <a:gd name="T114" fmla="*/ 364 w 398"/>
                  <a:gd name="T115" fmla="*/ 269 h 282"/>
                  <a:gd name="T116" fmla="*/ 367 w 398"/>
                  <a:gd name="T117" fmla="*/ 277 h 282"/>
                  <a:gd name="T118" fmla="*/ 379 w 398"/>
                  <a:gd name="T119" fmla="*/ 280 h 282"/>
                  <a:gd name="T120" fmla="*/ 386 w 398"/>
                  <a:gd name="T121" fmla="*/ 272 h 282"/>
                  <a:gd name="T122" fmla="*/ 390 w 398"/>
                  <a:gd name="T123" fmla="*/ 259 h 282"/>
                  <a:gd name="T124" fmla="*/ 397 w 398"/>
                  <a:gd name="T125" fmla="*/ 240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98" h="282">
                    <a:moveTo>
                      <a:pt x="0" y="0"/>
                    </a:moveTo>
                    <a:lnTo>
                      <a:pt x="0" y="8"/>
                    </a:lnTo>
                    <a:lnTo>
                      <a:pt x="3" y="16"/>
                    </a:lnTo>
                    <a:lnTo>
                      <a:pt x="3" y="24"/>
                    </a:lnTo>
                    <a:lnTo>
                      <a:pt x="3" y="32"/>
                    </a:lnTo>
                    <a:lnTo>
                      <a:pt x="7" y="41"/>
                    </a:lnTo>
                    <a:lnTo>
                      <a:pt x="7" y="49"/>
                    </a:lnTo>
                    <a:lnTo>
                      <a:pt x="7" y="57"/>
                    </a:lnTo>
                    <a:lnTo>
                      <a:pt x="11" y="67"/>
                    </a:lnTo>
                    <a:lnTo>
                      <a:pt x="11" y="75"/>
                    </a:lnTo>
                    <a:lnTo>
                      <a:pt x="11" y="84"/>
                    </a:lnTo>
                    <a:lnTo>
                      <a:pt x="15" y="92"/>
                    </a:lnTo>
                    <a:lnTo>
                      <a:pt x="15" y="102"/>
                    </a:lnTo>
                    <a:lnTo>
                      <a:pt x="15" y="110"/>
                    </a:lnTo>
                    <a:lnTo>
                      <a:pt x="18" y="119"/>
                    </a:lnTo>
                    <a:lnTo>
                      <a:pt x="18" y="127"/>
                    </a:lnTo>
                    <a:lnTo>
                      <a:pt x="18" y="135"/>
                    </a:lnTo>
                    <a:lnTo>
                      <a:pt x="22" y="145"/>
                    </a:lnTo>
                    <a:lnTo>
                      <a:pt x="22" y="153"/>
                    </a:lnTo>
                    <a:lnTo>
                      <a:pt x="22" y="161"/>
                    </a:lnTo>
                    <a:lnTo>
                      <a:pt x="26" y="169"/>
                    </a:lnTo>
                    <a:lnTo>
                      <a:pt x="26" y="176"/>
                    </a:lnTo>
                    <a:lnTo>
                      <a:pt x="26" y="183"/>
                    </a:lnTo>
                    <a:lnTo>
                      <a:pt x="29" y="191"/>
                    </a:lnTo>
                    <a:lnTo>
                      <a:pt x="29" y="199"/>
                    </a:lnTo>
                    <a:lnTo>
                      <a:pt x="29" y="205"/>
                    </a:lnTo>
                    <a:lnTo>
                      <a:pt x="33" y="211"/>
                    </a:lnTo>
                    <a:lnTo>
                      <a:pt x="33" y="218"/>
                    </a:lnTo>
                    <a:lnTo>
                      <a:pt x="33" y="224"/>
                    </a:lnTo>
                    <a:lnTo>
                      <a:pt x="33" y="231"/>
                    </a:lnTo>
                    <a:lnTo>
                      <a:pt x="37" y="235"/>
                    </a:lnTo>
                    <a:lnTo>
                      <a:pt x="37" y="240"/>
                    </a:lnTo>
                    <a:lnTo>
                      <a:pt x="37" y="246"/>
                    </a:lnTo>
                    <a:lnTo>
                      <a:pt x="41" y="251"/>
                    </a:lnTo>
                    <a:lnTo>
                      <a:pt x="41" y="254"/>
                    </a:lnTo>
                    <a:lnTo>
                      <a:pt x="41" y="259"/>
                    </a:lnTo>
                    <a:lnTo>
                      <a:pt x="44" y="262"/>
                    </a:lnTo>
                    <a:lnTo>
                      <a:pt x="44" y="266"/>
                    </a:lnTo>
                    <a:lnTo>
                      <a:pt x="44" y="269"/>
                    </a:lnTo>
                    <a:lnTo>
                      <a:pt x="48" y="272"/>
                    </a:lnTo>
                    <a:lnTo>
                      <a:pt x="48" y="274"/>
                    </a:lnTo>
                    <a:lnTo>
                      <a:pt x="48" y="275"/>
                    </a:lnTo>
                    <a:lnTo>
                      <a:pt x="52" y="278"/>
                    </a:lnTo>
                    <a:lnTo>
                      <a:pt x="52" y="280"/>
                    </a:lnTo>
                    <a:lnTo>
                      <a:pt x="55" y="281"/>
                    </a:lnTo>
                    <a:lnTo>
                      <a:pt x="59" y="280"/>
                    </a:lnTo>
                    <a:lnTo>
                      <a:pt x="63" y="278"/>
                    </a:lnTo>
                    <a:lnTo>
                      <a:pt x="63" y="277"/>
                    </a:lnTo>
                    <a:lnTo>
                      <a:pt x="67" y="275"/>
                    </a:lnTo>
                    <a:lnTo>
                      <a:pt x="67" y="274"/>
                    </a:lnTo>
                    <a:lnTo>
                      <a:pt x="67" y="272"/>
                    </a:lnTo>
                    <a:lnTo>
                      <a:pt x="70" y="269"/>
                    </a:lnTo>
                    <a:lnTo>
                      <a:pt x="70" y="267"/>
                    </a:lnTo>
                    <a:lnTo>
                      <a:pt x="70" y="264"/>
                    </a:lnTo>
                    <a:lnTo>
                      <a:pt x="74" y="262"/>
                    </a:lnTo>
                    <a:lnTo>
                      <a:pt x="74" y="259"/>
                    </a:lnTo>
                    <a:lnTo>
                      <a:pt x="74" y="256"/>
                    </a:lnTo>
                    <a:lnTo>
                      <a:pt x="78" y="254"/>
                    </a:lnTo>
                    <a:lnTo>
                      <a:pt x="78" y="251"/>
                    </a:lnTo>
                    <a:lnTo>
                      <a:pt x="78" y="248"/>
                    </a:lnTo>
                    <a:lnTo>
                      <a:pt x="81" y="245"/>
                    </a:lnTo>
                    <a:lnTo>
                      <a:pt x="81" y="242"/>
                    </a:lnTo>
                    <a:lnTo>
                      <a:pt x="81" y="239"/>
                    </a:lnTo>
                    <a:lnTo>
                      <a:pt x="85" y="235"/>
                    </a:lnTo>
                    <a:lnTo>
                      <a:pt x="85" y="234"/>
                    </a:lnTo>
                    <a:lnTo>
                      <a:pt x="85" y="231"/>
                    </a:lnTo>
                    <a:lnTo>
                      <a:pt x="89" y="227"/>
                    </a:lnTo>
                    <a:lnTo>
                      <a:pt x="89" y="224"/>
                    </a:lnTo>
                    <a:lnTo>
                      <a:pt x="89" y="221"/>
                    </a:lnTo>
                    <a:lnTo>
                      <a:pt x="93" y="219"/>
                    </a:lnTo>
                    <a:lnTo>
                      <a:pt x="93" y="216"/>
                    </a:lnTo>
                    <a:lnTo>
                      <a:pt x="93" y="215"/>
                    </a:lnTo>
                    <a:lnTo>
                      <a:pt x="96" y="211"/>
                    </a:lnTo>
                    <a:lnTo>
                      <a:pt x="96" y="210"/>
                    </a:lnTo>
                    <a:lnTo>
                      <a:pt x="96" y="208"/>
                    </a:lnTo>
                    <a:lnTo>
                      <a:pt x="100" y="205"/>
                    </a:lnTo>
                    <a:lnTo>
                      <a:pt x="100" y="204"/>
                    </a:lnTo>
                    <a:lnTo>
                      <a:pt x="100" y="202"/>
                    </a:lnTo>
                    <a:lnTo>
                      <a:pt x="104" y="200"/>
                    </a:lnTo>
                    <a:lnTo>
                      <a:pt x="107" y="199"/>
                    </a:lnTo>
                    <a:lnTo>
                      <a:pt x="111" y="197"/>
                    </a:lnTo>
                    <a:lnTo>
                      <a:pt x="111" y="196"/>
                    </a:lnTo>
                    <a:lnTo>
                      <a:pt x="115" y="197"/>
                    </a:lnTo>
                    <a:lnTo>
                      <a:pt x="119" y="199"/>
                    </a:lnTo>
                    <a:lnTo>
                      <a:pt x="122" y="200"/>
                    </a:lnTo>
                    <a:lnTo>
                      <a:pt x="122" y="202"/>
                    </a:lnTo>
                    <a:lnTo>
                      <a:pt x="122" y="204"/>
                    </a:lnTo>
                    <a:lnTo>
                      <a:pt x="126" y="205"/>
                    </a:lnTo>
                    <a:lnTo>
                      <a:pt x="126" y="207"/>
                    </a:lnTo>
                    <a:lnTo>
                      <a:pt x="126" y="208"/>
                    </a:lnTo>
                    <a:lnTo>
                      <a:pt x="130" y="210"/>
                    </a:lnTo>
                    <a:lnTo>
                      <a:pt x="130" y="211"/>
                    </a:lnTo>
                    <a:lnTo>
                      <a:pt x="130" y="213"/>
                    </a:lnTo>
                    <a:lnTo>
                      <a:pt x="133" y="216"/>
                    </a:lnTo>
                    <a:lnTo>
                      <a:pt x="133" y="218"/>
                    </a:lnTo>
                    <a:lnTo>
                      <a:pt x="133" y="219"/>
                    </a:lnTo>
                    <a:lnTo>
                      <a:pt x="137" y="223"/>
                    </a:lnTo>
                    <a:lnTo>
                      <a:pt x="137" y="224"/>
                    </a:lnTo>
                    <a:lnTo>
                      <a:pt x="137" y="226"/>
                    </a:lnTo>
                    <a:lnTo>
                      <a:pt x="141" y="229"/>
                    </a:lnTo>
                    <a:lnTo>
                      <a:pt x="141" y="231"/>
                    </a:lnTo>
                    <a:lnTo>
                      <a:pt x="141" y="232"/>
                    </a:lnTo>
                    <a:lnTo>
                      <a:pt x="145" y="234"/>
                    </a:lnTo>
                    <a:lnTo>
                      <a:pt x="145" y="237"/>
                    </a:lnTo>
                    <a:lnTo>
                      <a:pt x="145" y="239"/>
                    </a:lnTo>
                    <a:lnTo>
                      <a:pt x="148" y="240"/>
                    </a:lnTo>
                    <a:lnTo>
                      <a:pt x="148" y="242"/>
                    </a:lnTo>
                    <a:lnTo>
                      <a:pt x="148" y="243"/>
                    </a:lnTo>
                    <a:lnTo>
                      <a:pt x="152" y="245"/>
                    </a:lnTo>
                    <a:lnTo>
                      <a:pt x="152" y="246"/>
                    </a:lnTo>
                    <a:lnTo>
                      <a:pt x="152" y="248"/>
                    </a:lnTo>
                    <a:lnTo>
                      <a:pt x="156" y="250"/>
                    </a:lnTo>
                    <a:lnTo>
                      <a:pt x="156" y="251"/>
                    </a:lnTo>
                    <a:lnTo>
                      <a:pt x="156" y="253"/>
                    </a:lnTo>
                    <a:lnTo>
                      <a:pt x="159" y="254"/>
                    </a:lnTo>
                    <a:lnTo>
                      <a:pt x="163" y="256"/>
                    </a:lnTo>
                    <a:lnTo>
                      <a:pt x="167" y="256"/>
                    </a:lnTo>
                    <a:lnTo>
                      <a:pt x="171" y="254"/>
                    </a:lnTo>
                    <a:lnTo>
                      <a:pt x="174" y="253"/>
                    </a:lnTo>
                    <a:lnTo>
                      <a:pt x="178" y="251"/>
                    </a:lnTo>
                    <a:lnTo>
                      <a:pt x="178" y="250"/>
                    </a:lnTo>
                    <a:lnTo>
                      <a:pt x="182" y="248"/>
                    </a:lnTo>
                    <a:lnTo>
                      <a:pt x="182" y="246"/>
                    </a:lnTo>
                    <a:lnTo>
                      <a:pt x="185" y="245"/>
                    </a:lnTo>
                    <a:lnTo>
                      <a:pt x="185" y="243"/>
                    </a:lnTo>
                    <a:lnTo>
                      <a:pt x="185" y="242"/>
                    </a:lnTo>
                    <a:lnTo>
                      <a:pt x="189" y="240"/>
                    </a:lnTo>
                    <a:lnTo>
                      <a:pt x="189" y="239"/>
                    </a:lnTo>
                    <a:lnTo>
                      <a:pt x="189" y="237"/>
                    </a:lnTo>
                    <a:lnTo>
                      <a:pt x="193" y="235"/>
                    </a:lnTo>
                    <a:lnTo>
                      <a:pt x="193" y="234"/>
                    </a:lnTo>
                    <a:lnTo>
                      <a:pt x="197" y="232"/>
                    </a:lnTo>
                    <a:lnTo>
                      <a:pt x="197" y="231"/>
                    </a:lnTo>
                    <a:lnTo>
                      <a:pt x="197" y="229"/>
                    </a:lnTo>
                    <a:lnTo>
                      <a:pt x="200" y="227"/>
                    </a:lnTo>
                    <a:lnTo>
                      <a:pt x="200" y="226"/>
                    </a:lnTo>
                    <a:lnTo>
                      <a:pt x="204" y="224"/>
                    </a:lnTo>
                    <a:lnTo>
                      <a:pt x="204" y="223"/>
                    </a:lnTo>
                    <a:lnTo>
                      <a:pt x="208" y="221"/>
                    </a:lnTo>
                    <a:lnTo>
                      <a:pt x="211" y="219"/>
                    </a:lnTo>
                    <a:lnTo>
                      <a:pt x="215" y="218"/>
                    </a:lnTo>
                    <a:lnTo>
                      <a:pt x="219" y="218"/>
                    </a:lnTo>
                    <a:lnTo>
                      <a:pt x="223" y="219"/>
                    </a:lnTo>
                    <a:lnTo>
                      <a:pt x="226" y="221"/>
                    </a:lnTo>
                    <a:lnTo>
                      <a:pt x="230" y="223"/>
                    </a:lnTo>
                    <a:lnTo>
                      <a:pt x="230" y="224"/>
                    </a:lnTo>
                    <a:lnTo>
                      <a:pt x="234" y="226"/>
                    </a:lnTo>
                    <a:lnTo>
                      <a:pt x="234" y="227"/>
                    </a:lnTo>
                    <a:lnTo>
                      <a:pt x="234" y="229"/>
                    </a:lnTo>
                    <a:lnTo>
                      <a:pt x="237" y="231"/>
                    </a:lnTo>
                    <a:lnTo>
                      <a:pt x="237" y="232"/>
                    </a:lnTo>
                    <a:lnTo>
                      <a:pt x="241" y="234"/>
                    </a:lnTo>
                    <a:lnTo>
                      <a:pt x="241" y="235"/>
                    </a:lnTo>
                    <a:lnTo>
                      <a:pt x="241" y="237"/>
                    </a:lnTo>
                    <a:lnTo>
                      <a:pt x="245" y="239"/>
                    </a:lnTo>
                    <a:lnTo>
                      <a:pt x="245" y="240"/>
                    </a:lnTo>
                    <a:lnTo>
                      <a:pt x="245" y="242"/>
                    </a:lnTo>
                    <a:lnTo>
                      <a:pt x="249" y="243"/>
                    </a:lnTo>
                    <a:lnTo>
                      <a:pt x="249" y="245"/>
                    </a:lnTo>
                    <a:lnTo>
                      <a:pt x="249" y="246"/>
                    </a:lnTo>
                    <a:lnTo>
                      <a:pt x="252" y="248"/>
                    </a:lnTo>
                    <a:lnTo>
                      <a:pt x="252" y="250"/>
                    </a:lnTo>
                    <a:lnTo>
                      <a:pt x="256" y="251"/>
                    </a:lnTo>
                    <a:lnTo>
                      <a:pt x="256" y="253"/>
                    </a:lnTo>
                    <a:lnTo>
                      <a:pt x="260" y="254"/>
                    </a:lnTo>
                    <a:lnTo>
                      <a:pt x="263" y="256"/>
                    </a:lnTo>
                    <a:lnTo>
                      <a:pt x="267" y="256"/>
                    </a:lnTo>
                    <a:lnTo>
                      <a:pt x="271" y="256"/>
                    </a:lnTo>
                    <a:lnTo>
                      <a:pt x="275" y="254"/>
                    </a:lnTo>
                    <a:lnTo>
                      <a:pt x="278" y="253"/>
                    </a:lnTo>
                    <a:lnTo>
                      <a:pt x="278" y="251"/>
                    </a:lnTo>
                    <a:lnTo>
                      <a:pt x="278" y="250"/>
                    </a:lnTo>
                    <a:lnTo>
                      <a:pt x="278" y="248"/>
                    </a:lnTo>
                    <a:lnTo>
                      <a:pt x="282" y="246"/>
                    </a:lnTo>
                    <a:lnTo>
                      <a:pt x="282" y="245"/>
                    </a:lnTo>
                    <a:lnTo>
                      <a:pt x="282" y="243"/>
                    </a:lnTo>
                    <a:lnTo>
                      <a:pt x="286" y="242"/>
                    </a:lnTo>
                    <a:lnTo>
                      <a:pt x="286" y="240"/>
                    </a:lnTo>
                    <a:lnTo>
                      <a:pt x="286" y="239"/>
                    </a:lnTo>
                    <a:lnTo>
                      <a:pt x="289" y="237"/>
                    </a:lnTo>
                    <a:lnTo>
                      <a:pt x="289" y="234"/>
                    </a:lnTo>
                    <a:lnTo>
                      <a:pt x="289" y="232"/>
                    </a:lnTo>
                    <a:lnTo>
                      <a:pt x="293" y="231"/>
                    </a:lnTo>
                    <a:lnTo>
                      <a:pt x="293" y="229"/>
                    </a:lnTo>
                    <a:lnTo>
                      <a:pt x="293" y="226"/>
                    </a:lnTo>
                    <a:lnTo>
                      <a:pt x="297" y="224"/>
                    </a:lnTo>
                    <a:lnTo>
                      <a:pt x="297" y="223"/>
                    </a:lnTo>
                    <a:lnTo>
                      <a:pt x="297" y="219"/>
                    </a:lnTo>
                    <a:lnTo>
                      <a:pt x="301" y="218"/>
                    </a:lnTo>
                    <a:lnTo>
                      <a:pt x="301" y="216"/>
                    </a:lnTo>
                    <a:lnTo>
                      <a:pt x="301" y="213"/>
                    </a:lnTo>
                    <a:lnTo>
                      <a:pt x="304" y="211"/>
                    </a:lnTo>
                    <a:lnTo>
                      <a:pt x="304" y="210"/>
                    </a:lnTo>
                    <a:lnTo>
                      <a:pt x="304" y="208"/>
                    </a:lnTo>
                    <a:lnTo>
                      <a:pt x="308" y="207"/>
                    </a:lnTo>
                    <a:lnTo>
                      <a:pt x="308" y="205"/>
                    </a:lnTo>
                    <a:lnTo>
                      <a:pt x="308" y="204"/>
                    </a:lnTo>
                    <a:lnTo>
                      <a:pt x="312" y="202"/>
                    </a:lnTo>
                    <a:lnTo>
                      <a:pt x="312" y="200"/>
                    </a:lnTo>
                    <a:lnTo>
                      <a:pt x="315" y="199"/>
                    </a:lnTo>
                    <a:lnTo>
                      <a:pt x="319" y="197"/>
                    </a:lnTo>
                    <a:lnTo>
                      <a:pt x="323" y="196"/>
                    </a:lnTo>
                    <a:lnTo>
                      <a:pt x="327" y="197"/>
                    </a:lnTo>
                    <a:lnTo>
                      <a:pt x="327" y="199"/>
                    </a:lnTo>
                    <a:lnTo>
                      <a:pt x="330" y="200"/>
                    </a:lnTo>
                    <a:lnTo>
                      <a:pt x="330" y="202"/>
                    </a:lnTo>
                    <a:lnTo>
                      <a:pt x="334" y="204"/>
                    </a:lnTo>
                    <a:lnTo>
                      <a:pt x="334" y="205"/>
                    </a:lnTo>
                    <a:lnTo>
                      <a:pt x="334" y="208"/>
                    </a:lnTo>
                    <a:lnTo>
                      <a:pt x="338" y="210"/>
                    </a:lnTo>
                    <a:lnTo>
                      <a:pt x="338" y="211"/>
                    </a:lnTo>
                    <a:lnTo>
                      <a:pt x="338" y="215"/>
                    </a:lnTo>
                    <a:lnTo>
                      <a:pt x="341" y="216"/>
                    </a:lnTo>
                    <a:lnTo>
                      <a:pt x="341" y="219"/>
                    </a:lnTo>
                    <a:lnTo>
                      <a:pt x="341" y="221"/>
                    </a:lnTo>
                    <a:lnTo>
                      <a:pt x="345" y="224"/>
                    </a:lnTo>
                    <a:lnTo>
                      <a:pt x="345" y="227"/>
                    </a:lnTo>
                    <a:lnTo>
                      <a:pt x="345" y="231"/>
                    </a:lnTo>
                    <a:lnTo>
                      <a:pt x="349" y="234"/>
                    </a:lnTo>
                    <a:lnTo>
                      <a:pt x="349" y="235"/>
                    </a:lnTo>
                    <a:lnTo>
                      <a:pt x="349" y="239"/>
                    </a:lnTo>
                    <a:lnTo>
                      <a:pt x="353" y="242"/>
                    </a:lnTo>
                    <a:lnTo>
                      <a:pt x="353" y="245"/>
                    </a:lnTo>
                    <a:lnTo>
                      <a:pt x="353" y="248"/>
                    </a:lnTo>
                    <a:lnTo>
                      <a:pt x="356" y="251"/>
                    </a:lnTo>
                    <a:lnTo>
                      <a:pt x="356" y="254"/>
                    </a:lnTo>
                    <a:lnTo>
                      <a:pt x="356" y="256"/>
                    </a:lnTo>
                    <a:lnTo>
                      <a:pt x="360" y="259"/>
                    </a:lnTo>
                    <a:lnTo>
                      <a:pt x="360" y="262"/>
                    </a:lnTo>
                    <a:lnTo>
                      <a:pt x="360" y="264"/>
                    </a:lnTo>
                    <a:lnTo>
                      <a:pt x="364" y="267"/>
                    </a:lnTo>
                    <a:lnTo>
                      <a:pt x="364" y="269"/>
                    </a:lnTo>
                    <a:lnTo>
                      <a:pt x="364" y="272"/>
                    </a:lnTo>
                    <a:lnTo>
                      <a:pt x="367" y="274"/>
                    </a:lnTo>
                    <a:lnTo>
                      <a:pt x="367" y="275"/>
                    </a:lnTo>
                    <a:lnTo>
                      <a:pt x="367" y="277"/>
                    </a:lnTo>
                    <a:lnTo>
                      <a:pt x="371" y="278"/>
                    </a:lnTo>
                    <a:lnTo>
                      <a:pt x="371" y="280"/>
                    </a:lnTo>
                    <a:lnTo>
                      <a:pt x="375" y="281"/>
                    </a:lnTo>
                    <a:lnTo>
                      <a:pt x="379" y="280"/>
                    </a:lnTo>
                    <a:lnTo>
                      <a:pt x="382" y="278"/>
                    </a:lnTo>
                    <a:lnTo>
                      <a:pt x="382" y="275"/>
                    </a:lnTo>
                    <a:lnTo>
                      <a:pt x="386" y="274"/>
                    </a:lnTo>
                    <a:lnTo>
                      <a:pt x="386" y="272"/>
                    </a:lnTo>
                    <a:lnTo>
                      <a:pt x="386" y="269"/>
                    </a:lnTo>
                    <a:lnTo>
                      <a:pt x="390" y="266"/>
                    </a:lnTo>
                    <a:lnTo>
                      <a:pt x="390" y="262"/>
                    </a:lnTo>
                    <a:lnTo>
                      <a:pt x="390" y="259"/>
                    </a:lnTo>
                    <a:lnTo>
                      <a:pt x="393" y="254"/>
                    </a:lnTo>
                    <a:lnTo>
                      <a:pt x="393" y="251"/>
                    </a:lnTo>
                    <a:lnTo>
                      <a:pt x="393" y="246"/>
                    </a:lnTo>
                    <a:lnTo>
                      <a:pt x="397" y="240"/>
                    </a:lnTo>
                    <a:lnTo>
                      <a:pt x="397" y="235"/>
                    </a:lnTo>
                    <a:lnTo>
                      <a:pt x="397" y="231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6" name="Freeform 20"/>
              <p:cNvSpPr>
                <a:spLocks/>
              </p:cNvSpPr>
              <p:nvPr/>
            </p:nvSpPr>
            <p:spPr bwMode="auto">
              <a:xfrm>
                <a:off x="3429" y="3624"/>
                <a:ext cx="399" cy="340"/>
              </a:xfrm>
              <a:custGeom>
                <a:avLst/>
                <a:gdLst>
                  <a:gd name="T0" fmla="*/ 4 w 399"/>
                  <a:gd name="T1" fmla="*/ 319 h 340"/>
                  <a:gd name="T2" fmla="*/ 8 w 399"/>
                  <a:gd name="T3" fmla="*/ 291 h 340"/>
                  <a:gd name="T4" fmla="*/ 15 w 399"/>
                  <a:gd name="T5" fmla="*/ 261 h 340"/>
                  <a:gd name="T6" fmla="*/ 19 w 399"/>
                  <a:gd name="T7" fmla="*/ 227 h 340"/>
                  <a:gd name="T8" fmla="*/ 22 w 399"/>
                  <a:gd name="T9" fmla="*/ 192 h 340"/>
                  <a:gd name="T10" fmla="*/ 30 w 399"/>
                  <a:gd name="T11" fmla="*/ 157 h 340"/>
                  <a:gd name="T12" fmla="*/ 34 w 399"/>
                  <a:gd name="T13" fmla="*/ 124 h 340"/>
                  <a:gd name="T14" fmla="*/ 37 w 399"/>
                  <a:gd name="T15" fmla="*/ 92 h 340"/>
                  <a:gd name="T16" fmla="*/ 45 w 399"/>
                  <a:gd name="T17" fmla="*/ 65 h 340"/>
                  <a:gd name="T18" fmla="*/ 48 w 399"/>
                  <a:gd name="T19" fmla="*/ 43 h 340"/>
                  <a:gd name="T20" fmla="*/ 52 w 399"/>
                  <a:gd name="T21" fmla="*/ 24 h 340"/>
                  <a:gd name="T22" fmla="*/ 60 w 399"/>
                  <a:gd name="T23" fmla="*/ 11 h 340"/>
                  <a:gd name="T24" fmla="*/ 63 w 399"/>
                  <a:gd name="T25" fmla="*/ 3 h 340"/>
                  <a:gd name="T26" fmla="*/ 74 w 399"/>
                  <a:gd name="T27" fmla="*/ 3 h 340"/>
                  <a:gd name="T28" fmla="*/ 78 w 399"/>
                  <a:gd name="T29" fmla="*/ 9 h 340"/>
                  <a:gd name="T30" fmla="*/ 86 w 399"/>
                  <a:gd name="T31" fmla="*/ 19 h 340"/>
                  <a:gd name="T32" fmla="*/ 89 w 399"/>
                  <a:gd name="T33" fmla="*/ 30 h 340"/>
                  <a:gd name="T34" fmla="*/ 93 w 399"/>
                  <a:gd name="T35" fmla="*/ 41 h 340"/>
                  <a:gd name="T36" fmla="*/ 100 w 399"/>
                  <a:gd name="T37" fmla="*/ 54 h 340"/>
                  <a:gd name="T38" fmla="*/ 104 w 399"/>
                  <a:gd name="T39" fmla="*/ 63 h 340"/>
                  <a:gd name="T40" fmla="*/ 108 w 399"/>
                  <a:gd name="T41" fmla="*/ 73 h 340"/>
                  <a:gd name="T42" fmla="*/ 115 w 399"/>
                  <a:gd name="T43" fmla="*/ 79 h 340"/>
                  <a:gd name="T44" fmla="*/ 126 w 399"/>
                  <a:gd name="T45" fmla="*/ 86 h 340"/>
                  <a:gd name="T46" fmla="*/ 134 w 399"/>
                  <a:gd name="T47" fmla="*/ 79 h 340"/>
                  <a:gd name="T48" fmla="*/ 138 w 399"/>
                  <a:gd name="T49" fmla="*/ 73 h 340"/>
                  <a:gd name="T50" fmla="*/ 141 w 399"/>
                  <a:gd name="T51" fmla="*/ 66 h 340"/>
                  <a:gd name="T52" fmla="*/ 149 w 399"/>
                  <a:gd name="T53" fmla="*/ 59 h 340"/>
                  <a:gd name="T54" fmla="*/ 152 w 399"/>
                  <a:gd name="T55" fmla="*/ 49 h 340"/>
                  <a:gd name="T56" fmla="*/ 156 w 399"/>
                  <a:gd name="T57" fmla="*/ 41 h 340"/>
                  <a:gd name="T58" fmla="*/ 164 w 399"/>
                  <a:gd name="T59" fmla="*/ 35 h 340"/>
                  <a:gd name="T60" fmla="*/ 167 w 399"/>
                  <a:gd name="T61" fmla="*/ 28 h 340"/>
                  <a:gd name="T62" fmla="*/ 182 w 399"/>
                  <a:gd name="T63" fmla="*/ 25 h 340"/>
                  <a:gd name="T64" fmla="*/ 193 w 399"/>
                  <a:gd name="T65" fmla="*/ 31 h 340"/>
                  <a:gd name="T66" fmla="*/ 197 w 399"/>
                  <a:gd name="T67" fmla="*/ 38 h 340"/>
                  <a:gd name="T68" fmla="*/ 204 w 399"/>
                  <a:gd name="T69" fmla="*/ 44 h 340"/>
                  <a:gd name="T70" fmla="*/ 208 w 399"/>
                  <a:gd name="T71" fmla="*/ 51 h 340"/>
                  <a:gd name="T72" fmla="*/ 216 w 399"/>
                  <a:gd name="T73" fmla="*/ 57 h 340"/>
                  <a:gd name="T74" fmla="*/ 227 w 399"/>
                  <a:gd name="T75" fmla="*/ 63 h 340"/>
                  <a:gd name="T76" fmla="*/ 242 w 399"/>
                  <a:gd name="T77" fmla="*/ 59 h 340"/>
                  <a:gd name="T78" fmla="*/ 249 w 399"/>
                  <a:gd name="T79" fmla="*/ 52 h 340"/>
                  <a:gd name="T80" fmla="*/ 253 w 399"/>
                  <a:gd name="T81" fmla="*/ 46 h 340"/>
                  <a:gd name="T82" fmla="*/ 256 w 399"/>
                  <a:gd name="T83" fmla="*/ 39 h 340"/>
                  <a:gd name="T84" fmla="*/ 264 w 399"/>
                  <a:gd name="T85" fmla="*/ 33 h 340"/>
                  <a:gd name="T86" fmla="*/ 271 w 399"/>
                  <a:gd name="T87" fmla="*/ 27 h 340"/>
                  <a:gd name="T88" fmla="*/ 286 w 399"/>
                  <a:gd name="T89" fmla="*/ 28 h 340"/>
                  <a:gd name="T90" fmla="*/ 294 w 399"/>
                  <a:gd name="T91" fmla="*/ 35 h 340"/>
                  <a:gd name="T92" fmla="*/ 297 w 399"/>
                  <a:gd name="T93" fmla="*/ 43 h 340"/>
                  <a:gd name="T94" fmla="*/ 305 w 399"/>
                  <a:gd name="T95" fmla="*/ 51 h 340"/>
                  <a:gd name="T96" fmla="*/ 308 w 399"/>
                  <a:gd name="T97" fmla="*/ 59 h 340"/>
                  <a:gd name="T98" fmla="*/ 312 w 399"/>
                  <a:gd name="T99" fmla="*/ 66 h 340"/>
                  <a:gd name="T100" fmla="*/ 320 w 399"/>
                  <a:gd name="T101" fmla="*/ 74 h 340"/>
                  <a:gd name="T102" fmla="*/ 323 w 399"/>
                  <a:gd name="T103" fmla="*/ 81 h 340"/>
                  <a:gd name="T104" fmla="*/ 338 w 399"/>
                  <a:gd name="T105" fmla="*/ 84 h 340"/>
                  <a:gd name="T106" fmla="*/ 346 w 399"/>
                  <a:gd name="T107" fmla="*/ 78 h 340"/>
                  <a:gd name="T108" fmla="*/ 349 w 399"/>
                  <a:gd name="T109" fmla="*/ 70 h 340"/>
                  <a:gd name="T110" fmla="*/ 353 w 399"/>
                  <a:gd name="T111" fmla="*/ 60 h 340"/>
                  <a:gd name="T112" fmla="*/ 360 w 399"/>
                  <a:gd name="T113" fmla="*/ 49 h 340"/>
                  <a:gd name="T114" fmla="*/ 364 w 399"/>
                  <a:gd name="T115" fmla="*/ 38 h 340"/>
                  <a:gd name="T116" fmla="*/ 368 w 399"/>
                  <a:gd name="T117" fmla="*/ 25 h 340"/>
                  <a:gd name="T118" fmla="*/ 372 w 399"/>
                  <a:gd name="T119" fmla="*/ 16 h 340"/>
                  <a:gd name="T120" fmla="*/ 379 w 399"/>
                  <a:gd name="T121" fmla="*/ 6 h 340"/>
                  <a:gd name="T122" fmla="*/ 387 w 399"/>
                  <a:gd name="T123" fmla="*/ 0 h 340"/>
                  <a:gd name="T124" fmla="*/ 394 w 399"/>
                  <a:gd name="T125" fmla="*/ 6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99" h="340">
                    <a:moveTo>
                      <a:pt x="0" y="339"/>
                    </a:moveTo>
                    <a:lnTo>
                      <a:pt x="4" y="332"/>
                    </a:lnTo>
                    <a:lnTo>
                      <a:pt x="4" y="326"/>
                    </a:lnTo>
                    <a:lnTo>
                      <a:pt x="4" y="319"/>
                    </a:lnTo>
                    <a:lnTo>
                      <a:pt x="4" y="313"/>
                    </a:lnTo>
                    <a:lnTo>
                      <a:pt x="8" y="307"/>
                    </a:lnTo>
                    <a:lnTo>
                      <a:pt x="8" y="299"/>
                    </a:lnTo>
                    <a:lnTo>
                      <a:pt x="8" y="291"/>
                    </a:lnTo>
                    <a:lnTo>
                      <a:pt x="11" y="284"/>
                    </a:lnTo>
                    <a:lnTo>
                      <a:pt x="11" y="277"/>
                    </a:lnTo>
                    <a:lnTo>
                      <a:pt x="11" y="269"/>
                    </a:lnTo>
                    <a:lnTo>
                      <a:pt x="15" y="261"/>
                    </a:lnTo>
                    <a:lnTo>
                      <a:pt x="15" y="253"/>
                    </a:lnTo>
                    <a:lnTo>
                      <a:pt x="15" y="243"/>
                    </a:lnTo>
                    <a:lnTo>
                      <a:pt x="19" y="235"/>
                    </a:lnTo>
                    <a:lnTo>
                      <a:pt x="19" y="227"/>
                    </a:lnTo>
                    <a:lnTo>
                      <a:pt x="19" y="218"/>
                    </a:lnTo>
                    <a:lnTo>
                      <a:pt x="22" y="210"/>
                    </a:lnTo>
                    <a:lnTo>
                      <a:pt x="22" y="200"/>
                    </a:lnTo>
                    <a:lnTo>
                      <a:pt x="22" y="192"/>
                    </a:lnTo>
                    <a:lnTo>
                      <a:pt x="26" y="183"/>
                    </a:lnTo>
                    <a:lnTo>
                      <a:pt x="26" y="175"/>
                    </a:lnTo>
                    <a:lnTo>
                      <a:pt x="26" y="165"/>
                    </a:lnTo>
                    <a:lnTo>
                      <a:pt x="30" y="157"/>
                    </a:lnTo>
                    <a:lnTo>
                      <a:pt x="30" y="149"/>
                    </a:lnTo>
                    <a:lnTo>
                      <a:pt x="30" y="140"/>
                    </a:lnTo>
                    <a:lnTo>
                      <a:pt x="34" y="132"/>
                    </a:lnTo>
                    <a:lnTo>
                      <a:pt x="34" y="124"/>
                    </a:lnTo>
                    <a:lnTo>
                      <a:pt x="34" y="116"/>
                    </a:lnTo>
                    <a:lnTo>
                      <a:pt x="37" y="108"/>
                    </a:lnTo>
                    <a:lnTo>
                      <a:pt x="37" y="100"/>
                    </a:lnTo>
                    <a:lnTo>
                      <a:pt x="37" y="92"/>
                    </a:lnTo>
                    <a:lnTo>
                      <a:pt x="41" y="86"/>
                    </a:lnTo>
                    <a:lnTo>
                      <a:pt x="41" y="78"/>
                    </a:lnTo>
                    <a:lnTo>
                      <a:pt x="41" y="71"/>
                    </a:lnTo>
                    <a:lnTo>
                      <a:pt x="45" y="65"/>
                    </a:lnTo>
                    <a:lnTo>
                      <a:pt x="45" y="59"/>
                    </a:lnTo>
                    <a:lnTo>
                      <a:pt x="45" y="54"/>
                    </a:lnTo>
                    <a:lnTo>
                      <a:pt x="48" y="47"/>
                    </a:lnTo>
                    <a:lnTo>
                      <a:pt x="48" y="43"/>
                    </a:lnTo>
                    <a:lnTo>
                      <a:pt x="48" y="36"/>
                    </a:lnTo>
                    <a:lnTo>
                      <a:pt x="52" y="31"/>
                    </a:lnTo>
                    <a:lnTo>
                      <a:pt x="52" y="28"/>
                    </a:lnTo>
                    <a:lnTo>
                      <a:pt x="52" y="24"/>
                    </a:lnTo>
                    <a:lnTo>
                      <a:pt x="56" y="20"/>
                    </a:lnTo>
                    <a:lnTo>
                      <a:pt x="56" y="17"/>
                    </a:lnTo>
                    <a:lnTo>
                      <a:pt x="56" y="14"/>
                    </a:lnTo>
                    <a:lnTo>
                      <a:pt x="60" y="11"/>
                    </a:lnTo>
                    <a:lnTo>
                      <a:pt x="60" y="8"/>
                    </a:lnTo>
                    <a:lnTo>
                      <a:pt x="60" y="6"/>
                    </a:lnTo>
                    <a:lnTo>
                      <a:pt x="63" y="4"/>
                    </a:lnTo>
                    <a:lnTo>
                      <a:pt x="63" y="3"/>
                    </a:lnTo>
                    <a:lnTo>
                      <a:pt x="67" y="1"/>
                    </a:lnTo>
                    <a:lnTo>
                      <a:pt x="71" y="0"/>
                    </a:lnTo>
                    <a:lnTo>
                      <a:pt x="74" y="1"/>
                    </a:lnTo>
                    <a:lnTo>
                      <a:pt x="74" y="3"/>
                    </a:lnTo>
                    <a:lnTo>
                      <a:pt x="74" y="4"/>
                    </a:lnTo>
                    <a:lnTo>
                      <a:pt x="78" y="6"/>
                    </a:lnTo>
                    <a:lnTo>
                      <a:pt x="78" y="8"/>
                    </a:lnTo>
                    <a:lnTo>
                      <a:pt x="78" y="9"/>
                    </a:lnTo>
                    <a:lnTo>
                      <a:pt x="82" y="11"/>
                    </a:lnTo>
                    <a:lnTo>
                      <a:pt x="82" y="14"/>
                    </a:lnTo>
                    <a:lnTo>
                      <a:pt x="82" y="16"/>
                    </a:lnTo>
                    <a:lnTo>
                      <a:pt x="86" y="19"/>
                    </a:lnTo>
                    <a:lnTo>
                      <a:pt x="86" y="20"/>
                    </a:lnTo>
                    <a:lnTo>
                      <a:pt x="86" y="24"/>
                    </a:lnTo>
                    <a:lnTo>
                      <a:pt x="89" y="27"/>
                    </a:lnTo>
                    <a:lnTo>
                      <a:pt x="89" y="30"/>
                    </a:lnTo>
                    <a:lnTo>
                      <a:pt x="89" y="31"/>
                    </a:lnTo>
                    <a:lnTo>
                      <a:pt x="93" y="35"/>
                    </a:lnTo>
                    <a:lnTo>
                      <a:pt x="93" y="38"/>
                    </a:lnTo>
                    <a:lnTo>
                      <a:pt x="93" y="41"/>
                    </a:lnTo>
                    <a:lnTo>
                      <a:pt x="97" y="44"/>
                    </a:lnTo>
                    <a:lnTo>
                      <a:pt x="97" y="47"/>
                    </a:lnTo>
                    <a:lnTo>
                      <a:pt x="97" y="51"/>
                    </a:lnTo>
                    <a:lnTo>
                      <a:pt x="100" y="54"/>
                    </a:lnTo>
                    <a:lnTo>
                      <a:pt x="100" y="55"/>
                    </a:lnTo>
                    <a:lnTo>
                      <a:pt x="100" y="59"/>
                    </a:lnTo>
                    <a:lnTo>
                      <a:pt x="104" y="62"/>
                    </a:lnTo>
                    <a:lnTo>
                      <a:pt x="104" y="63"/>
                    </a:lnTo>
                    <a:lnTo>
                      <a:pt x="104" y="66"/>
                    </a:lnTo>
                    <a:lnTo>
                      <a:pt x="108" y="68"/>
                    </a:lnTo>
                    <a:lnTo>
                      <a:pt x="108" y="71"/>
                    </a:lnTo>
                    <a:lnTo>
                      <a:pt x="108" y="73"/>
                    </a:lnTo>
                    <a:lnTo>
                      <a:pt x="112" y="74"/>
                    </a:lnTo>
                    <a:lnTo>
                      <a:pt x="112" y="76"/>
                    </a:lnTo>
                    <a:lnTo>
                      <a:pt x="112" y="78"/>
                    </a:lnTo>
                    <a:lnTo>
                      <a:pt x="115" y="79"/>
                    </a:lnTo>
                    <a:lnTo>
                      <a:pt x="115" y="81"/>
                    </a:lnTo>
                    <a:lnTo>
                      <a:pt x="119" y="82"/>
                    </a:lnTo>
                    <a:lnTo>
                      <a:pt x="123" y="84"/>
                    </a:lnTo>
                    <a:lnTo>
                      <a:pt x="126" y="86"/>
                    </a:lnTo>
                    <a:lnTo>
                      <a:pt x="126" y="84"/>
                    </a:lnTo>
                    <a:lnTo>
                      <a:pt x="130" y="82"/>
                    </a:lnTo>
                    <a:lnTo>
                      <a:pt x="130" y="81"/>
                    </a:lnTo>
                    <a:lnTo>
                      <a:pt x="134" y="79"/>
                    </a:lnTo>
                    <a:lnTo>
                      <a:pt x="134" y="78"/>
                    </a:lnTo>
                    <a:lnTo>
                      <a:pt x="134" y="76"/>
                    </a:lnTo>
                    <a:lnTo>
                      <a:pt x="138" y="74"/>
                    </a:lnTo>
                    <a:lnTo>
                      <a:pt x="138" y="73"/>
                    </a:lnTo>
                    <a:lnTo>
                      <a:pt x="138" y="71"/>
                    </a:lnTo>
                    <a:lnTo>
                      <a:pt x="141" y="70"/>
                    </a:lnTo>
                    <a:lnTo>
                      <a:pt x="141" y="68"/>
                    </a:lnTo>
                    <a:lnTo>
                      <a:pt x="141" y="66"/>
                    </a:lnTo>
                    <a:lnTo>
                      <a:pt x="145" y="63"/>
                    </a:lnTo>
                    <a:lnTo>
                      <a:pt x="145" y="62"/>
                    </a:lnTo>
                    <a:lnTo>
                      <a:pt x="145" y="60"/>
                    </a:lnTo>
                    <a:lnTo>
                      <a:pt x="149" y="59"/>
                    </a:lnTo>
                    <a:lnTo>
                      <a:pt x="149" y="55"/>
                    </a:lnTo>
                    <a:lnTo>
                      <a:pt x="149" y="54"/>
                    </a:lnTo>
                    <a:lnTo>
                      <a:pt x="152" y="52"/>
                    </a:lnTo>
                    <a:lnTo>
                      <a:pt x="152" y="49"/>
                    </a:lnTo>
                    <a:lnTo>
                      <a:pt x="152" y="47"/>
                    </a:lnTo>
                    <a:lnTo>
                      <a:pt x="156" y="46"/>
                    </a:lnTo>
                    <a:lnTo>
                      <a:pt x="156" y="43"/>
                    </a:lnTo>
                    <a:lnTo>
                      <a:pt x="156" y="41"/>
                    </a:lnTo>
                    <a:lnTo>
                      <a:pt x="160" y="39"/>
                    </a:lnTo>
                    <a:lnTo>
                      <a:pt x="160" y="38"/>
                    </a:lnTo>
                    <a:lnTo>
                      <a:pt x="160" y="36"/>
                    </a:lnTo>
                    <a:lnTo>
                      <a:pt x="164" y="35"/>
                    </a:lnTo>
                    <a:lnTo>
                      <a:pt x="164" y="33"/>
                    </a:lnTo>
                    <a:lnTo>
                      <a:pt x="164" y="31"/>
                    </a:lnTo>
                    <a:lnTo>
                      <a:pt x="167" y="30"/>
                    </a:lnTo>
                    <a:lnTo>
                      <a:pt x="167" y="28"/>
                    </a:lnTo>
                    <a:lnTo>
                      <a:pt x="171" y="27"/>
                    </a:lnTo>
                    <a:lnTo>
                      <a:pt x="175" y="25"/>
                    </a:lnTo>
                    <a:lnTo>
                      <a:pt x="178" y="25"/>
                    </a:lnTo>
                    <a:lnTo>
                      <a:pt x="182" y="25"/>
                    </a:lnTo>
                    <a:lnTo>
                      <a:pt x="186" y="27"/>
                    </a:lnTo>
                    <a:lnTo>
                      <a:pt x="190" y="28"/>
                    </a:lnTo>
                    <a:lnTo>
                      <a:pt x="190" y="30"/>
                    </a:lnTo>
                    <a:lnTo>
                      <a:pt x="193" y="31"/>
                    </a:lnTo>
                    <a:lnTo>
                      <a:pt x="193" y="33"/>
                    </a:lnTo>
                    <a:lnTo>
                      <a:pt x="193" y="35"/>
                    </a:lnTo>
                    <a:lnTo>
                      <a:pt x="197" y="36"/>
                    </a:lnTo>
                    <a:lnTo>
                      <a:pt x="197" y="38"/>
                    </a:lnTo>
                    <a:lnTo>
                      <a:pt x="197" y="39"/>
                    </a:lnTo>
                    <a:lnTo>
                      <a:pt x="201" y="41"/>
                    </a:lnTo>
                    <a:lnTo>
                      <a:pt x="201" y="43"/>
                    </a:lnTo>
                    <a:lnTo>
                      <a:pt x="204" y="44"/>
                    </a:lnTo>
                    <a:lnTo>
                      <a:pt x="204" y="46"/>
                    </a:lnTo>
                    <a:lnTo>
                      <a:pt x="204" y="47"/>
                    </a:lnTo>
                    <a:lnTo>
                      <a:pt x="208" y="49"/>
                    </a:lnTo>
                    <a:lnTo>
                      <a:pt x="208" y="51"/>
                    </a:lnTo>
                    <a:lnTo>
                      <a:pt x="208" y="52"/>
                    </a:lnTo>
                    <a:lnTo>
                      <a:pt x="212" y="54"/>
                    </a:lnTo>
                    <a:lnTo>
                      <a:pt x="212" y="55"/>
                    </a:lnTo>
                    <a:lnTo>
                      <a:pt x="216" y="57"/>
                    </a:lnTo>
                    <a:lnTo>
                      <a:pt x="216" y="59"/>
                    </a:lnTo>
                    <a:lnTo>
                      <a:pt x="219" y="60"/>
                    </a:lnTo>
                    <a:lnTo>
                      <a:pt x="223" y="62"/>
                    </a:lnTo>
                    <a:lnTo>
                      <a:pt x="227" y="63"/>
                    </a:lnTo>
                    <a:lnTo>
                      <a:pt x="230" y="63"/>
                    </a:lnTo>
                    <a:lnTo>
                      <a:pt x="234" y="62"/>
                    </a:lnTo>
                    <a:lnTo>
                      <a:pt x="238" y="60"/>
                    </a:lnTo>
                    <a:lnTo>
                      <a:pt x="242" y="59"/>
                    </a:lnTo>
                    <a:lnTo>
                      <a:pt x="242" y="57"/>
                    </a:lnTo>
                    <a:lnTo>
                      <a:pt x="245" y="55"/>
                    </a:lnTo>
                    <a:lnTo>
                      <a:pt x="245" y="54"/>
                    </a:lnTo>
                    <a:lnTo>
                      <a:pt x="249" y="52"/>
                    </a:lnTo>
                    <a:lnTo>
                      <a:pt x="249" y="51"/>
                    </a:lnTo>
                    <a:lnTo>
                      <a:pt x="249" y="49"/>
                    </a:lnTo>
                    <a:lnTo>
                      <a:pt x="249" y="47"/>
                    </a:lnTo>
                    <a:lnTo>
                      <a:pt x="253" y="46"/>
                    </a:lnTo>
                    <a:lnTo>
                      <a:pt x="253" y="44"/>
                    </a:lnTo>
                    <a:lnTo>
                      <a:pt x="253" y="43"/>
                    </a:lnTo>
                    <a:lnTo>
                      <a:pt x="256" y="41"/>
                    </a:lnTo>
                    <a:lnTo>
                      <a:pt x="256" y="39"/>
                    </a:lnTo>
                    <a:lnTo>
                      <a:pt x="256" y="38"/>
                    </a:lnTo>
                    <a:lnTo>
                      <a:pt x="260" y="36"/>
                    </a:lnTo>
                    <a:lnTo>
                      <a:pt x="260" y="35"/>
                    </a:lnTo>
                    <a:lnTo>
                      <a:pt x="264" y="33"/>
                    </a:lnTo>
                    <a:lnTo>
                      <a:pt x="264" y="31"/>
                    </a:lnTo>
                    <a:lnTo>
                      <a:pt x="268" y="30"/>
                    </a:lnTo>
                    <a:lnTo>
                      <a:pt x="268" y="28"/>
                    </a:lnTo>
                    <a:lnTo>
                      <a:pt x="271" y="27"/>
                    </a:lnTo>
                    <a:lnTo>
                      <a:pt x="275" y="25"/>
                    </a:lnTo>
                    <a:lnTo>
                      <a:pt x="279" y="25"/>
                    </a:lnTo>
                    <a:lnTo>
                      <a:pt x="282" y="27"/>
                    </a:lnTo>
                    <a:lnTo>
                      <a:pt x="286" y="28"/>
                    </a:lnTo>
                    <a:lnTo>
                      <a:pt x="290" y="30"/>
                    </a:lnTo>
                    <a:lnTo>
                      <a:pt x="290" y="31"/>
                    </a:lnTo>
                    <a:lnTo>
                      <a:pt x="294" y="33"/>
                    </a:lnTo>
                    <a:lnTo>
                      <a:pt x="294" y="35"/>
                    </a:lnTo>
                    <a:lnTo>
                      <a:pt x="294" y="36"/>
                    </a:lnTo>
                    <a:lnTo>
                      <a:pt x="297" y="38"/>
                    </a:lnTo>
                    <a:lnTo>
                      <a:pt x="297" y="39"/>
                    </a:lnTo>
                    <a:lnTo>
                      <a:pt x="297" y="43"/>
                    </a:lnTo>
                    <a:lnTo>
                      <a:pt x="301" y="44"/>
                    </a:lnTo>
                    <a:lnTo>
                      <a:pt x="301" y="46"/>
                    </a:lnTo>
                    <a:lnTo>
                      <a:pt x="301" y="47"/>
                    </a:lnTo>
                    <a:lnTo>
                      <a:pt x="305" y="51"/>
                    </a:lnTo>
                    <a:lnTo>
                      <a:pt x="305" y="52"/>
                    </a:lnTo>
                    <a:lnTo>
                      <a:pt x="305" y="54"/>
                    </a:lnTo>
                    <a:lnTo>
                      <a:pt x="308" y="57"/>
                    </a:lnTo>
                    <a:lnTo>
                      <a:pt x="308" y="59"/>
                    </a:lnTo>
                    <a:lnTo>
                      <a:pt x="308" y="60"/>
                    </a:lnTo>
                    <a:lnTo>
                      <a:pt x="312" y="63"/>
                    </a:lnTo>
                    <a:lnTo>
                      <a:pt x="312" y="65"/>
                    </a:lnTo>
                    <a:lnTo>
                      <a:pt x="312" y="66"/>
                    </a:lnTo>
                    <a:lnTo>
                      <a:pt x="316" y="68"/>
                    </a:lnTo>
                    <a:lnTo>
                      <a:pt x="316" y="71"/>
                    </a:lnTo>
                    <a:lnTo>
                      <a:pt x="316" y="73"/>
                    </a:lnTo>
                    <a:lnTo>
                      <a:pt x="320" y="74"/>
                    </a:lnTo>
                    <a:lnTo>
                      <a:pt x="320" y="76"/>
                    </a:lnTo>
                    <a:lnTo>
                      <a:pt x="320" y="78"/>
                    </a:lnTo>
                    <a:lnTo>
                      <a:pt x="323" y="79"/>
                    </a:lnTo>
                    <a:lnTo>
                      <a:pt x="323" y="81"/>
                    </a:lnTo>
                    <a:lnTo>
                      <a:pt x="327" y="82"/>
                    </a:lnTo>
                    <a:lnTo>
                      <a:pt x="331" y="84"/>
                    </a:lnTo>
                    <a:lnTo>
                      <a:pt x="334" y="86"/>
                    </a:lnTo>
                    <a:lnTo>
                      <a:pt x="338" y="84"/>
                    </a:lnTo>
                    <a:lnTo>
                      <a:pt x="342" y="82"/>
                    </a:lnTo>
                    <a:lnTo>
                      <a:pt x="342" y="81"/>
                    </a:lnTo>
                    <a:lnTo>
                      <a:pt x="342" y="79"/>
                    </a:lnTo>
                    <a:lnTo>
                      <a:pt x="346" y="78"/>
                    </a:lnTo>
                    <a:lnTo>
                      <a:pt x="346" y="76"/>
                    </a:lnTo>
                    <a:lnTo>
                      <a:pt x="346" y="74"/>
                    </a:lnTo>
                    <a:lnTo>
                      <a:pt x="349" y="73"/>
                    </a:lnTo>
                    <a:lnTo>
                      <a:pt x="349" y="70"/>
                    </a:lnTo>
                    <a:lnTo>
                      <a:pt x="349" y="68"/>
                    </a:lnTo>
                    <a:lnTo>
                      <a:pt x="353" y="65"/>
                    </a:lnTo>
                    <a:lnTo>
                      <a:pt x="353" y="63"/>
                    </a:lnTo>
                    <a:lnTo>
                      <a:pt x="353" y="60"/>
                    </a:lnTo>
                    <a:lnTo>
                      <a:pt x="357" y="57"/>
                    </a:lnTo>
                    <a:lnTo>
                      <a:pt x="357" y="55"/>
                    </a:lnTo>
                    <a:lnTo>
                      <a:pt x="357" y="52"/>
                    </a:lnTo>
                    <a:lnTo>
                      <a:pt x="360" y="49"/>
                    </a:lnTo>
                    <a:lnTo>
                      <a:pt x="360" y="46"/>
                    </a:lnTo>
                    <a:lnTo>
                      <a:pt x="360" y="43"/>
                    </a:lnTo>
                    <a:lnTo>
                      <a:pt x="364" y="39"/>
                    </a:lnTo>
                    <a:lnTo>
                      <a:pt x="364" y="38"/>
                    </a:lnTo>
                    <a:lnTo>
                      <a:pt x="364" y="35"/>
                    </a:lnTo>
                    <a:lnTo>
                      <a:pt x="368" y="31"/>
                    </a:lnTo>
                    <a:lnTo>
                      <a:pt x="368" y="28"/>
                    </a:lnTo>
                    <a:lnTo>
                      <a:pt x="368" y="25"/>
                    </a:lnTo>
                    <a:lnTo>
                      <a:pt x="372" y="22"/>
                    </a:lnTo>
                    <a:lnTo>
                      <a:pt x="372" y="20"/>
                    </a:lnTo>
                    <a:lnTo>
                      <a:pt x="372" y="17"/>
                    </a:lnTo>
                    <a:lnTo>
                      <a:pt x="372" y="16"/>
                    </a:lnTo>
                    <a:lnTo>
                      <a:pt x="375" y="12"/>
                    </a:lnTo>
                    <a:lnTo>
                      <a:pt x="375" y="11"/>
                    </a:lnTo>
                    <a:lnTo>
                      <a:pt x="375" y="8"/>
                    </a:lnTo>
                    <a:lnTo>
                      <a:pt x="379" y="6"/>
                    </a:lnTo>
                    <a:lnTo>
                      <a:pt x="379" y="4"/>
                    </a:lnTo>
                    <a:lnTo>
                      <a:pt x="383" y="3"/>
                    </a:lnTo>
                    <a:lnTo>
                      <a:pt x="383" y="1"/>
                    </a:lnTo>
                    <a:lnTo>
                      <a:pt x="387" y="0"/>
                    </a:lnTo>
                    <a:lnTo>
                      <a:pt x="390" y="1"/>
                    </a:lnTo>
                    <a:lnTo>
                      <a:pt x="394" y="3"/>
                    </a:lnTo>
                    <a:lnTo>
                      <a:pt x="394" y="4"/>
                    </a:lnTo>
                    <a:lnTo>
                      <a:pt x="394" y="6"/>
                    </a:lnTo>
                    <a:lnTo>
                      <a:pt x="398" y="9"/>
                    </a:lnTo>
                    <a:lnTo>
                      <a:pt x="398" y="11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7" name="Freeform 21"/>
              <p:cNvSpPr>
                <a:spLocks/>
              </p:cNvSpPr>
              <p:nvPr/>
            </p:nvSpPr>
            <p:spPr bwMode="auto">
              <a:xfrm>
                <a:off x="3827" y="3635"/>
                <a:ext cx="34" cy="185"/>
              </a:xfrm>
              <a:custGeom>
                <a:avLst/>
                <a:gdLst>
                  <a:gd name="T0" fmla="*/ 0 w 34"/>
                  <a:gd name="T1" fmla="*/ 0 h 185"/>
                  <a:gd name="T2" fmla="*/ 0 w 34"/>
                  <a:gd name="T3" fmla="*/ 3 h 185"/>
                  <a:gd name="T4" fmla="*/ 3 w 34"/>
                  <a:gd name="T5" fmla="*/ 6 h 185"/>
                  <a:gd name="T6" fmla="*/ 3 w 34"/>
                  <a:gd name="T7" fmla="*/ 9 h 185"/>
                  <a:gd name="T8" fmla="*/ 3 w 34"/>
                  <a:gd name="T9" fmla="*/ 14 h 185"/>
                  <a:gd name="T10" fmla="*/ 7 w 34"/>
                  <a:gd name="T11" fmla="*/ 19 h 185"/>
                  <a:gd name="T12" fmla="*/ 7 w 34"/>
                  <a:gd name="T13" fmla="*/ 22 h 185"/>
                  <a:gd name="T14" fmla="*/ 7 w 34"/>
                  <a:gd name="T15" fmla="*/ 27 h 185"/>
                  <a:gd name="T16" fmla="*/ 11 w 34"/>
                  <a:gd name="T17" fmla="*/ 33 h 185"/>
                  <a:gd name="T18" fmla="*/ 11 w 34"/>
                  <a:gd name="T19" fmla="*/ 38 h 185"/>
                  <a:gd name="T20" fmla="*/ 11 w 34"/>
                  <a:gd name="T21" fmla="*/ 44 h 185"/>
                  <a:gd name="T22" fmla="*/ 15 w 34"/>
                  <a:gd name="T23" fmla="*/ 51 h 185"/>
                  <a:gd name="T24" fmla="*/ 15 w 34"/>
                  <a:gd name="T25" fmla="*/ 57 h 185"/>
                  <a:gd name="T26" fmla="*/ 15 w 34"/>
                  <a:gd name="T27" fmla="*/ 63 h 185"/>
                  <a:gd name="T28" fmla="*/ 18 w 34"/>
                  <a:gd name="T29" fmla="*/ 70 h 185"/>
                  <a:gd name="T30" fmla="*/ 18 w 34"/>
                  <a:gd name="T31" fmla="*/ 76 h 185"/>
                  <a:gd name="T32" fmla="*/ 18 w 34"/>
                  <a:gd name="T33" fmla="*/ 84 h 185"/>
                  <a:gd name="T34" fmla="*/ 22 w 34"/>
                  <a:gd name="T35" fmla="*/ 92 h 185"/>
                  <a:gd name="T36" fmla="*/ 22 w 34"/>
                  <a:gd name="T37" fmla="*/ 100 h 185"/>
                  <a:gd name="T38" fmla="*/ 22 w 34"/>
                  <a:gd name="T39" fmla="*/ 108 h 185"/>
                  <a:gd name="T40" fmla="*/ 26 w 34"/>
                  <a:gd name="T41" fmla="*/ 116 h 185"/>
                  <a:gd name="T42" fmla="*/ 26 w 34"/>
                  <a:gd name="T43" fmla="*/ 124 h 185"/>
                  <a:gd name="T44" fmla="*/ 26 w 34"/>
                  <a:gd name="T45" fmla="*/ 132 h 185"/>
                  <a:gd name="T46" fmla="*/ 29 w 34"/>
                  <a:gd name="T47" fmla="*/ 140 h 185"/>
                  <a:gd name="T48" fmla="*/ 29 w 34"/>
                  <a:gd name="T49" fmla="*/ 149 h 185"/>
                  <a:gd name="T50" fmla="*/ 29 w 34"/>
                  <a:gd name="T51" fmla="*/ 157 h 185"/>
                  <a:gd name="T52" fmla="*/ 33 w 34"/>
                  <a:gd name="T53" fmla="*/ 167 h 185"/>
                  <a:gd name="T54" fmla="*/ 33 w 34"/>
                  <a:gd name="T55" fmla="*/ 175 h 185"/>
                  <a:gd name="T56" fmla="*/ 33 w 34"/>
                  <a:gd name="T57" fmla="*/ 184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4" h="185">
                    <a:moveTo>
                      <a:pt x="0" y="0"/>
                    </a:moveTo>
                    <a:lnTo>
                      <a:pt x="0" y="3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3" y="14"/>
                    </a:lnTo>
                    <a:lnTo>
                      <a:pt x="7" y="19"/>
                    </a:lnTo>
                    <a:lnTo>
                      <a:pt x="7" y="22"/>
                    </a:lnTo>
                    <a:lnTo>
                      <a:pt x="7" y="27"/>
                    </a:lnTo>
                    <a:lnTo>
                      <a:pt x="11" y="33"/>
                    </a:lnTo>
                    <a:lnTo>
                      <a:pt x="11" y="38"/>
                    </a:lnTo>
                    <a:lnTo>
                      <a:pt x="11" y="44"/>
                    </a:lnTo>
                    <a:lnTo>
                      <a:pt x="15" y="51"/>
                    </a:lnTo>
                    <a:lnTo>
                      <a:pt x="15" y="57"/>
                    </a:lnTo>
                    <a:lnTo>
                      <a:pt x="15" y="63"/>
                    </a:lnTo>
                    <a:lnTo>
                      <a:pt x="18" y="70"/>
                    </a:lnTo>
                    <a:lnTo>
                      <a:pt x="18" y="76"/>
                    </a:lnTo>
                    <a:lnTo>
                      <a:pt x="18" y="84"/>
                    </a:lnTo>
                    <a:lnTo>
                      <a:pt x="22" y="92"/>
                    </a:lnTo>
                    <a:lnTo>
                      <a:pt x="22" y="100"/>
                    </a:lnTo>
                    <a:lnTo>
                      <a:pt x="22" y="108"/>
                    </a:lnTo>
                    <a:lnTo>
                      <a:pt x="26" y="116"/>
                    </a:lnTo>
                    <a:lnTo>
                      <a:pt x="26" y="124"/>
                    </a:lnTo>
                    <a:lnTo>
                      <a:pt x="26" y="132"/>
                    </a:lnTo>
                    <a:lnTo>
                      <a:pt x="29" y="140"/>
                    </a:lnTo>
                    <a:lnTo>
                      <a:pt x="29" y="149"/>
                    </a:lnTo>
                    <a:lnTo>
                      <a:pt x="29" y="157"/>
                    </a:lnTo>
                    <a:lnTo>
                      <a:pt x="33" y="167"/>
                    </a:lnTo>
                    <a:lnTo>
                      <a:pt x="33" y="175"/>
                    </a:lnTo>
                    <a:lnTo>
                      <a:pt x="33" y="184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9" name="Rectangle 53"/>
            <p:cNvSpPr>
              <a:spLocks noChangeArrowheads="1"/>
            </p:cNvSpPr>
            <p:nvPr/>
          </p:nvSpPr>
          <p:spPr bwMode="auto">
            <a:xfrm>
              <a:off x="7639052" y="5195888"/>
              <a:ext cx="1044575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038" rIns="0" bIns="46038">
              <a:spAutoFit/>
            </a:bodyPr>
            <a:lstStyle/>
            <a:p>
              <a:r>
                <a:rPr lang="en-US" altLang="en-US" sz="1800">
                  <a:latin typeface="Arial" charset="0"/>
                </a:rPr>
                <a:t>A+B+C+D</a:t>
              </a:r>
            </a:p>
          </p:txBody>
        </p:sp>
      </p:grpSp>
      <p:sp>
        <p:nvSpPr>
          <p:cNvPr id="14390" name="Rectangle 54"/>
          <p:cNvSpPr>
            <a:spLocks noChangeArrowheads="1"/>
          </p:cNvSpPr>
          <p:nvPr/>
        </p:nvSpPr>
        <p:spPr bwMode="auto">
          <a:xfrm>
            <a:off x="1717675" y="152401"/>
            <a:ext cx="5931689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4000" b="1" dirty="0"/>
              <a:t>A sum of sines and cosines</a:t>
            </a:r>
            <a:endParaRPr lang="en-US" altLang="en-US" sz="4000" dirty="0"/>
          </a:p>
        </p:txBody>
      </p:sp>
      <p:grpSp>
        <p:nvGrpSpPr>
          <p:cNvPr id="14408" name="Group 72"/>
          <p:cNvGrpSpPr>
            <a:grpSpLocks/>
          </p:cNvGrpSpPr>
          <p:nvPr/>
        </p:nvGrpSpPr>
        <p:grpSpPr bwMode="auto">
          <a:xfrm>
            <a:off x="476251" y="2514597"/>
            <a:ext cx="4095751" cy="457200"/>
            <a:chOff x="288" y="1578"/>
            <a:chExt cx="2580" cy="288"/>
          </a:xfrm>
        </p:grpSpPr>
        <p:sp>
          <p:nvSpPr>
            <p:cNvPr id="14401" name="Rectangle 65"/>
            <p:cNvSpPr>
              <a:spLocks noChangeArrowheads="1"/>
            </p:cNvSpPr>
            <p:nvPr/>
          </p:nvSpPr>
          <p:spPr bwMode="auto">
            <a:xfrm>
              <a:off x="288" y="1635"/>
              <a:ext cx="6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>
                  <a:solidFill>
                    <a:srgbClr val="114FFB"/>
                  </a:solidFill>
                  <a:latin typeface="Arial" charset="0"/>
                </a:rPr>
                <a:t>   sin(x) </a:t>
              </a:r>
            </a:p>
          </p:txBody>
        </p:sp>
        <p:grpSp>
          <p:nvGrpSpPr>
            <p:cNvPr id="14402" name="Group 66"/>
            <p:cNvGrpSpPr>
              <a:grpSpLocks/>
            </p:cNvGrpSpPr>
            <p:nvPr/>
          </p:nvGrpSpPr>
          <p:grpSpPr bwMode="auto">
            <a:xfrm>
              <a:off x="1458" y="1578"/>
              <a:ext cx="1410" cy="150"/>
              <a:chOff x="1303" y="1536"/>
              <a:chExt cx="1057" cy="606"/>
            </a:xfrm>
          </p:grpSpPr>
          <p:sp>
            <p:nvSpPr>
              <p:cNvPr id="14403" name="Freeform 67"/>
              <p:cNvSpPr>
                <a:spLocks/>
              </p:cNvSpPr>
              <p:nvPr/>
            </p:nvSpPr>
            <p:spPr bwMode="auto">
              <a:xfrm>
                <a:off x="1303" y="1536"/>
                <a:ext cx="340" cy="305"/>
              </a:xfrm>
              <a:custGeom>
                <a:avLst/>
                <a:gdLst>
                  <a:gd name="T0" fmla="*/ 3 w 340"/>
                  <a:gd name="T1" fmla="*/ 294 h 305"/>
                  <a:gd name="T2" fmla="*/ 10 w 340"/>
                  <a:gd name="T3" fmla="*/ 283 h 305"/>
                  <a:gd name="T4" fmla="*/ 13 w 340"/>
                  <a:gd name="T5" fmla="*/ 271 h 305"/>
                  <a:gd name="T6" fmla="*/ 16 w 340"/>
                  <a:gd name="T7" fmla="*/ 259 h 305"/>
                  <a:gd name="T8" fmla="*/ 23 w 340"/>
                  <a:gd name="T9" fmla="*/ 249 h 305"/>
                  <a:gd name="T10" fmla="*/ 26 w 340"/>
                  <a:gd name="T11" fmla="*/ 238 h 305"/>
                  <a:gd name="T12" fmla="*/ 29 w 340"/>
                  <a:gd name="T13" fmla="*/ 226 h 305"/>
                  <a:gd name="T14" fmla="*/ 35 w 340"/>
                  <a:gd name="T15" fmla="*/ 215 h 305"/>
                  <a:gd name="T16" fmla="*/ 39 w 340"/>
                  <a:gd name="T17" fmla="*/ 205 h 305"/>
                  <a:gd name="T18" fmla="*/ 42 w 340"/>
                  <a:gd name="T19" fmla="*/ 194 h 305"/>
                  <a:gd name="T20" fmla="*/ 48 w 340"/>
                  <a:gd name="T21" fmla="*/ 184 h 305"/>
                  <a:gd name="T22" fmla="*/ 51 w 340"/>
                  <a:gd name="T23" fmla="*/ 172 h 305"/>
                  <a:gd name="T24" fmla="*/ 55 w 340"/>
                  <a:gd name="T25" fmla="*/ 162 h 305"/>
                  <a:gd name="T26" fmla="*/ 58 w 340"/>
                  <a:gd name="T27" fmla="*/ 153 h 305"/>
                  <a:gd name="T28" fmla="*/ 64 w 340"/>
                  <a:gd name="T29" fmla="*/ 143 h 305"/>
                  <a:gd name="T30" fmla="*/ 67 w 340"/>
                  <a:gd name="T31" fmla="*/ 133 h 305"/>
                  <a:gd name="T32" fmla="*/ 71 w 340"/>
                  <a:gd name="T33" fmla="*/ 124 h 305"/>
                  <a:gd name="T34" fmla="*/ 77 w 340"/>
                  <a:gd name="T35" fmla="*/ 114 h 305"/>
                  <a:gd name="T36" fmla="*/ 80 w 340"/>
                  <a:gd name="T37" fmla="*/ 107 h 305"/>
                  <a:gd name="T38" fmla="*/ 83 w 340"/>
                  <a:gd name="T39" fmla="*/ 97 h 305"/>
                  <a:gd name="T40" fmla="*/ 90 w 340"/>
                  <a:gd name="T41" fmla="*/ 89 h 305"/>
                  <a:gd name="T42" fmla="*/ 93 w 340"/>
                  <a:gd name="T43" fmla="*/ 81 h 305"/>
                  <a:gd name="T44" fmla="*/ 96 w 340"/>
                  <a:gd name="T45" fmla="*/ 73 h 305"/>
                  <a:gd name="T46" fmla="*/ 103 w 340"/>
                  <a:gd name="T47" fmla="*/ 65 h 305"/>
                  <a:gd name="T48" fmla="*/ 106 w 340"/>
                  <a:gd name="T49" fmla="*/ 58 h 305"/>
                  <a:gd name="T50" fmla="*/ 112 w 340"/>
                  <a:gd name="T51" fmla="*/ 50 h 305"/>
                  <a:gd name="T52" fmla="*/ 119 w 340"/>
                  <a:gd name="T53" fmla="*/ 42 h 305"/>
                  <a:gd name="T54" fmla="*/ 125 w 340"/>
                  <a:gd name="T55" fmla="*/ 35 h 305"/>
                  <a:gd name="T56" fmla="*/ 131 w 340"/>
                  <a:gd name="T57" fmla="*/ 27 h 305"/>
                  <a:gd name="T58" fmla="*/ 138 w 340"/>
                  <a:gd name="T59" fmla="*/ 19 h 305"/>
                  <a:gd name="T60" fmla="*/ 147 w 340"/>
                  <a:gd name="T61" fmla="*/ 12 h 305"/>
                  <a:gd name="T62" fmla="*/ 160 w 340"/>
                  <a:gd name="T63" fmla="*/ 4 h 305"/>
                  <a:gd name="T64" fmla="*/ 173 w 340"/>
                  <a:gd name="T65" fmla="*/ 0 h 305"/>
                  <a:gd name="T66" fmla="*/ 186 w 340"/>
                  <a:gd name="T67" fmla="*/ 2 h 305"/>
                  <a:gd name="T68" fmla="*/ 199 w 340"/>
                  <a:gd name="T69" fmla="*/ 5 h 305"/>
                  <a:gd name="T70" fmla="*/ 211 w 340"/>
                  <a:gd name="T71" fmla="*/ 13 h 305"/>
                  <a:gd name="T72" fmla="*/ 221 w 340"/>
                  <a:gd name="T73" fmla="*/ 21 h 305"/>
                  <a:gd name="T74" fmla="*/ 227 w 340"/>
                  <a:gd name="T75" fmla="*/ 29 h 305"/>
                  <a:gd name="T76" fmla="*/ 234 w 340"/>
                  <a:gd name="T77" fmla="*/ 36 h 305"/>
                  <a:gd name="T78" fmla="*/ 240 w 340"/>
                  <a:gd name="T79" fmla="*/ 44 h 305"/>
                  <a:gd name="T80" fmla="*/ 243 w 340"/>
                  <a:gd name="T81" fmla="*/ 52 h 305"/>
                  <a:gd name="T82" fmla="*/ 250 w 340"/>
                  <a:gd name="T83" fmla="*/ 60 h 305"/>
                  <a:gd name="T84" fmla="*/ 253 w 340"/>
                  <a:gd name="T85" fmla="*/ 68 h 305"/>
                  <a:gd name="T86" fmla="*/ 259 w 340"/>
                  <a:gd name="T87" fmla="*/ 75 h 305"/>
                  <a:gd name="T88" fmla="*/ 262 w 340"/>
                  <a:gd name="T89" fmla="*/ 83 h 305"/>
                  <a:gd name="T90" fmla="*/ 266 w 340"/>
                  <a:gd name="T91" fmla="*/ 91 h 305"/>
                  <a:gd name="T92" fmla="*/ 269 w 340"/>
                  <a:gd name="T93" fmla="*/ 99 h 305"/>
                  <a:gd name="T94" fmla="*/ 275 w 340"/>
                  <a:gd name="T95" fmla="*/ 108 h 305"/>
                  <a:gd name="T96" fmla="*/ 278 w 340"/>
                  <a:gd name="T97" fmla="*/ 116 h 305"/>
                  <a:gd name="T98" fmla="*/ 282 w 340"/>
                  <a:gd name="T99" fmla="*/ 126 h 305"/>
                  <a:gd name="T100" fmla="*/ 288 w 340"/>
                  <a:gd name="T101" fmla="*/ 136 h 305"/>
                  <a:gd name="T102" fmla="*/ 291 w 340"/>
                  <a:gd name="T103" fmla="*/ 145 h 305"/>
                  <a:gd name="T104" fmla="*/ 294 w 340"/>
                  <a:gd name="T105" fmla="*/ 155 h 305"/>
                  <a:gd name="T106" fmla="*/ 301 w 340"/>
                  <a:gd name="T107" fmla="*/ 165 h 305"/>
                  <a:gd name="T108" fmla="*/ 304 w 340"/>
                  <a:gd name="T109" fmla="*/ 174 h 305"/>
                  <a:gd name="T110" fmla="*/ 307 w 340"/>
                  <a:gd name="T111" fmla="*/ 186 h 305"/>
                  <a:gd name="T112" fmla="*/ 314 w 340"/>
                  <a:gd name="T113" fmla="*/ 196 h 305"/>
                  <a:gd name="T114" fmla="*/ 317 w 340"/>
                  <a:gd name="T115" fmla="*/ 207 h 305"/>
                  <a:gd name="T116" fmla="*/ 320 w 340"/>
                  <a:gd name="T117" fmla="*/ 217 h 305"/>
                  <a:gd name="T118" fmla="*/ 326 w 340"/>
                  <a:gd name="T119" fmla="*/ 228 h 305"/>
                  <a:gd name="T120" fmla="*/ 330 w 340"/>
                  <a:gd name="T121" fmla="*/ 240 h 305"/>
                  <a:gd name="T122" fmla="*/ 333 w 340"/>
                  <a:gd name="T123" fmla="*/ 252 h 305"/>
                  <a:gd name="T124" fmla="*/ 339 w 340"/>
                  <a:gd name="T125" fmla="*/ 262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40" h="305">
                    <a:moveTo>
                      <a:pt x="0" y="304"/>
                    </a:moveTo>
                    <a:lnTo>
                      <a:pt x="3" y="300"/>
                    </a:lnTo>
                    <a:lnTo>
                      <a:pt x="3" y="298"/>
                    </a:lnTo>
                    <a:lnTo>
                      <a:pt x="3" y="294"/>
                    </a:lnTo>
                    <a:lnTo>
                      <a:pt x="7" y="292"/>
                    </a:lnTo>
                    <a:lnTo>
                      <a:pt x="7" y="288"/>
                    </a:lnTo>
                    <a:lnTo>
                      <a:pt x="7" y="286"/>
                    </a:lnTo>
                    <a:lnTo>
                      <a:pt x="10" y="283"/>
                    </a:lnTo>
                    <a:lnTo>
                      <a:pt x="10" y="281"/>
                    </a:lnTo>
                    <a:lnTo>
                      <a:pt x="10" y="277"/>
                    </a:lnTo>
                    <a:lnTo>
                      <a:pt x="13" y="275"/>
                    </a:lnTo>
                    <a:lnTo>
                      <a:pt x="13" y="271"/>
                    </a:lnTo>
                    <a:lnTo>
                      <a:pt x="13" y="269"/>
                    </a:lnTo>
                    <a:lnTo>
                      <a:pt x="16" y="265"/>
                    </a:lnTo>
                    <a:lnTo>
                      <a:pt x="16" y="263"/>
                    </a:lnTo>
                    <a:lnTo>
                      <a:pt x="16" y="259"/>
                    </a:lnTo>
                    <a:lnTo>
                      <a:pt x="19" y="257"/>
                    </a:lnTo>
                    <a:lnTo>
                      <a:pt x="19" y="256"/>
                    </a:lnTo>
                    <a:lnTo>
                      <a:pt x="19" y="252"/>
                    </a:lnTo>
                    <a:lnTo>
                      <a:pt x="23" y="249"/>
                    </a:lnTo>
                    <a:lnTo>
                      <a:pt x="23" y="246"/>
                    </a:lnTo>
                    <a:lnTo>
                      <a:pt x="23" y="244"/>
                    </a:lnTo>
                    <a:lnTo>
                      <a:pt x="26" y="240"/>
                    </a:lnTo>
                    <a:lnTo>
                      <a:pt x="26" y="238"/>
                    </a:lnTo>
                    <a:lnTo>
                      <a:pt x="26" y="234"/>
                    </a:lnTo>
                    <a:lnTo>
                      <a:pt x="29" y="233"/>
                    </a:lnTo>
                    <a:lnTo>
                      <a:pt x="29" y="230"/>
                    </a:lnTo>
                    <a:lnTo>
                      <a:pt x="29" y="226"/>
                    </a:lnTo>
                    <a:lnTo>
                      <a:pt x="32" y="225"/>
                    </a:lnTo>
                    <a:lnTo>
                      <a:pt x="32" y="220"/>
                    </a:lnTo>
                    <a:lnTo>
                      <a:pt x="32" y="219"/>
                    </a:lnTo>
                    <a:lnTo>
                      <a:pt x="35" y="215"/>
                    </a:lnTo>
                    <a:lnTo>
                      <a:pt x="35" y="213"/>
                    </a:lnTo>
                    <a:lnTo>
                      <a:pt x="35" y="211"/>
                    </a:lnTo>
                    <a:lnTo>
                      <a:pt x="39" y="207"/>
                    </a:lnTo>
                    <a:lnTo>
                      <a:pt x="39" y="205"/>
                    </a:lnTo>
                    <a:lnTo>
                      <a:pt x="39" y="201"/>
                    </a:lnTo>
                    <a:lnTo>
                      <a:pt x="42" y="199"/>
                    </a:lnTo>
                    <a:lnTo>
                      <a:pt x="42" y="197"/>
                    </a:lnTo>
                    <a:lnTo>
                      <a:pt x="42" y="194"/>
                    </a:lnTo>
                    <a:lnTo>
                      <a:pt x="45" y="191"/>
                    </a:lnTo>
                    <a:lnTo>
                      <a:pt x="45" y="190"/>
                    </a:lnTo>
                    <a:lnTo>
                      <a:pt x="45" y="186"/>
                    </a:lnTo>
                    <a:lnTo>
                      <a:pt x="48" y="184"/>
                    </a:lnTo>
                    <a:lnTo>
                      <a:pt x="48" y="180"/>
                    </a:lnTo>
                    <a:lnTo>
                      <a:pt x="48" y="178"/>
                    </a:lnTo>
                    <a:lnTo>
                      <a:pt x="51" y="176"/>
                    </a:lnTo>
                    <a:lnTo>
                      <a:pt x="51" y="172"/>
                    </a:lnTo>
                    <a:lnTo>
                      <a:pt x="51" y="170"/>
                    </a:lnTo>
                    <a:lnTo>
                      <a:pt x="55" y="168"/>
                    </a:lnTo>
                    <a:lnTo>
                      <a:pt x="55" y="165"/>
                    </a:lnTo>
                    <a:lnTo>
                      <a:pt x="55" y="162"/>
                    </a:lnTo>
                    <a:lnTo>
                      <a:pt x="55" y="160"/>
                    </a:lnTo>
                    <a:lnTo>
                      <a:pt x="58" y="159"/>
                    </a:lnTo>
                    <a:lnTo>
                      <a:pt x="58" y="155"/>
                    </a:lnTo>
                    <a:lnTo>
                      <a:pt x="58" y="153"/>
                    </a:lnTo>
                    <a:lnTo>
                      <a:pt x="61" y="151"/>
                    </a:lnTo>
                    <a:lnTo>
                      <a:pt x="61" y="147"/>
                    </a:lnTo>
                    <a:lnTo>
                      <a:pt x="61" y="145"/>
                    </a:lnTo>
                    <a:lnTo>
                      <a:pt x="64" y="143"/>
                    </a:lnTo>
                    <a:lnTo>
                      <a:pt x="64" y="141"/>
                    </a:lnTo>
                    <a:lnTo>
                      <a:pt x="64" y="137"/>
                    </a:lnTo>
                    <a:lnTo>
                      <a:pt x="67" y="136"/>
                    </a:lnTo>
                    <a:lnTo>
                      <a:pt x="67" y="133"/>
                    </a:lnTo>
                    <a:lnTo>
                      <a:pt x="67" y="131"/>
                    </a:lnTo>
                    <a:lnTo>
                      <a:pt x="71" y="130"/>
                    </a:lnTo>
                    <a:lnTo>
                      <a:pt x="71" y="126"/>
                    </a:lnTo>
                    <a:lnTo>
                      <a:pt x="71" y="124"/>
                    </a:lnTo>
                    <a:lnTo>
                      <a:pt x="74" y="122"/>
                    </a:lnTo>
                    <a:lnTo>
                      <a:pt x="74" y="120"/>
                    </a:lnTo>
                    <a:lnTo>
                      <a:pt x="74" y="118"/>
                    </a:lnTo>
                    <a:lnTo>
                      <a:pt x="77" y="114"/>
                    </a:lnTo>
                    <a:lnTo>
                      <a:pt x="77" y="112"/>
                    </a:lnTo>
                    <a:lnTo>
                      <a:pt x="77" y="110"/>
                    </a:lnTo>
                    <a:lnTo>
                      <a:pt x="80" y="108"/>
                    </a:lnTo>
                    <a:lnTo>
                      <a:pt x="80" y="107"/>
                    </a:lnTo>
                    <a:lnTo>
                      <a:pt x="80" y="104"/>
                    </a:lnTo>
                    <a:lnTo>
                      <a:pt x="83" y="102"/>
                    </a:lnTo>
                    <a:lnTo>
                      <a:pt x="83" y="101"/>
                    </a:lnTo>
                    <a:lnTo>
                      <a:pt x="83" y="97"/>
                    </a:lnTo>
                    <a:lnTo>
                      <a:pt x="87" y="94"/>
                    </a:lnTo>
                    <a:lnTo>
                      <a:pt x="87" y="93"/>
                    </a:lnTo>
                    <a:lnTo>
                      <a:pt x="87" y="91"/>
                    </a:lnTo>
                    <a:lnTo>
                      <a:pt x="90" y="89"/>
                    </a:lnTo>
                    <a:lnTo>
                      <a:pt x="90" y="87"/>
                    </a:lnTo>
                    <a:lnTo>
                      <a:pt x="90" y="85"/>
                    </a:lnTo>
                    <a:lnTo>
                      <a:pt x="93" y="83"/>
                    </a:lnTo>
                    <a:lnTo>
                      <a:pt x="93" y="81"/>
                    </a:lnTo>
                    <a:lnTo>
                      <a:pt x="93" y="79"/>
                    </a:lnTo>
                    <a:lnTo>
                      <a:pt x="96" y="78"/>
                    </a:lnTo>
                    <a:lnTo>
                      <a:pt x="96" y="75"/>
                    </a:lnTo>
                    <a:lnTo>
                      <a:pt x="96" y="73"/>
                    </a:lnTo>
                    <a:lnTo>
                      <a:pt x="99" y="71"/>
                    </a:lnTo>
                    <a:lnTo>
                      <a:pt x="99" y="70"/>
                    </a:lnTo>
                    <a:lnTo>
                      <a:pt x="99" y="68"/>
                    </a:lnTo>
                    <a:lnTo>
                      <a:pt x="103" y="65"/>
                    </a:lnTo>
                    <a:lnTo>
                      <a:pt x="103" y="64"/>
                    </a:lnTo>
                    <a:lnTo>
                      <a:pt x="106" y="62"/>
                    </a:lnTo>
                    <a:lnTo>
                      <a:pt x="106" y="60"/>
                    </a:lnTo>
                    <a:lnTo>
                      <a:pt x="106" y="58"/>
                    </a:lnTo>
                    <a:lnTo>
                      <a:pt x="109" y="56"/>
                    </a:lnTo>
                    <a:lnTo>
                      <a:pt x="109" y="54"/>
                    </a:lnTo>
                    <a:lnTo>
                      <a:pt x="112" y="52"/>
                    </a:lnTo>
                    <a:lnTo>
                      <a:pt x="112" y="50"/>
                    </a:lnTo>
                    <a:lnTo>
                      <a:pt x="112" y="48"/>
                    </a:lnTo>
                    <a:lnTo>
                      <a:pt x="115" y="46"/>
                    </a:lnTo>
                    <a:lnTo>
                      <a:pt x="115" y="44"/>
                    </a:lnTo>
                    <a:lnTo>
                      <a:pt x="119" y="42"/>
                    </a:lnTo>
                    <a:lnTo>
                      <a:pt x="119" y="41"/>
                    </a:lnTo>
                    <a:lnTo>
                      <a:pt x="122" y="39"/>
                    </a:lnTo>
                    <a:lnTo>
                      <a:pt x="122" y="36"/>
                    </a:lnTo>
                    <a:lnTo>
                      <a:pt x="125" y="35"/>
                    </a:lnTo>
                    <a:lnTo>
                      <a:pt x="125" y="33"/>
                    </a:lnTo>
                    <a:lnTo>
                      <a:pt x="128" y="31"/>
                    </a:lnTo>
                    <a:lnTo>
                      <a:pt x="128" y="29"/>
                    </a:lnTo>
                    <a:lnTo>
                      <a:pt x="131" y="27"/>
                    </a:lnTo>
                    <a:lnTo>
                      <a:pt x="131" y="25"/>
                    </a:lnTo>
                    <a:lnTo>
                      <a:pt x="135" y="23"/>
                    </a:lnTo>
                    <a:lnTo>
                      <a:pt x="135" y="21"/>
                    </a:lnTo>
                    <a:lnTo>
                      <a:pt x="138" y="19"/>
                    </a:lnTo>
                    <a:lnTo>
                      <a:pt x="141" y="17"/>
                    </a:lnTo>
                    <a:lnTo>
                      <a:pt x="141" y="15"/>
                    </a:lnTo>
                    <a:lnTo>
                      <a:pt x="144" y="13"/>
                    </a:lnTo>
                    <a:lnTo>
                      <a:pt x="147" y="12"/>
                    </a:lnTo>
                    <a:lnTo>
                      <a:pt x="151" y="10"/>
                    </a:lnTo>
                    <a:lnTo>
                      <a:pt x="154" y="7"/>
                    </a:lnTo>
                    <a:lnTo>
                      <a:pt x="157" y="5"/>
                    </a:lnTo>
                    <a:lnTo>
                      <a:pt x="160" y="4"/>
                    </a:lnTo>
                    <a:lnTo>
                      <a:pt x="163" y="2"/>
                    </a:lnTo>
                    <a:lnTo>
                      <a:pt x="167" y="2"/>
                    </a:lnTo>
                    <a:lnTo>
                      <a:pt x="170" y="0"/>
                    </a:lnTo>
                    <a:lnTo>
                      <a:pt x="173" y="0"/>
                    </a:lnTo>
                    <a:lnTo>
                      <a:pt x="176" y="0"/>
                    </a:lnTo>
                    <a:lnTo>
                      <a:pt x="179" y="0"/>
                    </a:lnTo>
                    <a:lnTo>
                      <a:pt x="183" y="0"/>
                    </a:lnTo>
                    <a:lnTo>
                      <a:pt x="186" y="2"/>
                    </a:lnTo>
                    <a:lnTo>
                      <a:pt x="189" y="2"/>
                    </a:lnTo>
                    <a:lnTo>
                      <a:pt x="192" y="4"/>
                    </a:lnTo>
                    <a:lnTo>
                      <a:pt x="195" y="4"/>
                    </a:lnTo>
                    <a:lnTo>
                      <a:pt x="199" y="5"/>
                    </a:lnTo>
                    <a:lnTo>
                      <a:pt x="202" y="7"/>
                    </a:lnTo>
                    <a:lnTo>
                      <a:pt x="205" y="10"/>
                    </a:lnTo>
                    <a:lnTo>
                      <a:pt x="208" y="12"/>
                    </a:lnTo>
                    <a:lnTo>
                      <a:pt x="211" y="13"/>
                    </a:lnTo>
                    <a:lnTo>
                      <a:pt x="214" y="15"/>
                    </a:lnTo>
                    <a:lnTo>
                      <a:pt x="214" y="17"/>
                    </a:lnTo>
                    <a:lnTo>
                      <a:pt x="218" y="19"/>
                    </a:lnTo>
                    <a:lnTo>
                      <a:pt x="221" y="21"/>
                    </a:lnTo>
                    <a:lnTo>
                      <a:pt x="221" y="23"/>
                    </a:lnTo>
                    <a:lnTo>
                      <a:pt x="224" y="25"/>
                    </a:lnTo>
                    <a:lnTo>
                      <a:pt x="224" y="27"/>
                    </a:lnTo>
                    <a:lnTo>
                      <a:pt x="227" y="29"/>
                    </a:lnTo>
                    <a:lnTo>
                      <a:pt x="227" y="31"/>
                    </a:lnTo>
                    <a:lnTo>
                      <a:pt x="230" y="33"/>
                    </a:lnTo>
                    <a:lnTo>
                      <a:pt x="230" y="35"/>
                    </a:lnTo>
                    <a:lnTo>
                      <a:pt x="234" y="36"/>
                    </a:lnTo>
                    <a:lnTo>
                      <a:pt x="234" y="39"/>
                    </a:lnTo>
                    <a:lnTo>
                      <a:pt x="237" y="41"/>
                    </a:lnTo>
                    <a:lnTo>
                      <a:pt x="237" y="42"/>
                    </a:lnTo>
                    <a:lnTo>
                      <a:pt x="240" y="44"/>
                    </a:lnTo>
                    <a:lnTo>
                      <a:pt x="240" y="46"/>
                    </a:lnTo>
                    <a:lnTo>
                      <a:pt x="243" y="48"/>
                    </a:lnTo>
                    <a:lnTo>
                      <a:pt x="243" y="50"/>
                    </a:lnTo>
                    <a:lnTo>
                      <a:pt x="243" y="52"/>
                    </a:lnTo>
                    <a:lnTo>
                      <a:pt x="246" y="54"/>
                    </a:lnTo>
                    <a:lnTo>
                      <a:pt x="246" y="56"/>
                    </a:lnTo>
                    <a:lnTo>
                      <a:pt x="250" y="58"/>
                    </a:lnTo>
                    <a:lnTo>
                      <a:pt x="250" y="60"/>
                    </a:lnTo>
                    <a:lnTo>
                      <a:pt x="250" y="62"/>
                    </a:lnTo>
                    <a:lnTo>
                      <a:pt x="253" y="64"/>
                    </a:lnTo>
                    <a:lnTo>
                      <a:pt x="253" y="65"/>
                    </a:lnTo>
                    <a:lnTo>
                      <a:pt x="253" y="68"/>
                    </a:lnTo>
                    <a:lnTo>
                      <a:pt x="256" y="70"/>
                    </a:lnTo>
                    <a:lnTo>
                      <a:pt x="256" y="71"/>
                    </a:lnTo>
                    <a:lnTo>
                      <a:pt x="256" y="73"/>
                    </a:lnTo>
                    <a:lnTo>
                      <a:pt x="259" y="75"/>
                    </a:lnTo>
                    <a:lnTo>
                      <a:pt x="259" y="78"/>
                    </a:lnTo>
                    <a:lnTo>
                      <a:pt x="259" y="79"/>
                    </a:lnTo>
                    <a:lnTo>
                      <a:pt x="262" y="81"/>
                    </a:lnTo>
                    <a:lnTo>
                      <a:pt x="262" y="83"/>
                    </a:lnTo>
                    <a:lnTo>
                      <a:pt x="262" y="85"/>
                    </a:lnTo>
                    <a:lnTo>
                      <a:pt x="266" y="87"/>
                    </a:lnTo>
                    <a:lnTo>
                      <a:pt x="266" y="89"/>
                    </a:lnTo>
                    <a:lnTo>
                      <a:pt x="266" y="91"/>
                    </a:lnTo>
                    <a:lnTo>
                      <a:pt x="266" y="93"/>
                    </a:lnTo>
                    <a:lnTo>
                      <a:pt x="269" y="94"/>
                    </a:lnTo>
                    <a:lnTo>
                      <a:pt x="269" y="97"/>
                    </a:lnTo>
                    <a:lnTo>
                      <a:pt x="269" y="99"/>
                    </a:lnTo>
                    <a:lnTo>
                      <a:pt x="272" y="101"/>
                    </a:lnTo>
                    <a:lnTo>
                      <a:pt x="272" y="102"/>
                    </a:lnTo>
                    <a:lnTo>
                      <a:pt x="272" y="104"/>
                    </a:lnTo>
                    <a:lnTo>
                      <a:pt x="275" y="108"/>
                    </a:lnTo>
                    <a:lnTo>
                      <a:pt x="275" y="110"/>
                    </a:lnTo>
                    <a:lnTo>
                      <a:pt x="275" y="112"/>
                    </a:lnTo>
                    <a:lnTo>
                      <a:pt x="278" y="114"/>
                    </a:lnTo>
                    <a:lnTo>
                      <a:pt x="278" y="116"/>
                    </a:lnTo>
                    <a:lnTo>
                      <a:pt x="278" y="118"/>
                    </a:lnTo>
                    <a:lnTo>
                      <a:pt x="282" y="122"/>
                    </a:lnTo>
                    <a:lnTo>
                      <a:pt x="282" y="124"/>
                    </a:lnTo>
                    <a:lnTo>
                      <a:pt x="282" y="126"/>
                    </a:lnTo>
                    <a:lnTo>
                      <a:pt x="285" y="128"/>
                    </a:lnTo>
                    <a:lnTo>
                      <a:pt x="285" y="130"/>
                    </a:lnTo>
                    <a:lnTo>
                      <a:pt x="285" y="133"/>
                    </a:lnTo>
                    <a:lnTo>
                      <a:pt x="288" y="136"/>
                    </a:lnTo>
                    <a:lnTo>
                      <a:pt x="288" y="137"/>
                    </a:lnTo>
                    <a:lnTo>
                      <a:pt x="288" y="139"/>
                    </a:lnTo>
                    <a:lnTo>
                      <a:pt x="291" y="141"/>
                    </a:lnTo>
                    <a:lnTo>
                      <a:pt x="291" y="145"/>
                    </a:lnTo>
                    <a:lnTo>
                      <a:pt x="291" y="147"/>
                    </a:lnTo>
                    <a:lnTo>
                      <a:pt x="294" y="149"/>
                    </a:lnTo>
                    <a:lnTo>
                      <a:pt x="294" y="153"/>
                    </a:lnTo>
                    <a:lnTo>
                      <a:pt x="294" y="155"/>
                    </a:lnTo>
                    <a:lnTo>
                      <a:pt x="298" y="157"/>
                    </a:lnTo>
                    <a:lnTo>
                      <a:pt x="298" y="159"/>
                    </a:lnTo>
                    <a:lnTo>
                      <a:pt x="298" y="162"/>
                    </a:lnTo>
                    <a:lnTo>
                      <a:pt x="301" y="165"/>
                    </a:lnTo>
                    <a:lnTo>
                      <a:pt x="301" y="167"/>
                    </a:lnTo>
                    <a:lnTo>
                      <a:pt x="301" y="170"/>
                    </a:lnTo>
                    <a:lnTo>
                      <a:pt x="304" y="172"/>
                    </a:lnTo>
                    <a:lnTo>
                      <a:pt x="304" y="174"/>
                    </a:lnTo>
                    <a:lnTo>
                      <a:pt x="304" y="178"/>
                    </a:lnTo>
                    <a:lnTo>
                      <a:pt x="307" y="180"/>
                    </a:lnTo>
                    <a:lnTo>
                      <a:pt x="307" y="182"/>
                    </a:lnTo>
                    <a:lnTo>
                      <a:pt x="307" y="186"/>
                    </a:lnTo>
                    <a:lnTo>
                      <a:pt x="310" y="188"/>
                    </a:lnTo>
                    <a:lnTo>
                      <a:pt x="310" y="190"/>
                    </a:lnTo>
                    <a:lnTo>
                      <a:pt x="310" y="194"/>
                    </a:lnTo>
                    <a:lnTo>
                      <a:pt x="314" y="196"/>
                    </a:lnTo>
                    <a:lnTo>
                      <a:pt x="314" y="199"/>
                    </a:lnTo>
                    <a:lnTo>
                      <a:pt x="314" y="201"/>
                    </a:lnTo>
                    <a:lnTo>
                      <a:pt x="317" y="203"/>
                    </a:lnTo>
                    <a:lnTo>
                      <a:pt x="317" y="207"/>
                    </a:lnTo>
                    <a:lnTo>
                      <a:pt x="317" y="209"/>
                    </a:lnTo>
                    <a:lnTo>
                      <a:pt x="320" y="213"/>
                    </a:lnTo>
                    <a:lnTo>
                      <a:pt x="320" y="215"/>
                    </a:lnTo>
                    <a:lnTo>
                      <a:pt x="320" y="217"/>
                    </a:lnTo>
                    <a:lnTo>
                      <a:pt x="323" y="220"/>
                    </a:lnTo>
                    <a:lnTo>
                      <a:pt x="323" y="223"/>
                    </a:lnTo>
                    <a:lnTo>
                      <a:pt x="323" y="226"/>
                    </a:lnTo>
                    <a:lnTo>
                      <a:pt x="326" y="228"/>
                    </a:lnTo>
                    <a:lnTo>
                      <a:pt x="326" y="230"/>
                    </a:lnTo>
                    <a:lnTo>
                      <a:pt x="326" y="234"/>
                    </a:lnTo>
                    <a:lnTo>
                      <a:pt x="330" y="236"/>
                    </a:lnTo>
                    <a:lnTo>
                      <a:pt x="330" y="240"/>
                    </a:lnTo>
                    <a:lnTo>
                      <a:pt x="330" y="242"/>
                    </a:lnTo>
                    <a:lnTo>
                      <a:pt x="333" y="246"/>
                    </a:lnTo>
                    <a:lnTo>
                      <a:pt x="333" y="248"/>
                    </a:lnTo>
                    <a:lnTo>
                      <a:pt x="333" y="252"/>
                    </a:lnTo>
                    <a:lnTo>
                      <a:pt x="336" y="254"/>
                    </a:lnTo>
                    <a:lnTo>
                      <a:pt x="336" y="257"/>
                    </a:lnTo>
                    <a:lnTo>
                      <a:pt x="336" y="259"/>
                    </a:lnTo>
                    <a:lnTo>
                      <a:pt x="339" y="262"/>
                    </a:lnTo>
                    <a:lnTo>
                      <a:pt x="339" y="265"/>
                    </a:lnTo>
                    <a:lnTo>
                      <a:pt x="339" y="267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4" name="Freeform 68"/>
              <p:cNvSpPr>
                <a:spLocks/>
              </p:cNvSpPr>
              <p:nvPr/>
            </p:nvSpPr>
            <p:spPr bwMode="auto">
              <a:xfrm>
                <a:off x="1642" y="1803"/>
                <a:ext cx="344" cy="339"/>
              </a:xfrm>
              <a:custGeom>
                <a:avLst/>
                <a:gdLst>
                  <a:gd name="T0" fmla="*/ 3 w 344"/>
                  <a:gd name="T1" fmla="*/ 10 h 339"/>
                  <a:gd name="T2" fmla="*/ 10 w 344"/>
                  <a:gd name="T3" fmla="*/ 21 h 339"/>
                  <a:gd name="T4" fmla="*/ 13 w 344"/>
                  <a:gd name="T5" fmla="*/ 33 h 339"/>
                  <a:gd name="T6" fmla="*/ 16 w 344"/>
                  <a:gd name="T7" fmla="*/ 43 h 339"/>
                  <a:gd name="T8" fmla="*/ 23 w 344"/>
                  <a:gd name="T9" fmla="*/ 54 h 339"/>
                  <a:gd name="T10" fmla="*/ 26 w 344"/>
                  <a:gd name="T11" fmla="*/ 66 h 339"/>
                  <a:gd name="T12" fmla="*/ 29 w 344"/>
                  <a:gd name="T13" fmla="*/ 77 h 339"/>
                  <a:gd name="T14" fmla="*/ 32 w 344"/>
                  <a:gd name="T15" fmla="*/ 89 h 339"/>
                  <a:gd name="T16" fmla="*/ 39 w 344"/>
                  <a:gd name="T17" fmla="*/ 101 h 339"/>
                  <a:gd name="T18" fmla="*/ 42 w 344"/>
                  <a:gd name="T19" fmla="*/ 110 h 339"/>
                  <a:gd name="T20" fmla="*/ 45 w 344"/>
                  <a:gd name="T21" fmla="*/ 122 h 339"/>
                  <a:gd name="T22" fmla="*/ 51 w 344"/>
                  <a:gd name="T23" fmla="*/ 133 h 339"/>
                  <a:gd name="T24" fmla="*/ 55 w 344"/>
                  <a:gd name="T25" fmla="*/ 143 h 339"/>
                  <a:gd name="T26" fmla="*/ 58 w 344"/>
                  <a:gd name="T27" fmla="*/ 155 h 339"/>
                  <a:gd name="T28" fmla="*/ 64 w 344"/>
                  <a:gd name="T29" fmla="*/ 164 h 339"/>
                  <a:gd name="T30" fmla="*/ 67 w 344"/>
                  <a:gd name="T31" fmla="*/ 174 h 339"/>
                  <a:gd name="T32" fmla="*/ 71 w 344"/>
                  <a:gd name="T33" fmla="*/ 186 h 339"/>
                  <a:gd name="T34" fmla="*/ 77 w 344"/>
                  <a:gd name="T35" fmla="*/ 196 h 339"/>
                  <a:gd name="T36" fmla="*/ 80 w 344"/>
                  <a:gd name="T37" fmla="*/ 205 h 339"/>
                  <a:gd name="T38" fmla="*/ 83 w 344"/>
                  <a:gd name="T39" fmla="*/ 212 h 339"/>
                  <a:gd name="T40" fmla="*/ 90 w 344"/>
                  <a:gd name="T41" fmla="*/ 222 h 339"/>
                  <a:gd name="T42" fmla="*/ 93 w 344"/>
                  <a:gd name="T43" fmla="*/ 232 h 339"/>
                  <a:gd name="T44" fmla="*/ 96 w 344"/>
                  <a:gd name="T45" fmla="*/ 240 h 339"/>
                  <a:gd name="T46" fmla="*/ 103 w 344"/>
                  <a:gd name="T47" fmla="*/ 247 h 339"/>
                  <a:gd name="T48" fmla="*/ 106 w 344"/>
                  <a:gd name="T49" fmla="*/ 257 h 339"/>
                  <a:gd name="T50" fmla="*/ 109 w 344"/>
                  <a:gd name="T51" fmla="*/ 265 h 339"/>
                  <a:gd name="T52" fmla="*/ 115 w 344"/>
                  <a:gd name="T53" fmla="*/ 273 h 339"/>
                  <a:gd name="T54" fmla="*/ 119 w 344"/>
                  <a:gd name="T55" fmla="*/ 280 h 339"/>
                  <a:gd name="T56" fmla="*/ 125 w 344"/>
                  <a:gd name="T57" fmla="*/ 288 h 339"/>
                  <a:gd name="T58" fmla="*/ 131 w 344"/>
                  <a:gd name="T59" fmla="*/ 296 h 339"/>
                  <a:gd name="T60" fmla="*/ 138 w 344"/>
                  <a:gd name="T61" fmla="*/ 304 h 339"/>
                  <a:gd name="T62" fmla="*/ 141 w 344"/>
                  <a:gd name="T63" fmla="*/ 311 h 339"/>
                  <a:gd name="T64" fmla="*/ 151 w 344"/>
                  <a:gd name="T65" fmla="*/ 319 h 339"/>
                  <a:gd name="T66" fmla="*/ 160 w 344"/>
                  <a:gd name="T67" fmla="*/ 327 h 339"/>
                  <a:gd name="T68" fmla="*/ 173 w 344"/>
                  <a:gd name="T69" fmla="*/ 334 h 339"/>
                  <a:gd name="T70" fmla="*/ 186 w 344"/>
                  <a:gd name="T71" fmla="*/ 338 h 339"/>
                  <a:gd name="T72" fmla="*/ 199 w 344"/>
                  <a:gd name="T73" fmla="*/ 336 h 339"/>
                  <a:gd name="T74" fmla="*/ 211 w 344"/>
                  <a:gd name="T75" fmla="*/ 333 h 339"/>
                  <a:gd name="T76" fmla="*/ 224 w 344"/>
                  <a:gd name="T77" fmla="*/ 325 h 339"/>
                  <a:gd name="T78" fmla="*/ 234 w 344"/>
                  <a:gd name="T79" fmla="*/ 317 h 339"/>
                  <a:gd name="T80" fmla="*/ 240 w 344"/>
                  <a:gd name="T81" fmla="*/ 309 h 339"/>
                  <a:gd name="T82" fmla="*/ 247 w 344"/>
                  <a:gd name="T83" fmla="*/ 302 h 339"/>
                  <a:gd name="T84" fmla="*/ 250 w 344"/>
                  <a:gd name="T85" fmla="*/ 294 h 339"/>
                  <a:gd name="T86" fmla="*/ 256 w 344"/>
                  <a:gd name="T87" fmla="*/ 286 h 339"/>
                  <a:gd name="T88" fmla="*/ 263 w 344"/>
                  <a:gd name="T89" fmla="*/ 278 h 339"/>
                  <a:gd name="T90" fmla="*/ 266 w 344"/>
                  <a:gd name="T91" fmla="*/ 270 h 339"/>
                  <a:gd name="T92" fmla="*/ 272 w 344"/>
                  <a:gd name="T93" fmla="*/ 263 h 339"/>
                  <a:gd name="T94" fmla="*/ 275 w 344"/>
                  <a:gd name="T95" fmla="*/ 255 h 339"/>
                  <a:gd name="T96" fmla="*/ 279 w 344"/>
                  <a:gd name="T97" fmla="*/ 246 h 339"/>
                  <a:gd name="T98" fmla="*/ 285 w 344"/>
                  <a:gd name="T99" fmla="*/ 238 h 339"/>
                  <a:gd name="T100" fmla="*/ 288 w 344"/>
                  <a:gd name="T101" fmla="*/ 230 h 339"/>
                  <a:gd name="T102" fmla="*/ 291 w 344"/>
                  <a:gd name="T103" fmla="*/ 220 h 339"/>
                  <a:gd name="T104" fmla="*/ 298 w 344"/>
                  <a:gd name="T105" fmla="*/ 211 h 339"/>
                  <a:gd name="T106" fmla="*/ 301 w 344"/>
                  <a:gd name="T107" fmla="*/ 201 h 339"/>
                  <a:gd name="T108" fmla="*/ 304 w 344"/>
                  <a:gd name="T109" fmla="*/ 191 h 339"/>
                  <a:gd name="T110" fmla="*/ 311 w 344"/>
                  <a:gd name="T111" fmla="*/ 182 h 339"/>
                  <a:gd name="T112" fmla="*/ 314 w 344"/>
                  <a:gd name="T113" fmla="*/ 172 h 339"/>
                  <a:gd name="T114" fmla="*/ 317 w 344"/>
                  <a:gd name="T115" fmla="*/ 162 h 339"/>
                  <a:gd name="T116" fmla="*/ 323 w 344"/>
                  <a:gd name="T117" fmla="*/ 151 h 339"/>
                  <a:gd name="T118" fmla="*/ 327 w 344"/>
                  <a:gd name="T119" fmla="*/ 141 h 339"/>
                  <a:gd name="T120" fmla="*/ 330 w 344"/>
                  <a:gd name="T121" fmla="*/ 130 h 339"/>
                  <a:gd name="T122" fmla="*/ 336 w 344"/>
                  <a:gd name="T123" fmla="*/ 120 h 339"/>
                  <a:gd name="T124" fmla="*/ 339 w 344"/>
                  <a:gd name="T125" fmla="*/ 10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44" h="339">
                    <a:moveTo>
                      <a:pt x="0" y="0"/>
                    </a:moveTo>
                    <a:lnTo>
                      <a:pt x="3" y="4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7" y="11"/>
                    </a:lnTo>
                    <a:lnTo>
                      <a:pt x="7" y="16"/>
                    </a:lnTo>
                    <a:lnTo>
                      <a:pt x="7" y="18"/>
                    </a:lnTo>
                    <a:lnTo>
                      <a:pt x="10" y="21"/>
                    </a:lnTo>
                    <a:lnTo>
                      <a:pt x="10" y="24"/>
                    </a:lnTo>
                    <a:lnTo>
                      <a:pt x="10" y="27"/>
                    </a:lnTo>
                    <a:lnTo>
                      <a:pt x="13" y="29"/>
                    </a:lnTo>
                    <a:lnTo>
                      <a:pt x="13" y="33"/>
                    </a:lnTo>
                    <a:lnTo>
                      <a:pt x="13" y="35"/>
                    </a:lnTo>
                    <a:lnTo>
                      <a:pt x="16" y="37"/>
                    </a:lnTo>
                    <a:lnTo>
                      <a:pt x="16" y="40"/>
                    </a:lnTo>
                    <a:lnTo>
                      <a:pt x="16" y="43"/>
                    </a:lnTo>
                    <a:lnTo>
                      <a:pt x="19" y="46"/>
                    </a:lnTo>
                    <a:lnTo>
                      <a:pt x="19" y="48"/>
                    </a:lnTo>
                    <a:lnTo>
                      <a:pt x="19" y="53"/>
                    </a:lnTo>
                    <a:lnTo>
                      <a:pt x="23" y="54"/>
                    </a:lnTo>
                    <a:lnTo>
                      <a:pt x="23" y="58"/>
                    </a:lnTo>
                    <a:lnTo>
                      <a:pt x="23" y="60"/>
                    </a:lnTo>
                    <a:lnTo>
                      <a:pt x="26" y="64"/>
                    </a:lnTo>
                    <a:lnTo>
                      <a:pt x="26" y="66"/>
                    </a:lnTo>
                    <a:lnTo>
                      <a:pt x="26" y="70"/>
                    </a:lnTo>
                    <a:lnTo>
                      <a:pt x="29" y="72"/>
                    </a:lnTo>
                    <a:lnTo>
                      <a:pt x="29" y="75"/>
                    </a:lnTo>
                    <a:lnTo>
                      <a:pt x="29" y="77"/>
                    </a:lnTo>
                    <a:lnTo>
                      <a:pt x="32" y="81"/>
                    </a:lnTo>
                    <a:lnTo>
                      <a:pt x="32" y="83"/>
                    </a:lnTo>
                    <a:lnTo>
                      <a:pt x="32" y="85"/>
                    </a:lnTo>
                    <a:lnTo>
                      <a:pt x="32" y="89"/>
                    </a:lnTo>
                    <a:lnTo>
                      <a:pt x="35" y="91"/>
                    </a:lnTo>
                    <a:lnTo>
                      <a:pt x="35" y="95"/>
                    </a:lnTo>
                    <a:lnTo>
                      <a:pt x="35" y="97"/>
                    </a:lnTo>
                    <a:lnTo>
                      <a:pt x="39" y="101"/>
                    </a:lnTo>
                    <a:lnTo>
                      <a:pt x="39" y="103"/>
                    </a:lnTo>
                    <a:lnTo>
                      <a:pt x="39" y="106"/>
                    </a:lnTo>
                    <a:lnTo>
                      <a:pt x="42" y="109"/>
                    </a:lnTo>
                    <a:lnTo>
                      <a:pt x="42" y="110"/>
                    </a:lnTo>
                    <a:lnTo>
                      <a:pt x="42" y="114"/>
                    </a:lnTo>
                    <a:lnTo>
                      <a:pt x="45" y="116"/>
                    </a:lnTo>
                    <a:lnTo>
                      <a:pt x="45" y="120"/>
                    </a:lnTo>
                    <a:lnTo>
                      <a:pt x="45" y="122"/>
                    </a:lnTo>
                    <a:lnTo>
                      <a:pt x="48" y="126"/>
                    </a:lnTo>
                    <a:lnTo>
                      <a:pt x="48" y="128"/>
                    </a:lnTo>
                    <a:lnTo>
                      <a:pt x="48" y="130"/>
                    </a:lnTo>
                    <a:lnTo>
                      <a:pt x="51" y="133"/>
                    </a:lnTo>
                    <a:lnTo>
                      <a:pt x="51" y="135"/>
                    </a:lnTo>
                    <a:lnTo>
                      <a:pt x="51" y="139"/>
                    </a:lnTo>
                    <a:lnTo>
                      <a:pt x="55" y="141"/>
                    </a:lnTo>
                    <a:lnTo>
                      <a:pt x="55" y="143"/>
                    </a:lnTo>
                    <a:lnTo>
                      <a:pt x="55" y="147"/>
                    </a:lnTo>
                    <a:lnTo>
                      <a:pt x="58" y="149"/>
                    </a:lnTo>
                    <a:lnTo>
                      <a:pt x="58" y="151"/>
                    </a:lnTo>
                    <a:lnTo>
                      <a:pt x="58" y="155"/>
                    </a:lnTo>
                    <a:lnTo>
                      <a:pt x="61" y="157"/>
                    </a:lnTo>
                    <a:lnTo>
                      <a:pt x="61" y="159"/>
                    </a:lnTo>
                    <a:lnTo>
                      <a:pt x="61" y="162"/>
                    </a:lnTo>
                    <a:lnTo>
                      <a:pt x="64" y="164"/>
                    </a:lnTo>
                    <a:lnTo>
                      <a:pt x="64" y="167"/>
                    </a:lnTo>
                    <a:lnTo>
                      <a:pt x="64" y="170"/>
                    </a:lnTo>
                    <a:lnTo>
                      <a:pt x="67" y="172"/>
                    </a:lnTo>
                    <a:lnTo>
                      <a:pt x="67" y="174"/>
                    </a:lnTo>
                    <a:lnTo>
                      <a:pt x="67" y="178"/>
                    </a:lnTo>
                    <a:lnTo>
                      <a:pt x="71" y="180"/>
                    </a:lnTo>
                    <a:lnTo>
                      <a:pt x="71" y="182"/>
                    </a:lnTo>
                    <a:lnTo>
                      <a:pt x="71" y="186"/>
                    </a:lnTo>
                    <a:lnTo>
                      <a:pt x="74" y="188"/>
                    </a:lnTo>
                    <a:lnTo>
                      <a:pt x="74" y="190"/>
                    </a:lnTo>
                    <a:lnTo>
                      <a:pt x="74" y="191"/>
                    </a:lnTo>
                    <a:lnTo>
                      <a:pt x="77" y="196"/>
                    </a:lnTo>
                    <a:lnTo>
                      <a:pt x="77" y="197"/>
                    </a:lnTo>
                    <a:lnTo>
                      <a:pt x="77" y="199"/>
                    </a:lnTo>
                    <a:lnTo>
                      <a:pt x="80" y="201"/>
                    </a:lnTo>
                    <a:lnTo>
                      <a:pt x="80" y="205"/>
                    </a:lnTo>
                    <a:lnTo>
                      <a:pt x="80" y="207"/>
                    </a:lnTo>
                    <a:lnTo>
                      <a:pt x="83" y="209"/>
                    </a:lnTo>
                    <a:lnTo>
                      <a:pt x="83" y="211"/>
                    </a:lnTo>
                    <a:lnTo>
                      <a:pt x="83" y="212"/>
                    </a:lnTo>
                    <a:lnTo>
                      <a:pt x="87" y="217"/>
                    </a:lnTo>
                    <a:lnTo>
                      <a:pt x="87" y="218"/>
                    </a:lnTo>
                    <a:lnTo>
                      <a:pt x="87" y="220"/>
                    </a:lnTo>
                    <a:lnTo>
                      <a:pt x="90" y="222"/>
                    </a:lnTo>
                    <a:lnTo>
                      <a:pt x="90" y="225"/>
                    </a:lnTo>
                    <a:lnTo>
                      <a:pt x="90" y="226"/>
                    </a:lnTo>
                    <a:lnTo>
                      <a:pt x="93" y="230"/>
                    </a:lnTo>
                    <a:lnTo>
                      <a:pt x="93" y="232"/>
                    </a:lnTo>
                    <a:lnTo>
                      <a:pt x="93" y="234"/>
                    </a:lnTo>
                    <a:lnTo>
                      <a:pt x="96" y="236"/>
                    </a:lnTo>
                    <a:lnTo>
                      <a:pt x="96" y="238"/>
                    </a:lnTo>
                    <a:lnTo>
                      <a:pt x="96" y="240"/>
                    </a:lnTo>
                    <a:lnTo>
                      <a:pt x="99" y="241"/>
                    </a:lnTo>
                    <a:lnTo>
                      <a:pt x="99" y="244"/>
                    </a:lnTo>
                    <a:lnTo>
                      <a:pt x="99" y="246"/>
                    </a:lnTo>
                    <a:lnTo>
                      <a:pt x="103" y="247"/>
                    </a:lnTo>
                    <a:lnTo>
                      <a:pt x="103" y="251"/>
                    </a:lnTo>
                    <a:lnTo>
                      <a:pt x="103" y="254"/>
                    </a:lnTo>
                    <a:lnTo>
                      <a:pt x="106" y="255"/>
                    </a:lnTo>
                    <a:lnTo>
                      <a:pt x="106" y="257"/>
                    </a:lnTo>
                    <a:lnTo>
                      <a:pt x="106" y="259"/>
                    </a:lnTo>
                    <a:lnTo>
                      <a:pt x="109" y="261"/>
                    </a:lnTo>
                    <a:lnTo>
                      <a:pt x="109" y="263"/>
                    </a:lnTo>
                    <a:lnTo>
                      <a:pt x="109" y="265"/>
                    </a:lnTo>
                    <a:lnTo>
                      <a:pt x="112" y="267"/>
                    </a:lnTo>
                    <a:lnTo>
                      <a:pt x="112" y="269"/>
                    </a:lnTo>
                    <a:lnTo>
                      <a:pt x="115" y="270"/>
                    </a:lnTo>
                    <a:lnTo>
                      <a:pt x="115" y="273"/>
                    </a:lnTo>
                    <a:lnTo>
                      <a:pt x="115" y="275"/>
                    </a:lnTo>
                    <a:lnTo>
                      <a:pt x="119" y="276"/>
                    </a:lnTo>
                    <a:lnTo>
                      <a:pt x="119" y="278"/>
                    </a:lnTo>
                    <a:lnTo>
                      <a:pt x="119" y="280"/>
                    </a:lnTo>
                    <a:lnTo>
                      <a:pt x="122" y="282"/>
                    </a:lnTo>
                    <a:lnTo>
                      <a:pt x="122" y="284"/>
                    </a:lnTo>
                    <a:lnTo>
                      <a:pt x="125" y="286"/>
                    </a:lnTo>
                    <a:lnTo>
                      <a:pt x="125" y="288"/>
                    </a:lnTo>
                    <a:lnTo>
                      <a:pt x="125" y="290"/>
                    </a:lnTo>
                    <a:lnTo>
                      <a:pt x="128" y="292"/>
                    </a:lnTo>
                    <a:lnTo>
                      <a:pt x="128" y="294"/>
                    </a:lnTo>
                    <a:lnTo>
                      <a:pt x="131" y="296"/>
                    </a:lnTo>
                    <a:lnTo>
                      <a:pt x="131" y="298"/>
                    </a:lnTo>
                    <a:lnTo>
                      <a:pt x="135" y="299"/>
                    </a:lnTo>
                    <a:lnTo>
                      <a:pt x="135" y="302"/>
                    </a:lnTo>
                    <a:lnTo>
                      <a:pt x="138" y="304"/>
                    </a:lnTo>
                    <a:lnTo>
                      <a:pt x="138" y="305"/>
                    </a:lnTo>
                    <a:lnTo>
                      <a:pt x="138" y="307"/>
                    </a:lnTo>
                    <a:lnTo>
                      <a:pt x="141" y="309"/>
                    </a:lnTo>
                    <a:lnTo>
                      <a:pt x="141" y="311"/>
                    </a:lnTo>
                    <a:lnTo>
                      <a:pt x="144" y="313"/>
                    </a:lnTo>
                    <a:lnTo>
                      <a:pt x="147" y="315"/>
                    </a:lnTo>
                    <a:lnTo>
                      <a:pt x="147" y="317"/>
                    </a:lnTo>
                    <a:lnTo>
                      <a:pt x="151" y="319"/>
                    </a:lnTo>
                    <a:lnTo>
                      <a:pt x="151" y="321"/>
                    </a:lnTo>
                    <a:lnTo>
                      <a:pt x="154" y="323"/>
                    </a:lnTo>
                    <a:lnTo>
                      <a:pt x="157" y="325"/>
                    </a:lnTo>
                    <a:lnTo>
                      <a:pt x="160" y="327"/>
                    </a:lnTo>
                    <a:lnTo>
                      <a:pt x="163" y="328"/>
                    </a:lnTo>
                    <a:lnTo>
                      <a:pt x="167" y="331"/>
                    </a:lnTo>
                    <a:lnTo>
                      <a:pt x="170" y="333"/>
                    </a:lnTo>
                    <a:lnTo>
                      <a:pt x="173" y="334"/>
                    </a:lnTo>
                    <a:lnTo>
                      <a:pt x="176" y="336"/>
                    </a:lnTo>
                    <a:lnTo>
                      <a:pt x="179" y="336"/>
                    </a:lnTo>
                    <a:lnTo>
                      <a:pt x="183" y="338"/>
                    </a:lnTo>
                    <a:lnTo>
                      <a:pt x="186" y="338"/>
                    </a:lnTo>
                    <a:lnTo>
                      <a:pt x="189" y="338"/>
                    </a:lnTo>
                    <a:lnTo>
                      <a:pt x="192" y="338"/>
                    </a:lnTo>
                    <a:lnTo>
                      <a:pt x="195" y="338"/>
                    </a:lnTo>
                    <a:lnTo>
                      <a:pt x="199" y="336"/>
                    </a:lnTo>
                    <a:lnTo>
                      <a:pt x="202" y="336"/>
                    </a:lnTo>
                    <a:lnTo>
                      <a:pt x="205" y="334"/>
                    </a:lnTo>
                    <a:lnTo>
                      <a:pt x="208" y="334"/>
                    </a:lnTo>
                    <a:lnTo>
                      <a:pt x="211" y="333"/>
                    </a:lnTo>
                    <a:lnTo>
                      <a:pt x="215" y="331"/>
                    </a:lnTo>
                    <a:lnTo>
                      <a:pt x="218" y="328"/>
                    </a:lnTo>
                    <a:lnTo>
                      <a:pt x="221" y="327"/>
                    </a:lnTo>
                    <a:lnTo>
                      <a:pt x="224" y="325"/>
                    </a:lnTo>
                    <a:lnTo>
                      <a:pt x="227" y="323"/>
                    </a:lnTo>
                    <a:lnTo>
                      <a:pt x="231" y="321"/>
                    </a:lnTo>
                    <a:lnTo>
                      <a:pt x="231" y="319"/>
                    </a:lnTo>
                    <a:lnTo>
                      <a:pt x="234" y="317"/>
                    </a:lnTo>
                    <a:lnTo>
                      <a:pt x="234" y="315"/>
                    </a:lnTo>
                    <a:lnTo>
                      <a:pt x="237" y="313"/>
                    </a:lnTo>
                    <a:lnTo>
                      <a:pt x="240" y="311"/>
                    </a:lnTo>
                    <a:lnTo>
                      <a:pt x="240" y="309"/>
                    </a:lnTo>
                    <a:lnTo>
                      <a:pt x="243" y="307"/>
                    </a:lnTo>
                    <a:lnTo>
                      <a:pt x="243" y="305"/>
                    </a:lnTo>
                    <a:lnTo>
                      <a:pt x="243" y="304"/>
                    </a:lnTo>
                    <a:lnTo>
                      <a:pt x="247" y="302"/>
                    </a:lnTo>
                    <a:lnTo>
                      <a:pt x="247" y="299"/>
                    </a:lnTo>
                    <a:lnTo>
                      <a:pt x="250" y="298"/>
                    </a:lnTo>
                    <a:lnTo>
                      <a:pt x="250" y="296"/>
                    </a:lnTo>
                    <a:lnTo>
                      <a:pt x="250" y="294"/>
                    </a:lnTo>
                    <a:lnTo>
                      <a:pt x="253" y="292"/>
                    </a:lnTo>
                    <a:lnTo>
                      <a:pt x="253" y="290"/>
                    </a:lnTo>
                    <a:lnTo>
                      <a:pt x="256" y="288"/>
                    </a:lnTo>
                    <a:lnTo>
                      <a:pt x="256" y="286"/>
                    </a:lnTo>
                    <a:lnTo>
                      <a:pt x="259" y="284"/>
                    </a:lnTo>
                    <a:lnTo>
                      <a:pt x="259" y="282"/>
                    </a:lnTo>
                    <a:lnTo>
                      <a:pt x="259" y="280"/>
                    </a:lnTo>
                    <a:lnTo>
                      <a:pt x="263" y="278"/>
                    </a:lnTo>
                    <a:lnTo>
                      <a:pt x="263" y="276"/>
                    </a:lnTo>
                    <a:lnTo>
                      <a:pt x="263" y="275"/>
                    </a:lnTo>
                    <a:lnTo>
                      <a:pt x="266" y="273"/>
                    </a:lnTo>
                    <a:lnTo>
                      <a:pt x="266" y="270"/>
                    </a:lnTo>
                    <a:lnTo>
                      <a:pt x="266" y="269"/>
                    </a:lnTo>
                    <a:lnTo>
                      <a:pt x="269" y="267"/>
                    </a:lnTo>
                    <a:lnTo>
                      <a:pt x="269" y="265"/>
                    </a:lnTo>
                    <a:lnTo>
                      <a:pt x="272" y="263"/>
                    </a:lnTo>
                    <a:lnTo>
                      <a:pt x="272" y="261"/>
                    </a:lnTo>
                    <a:lnTo>
                      <a:pt x="272" y="259"/>
                    </a:lnTo>
                    <a:lnTo>
                      <a:pt x="275" y="257"/>
                    </a:lnTo>
                    <a:lnTo>
                      <a:pt x="275" y="255"/>
                    </a:lnTo>
                    <a:lnTo>
                      <a:pt x="275" y="254"/>
                    </a:lnTo>
                    <a:lnTo>
                      <a:pt x="279" y="251"/>
                    </a:lnTo>
                    <a:lnTo>
                      <a:pt x="279" y="247"/>
                    </a:lnTo>
                    <a:lnTo>
                      <a:pt x="279" y="246"/>
                    </a:lnTo>
                    <a:lnTo>
                      <a:pt x="282" y="244"/>
                    </a:lnTo>
                    <a:lnTo>
                      <a:pt x="282" y="241"/>
                    </a:lnTo>
                    <a:lnTo>
                      <a:pt x="282" y="240"/>
                    </a:lnTo>
                    <a:lnTo>
                      <a:pt x="285" y="238"/>
                    </a:lnTo>
                    <a:lnTo>
                      <a:pt x="285" y="236"/>
                    </a:lnTo>
                    <a:lnTo>
                      <a:pt x="285" y="234"/>
                    </a:lnTo>
                    <a:lnTo>
                      <a:pt x="288" y="232"/>
                    </a:lnTo>
                    <a:lnTo>
                      <a:pt x="288" y="230"/>
                    </a:lnTo>
                    <a:lnTo>
                      <a:pt x="288" y="226"/>
                    </a:lnTo>
                    <a:lnTo>
                      <a:pt x="291" y="225"/>
                    </a:lnTo>
                    <a:lnTo>
                      <a:pt x="291" y="222"/>
                    </a:lnTo>
                    <a:lnTo>
                      <a:pt x="291" y="220"/>
                    </a:lnTo>
                    <a:lnTo>
                      <a:pt x="295" y="218"/>
                    </a:lnTo>
                    <a:lnTo>
                      <a:pt x="295" y="217"/>
                    </a:lnTo>
                    <a:lnTo>
                      <a:pt x="295" y="212"/>
                    </a:lnTo>
                    <a:lnTo>
                      <a:pt x="298" y="211"/>
                    </a:lnTo>
                    <a:lnTo>
                      <a:pt x="298" y="209"/>
                    </a:lnTo>
                    <a:lnTo>
                      <a:pt x="298" y="207"/>
                    </a:lnTo>
                    <a:lnTo>
                      <a:pt x="301" y="205"/>
                    </a:lnTo>
                    <a:lnTo>
                      <a:pt x="301" y="201"/>
                    </a:lnTo>
                    <a:lnTo>
                      <a:pt x="301" y="199"/>
                    </a:lnTo>
                    <a:lnTo>
                      <a:pt x="304" y="197"/>
                    </a:lnTo>
                    <a:lnTo>
                      <a:pt x="304" y="196"/>
                    </a:lnTo>
                    <a:lnTo>
                      <a:pt x="304" y="191"/>
                    </a:lnTo>
                    <a:lnTo>
                      <a:pt x="307" y="190"/>
                    </a:lnTo>
                    <a:lnTo>
                      <a:pt x="307" y="188"/>
                    </a:lnTo>
                    <a:lnTo>
                      <a:pt x="307" y="186"/>
                    </a:lnTo>
                    <a:lnTo>
                      <a:pt x="311" y="182"/>
                    </a:lnTo>
                    <a:lnTo>
                      <a:pt x="311" y="180"/>
                    </a:lnTo>
                    <a:lnTo>
                      <a:pt x="311" y="178"/>
                    </a:lnTo>
                    <a:lnTo>
                      <a:pt x="314" y="174"/>
                    </a:lnTo>
                    <a:lnTo>
                      <a:pt x="314" y="172"/>
                    </a:lnTo>
                    <a:lnTo>
                      <a:pt x="314" y="170"/>
                    </a:lnTo>
                    <a:lnTo>
                      <a:pt x="317" y="167"/>
                    </a:lnTo>
                    <a:lnTo>
                      <a:pt x="317" y="164"/>
                    </a:lnTo>
                    <a:lnTo>
                      <a:pt x="317" y="162"/>
                    </a:lnTo>
                    <a:lnTo>
                      <a:pt x="320" y="159"/>
                    </a:lnTo>
                    <a:lnTo>
                      <a:pt x="320" y="157"/>
                    </a:lnTo>
                    <a:lnTo>
                      <a:pt x="320" y="155"/>
                    </a:lnTo>
                    <a:lnTo>
                      <a:pt x="323" y="151"/>
                    </a:lnTo>
                    <a:lnTo>
                      <a:pt x="323" y="149"/>
                    </a:lnTo>
                    <a:lnTo>
                      <a:pt x="323" y="147"/>
                    </a:lnTo>
                    <a:lnTo>
                      <a:pt x="327" y="143"/>
                    </a:lnTo>
                    <a:lnTo>
                      <a:pt x="327" y="141"/>
                    </a:lnTo>
                    <a:lnTo>
                      <a:pt x="327" y="139"/>
                    </a:lnTo>
                    <a:lnTo>
                      <a:pt x="330" y="135"/>
                    </a:lnTo>
                    <a:lnTo>
                      <a:pt x="330" y="133"/>
                    </a:lnTo>
                    <a:lnTo>
                      <a:pt x="330" y="130"/>
                    </a:lnTo>
                    <a:lnTo>
                      <a:pt x="333" y="128"/>
                    </a:lnTo>
                    <a:lnTo>
                      <a:pt x="333" y="126"/>
                    </a:lnTo>
                    <a:lnTo>
                      <a:pt x="333" y="122"/>
                    </a:lnTo>
                    <a:lnTo>
                      <a:pt x="336" y="120"/>
                    </a:lnTo>
                    <a:lnTo>
                      <a:pt x="336" y="116"/>
                    </a:lnTo>
                    <a:lnTo>
                      <a:pt x="336" y="114"/>
                    </a:lnTo>
                    <a:lnTo>
                      <a:pt x="339" y="110"/>
                    </a:lnTo>
                    <a:lnTo>
                      <a:pt x="339" y="109"/>
                    </a:lnTo>
                    <a:lnTo>
                      <a:pt x="339" y="106"/>
                    </a:lnTo>
                    <a:lnTo>
                      <a:pt x="343" y="103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5" name="Freeform 69"/>
              <p:cNvSpPr>
                <a:spLocks/>
              </p:cNvSpPr>
              <p:nvPr/>
            </p:nvSpPr>
            <p:spPr bwMode="auto">
              <a:xfrm>
                <a:off x="1985" y="1536"/>
                <a:ext cx="337" cy="372"/>
              </a:xfrm>
              <a:custGeom>
                <a:avLst/>
                <a:gdLst>
                  <a:gd name="T0" fmla="*/ 3 w 337"/>
                  <a:gd name="T1" fmla="*/ 363 h 372"/>
                  <a:gd name="T2" fmla="*/ 6 w 337"/>
                  <a:gd name="T3" fmla="*/ 352 h 372"/>
                  <a:gd name="T4" fmla="*/ 9 w 337"/>
                  <a:gd name="T5" fmla="*/ 340 h 372"/>
                  <a:gd name="T6" fmla="*/ 12 w 337"/>
                  <a:gd name="T7" fmla="*/ 328 h 372"/>
                  <a:gd name="T8" fmla="*/ 19 w 337"/>
                  <a:gd name="T9" fmla="*/ 316 h 372"/>
                  <a:gd name="T10" fmla="*/ 22 w 337"/>
                  <a:gd name="T11" fmla="*/ 305 h 372"/>
                  <a:gd name="T12" fmla="*/ 25 w 337"/>
                  <a:gd name="T13" fmla="*/ 295 h 372"/>
                  <a:gd name="T14" fmla="*/ 32 w 337"/>
                  <a:gd name="T15" fmla="*/ 284 h 372"/>
                  <a:gd name="T16" fmla="*/ 35 w 337"/>
                  <a:gd name="T17" fmla="*/ 272 h 372"/>
                  <a:gd name="T18" fmla="*/ 38 w 337"/>
                  <a:gd name="T19" fmla="*/ 260 h 372"/>
                  <a:gd name="T20" fmla="*/ 44 w 337"/>
                  <a:gd name="T21" fmla="*/ 248 h 372"/>
                  <a:gd name="T22" fmla="*/ 48 w 337"/>
                  <a:gd name="T23" fmla="*/ 237 h 372"/>
                  <a:gd name="T24" fmla="*/ 51 w 337"/>
                  <a:gd name="T25" fmla="*/ 227 h 372"/>
                  <a:gd name="T26" fmla="*/ 57 w 337"/>
                  <a:gd name="T27" fmla="*/ 216 h 372"/>
                  <a:gd name="T28" fmla="*/ 60 w 337"/>
                  <a:gd name="T29" fmla="*/ 204 h 372"/>
                  <a:gd name="T30" fmla="*/ 64 w 337"/>
                  <a:gd name="T31" fmla="*/ 194 h 372"/>
                  <a:gd name="T32" fmla="*/ 70 w 337"/>
                  <a:gd name="T33" fmla="*/ 182 h 372"/>
                  <a:gd name="T34" fmla="*/ 73 w 337"/>
                  <a:gd name="T35" fmla="*/ 172 h 372"/>
                  <a:gd name="T36" fmla="*/ 76 w 337"/>
                  <a:gd name="T37" fmla="*/ 163 h 372"/>
                  <a:gd name="T38" fmla="*/ 83 w 337"/>
                  <a:gd name="T39" fmla="*/ 153 h 372"/>
                  <a:gd name="T40" fmla="*/ 86 w 337"/>
                  <a:gd name="T41" fmla="*/ 141 h 372"/>
                  <a:gd name="T42" fmla="*/ 89 w 337"/>
                  <a:gd name="T43" fmla="*/ 134 h 372"/>
                  <a:gd name="T44" fmla="*/ 96 w 337"/>
                  <a:gd name="T45" fmla="*/ 124 h 372"/>
                  <a:gd name="T46" fmla="*/ 99 w 337"/>
                  <a:gd name="T47" fmla="*/ 114 h 372"/>
                  <a:gd name="T48" fmla="*/ 102 w 337"/>
                  <a:gd name="T49" fmla="*/ 104 h 372"/>
                  <a:gd name="T50" fmla="*/ 108 w 337"/>
                  <a:gd name="T51" fmla="*/ 97 h 372"/>
                  <a:gd name="T52" fmla="*/ 112 w 337"/>
                  <a:gd name="T53" fmla="*/ 89 h 372"/>
                  <a:gd name="T54" fmla="*/ 115 w 337"/>
                  <a:gd name="T55" fmla="*/ 81 h 372"/>
                  <a:gd name="T56" fmla="*/ 118 w 337"/>
                  <a:gd name="T57" fmla="*/ 73 h 372"/>
                  <a:gd name="T58" fmla="*/ 124 w 337"/>
                  <a:gd name="T59" fmla="*/ 66 h 372"/>
                  <a:gd name="T60" fmla="*/ 128 w 337"/>
                  <a:gd name="T61" fmla="*/ 58 h 372"/>
                  <a:gd name="T62" fmla="*/ 134 w 337"/>
                  <a:gd name="T63" fmla="*/ 50 h 372"/>
                  <a:gd name="T64" fmla="*/ 140 w 337"/>
                  <a:gd name="T65" fmla="*/ 43 h 372"/>
                  <a:gd name="T66" fmla="*/ 144 w 337"/>
                  <a:gd name="T67" fmla="*/ 35 h 372"/>
                  <a:gd name="T68" fmla="*/ 150 w 337"/>
                  <a:gd name="T69" fmla="*/ 27 h 372"/>
                  <a:gd name="T70" fmla="*/ 160 w 337"/>
                  <a:gd name="T71" fmla="*/ 19 h 372"/>
                  <a:gd name="T72" fmla="*/ 169 w 337"/>
                  <a:gd name="T73" fmla="*/ 12 h 372"/>
                  <a:gd name="T74" fmla="*/ 182 w 337"/>
                  <a:gd name="T75" fmla="*/ 4 h 372"/>
                  <a:gd name="T76" fmla="*/ 195 w 337"/>
                  <a:gd name="T77" fmla="*/ 0 h 372"/>
                  <a:gd name="T78" fmla="*/ 208 w 337"/>
                  <a:gd name="T79" fmla="*/ 2 h 372"/>
                  <a:gd name="T80" fmla="*/ 220 w 337"/>
                  <a:gd name="T81" fmla="*/ 5 h 372"/>
                  <a:gd name="T82" fmla="*/ 233 w 337"/>
                  <a:gd name="T83" fmla="*/ 13 h 372"/>
                  <a:gd name="T84" fmla="*/ 243 w 337"/>
                  <a:gd name="T85" fmla="*/ 21 h 372"/>
                  <a:gd name="T86" fmla="*/ 249 w 337"/>
                  <a:gd name="T87" fmla="*/ 29 h 372"/>
                  <a:gd name="T88" fmla="*/ 256 w 337"/>
                  <a:gd name="T89" fmla="*/ 36 h 372"/>
                  <a:gd name="T90" fmla="*/ 262 w 337"/>
                  <a:gd name="T91" fmla="*/ 44 h 372"/>
                  <a:gd name="T92" fmla="*/ 265 w 337"/>
                  <a:gd name="T93" fmla="*/ 52 h 372"/>
                  <a:gd name="T94" fmla="*/ 272 w 337"/>
                  <a:gd name="T95" fmla="*/ 60 h 372"/>
                  <a:gd name="T96" fmla="*/ 275 w 337"/>
                  <a:gd name="T97" fmla="*/ 68 h 372"/>
                  <a:gd name="T98" fmla="*/ 281 w 337"/>
                  <a:gd name="T99" fmla="*/ 75 h 372"/>
                  <a:gd name="T100" fmla="*/ 284 w 337"/>
                  <a:gd name="T101" fmla="*/ 83 h 372"/>
                  <a:gd name="T102" fmla="*/ 288 w 337"/>
                  <a:gd name="T103" fmla="*/ 91 h 372"/>
                  <a:gd name="T104" fmla="*/ 294 w 337"/>
                  <a:gd name="T105" fmla="*/ 101 h 372"/>
                  <a:gd name="T106" fmla="*/ 297 w 337"/>
                  <a:gd name="T107" fmla="*/ 109 h 372"/>
                  <a:gd name="T108" fmla="*/ 300 w 337"/>
                  <a:gd name="T109" fmla="*/ 118 h 372"/>
                  <a:gd name="T110" fmla="*/ 307 w 337"/>
                  <a:gd name="T111" fmla="*/ 126 h 372"/>
                  <a:gd name="T112" fmla="*/ 310 w 337"/>
                  <a:gd name="T113" fmla="*/ 136 h 372"/>
                  <a:gd name="T114" fmla="*/ 313 w 337"/>
                  <a:gd name="T115" fmla="*/ 146 h 372"/>
                  <a:gd name="T116" fmla="*/ 320 w 337"/>
                  <a:gd name="T117" fmla="*/ 155 h 372"/>
                  <a:gd name="T118" fmla="*/ 323 w 337"/>
                  <a:gd name="T119" fmla="*/ 165 h 372"/>
                  <a:gd name="T120" fmla="*/ 326 w 337"/>
                  <a:gd name="T121" fmla="*/ 177 h 372"/>
                  <a:gd name="T122" fmla="*/ 329 w 337"/>
                  <a:gd name="T123" fmla="*/ 186 h 372"/>
                  <a:gd name="T124" fmla="*/ 336 w 337"/>
                  <a:gd name="T125" fmla="*/ 198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37" h="372">
                    <a:moveTo>
                      <a:pt x="0" y="371"/>
                    </a:moveTo>
                    <a:lnTo>
                      <a:pt x="0" y="369"/>
                    </a:lnTo>
                    <a:lnTo>
                      <a:pt x="0" y="365"/>
                    </a:lnTo>
                    <a:lnTo>
                      <a:pt x="3" y="363"/>
                    </a:lnTo>
                    <a:lnTo>
                      <a:pt x="3" y="359"/>
                    </a:lnTo>
                    <a:lnTo>
                      <a:pt x="3" y="358"/>
                    </a:lnTo>
                    <a:lnTo>
                      <a:pt x="6" y="353"/>
                    </a:lnTo>
                    <a:lnTo>
                      <a:pt x="6" y="352"/>
                    </a:lnTo>
                    <a:lnTo>
                      <a:pt x="6" y="350"/>
                    </a:lnTo>
                    <a:lnTo>
                      <a:pt x="6" y="345"/>
                    </a:lnTo>
                    <a:lnTo>
                      <a:pt x="9" y="344"/>
                    </a:lnTo>
                    <a:lnTo>
                      <a:pt x="9" y="340"/>
                    </a:lnTo>
                    <a:lnTo>
                      <a:pt x="9" y="338"/>
                    </a:lnTo>
                    <a:lnTo>
                      <a:pt x="12" y="334"/>
                    </a:lnTo>
                    <a:lnTo>
                      <a:pt x="12" y="332"/>
                    </a:lnTo>
                    <a:lnTo>
                      <a:pt x="12" y="328"/>
                    </a:lnTo>
                    <a:lnTo>
                      <a:pt x="16" y="326"/>
                    </a:lnTo>
                    <a:lnTo>
                      <a:pt x="16" y="322"/>
                    </a:lnTo>
                    <a:lnTo>
                      <a:pt x="16" y="321"/>
                    </a:lnTo>
                    <a:lnTo>
                      <a:pt x="19" y="316"/>
                    </a:lnTo>
                    <a:lnTo>
                      <a:pt x="19" y="315"/>
                    </a:lnTo>
                    <a:lnTo>
                      <a:pt x="19" y="311"/>
                    </a:lnTo>
                    <a:lnTo>
                      <a:pt x="22" y="308"/>
                    </a:lnTo>
                    <a:lnTo>
                      <a:pt x="22" y="305"/>
                    </a:lnTo>
                    <a:lnTo>
                      <a:pt x="22" y="303"/>
                    </a:lnTo>
                    <a:lnTo>
                      <a:pt x="25" y="301"/>
                    </a:lnTo>
                    <a:lnTo>
                      <a:pt x="25" y="297"/>
                    </a:lnTo>
                    <a:lnTo>
                      <a:pt x="25" y="295"/>
                    </a:lnTo>
                    <a:lnTo>
                      <a:pt x="28" y="291"/>
                    </a:lnTo>
                    <a:lnTo>
                      <a:pt x="28" y="289"/>
                    </a:lnTo>
                    <a:lnTo>
                      <a:pt x="28" y="285"/>
                    </a:lnTo>
                    <a:lnTo>
                      <a:pt x="32" y="284"/>
                    </a:lnTo>
                    <a:lnTo>
                      <a:pt x="32" y="279"/>
                    </a:lnTo>
                    <a:lnTo>
                      <a:pt x="32" y="277"/>
                    </a:lnTo>
                    <a:lnTo>
                      <a:pt x="35" y="274"/>
                    </a:lnTo>
                    <a:lnTo>
                      <a:pt x="35" y="272"/>
                    </a:lnTo>
                    <a:lnTo>
                      <a:pt x="35" y="268"/>
                    </a:lnTo>
                    <a:lnTo>
                      <a:pt x="38" y="266"/>
                    </a:lnTo>
                    <a:lnTo>
                      <a:pt x="38" y="262"/>
                    </a:lnTo>
                    <a:lnTo>
                      <a:pt x="38" y="260"/>
                    </a:lnTo>
                    <a:lnTo>
                      <a:pt x="41" y="258"/>
                    </a:lnTo>
                    <a:lnTo>
                      <a:pt x="41" y="254"/>
                    </a:lnTo>
                    <a:lnTo>
                      <a:pt x="41" y="253"/>
                    </a:lnTo>
                    <a:lnTo>
                      <a:pt x="44" y="248"/>
                    </a:lnTo>
                    <a:lnTo>
                      <a:pt x="44" y="247"/>
                    </a:lnTo>
                    <a:lnTo>
                      <a:pt x="44" y="243"/>
                    </a:lnTo>
                    <a:lnTo>
                      <a:pt x="48" y="240"/>
                    </a:lnTo>
                    <a:lnTo>
                      <a:pt x="48" y="237"/>
                    </a:lnTo>
                    <a:lnTo>
                      <a:pt x="48" y="235"/>
                    </a:lnTo>
                    <a:lnTo>
                      <a:pt x="51" y="231"/>
                    </a:lnTo>
                    <a:lnTo>
                      <a:pt x="51" y="229"/>
                    </a:lnTo>
                    <a:lnTo>
                      <a:pt x="51" y="227"/>
                    </a:lnTo>
                    <a:lnTo>
                      <a:pt x="54" y="223"/>
                    </a:lnTo>
                    <a:lnTo>
                      <a:pt x="54" y="221"/>
                    </a:lnTo>
                    <a:lnTo>
                      <a:pt x="54" y="217"/>
                    </a:lnTo>
                    <a:lnTo>
                      <a:pt x="57" y="216"/>
                    </a:lnTo>
                    <a:lnTo>
                      <a:pt x="57" y="214"/>
                    </a:lnTo>
                    <a:lnTo>
                      <a:pt x="57" y="209"/>
                    </a:lnTo>
                    <a:lnTo>
                      <a:pt x="60" y="208"/>
                    </a:lnTo>
                    <a:lnTo>
                      <a:pt x="60" y="204"/>
                    </a:lnTo>
                    <a:lnTo>
                      <a:pt x="60" y="202"/>
                    </a:lnTo>
                    <a:lnTo>
                      <a:pt x="64" y="200"/>
                    </a:lnTo>
                    <a:lnTo>
                      <a:pt x="64" y="196"/>
                    </a:lnTo>
                    <a:lnTo>
                      <a:pt x="64" y="194"/>
                    </a:lnTo>
                    <a:lnTo>
                      <a:pt x="67" y="190"/>
                    </a:lnTo>
                    <a:lnTo>
                      <a:pt x="67" y="188"/>
                    </a:lnTo>
                    <a:lnTo>
                      <a:pt x="67" y="186"/>
                    </a:lnTo>
                    <a:lnTo>
                      <a:pt x="70" y="182"/>
                    </a:lnTo>
                    <a:lnTo>
                      <a:pt x="70" y="180"/>
                    </a:lnTo>
                    <a:lnTo>
                      <a:pt x="70" y="179"/>
                    </a:lnTo>
                    <a:lnTo>
                      <a:pt x="73" y="175"/>
                    </a:lnTo>
                    <a:lnTo>
                      <a:pt x="73" y="172"/>
                    </a:lnTo>
                    <a:lnTo>
                      <a:pt x="73" y="171"/>
                    </a:lnTo>
                    <a:lnTo>
                      <a:pt x="76" y="167"/>
                    </a:lnTo>
                    <a:lnTo>
                      <a:pt x="76" y="165"/>
                    </a:lnTo>
                    <a:lnTo>
                      <a:pt x="76" y="163"/>
                    </a:lnTo>
                    <a:lnTo>
                      <a:pt x="80" y="159"/>
                    </a:lnTo>
                    <a:lnTo>
                      <a:pt x="80" y="157"/>
                    </a:lnTo>
                    <a:lnTo>
                      <a:pt x="80" y="155"/>
                    </a:lnTo>
                    <a:lnTo>
                      <a:pt x="83" y="153"/>
                    </a:lnTo>
                    <a:lnTo>
                      <a:pt x="83" y="149"/>
                    </a:lnTo>
                    <a:lnTo>
                      <a:pt x="83" y="148"/>
                    </a:lnTo>
                    <a:lnTo>
                      <a:pt x="86" y="146"/>
                    </a:lnTo>
                    <a:lnTo>
                      <a:pt x="86" y="141"/>
                    </a:lnTo>
                    <a:lnTo>
                      <a:pt x="86" y="140"/>
                    </a:lnTo>
                    <a:lnTo>
                      <a:pt x="89" y="138"/>
                    </a:lnTo>
                    <a:lnTo>
                      <a:pt x="89" y="136"/>
                    </a:lnTo>
                    <a:lnTo>
                      <a:pt x="89" y="134"/>
                    </a:lnTo>
                    <a:lnTo>
                      <a:pt x="92" y="130"/>
                    </a:lnTo>
                    <a:lnTo>
                      <a:pt x="92" y="128"/>
                    </a:lnTo>
                    <a:lnTo>
                      <a:pt x="92" y="126"/>
                    </a:lnTo>
                    <a:lnTo>
                      <a:pt x="96" y="124"/>
                    </a:lnTo>
                    <a:lnTo>
                      <a:pt x="96" y="122"/>
                    </a:lnTo>
                    <a:lnTo>
                      <a:pt x="96" y="118"/>
                    </a:lnTo>
                    <a:lnTo>
                      <a:pt x="99" y="117"/>
                    </a:lnTo>
                    <a:lnTo>
                      <a:pt x="99" y="114"/>
                    </a:lnTo>
                    <a:lnTo>
                      <a:pt x="99" y="112"/>
                    </a:lnTo>
                    <a:lnTo>
                      <a:pt x="102" y="111"/>
                    </a:lnTo>
                    <a:lnTo>
                      <a:pt x="102" y="109"/>
                    </a:lnTo>
                    <a:lnTo>
                      <a:pt x="102" y="104"/>
                    </a:lnTo>
                    <a:lnTo>
                      <a:pt x="105" y="103"/>
                    </a:lnTo>
                    <a:lnTo>
                      <a:pt x="105" y="101"/>
                    </a:lnTo>
                    <a:lnTo>
                      <a:pt x="105" y="99"/>
                    </a:lnTo>
                    <a:lnTo>
                      <a:pt x="108" y="97"/>
                    </a:lnTo>
                    <a:lnTo>
                      <a:pt x="108" y="95"/>
                    </a:lnTo>
                    <a:lnTo>
                      <a:pt x="108" y="93"/>
                    </a:lnTo>
                    <a:lnTo>
                      <a:pt x="112" y="91"/>
                    </a:lnTo>
                    <a:lnTo>
                      <a:pt x="112" y="89"/>
                    </a:lnTo>
                    <a:lnTo>
                      <a:pt x="112" y="87"/>
                    </a:lnTo>
                    <a:lnTo>
                      <a:pt x="112" y="85"/>
                    </a:lnTo>
                    <a:lnTo>
                      <a:pt x="115" y="83"/>
                    </a:lnTo>
                    <a:lnTo>
                      <a:pt x="115" y="81"/>
                    </a:lnTo>
                    <a:lnTo>
                      <a:pt x="115" y="80"/>
                    </a:lnTo>
                    <a:lnTo>
                      <a:pt x="118" y="78"/>
                    </a:lnTo>
                    <a:lnTo>
                      <a:pt x="118" y="75"/>
                    </a:lnTo>
                    <a:lnTo>
                      <a:pt x="118" y="73"/>
                    </a:lnTo>
                    <a:lnTo>
                      <a:pt x="121" y="72"/>
                    </a:lnTo>
                    <a:lnTo>
                      <a:pt x="121" y="70"/>
                    </a:lnTo>
                    <a:lnTo>
                      <a:pt x="121" y="68"/>
                    </a:lnTo>
                    <a:lnTo>
                      <a:pt x="124" y="66"/>
                    </a:lnTo>
                    <a:lnTo>
                      <a:pt x="124" y="64"/>
                    </a:lnTo>
                    <a:lnTo>
                      <a:pt x="124" y="62"/>
                    </a:lnTo>
                    <a:lnTo>
                      <a:pt x="128" y="60"/>
                    </a:lnTo>
                    <a:lnTo>
                      <a:pt x="128" y="58"/>
                    </a:lnTo>
                    <a:lnTo>
                      <a:pt x="131" y="56"/>
                    </a:lnTo>
                    <a:lnTo>
                      <a:pt x="131" y="54"/>
                    </a:lnTo>
                    <a:lnTo>
                      <a:pt x="131" y="52"/>
                    </a:lnTo>
                    <a:lnTo>
                      <a:pt x="134" y="50"/>
                    </a:lnTo>
                    <a:lnTo>
                      <a:pt x="134" y="49"/>
                    </a:lnTo>
                    <a:lnTo>
                      <a:pt x="137" y="46"/>
                    </a:lnTo>
                    <a:lnTo>
                      <a:pt x="137" y="44"/>
                    </a:lnTo>
                    <a:lnTo>
                      <a:pt x="140" y="43"/>
                    </a:lnTo>
                    <a:lnTo>
                      <a:pt x="140" y="41"/>
                    </a:lnTo>
                    <a:lnTo>
                      <a:pt x="140" y="39"/>
                    </a:lnTo>
                    <a:lnTo>
                      <a:pt x="144" y="36"/>
                    </a:lnTo>
                    <a:lnTo>
                      <a:pt x="144" y="35"/>
                    </a:lnTo>
                    <a:lnTo>
                      <a:pt x="147" y="33"/>
                    </a:lnTo>
                    <a:lnTo>
                      <a:pt x="147" y="31"/>
                    </a:lnTo>
                    <a:lnTo>
                      <a:pt x="150" y="29"/>
                    </a:lnTo>
                    <a:lnTo>
                      <a:pt x="150" y="27"/>
                    </a:lnTo>
                    <a:lnTo>
                      <a:pt x="153" y="25"/>
                    </a:lnTo>
                    <a:lnTo>
                      <a:pt x="156" y="23"/>
                    </a:lnTo>
                    <a:lnTo>
                      <a:pt x="156" y="21"/>
                    </a:lnTo>
                    <a:lnTo>
                      <a:pt x="160" y="19"/>
                    </a:lnTo>
                    <a:lnTo>
                      <a:pt x="163" y="17"/>
                    </a:lnTo>
                    <a:lnTo>
                      <a:pt x="163" y="15"/>
                    </a:lnTo>
                    <a:lnTo>
                      <a:pt x="166" y="13"/>
                    </a:lnTo>
                    <a:lnTo>
                      <a:pt x="169" y="12"/>
                    </a:lnTo>
                    <a:lnTo>
                      <a:pt x="172" y="10"/>
                    </a:lnTo>
                    <a:lnTo>
                      <a:pt x="176" y="7"/>
                    </a:lnTo>
                    <a:lnTo>
                      <a:pt x="179" y="5"/>
                    </a:lnTo>
                    <a:lnTo>
                      <a:pt x="182" y="4"/>
                    </a:lnTo>
                    <a:lnTo>
                      <a:pt x="185" y="2"/>
                    </a:lnTo>
                    <a:lnTo>
                      <a:pt x="188" y="2"/>
                    </a:lnTo>
                    <a:lnTo>
                      <a:pt x="192" y="0"/>
                    </a:lnTo>
                    <a:lnTo>
                      <a:pt x="195" y="0"/>
                    </a:lnTo>
                    <a:lnTo>
                      <a:pt x="198" y="0"/>
                    </a:lnTo>
                    <a:lnTo>
                      <a:pt x="201" y="0"/>
                    </a:lnTo>
                    <a:lnTo>
                      <a:pt x="204" y="0"/>
                    </a:lnTo>
                    <a:lnTo>
                      <a:pt x="208" y="2"/>
                    </a:lnTo>
                    <a:lnTo>
                      <a:pt x="211" y="2"/>
                    </a:lnTo>
                    <a:lnTo>
                      <a:pt x="214" y="2"/>
                    </a:lnTo>
                    <a:lnTo>
                      <a:pt x="217" y="4"/>
                    </a:lnTo>
                    <a:lnTo>
                      <a:pt x="220" y="5"/>
                    </a:lnTo>
                    <a:lnTo>
                      <a:pt x="224" y="7"/>
                    </a:lnTo>
                    <a:lnTo>
                      <a:pt x="227" y="10"/>
                    </a:lnTo>
                    <a:lnTo>
                      <a:pt x="230" y="12"/>
                    </a:lnTo>
                    <a:lnTo>
                      <a:pt x="233" y="13"/>
                    </a:lnTo>
                    <a:lnTo>
                      <a:pt x="236" y="15"/>
                    </a:lnTo>
                    <a:lnTo>
                      <a:pt x="236" y="17"/>
                    </a:lnTo>
                    <a:lnTo>
                      <a:pt x="240" y="19"/>
                    </a:lnTo>
                    <a:lnTo>
                      <a:pt x="243" y="21"/>
                    </a:lnTo>
                    <a:lnTo>
                      <a:pt x="243" y="23"/>
                    </a:lnTo>
                    <a:lnTo>
                      <a:pt x="246" y="25"/>
                    </a:lnTo>
                    <a:lnTo>
                      <a:pt x="246" y="27"/>
                    </a:lnTo>
                    <a:lnTo>
                      <a:pt x="249" y="29"/>
                    </a:lnTo>
                    <a:lnTo>
                      <a:pt x="249" y="31"/>
                    </a:lnTo>
                    <a:lnTo>
                      <a:pt x="252" y="33"/>
                    </a:lnTo>
                    <a:lnTo>
                      <a:pt x="252" y="35"/>
                    </a:lnTo>
                    <a:lnTo>
                      <a:pt x="256" y="36"/>
                    </a:lnTo>
                    <a:lnTo>
                      <a:pt x="256" y="39"/>
                    </a:lnTo>
                    <a:lnTo>
                      <a:pt x="259" y="41"/>
                    </a:lnTo>
                    <a:lnTo>
                      <a:pt x="259" y="43"/>
                    </a:lnTo>
                    <a:lnTo>
                      <a:pt x="262" y="44"/>
                    </a:lnTo>
                    <a:lnTo>
                      <a:pt x="262" y="46"/>
                    </a:lnTo>
                    <a:lnTo>
                      <a:pt x="262" y="49"/>
                    </a:lnTo>
                    <a:lnTo>
                      <a:pt x="265" y="50"/>
                    </a:lnTo>
                    <a:lnTo>
                      <a:pt x="265" y="52"/>
                    </a:lnTo>
                    <a:lnTo>
                      <a:pt x="268" y="54"/>
                    </a:lnTo>
                    <a:lnTo>
                      <a:pt x="268" y="56"/>
                    </a:lnTo>
                    <a:lnTo>
                      <a:pt x="268" y="58"/>
                    </a:lnTo>
                    <a:lnTo>
                      <a:pt x="272" y="60"/>
                    </a:lnTo>
                    <a:lnTo>
                      <a:pt x="272" y="62"/>
                    </a:lnTo>
                    <a:lnTo>
                      <a:pt x="275" y="64"/>
                    </a:lnTo>
                    <a:lnTo>
                      <a:pt x="275" y="66"/>
                    </a:lnTo>
                    <a:lnTo>
                      <a:pt x="275" y="68"/>
                    </a:lnTo>
                    <a:lnTo>
                      <a:pt x="278" y="70"/>
                    </a:lnTo>
                    <a:lnTo>
                      <a:pt x="278" y="72"/>
                    </a:lnTo>
                    <a:lnTo>
                      <a:pt x="278" y="73"/>
                    </a:lnTo>
                    <a:lnTo>
                      <a:pt x="281" y="75"/>
                    </a:lnTo>
                    <a:lnTo>
                      <a:pt x="281" y="78"/>
                    </a:lnTo>
                    <a:lnTo>
                      <a:pt x="281" y="80"/>
                    </a:lnTo>
                    <a:lnTo>
                      <a:pt x="284" y="81"/>
                    </a:lnTo>
                    <a:lnTo>
                      <a:pt x="284" y="83"/>
                    </a:lnTo>
                    <a:lnTo>
                      <a:pt x="284" y="85"/>
                    </a:lnTo>
                    <a:lnTo>
                      <a:pt x="288" y="87"/>
                    </a:lnTo>
                    <a:lnTo>
                      <a:pt x="288" y="89"/>
                    </a:lnTo>
                    <a:lnTo>
                      <a:pt x="288" y="91"/>
                    </a:lnTo>
                    <a:lnTo>
                      <a:pt x="291" y="93"/>
                    </a:lnTo>
                    <a:lnTo>
                      <a:pt x="291" y="95"/>
                    </a:lnTo>
                    <a:lnTo>
                      <a:pt x="291" y="97"/>
                    </a:lnTo>
                    <a:lnTo>
                      <a:pt x="294" y="101"/>
                    </a:lnTo>
                    <a:lnTo>
                      <a:pt x="294" y="103"/>
                    </a:lnTo>
                    <a:lnTo>
                      <a:pt x="294" y="104"/>
                    </a:lnTo>
                    <a:lnTo>
                      <a:pt x="297" y="107"/>
                    </a:lnTo>
                    <a:lnTo>
                      <a:pt x="297" y="109"/>
                    </a:lnTo>
                    <a:lnTo>
                      <a:pt x="297" y="111"/>
                    </a:lnTo>
                    <a:lnTo>
                      <a:pt x="300" y="112"/>
                    </a:lnTo>
                    <a:lnTo>
                      <a:pt x="300" y="114"/>
                    </a:lnTo>
                    <a:lnTo>
                      <a:pt x="300" y="118"/>
                    </a:lnTo>
                    <a:lnTo>
                      <a:pt x="304" y="120"/>
                    </a:lnTo>
                    <a:lnTo>
                      <a:pt x="304" y="122"/>
                    </a:lnTo>
                    <a:lnTo>
                      <a:pt x="304" y="124"/>
                    </a:lnTo>
                    <a:lnTo>
                      <a:pt x="307" y="126"/>
                    </a:lnTo>
                    <a:lnTo>
                      <a:pt x="307" y="130"/>
                    </a:lnTo>
                    <a:lnTo>
                      <a:pt x="307" y="132"/>
                    </a:lnTo>
                    <a:lnTo>
                      <a:pt x="310" y="134"/>
                    </a:lnTo>
                    <a:lnTo>
                      <a:pt x="310" y="136"/>
                    </a:lnTo>
                    <a:lnTo>
                      <a:pt x="310" y="138"/>
                    </a:lnTo>
                    <a:lnTo>
                      <a:pt x="313" y="141"/>
                    </a:lnTo>
                    <a:lnTo>
                      <a:pt x="313" y="143"/>
                    </a:lnTo>
                    <a:lnTo>
                      <a:pt x="313" y="146"/>
                    </a:lnTo>
                    <a:lnTo>
                      <a:pt x="316" y="148"/>
                    </a:lnTo>
                    <a:lnTo>
                      <a:pt x="316" y="151"/>
                    </a:lnTo>
                    <a:lnTo>
                      <a:pt x="316" y="153"/>
                    </a:lnTo>
                    <a:lnTo>
                      <a:pt x="320" y="155"/>
                    </a:lnTo>
                    <a:lnTo>
                      <a:pt x="320" y="159"/>
                    </a:lnTo>
                    <a:lnTo>
                      <a:pt x="320" y="161"/>
                    </a:lnTo>
                    <a:lnTo>
                      <a:pt x="323" y="163"/>
                    </a:lnTo>
                    <a:lnTo>
                      <a:pt x="323" y="165"/>
                    </a:lnTo>
                    <a:lnTo>
                      <a:pt x="323" y="169"/>
                    </a:lnTo>
                    <a:lnTo>
                      <a:pt x="323" y="171"/>
                    </a:lnTo>
                    <a:lnTo>
                      <a:pt x="326" y="172"/>
                    </a:lnTo>
                    <a:lnTo>
                      <a:pt x="326" y="177"/>
                    </a:lnTo>
                    <a:lnTo>
                      <a:pt x="326" y="179"/>
                    </a:lnTo>
                    <a:lnTo>
                      <a:pt x="329" y="180"/>
                    </a:lnTo>
                    <a:lnTo>
                      <a:pt x="329" y="185"/>
                    </a:lnTo>
                    <a:lnTo>
                      <a:pt x="329" y="186"/>
                    </a:lnTo>
                    <a:lnTo>
                      <a:pt x="332" y="190"/>
                    </a:lnTo>
                    <a:lnTo>
                      <a:pt x="332" y="192"/>
                    </a:lnTo>
                    <a:lnTo>
                      <a:pt x="332" y="194"/>
                    </a:lnTo>
                    <a:lnTo>
                      <a:pt x="336" y="198"/>
                    </a:lnTo>
                    <a:lnTo>
                      <a:pt x="336" y="200"/>
                    </a:lnTo>
                    <a:lnTo>
                      <a:pt x="336" y="202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6" name="Freeform 70"/>
              <p:cNvSpPr>
                <a:spLocks/>
              </p:cNvSpPr>
              <p:nvPr/>
            </p:nvSpPr>
            <p:spPr bwMode="auto">
              <a:xfrm>
                <a:off x="2321" y="1740"/>
                <a:ext cx="39" cy="101"/>
              </a:xfrm>
              <a:custGeom>
                <a:avLst/>
                <a:gdLst>
                  <a:gd name="T0" fmla="*/ 0 w 39"/>
                  <a:gd name="T1" fmla="*/ 0 h 101"/>
                  <a:gd name="T2" fmla="*/ 3 w 39"/>
                  <a:gd name="T3" fmla="*/ 4 h 101"/>
                  <a:gd name="T4" fmla="*/ 3 w 39"/>
                  <a:gd name="T5" fmla="*/ 6 h 101"/>
                  <a:gd name="T6" fmla="*/ 3 w 39"/>
                  <a:gd name="T7" fmla="*/ 9 h 101"/>
                  <a:gd name="T8" fmla="*/ 6 w 39"/>
                  <a:gd name="T9" fmla="*/ 12 h 101"/>
                  <a:gd name="T10" fmla="*/ 6 w 39"/>
                  <a:gd name="T11" fmla="*/ 14 h 101"/>
                  <a:gd name="T12" fmla="*/ 6 w 39"/>
                  <a:gd name="T13" fmla="*/ 17 h 101"/>
                  <a:gd name="T14" fmla="*/ 9 w 39"/>
                  <a:gd name="T15" fmla="*/ 19 h 101"/>
                  <a:gd name="T16" fmla="*/ 9 w 39"/>
                  <a:gd name="T17" fmla="*/ 23 h 101"/>
                  <a:gd name="T18" fmla="*/ 9 w 39"/>
                  <a:gd name="T19" fmla="*/ 25 h 101"/>
                  <a:gd name="T20" fmla="*/ 12 w 39"/>
                  <a:gd name="T21" fmla="*/ 28 h 101"/>
                  <a:gd name="T22" fmla="*/ 12 w 39"/>
                  <a:gd name="T23" fmla="*/ 31 h 101"/>
                  <a:gd name="T24" fmla="*/ 12 w 39"/>
                  <a:gd name="T25" fmla="*/ 32 h 101"/>
                  <a:gd name="T26" fmla="*/ 15 w 39"/>
                  <a:gd name="T27" fmla="*/ 36 h 101"/>
                  <a:gd name="T28" fmla="*/ 15 w 39"/>
                  <a:gd name="T29" fmla="*/ 38 h 101"/>
                  <a:gd name="T30" fmla="*/ 15 w 39"/>
                  <a:gd name="T31" fmla="*/ 42 h 101"/>
                  <a:gd name="T32" fmla="*/ 19 w 39"/>
                  <a:gd name="T33" fmla="*/ 44 h 101"/>
                  <a:gd name="T34" fmla="*/ 19 w 39"/>
                  <a:gd name="T35" fmla="*/ 47 h 101"/>
                  <a:gd name="T36" fmla="*/ 19 w 39"/>
                  <a:gd name="T37" fmla="*/ 49 h 101"/>
                  <a:gd name="T38" fmla="*/ 22 w 39"/>
                  <a:gd name="T39" fmla="*/ 53 h 101"/>
                  <a:gd name="T40" fmla="*/ 22 w 39"/>
                  <a:gd name="T41" fmla="*/ 55 h 101"/>
                  <a:gd name="T42" fmla="*/ 22 w 39"/>
                  <a:gd name="T43" fmla="*/ 56 h 101"/>
                  <a:gd name="T44" fmla="*/ 25 w 39"/>
                  <a:gd name="T45" fmla="*/ 61 h 101"/>
                  <a:gd name="T46" fmla="*/ 25 w 39"/>
                  <a:gd name="T47" fmla="*/ 62 h 101"/>
                  <a:gd name="T48" fmla="*/ 25 w 39"/>
                  <a:gd name="T49" fmla="*/ 66 h 101"/>
                  <a:gd name="T50" fmla="*/ 28 w 39"/>
                  <a:gd name="T51" fmla="*/ 68 h 101"/>
                  <a:gd name="T52" fmla="*/ 28 w 39"/>
                  <a:gd name="T53" fmla="*/ 72 h 101"/>
                  <a:gd name="T54" fmla="*/ 28 w 39"/>
                  <a:gd name="T55" fmla="*/ 74 h 101"/>
                  <a:gd name="T56" fmla="*/ 31 w 39"/>
                  <a:gd name="T57" fmla="*/ 78 h 101"/>
                  <a:gd name="T58" fmla="*/ 31 w 39"/>
                  <a:gd name="T59" fmla="*/ 79 h 101"/>
                  <a:gd name="T60" fmla="*/ 31 w 39"/>
                  <a:gd name="T61" fmla="*/ 83 h 101"/>
                  <a:gd name="T62" fmla="*/ 35 w 39"/>
                  <a:gd name="T63" fmla="*/ 85 h 101"/>
                  <a:gd name="T64" fmla="*/ 35 w 39"/>
                  <a:gd name="T65" fmla="*/ 89 h 101"/>
                  <a:gd name="T66" fmla="*/ 35 w 39"/>
                  <a:gd name="T67" fmla="*/ 91 h 101"/>
                  <a:gd name="T68" fmla="*/ 38 w 39"/>
                  <a:gd name="T69" fmla="*/ 94 h 101"/>
                  <a:gd name="T70" fmla="*/ 38 w 39"/>
                  <a:gd name="T71" fmla="*/ 96 h 101"/>
                  <a:gd name="T72" fmla="*/ 38 w 39"/>
                  <a:gd name="T73" fmla="*/ 10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9" h="101">
                    <a:moveTo>
                      <a:pt x="0" y="0"/>
                    </a:moveTo>
                    <a:lnTo>
                      <a:pt x="3" y="4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6" y="17"/>
                    </a:lnTo>
                    <a:lnTo>
                      <a:pt x="9" y="19"/>
                    </a:lnTo>
                    <a:lnTo>
                      <a:pt x="9" y="23"/>
                    </a:lnTo>
                    <a:lnTo>
                      <a:pt x="9" y="25"/>
                    </a:lnTo>
                    <a:lnTo>
                      <a:pt x="12" y="28"/>
                    </a:lnTo>
                    <a:lnTo>
                      <a:pt x="12" y="31"/>
                    </a:lnTo>
                    <a:lnTo>
                      <a:pt x="12" y="32"/>
                    </a:lnTo>
                    <a:lnTo>
                      <a:pt x="15" y="36"/>
                    </a:lnTo>
                    <a:lnTo>
                      <a:pt x="15" y="38"/>
                    </a:lnTo>
                    <a:lnTo>
                      <a:pt x="15" y="42"/>
                    </a:lnTo>
                    <a:lnTo>
                      <a:pt x="19" y="44"/>
                    </a:lnTo>
                    <a:lnTo>
                      <a:pt x="19" y="47"/>
                    </a:lnTo>
                    <a:lnTo>
                      <a:pt x="19" y="49"/>
                    </a:lnTo>
                    <a:lnTo>
                      <a:pt x="22" y="53"/>
                    </a:lnTo>
                    <a:lnTo>
                      <a:pt x="22" y="55"/>
                    </a:lnTo>
                    <a:lnTo>
                      <a:pt x="22" y="56"/>
                    </a:lnTo>
                    <a:lnTo>
                      <a:pt x="25" y="61"/>
                    </a:lnTo>
                    <a:lnTo>
                      <a:pt x="25" y="62"/>
                    </a:lnTo>
                    <a:lnTo>
                      <a:pt x="25" y="66"/>
                    </a:lnTo>
                    <a:lnTo>
                      <a:pt x="28" y="68"/>
                    </a:lnTo>
                    <a:lnTo>
                      <a:pt x="28" y="72"/>
                    </a:lnTo>
                    <a:lnTo>
                      <a:pt x="28" y="74"/>
                    </a:lnTo>
                    <a:lnTo>
                      <a:pt x="31" y="78"/>
                    </a:lnTo>
                    <a:lnTo>
                      <a:pt x="31" y="79"/>
                    </a:lnTo>
                    <a:lnTo>
                      <a:pt x="31" y="83"/>
                    </a:lnTo>
                    <a:lnTo>
                      <a:pt x="35" y="85"/>
                    </a:lnTo>
                    <a:lnTo>
                      <a:pt x="35" y="89"/>
                    </a:lnTo>
                    <a:lnTo>
                      <a:pt x="35" y="91"/>
                    </a:lnTo>
                    <a:lnTo>
                      <a:pt x="38" y="94"/>
                    </a:lnTo>
                    <a:lnTo>
                      <a:pt x="38" y="96"/>
                    </a:lnTo>
                    <a:lnTo>
                      <a:pt x="38" y="10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407" name="Rectangle 71"/>
            <p:cNvSpPr>
              <a:spLocks noChangeArrowheads="1"/>
            </p:cNvSpPr>
            <p:nvPr/>
          </p:nvSpPr>
          <p:spPr bwMode="auto">
            <a:xfrm>
              <a:off x="1176" y="1595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>
                  <a:latin typeface="Arial" charset="0"/>
                </a:rPr>
                <a:t>A</a:t>
              </a:r>
            </a:p>
          </p:txBody>
        </p:sp>
      </p:grpSp>
      <p:sp>
        <p:nvSpPr>
          <p:cNvPr id="14412" name="Text Box 76"/>
          <p:cNvSpPr txBox="1">
            <a:spLocks noChangeArrowheads="1"/>
          </p:cNvSpPr>
          <p:nvPr/>
        </p:nvSpPr>
        <p:spPr bwMode="auto">
          <a:xfrm rot="5400000">
            <a:off x="464345" y="5769226"/>
            <a:ext cx="117951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b="1" dirty="0"/>
              <a:t>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1" y="1166814"/>
            <a:ext cx="3249613" cy="324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88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1166814"/>
            <a:ext cx="3249612" cy="324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893" name="Rectangle 13"/>
          <p:cNvSpPr>
            <a:spLocks noChangeArrowheads="1"/>
          </p:cNvSpPr>
          <p:nvPr/>
        </p:nvSpPr>
        <p:spPr bwMode="auto">
          <a:xfrm>
            <a:off x="684213" y="4940302"/>
            <a:ext cx="3709350" cy="1345497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  <a:latin typeface="Arial" charset="0"/>
              </a:rPr>
              <a:t>Higher frequencies due</a:t>
            </a:r>
            <a:br>
              <a:rPr lang="en-US" altLang="en-US">
                <a:solidFill>
                  <a:srgbClr val="FF0000"/>
                </a:solidFill>
                <a:latin typeface="Arial" charset="0"/>
              </a:rPr>
            </a:br>
            <a:r>
              <a:rPr lang="en-US" altLang="en-US">
                <a:solidFill>
                  <a:srgbClr val="FF0000"/>
                </a:solidFill>
                <a:latin typeface="Arial" charset="0"/>
              </a:rPr>
              <a:t>to sharp image variations </a:t>
            </a:r>
          </a:p>
          <a:p>
            <a:pPr>
              <a:lnSpc>
                <a:spcPct val="140000"/>
              </a:lnSpc>
            </a:pPr>
            <a:r>
              <a:rPr lang="en-US" altLang="en-US">
                <a:solidFill>
                  <a:srgbClr val="FF0000"/>
                </a:solidFill>
                <a:latin typeface="Arial" charset="0"/>
              </a:rPr>
              <a:t>(e.g., edges, noise, etc.)</a:t>
            </a:r>
          </a:p>
        </p:txBody>
      </p:sp>
      <p:sp>
        <p:nvSpPr>
          <p:cNvPr id="122894" name="Line 14"/>
          <p:cNvSpPr>
            <a:spLocks noChangeShapeType="1"/>
          </p:cNvSpPr>
          <p:nvPr/>
        </p:nvSpPr>
        <p:spPr bwMode="auto">
          <a:xfrm flipV="1">
            <a:off x="2916237" y="4508500"/>
            <a:ext cx="360363" cy="433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3" grpId="1" animBg="1"/>
      <p:bldP spid="12289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4">
            <a:extLst>
              <a:ext uri="{FF2B5EF4-FFF2-40B4-BE49-F238E27FC236}">
                <a16:creationId xmlns:a16="http://schemas.microsoft.com/office/drawing/2014/main" id="{5C88BDCE-0B8E-674A-126A-115A43A76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260648"/>
            <a:ext cx="8035278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4000" b="1" dirty="0"/>
              <a:t>Formulating the Fourier Transform</a:t>
            </a:r>
            <a:endParaRPr lang="en-US" altLang="en-US" sz="4000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C1904431-D9EC-68B2-E199-3CA3893AF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132856"/>
            <a:ext cx="8035278" cy="242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  <a:latin typeface="Arial" charset="0"/>
              </a:rPr>
              <a:t>So how prominent is a frequency </a:t>
            </a:r>
            <a:r>
              <a:rPr lang="en-US" altLang="en-US" b="1" i="1" dirty="0">
                <a:solidFill>
                  <a:srgbClr val="FF0000"/>
                </a:solidFill>
                <a:latin typeface="Arial" charset="0"/>
              </a:rPr>
              <a:t>u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</a:rPr>
              <a:t> in a function/image</a:t>
            </a:r>
            <a:r>
              <a:rPr lang="en-US" altLang="en-US" i="1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altLang="en-US" b="1" i="1" dirty="0">
                <a:solidFill>
                  <a:srgbClr val="FF0000"/>
                </a:solidFill>
                <a:latin typeface="Arial" charset="0"/>
              </a:rPr>
              <a:t>f</a:t>
            </a:r>
            <a:r>
              <a:rPr lang="en-US" altLang="en-US" i="1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</a:rPr>
              <a:t>?</a:t>
            </a:r>
          </a:p>
          <a:p>
            <a:endParaRPr lang="en-US" altLang="en-US" dirty="0">
              <a:latin typeface="Arial" charset="0"/>
            </a:endParaRPr>
          </a:p>
          <a:p>
            <a:pPr>
              <a:lnSpc>
                <a:spcPct val="150000"/>
              </a:lnSpc>
            </a:pPr>
            <a:r>
              <a:rPr lang="en-US" altLang="en-US" u="sng" dirty="0">
                <a:latin typeface="Arial" charset="0"/>
              </a:rPr>
              <a:t>We will formulate it for: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charset="0"/>
              </a:rPr>
              <a:t> The 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</a:rPr>
              <a:t>Continuous</a:t>
            </a:r>
            <a:r>
              <a:rPr lang="en-US" altLang="en-US" dirty="0">
                <a:latin typeface="Arial" charset="0"/>
              </a:rPr>
              <a:t> &amp; 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</a:rPr>
              <a:t>Discrete</a:t>
            </a:r>
            <a:r>
              <a:rPr lang="en-US" altLang="en-US" dirty="0">
                <a:latin typeface="Arial" charset="0"/>
              </a:rPr>
              <a:t> functions</a:t>
            </a:r>
            <a:r>
              <a:rPr lang="en-US" altLang="en-US" i="1" dirty="0">
                <a:latin typeface="Arial" charset="0"/>
              </a:rPr>
              <a:t> </a:t>
            </a:r>
            <a:r>
              <a:rPr lang="en-US" altLang="en-US" b="1" i="1" dirty="0">
                <a:latin typeface="Arial" charset="0"/>
              </a:rPr>
              <a:t>f</a:t>
            </a:r>
            <a:r>
              <a:rPr lang="en-US" altLang="en-US" i="1" dirty="0">
                <a:latin typeface="Arial" charset="0"/>
              </a:rPr>
              <a:t> </a:t>
            </a:r>
            <a:r>
              <a:rPr lang="en-US" altLang="en-US" dirty="0">
                <a:latin typeface="Arial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</a:rPr>
              <a:t>1D</a:t>
            </a:r>
            <a:r>
              <a:rPr lang="en-US" altLang="en-US" dirty="0">
                <a:latin typeface="Arial" charset="0"/>
              </a:rPr>
              <a:t> and 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</a:rPr>
              <a:t>2D</a:t>
            </a:r>
            <a:r>
              <a:rPr lang="en-US" altLang="en-US" dirty="0">
                <a:latin typeface="Arial" charset="0"/>
              </a:rPr>
              <a:t> case.</a:t>
            </a:r>
          </a:p>
        </p:txBody>
      </p:sp>
    </p:spTree>
    <p:extLst>
      <p:ext uri="{BB962C8B-B14F-4D97-AF65-F5344CB8AC3E}">
        <p14:creationId xmlns:p14="http://schemas.microsoft.com/office/powerpoint/2010/main" val="222405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ChangeArrowheads="1"/>
          </p:cNvSpPr>
          <p:nvPr/>
        </p:nvSpPr>
        <p:spPr bwMode="auto">
          <a:xfrm>
            <a:off x="381003" y="-76200"/>
            <a:ext cx="8475663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4000" dirty="0"/>
              <a:t> The </a:t>
            </a:r>
            <a:r>
              <a:rPr lang="en-US" altLang="en-US" sz="4000" b="1" dirty="0"/>
              <a:t>Continuous</a:t>
            </a:r>
            <a:r>
              <a:rPr lang="en-US" altLang="en-US" sz="4000" dirty="0"/>
              <a:t> Fourier Transform</a:t>
            </a:r>
          </a:p>
        </p:txBody>
      </p:sp>
      <p:graphicFrame>
        <p:nvGraphicFramePr>
          <p:cNvPr id="244740" name="Object 4"/>
          <p:cNvGraphicFramePr>
            <a:graphicFrameLocks/>
          </p:cNvGraphicFramePr>
          <p:nvPr/>
        </p:nvGraphicFramePr>
        <p:xfrm>
          <a:off x="1803400" y="3336927"/>
          <a:ext cx="58166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320" imgH="330120" progId="Equation.3">
                  <p:embed/>
                </p:oleObj>
              </mc:Choice>
              <mc:Fallback>
                <p:oleObj name="Equation" r:id="rId3" imgW="2857320" imgH="330120" progId="Equation.3">
                  <p:embed/>
                  <p:pic>
                    <p:nvPicPr>
                      <p:cNvPr id="24474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3336927"/>
                        <a:ext cx="58166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1" name="Rectangle 5"/>
          <p:cNvSpPr>
            <a:spLocks noChangeArrowheads="1"/>
          </p:cNvSpPr>
          <p:nvPr/>
        </p:nvSpPr>
        <p:spPr bwMode="auto">
          <a:xfrm>
            <a:off x="971553" y="2852740"/>
            <a:ext cx="21579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2"/>
                </a:solidFill>
              </a:rPr>
              <a:t>Basis functions:</a:t>
            </a:r>
          </a:p>
        </p:txBody>
      </p:sp>
    </p:spTree>
    <p:extLst>
      <p:ext uri="{BB962C8B-B14F-4D97-AF65-F5344CB8AC3E}">
        <p14:creationId xmlns:p14="http://schemas.microsoft.com/office/powerpoint/2010/main" val="36823730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19102"/>
            <a:ext cx="7721600" cy="441325"/>
          </a:xfrm>
        </p:spPr>
        <p:txBody>
          <a:bodyPr/>
          <a:lstStyle/>
          <a:p>
            <a:r>
              <a:rPr lang="en-US" altLang="en-US"/>
              <a:t>Complex Numbers 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16388" name="Line 4"/>
          <p:cNvSpPr>
            <a:spLocks noChangeShapeType="1"/>
          </p:cNvSpPr>
          <p:nvPr/>
        </p:nvSpPr>
        <p:spPr bwMode="auto">
          <a:xfrm rot="16200000">
            <a:off x="1837532" y="800895"/>
            <a:ext cx="0" cy="3675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1043608" y="1277938"/>
            <a:ext cx="0" cy="2556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3662366" y="2508250"/>
            <a:ext cx="7136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Real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254001" y="958850"/>
            <a:ext cx="130997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Imaginary</a:t>
            </a:r>
          </a:p>
        </p:txBody>
      </p:sp>
      <p:sp>
        <p:nvSpPr>
          <p:cNvPr id="16392" name="Oval 8"/>
          <p:cNvSpPr>
            <a:spLocks noChangeArrowheads="1"/>
          </p:cNvSpPr>
          <p:nvPr/>
        </p:nvSpPr>
        <p:spPr bwMode="auto">
          <a:xfrm>
            <a:off x="2859088" y="1597027"/>
            <a:ext cx="152400" cy="111125"/>
          </a:xfrm>
          <a:prstGeom prst="ellipse">
            <a:avLst/>
          </a:prstGeom>
          <a:solidFill>
            <a:srgbClr val="FC0128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 flipV="1">
            <a:off x="1042988" y="1695452"/>
            <a:ext cx="1838325" cy="949325"/>
          </a:xfrm>
          <a:prstGeom prst="line">
            <a:avLst/>
          </a:prstGeom>
          <a:noFill/>
          <a:ln w="28575">
            <a:solidFill>
              <a:srgbClr val="114FF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2870203" y="1303339"/>
            <a:ext cx="10166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latin typeface="Arial" charset="0"/>
              </a:rPr>
              <a:t>Z=(</a:t>
            </a:r>
            <a:r>
              <a:rPr lang="en-US" altLang="en-US" sz="2000" dirty="0" err="1">
                <a:latin typeface="Arial" charset="0"/>
              </a:rPr>
              <a:t>a,b</a:t>
            </a:r>
            <a:r>
              <a:rPr lang="en-US" altLang="en-US" sz="2000" dirty="0">
                <a:latin typeface="Arial" charset="0"/>
              </a:rPr>
              <a:t>)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2736850" y="2609851"/>
            <a:ext cx="327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a</a:t>
            </a:r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>
            <a:off x="2946400" y="1806575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 rot="5400000">
            <a:off x="1858169" y="904083"/>
            <a:ext cx="0" cy="14906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633414" y="1489075"/>
            <a:ext cx="327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b</a:t>
            </a:r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 rot="19897934">
            <a:off x="1463595" y="1827183"/>
            <a:ext cx="4764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latin typeface="Arial" charset="0"/>
              </a:rPr>
              <a:t>|Z|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69347E-6740-190E-EC9A-35E1FBC62D9E}"/>
              </a:ext>
            </a:extLst>
          </p:cNvPr>
          <p:cNvGrpSpPr/>
          <p:nvPr/>
        </p:nvGrpSpPr>
        <p:grpSpPr>
          <a:xfrm>
            <a:off x="1506539" y="2297113"/>
            <a:ext cx="612992" cy="400110"/>
            <a:chOff x="1506539" y="2297113"/>
            <a:chExt cx="612992" cy="400110"/>
          </a:xfrm>
        </p:grpSpPr>
        <p:sp>
          <p:nvSpPr>
            <p:cNvPr id="16405" name="Arc 21"/>
            <p:cNvSpPr>
              <a:spLocks/>
            </p:cNvSpPr>
            <p:nvPr/>
          </p:nvSpPr>
          <p:spPr bwMode="auto">
            <a:xfrm>
              <a:off x="1506539" y="2386013"/>
              <a:ext cx="303212" cy="2952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435"/>
                <a:gd name="T1" fmla="*/ 0 h 21600"/>
                <a:gd name="T2" fmla="*/ 21435 w 21435"/>
                <a:gd name="T3" fmla="*/ 18932 h 21600"/>
                <a:gd name="T4" fmla="*/ 0 w 2143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35" h="21600" fill="none" extrusionOk="0">
                  <a:moveTo>
                    <a:pt x="-1" y="0"/>
                  </a:moveTo>
                  <a:cubicBezTo>
                    <a:pt x="10897" y="0"/>
                    <a:pt x="20088" y="8117"/>
                    <a:pt x="21434" y="18932"/>
                  </a:cubicBezTo>
                </a:path>
                <a:path w="21435" h="21600" stroke="0" extrusionOk="0">
                  <a:moveTo>
                    <a:pt x="-1" y="0"/>
                  </a:moveTo>
                  <a:cubicBezTo>
                    <a:pt x="10897" y="0"/>
                    <a:pt x="20088" y="8117"/>
                    <a:pt x="21434" y="1893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6" name="Text Box 22"/>
            <p:cNvSpPr txBox="1">
              <a:spLocks noChangeArrowheads="1"/>
            </p:cNvSpPr>
            <p:nvPr/>
          </p:nvSpPr>
          <p:spPr bwMode="auto">
            <a:xfrm>
              <a:off x="1801815" y="2297113"/>
              <a:ext cx="31771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Arial" charset="0"/>
                  <a:sym typeface="Symbol" pitchFamily="18" charset="2"/>
                </a:rPr>
                <a:t></a:t>
              </a:r>
              <a:endParaRPr lang="en-US" altLang="en-US" sz="2000">
                <a:latin typeface="Arial" charset="0"/>
              </a:endParaRPr>
            </a:p>
          </p:txBody>
        </p:sp>
      </p:grpSp>
      <p:graphicFrame>
        <p:nvGraphicFramePr>
          <p:cNvPr id="1641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311015"/>
              </p:ext>
            </p:extLst>
          </p:nvPr>
        </p:nvGraphicFramePr>
        <p:xfrm>
          <a:off x="1858169" y="3865438"/>
          <a:ext cx="5314155" cy="294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3" imgW="2463480" imgH="1371600" progId="Equation.3">
                  <p:embed/>
                </p:oleObj>
              </mc:Choice>
              <mc:Fallback>
                <p:oleObj name="משוואה" r:id="rId3" imgW="2463480" imgH="13716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169" y="3865438"/>
                        <a:ext cx="5314155" cy="29479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4" name="Object 30"/>
          <p:cNvGraphicFramePr>
            <a:graphicFrameLocks noChangeAspect="1"/>
          </p:cNvGraphicFramePr>
          <p:nvPr/>
        </p:nvGraphicFramePr>
        <p:xfrm>
          <a:off x="5334003" y="1046165"/>
          <a:ext cx="3065463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54000" imgH="1117440" progId="Equation.3">
                  <p:embed/>
                </p:oleObj>
              </mc:Choice>
              <mc:Fallback>
                <p:oleObj name="Equation" r:id="rId5" imgW="1854000" imgH="11174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3" y="1046165"/>
                        <a:ext cx="3065463" cy="18446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D1DE17E1-A135-D641-55B4-2E54335E661E}"/>
              </a:ext>
            </a:extLst>
          </p:cNvPr>
          <p:cNvGrpSpPr/>
          <p:nvPr/>
        </p:nvGrpSpPr>
        <p:grpSpPr>
          <a:xfrm>
            <a:off x="628186" y="2596842"/>
            <a:ext cx="3413806" cy="1195772"/>
            <a:chOff x="628186" y="2596842"/>
            <a:chExt cx="3413806" cy="119577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AB443BA-099C-6170-67E3-B8802E3865F5}"/>
                </a:ext>
              </a:extLst>
            </p:cNvPr>
            <p:cNvGrpSpPr/>
            <p:nvPr/>
          </p:nvGrpSpPr>
          <p:grpSpPr>
            <a:xfrm>
              <a:off x="628186" y="2596842"/>
              <a:ext cx="3413806" cy="1195772"/>
              <a:chOff x="628186" y="2596842"/>
              <a:chExt cx="3413806" cy="1195772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B12CB12D-8643-D077-44BB-F1441642BD5B}"/>
                  </a:ext>
                </a:extLst>
              </p:cNvPr>
              <p:cNvGrpSpPr/>
              <p:nvPr/>
            </p:nvGrpSpPr>
            <p:grpSpPr>
              <a:xfrm flipV="1">
                <a:off x="628186" y="2636912"/>
                <a:ext cx="3413806" cy="1155702"/>
                <a:chOff x="785814" y="1641475"/>
                <a:chExt cx="3413806" cy="1155702"/>
              </a:xfrm>
            </p:grpSpPr>
            <p:sp>
              <p:nvSpPr>
                <p:cNvPr id="3" name="Line 9">
                  <a:extLst>
                    <a:ext uri="{FF2B5EF4-FFF2-40B4-BE49-F238E27FC236}">
                      <a16:creationId xmlns:a16="http://schemas.microsoft.com/office/drawing/2014/main" id="{0BA42C88-36DB-1808-7A3D-6F43B0CADA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195388" y="1847852"/>
                  <a:ext cx="1838325" cy="949325"/>
                </a:xfrm>
                <a:prstGeom prst="line">
                  <a:avLst/>
                </a:prstGeom>
                <a:noFill/>
                <a:ln w="28575">
                  <a:solidFill>
                    <a:srgbClr val="114FFB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Text Box 10">
                      <a:extLst>
                        <a:ext uri="{FF2B5EF4-FFF2-40B4-BE49-F238E27FC236}">
                          <a16:creationId xmlns:a16="http://schemas.microsoft.com/office/drawing/2014/main" id="{51CAB2A3-02C5-A119-43A1-DBED2FE3509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 flipV="1">
                      <a:off x="3081557" y="1647620"/>
                      <a:ext cx="1118063" cy="42947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altLang="en-US" sz="2200" i="0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200" i="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oMath>
                      </a14:m>
                      <a:r>
                        <a:rPr lang="en-US" altLang="en-US" sz="2000" dirty="0">
                          <a:latin typeface="Arial" charset="0"/>
                        </a:rPr>
                        <a:t>=(a,-b)</a:t>
                      </a:r>
                    </a:p>
                  </p:txBody>
                </p:sp>
              </mc:Choice>
              <mc:Fallback xmlns="">
                <p:sp>
                  <p:nvSpPr>
                    <p:cNvPr id="5" name="Text Box 10">
                      <a:extLst>
                        <a:ext uri="{FF2B5EF4-FFF2-40B4-BE49-F238E27FC236}">
                          <a16:creationId xmlns:a16="http://schemas.microsoft.com/office/drawing/2014/main" id="{51CAB2A3-02C5-A119-43A1-DBED2FE350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 flipV="1">
                      <a:off x="3081557" y="1647620"/>
                      <a:ext cx="1118063" cy="42947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546" t="-1429" r="-3825" b="-25714"/>
                      </a:stretch>
                    </a:blipFill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" name="Line 12">
                  <a:extLst>
                    <a:ext uri="{FF2B5EF4-FFF2-40B4-BE49-F238E27FC236}">
                      <a16:creationId xmlns:a16="http://schemas.microsoft.com/office/drawing/2014/main" id="{B4612261-51F1-9318-6CAD-957EF50B14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8800" y="1958975"/>
                  <a:ext cx="0" cy="838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" name="Line 13">
                  <a:extLst>
                    <a:ext uri="{FF2B5EF4-FFF2-40B4-BE49-F238E27FC236}">
                      <a16:creationId xmlns:a16="http://schemas.microsoft.com/office/drawing/2014/main" id="{15CBF89F-6427-B1CF-8D6A-A31726B74C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2010569" y="1056483"/>
                  <a:ext cx="0" cy="14906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" name="Text Box 14">
                  <a:extLst>
                    <a:ext uri="{FF2B5EF4-FFF2-40B4-BE49-F238E27FC236}">
                      <a16:creationId xmlns:a16="http://schemas.microsoft.com/office/drawing/2014/main" id="{59127BBD-6C34-CCB0-A966-F3321B3883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V="1">
                  <a:off x="785814" y="1641475"/>
                  <a:ext cx="412292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2000" dirty="0">
                      <a:latin typeface="Arial" charset="0"/>
                    </a:rPr>
                    <a:t>-b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719C685-0D88-EEB3-8B45-9458B1962C4C}"/>
                  </a:ext>
                </a:extLst>
              </p:cNvPr>
              <p:cNvGrpSpPr/>
              <p:nvPr/>
            </p:nvGrpSpPr>
            <p:grpSpPr>
              <a:xfrm flipV="1">
                <a:off x="1502423" y="2596842"/>
                <a:ext cx="621305" cy="400110"/>
                <a:chOff x="1506539" y="2297113"/>
                <a:chExt cx="621305" cy="400110"/>
              </a:xfrm>
            </p:grpSpPr>
            <p:sp>
              <p:nvSpPr>
                <p:cNvPr id="17" name="Arc 21">
                  <a:extLst>
                    <a:ext uri="{FF2B5EF4-FFF2-40B4-BE49-F238E27FC236}">
                      <a16:creationId xmlns:a16="http://schemas.microsoft.com/office/drawing/2014/main" id="{197F9AC6-A377-72C5-E7D8-1369E4C449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6539" y="2386013"/>
                  <a:ext cx="303212" cy="29527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435"/>
                    <a:gd name="T1" fmla="*/ 0 h 21600"/>
                    <a:gd name="T2" fmla="*/ 21435 w 21435"/>
                    <a:gd name="T3" fmla="*/ 18932 h 21600"/>
                    <a:gd name="T4" fmla="*/ 0 w 2143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435" h="21600" fill="none" extrusionOk="0">
                      <a:moveTo>
                        <a:pt x="-1" y="0"/>
                      </a:moveTo>
                      <a:cubicBezTo>
                        <a:pt x="10897" y="0"/>
                        <a:pt x="20088" y="8117"/>
                        <a:pt x="21434" y="18932"/>
                      </a:cubicBezTo>
                    </a:path>
                    <a:path w="21435" h="21600" stroke="0" extrusionOk="0">
                      <a:moveTo>
                        <a:pt x="-1" y="0"/>
                      </a:moveTo>
                      <a:cubicBezTo>
                        <a:pt x="10897" y="0"/>
                        <a:pt x="20088" y="8117"/>
                        <a:pt x="21434" y="18932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Text Box 22">
                  <a:extLst>
                    <a:ext uri="{FF2B5EF4-FFF2-40B4-BE49-F238E27FC236}">
                      <a16:creationId xmlns:a16="http://schemas.microsoft.com/office/drawing/2014/main" id="{96BE68F0-A012-3BD6-C610-62E6154DA1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25170" y="2297113"/>
                  <a:ext cx="402674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2000" dirty="0">
                      <a:latin typeface="Arial" charset="0"/>
                      <a:sym typeface="Symbol" pitchFamily="18" charset="2"/>
                    </a:rPr>
                    <a:t>-</a:t>
                  </a:r>
                  <a:endParaRPr lang="en-US" altLang="en-US" sz="2000" dirty="0">
                    <a:latin typeface="Arial" charset="0"/>
                  </a:endParaRPr>
                </a:p>
              </p:txBody>
            </p:sp>
          </p:grpSp>
        </p:grp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07A3A413-AC96-85FD-22B3-40C9B4C7B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02066" flipV="1">
              <a:off x="1474226" y="3037278"/>
              <a:ext cx="47641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dirty="0">
                  <a:latin typeface="Arial" charset="0"/>
                </a:rPr>
                <a:t>|Z|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958851" y="4976840"/>
            <a:ext cx="6743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>
            <a:off x="4300539" y="4265642"/>
            <a:ext cx="0" cy="1317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7878764" y="4772053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Arial" charset="0"/>
              </a:rPr>
              <a:t>x</a:t>
            </a:r>
          </a:p>
        </p:txBody>
      </p:sp>
      <p:graphicFrame>
        <p:nvGraphicFramePr>
          <p:cNvPr id="2050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062305"/>
              </p:ext>
            </p:extLst>
          </p:nvPr>
        </p:nvGraphicFramePr>
        <p:xfrm>
          <a:off x="3811588" y="3819525"/>
          <a:ext cx="13335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600" imgH="279360" progId="Equation.3">
                  <p:embed/>
                </p:oleObj>
              </mc:Choice>
              <mc:Fallback>
                <p:oleObj name="Equation" r:id="rId3" imgW="939600" imgH="2793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3819525"/>
                        <a:ext cx="13335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2" name="Line 22"/>
          <p:cNvSpPr>
            <a:spLocks noChangeShapeType="1"/>
          </p:cNvSpPr>
          <p:nvPr/>
        </p:nvSpPr>
        <p:spPr bwMode="auto">
          <a:xfrm>
            <a:off x="4292601" y="5521352"/>
            <a:ext cx="2036763" cy="0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4" name="Text Box 24"/>
          <p:cNvSpPr txBox="1">
            <a:spLocks noChangeArrowheads="1"/>
          </p:cNvSpPr>
          <p:nvPr/>
        </p:nvSpPr>
        <p:spPr bwMode="auto">
          <a:xfrm>
            <a:off x="706923" y="5738786"/>
            <a:ext cx="3686458" cy="1002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Tx/>
              <a:buChar char="–"/>
            </a:pPr>
            <a:r>
              <a:rPr lang="en-US" altLang="en-US" dirty="0">
                <a:latin typeface="Arial" charset="0"/>
              </a:rPr>
              <a:t> The wavelength </a:t>
            </a:r>
            <a:r>
              <a:rPr lang="en-US" altLang="en-US" dirty="0">
                <a:latin typeface="Arial" charset="0"/>
                <a:sym typeface="Symbol" pitchFamily="18" charset="2"/>
              </a:rPr>
              <a:t>is  </a:t>
            </a:r>
            <a:r>
              <a:rPr lang="en-US" altLang="en-US" dirty="0">
                <a:solidFill>
                  <a:srgbClr val="FC0128"/>
                </a:solidFill>
                <a:latin typeface="Arial" charset="0"/>
                <a:sym typeface="Symbol" pitchFamily="18" charset="2"/>
              </a:rPr>
              <a:t>1/u</a:t>
            </a:r>
            <a:r>
              <a:rPr lang="en-US" altLang="en-US" dirty="0">
                <a:latin typeface="Arial" charset="0"/>
                <a:sym typeface="Symbol" pitchFamily="18" charset="2"/>
              </a:rPr>
              <a:t> .</a:t>
            </a:r>
          </a:p>
          <a:p>
            <a:pPr>
              <a:lnSpc>
                <a:spcPct val="130000"/>
              </a:lnSpc>
              <a:buFontTx/>
              <a:buChar char="–"/>
            </a:pPr>
            <a:r>
              <a:rPr lang="en-US" altLang="en-US" dirty="0">
                <a:latin typeface="Arial" charset="0"/>
              </a:rPr>
              <a:t> </a:t>
            </a:r>
            <a:r>
              <a:rPr lang="en-US" altLang="en-US" dirty="0">
                <a:latin typeface="Arial" charset="0"/>
                <a:sym typeface="Symbol" pitchFamily="18" charset="2"/>
              </a:rPr>
              <a:t>The frequency is </a:t>
            </a:r>
            <a:r>
              <a:rPr lang="en-US" altLang="en-US" dirty="0">
                <a:solidFill>
                  <a:srgbClr val="FC0128"/>
                </a:solidFill>
                <a:latin typeface="Arial" charset="0"/>
                <a:sym typeface="Symbol" pitchFamily="18" charset="2"/>
              </a:rPr>
              <a:t>u</a:t>
            </a:r>
            <a:r>
              <a:rPr lang="en-US" altLang="en-US" dirty="0">
                <a:latin typeface="Arial" charset="0"/>
                <a:sym typeface="Symbol" pitchFamily="18" charset="2"/>
              </a:rPr>
              <a:t> .</a:t>
            </a:r>
          </a:p>
        </p:txBody>
      </p:sp>
      <p:sp>
        <p:nvSpPr>
          <p:cNvPr id="20505" name="Text Box 25"/>
          <p:cNvSpPr txBox="1">
            <a:spLocks noChangeArrowheads="1"/>
          </p:cNvSpPr>
          <p:nvPr/>
        </p:nvSpPr>
        <p:spPr bwMode="auto">
          <a:xfrm>
            <a:off x="3917951" y="4343427"/>
            <a:ext cx="327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1</a:t>
            </a:r>
          </a:p>
        </p:txBody>
      </p:sp>
      <p:sp>
        <p:nvSpPr>
          <p:cNvPr id="20506" name="Line 26"/>
          <p:cNvSpPr>
            <a:spLocks noChangeShapeType="1"/>
          </p:cNvSpPr>
          <p:nvPr/>
        </p:nvSpPr>
        <p:spPr bwMode="auto">
          <a:xfrm>
            <a:off x="4291012" y="4502177"/>
            <a:ext cx="1949451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7" name="Rectangle 27"/>
          <p:cNvSpPr>
            <a:spLocks noGrp="1" noChangeArrowheads="1"/>
          </p:cNvSpPr>
          <p:nvPr>
            <p:ph type="title"/>
          </p:nvPr>
        </p:nvSpPr>
        <p:spPr>
          <a:xfrm>
            <a:off x="-304798" y="338139"/>
            <a:ext cx="8408988" cy="50006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The 1D Basis Functions</a:t>
            </a:r>
          </a:p>
        </p:txBody>
      </p:sp>
      <p:graphicFrame>
        <p:nvGraphicFramePr>
          <p:cNvPr id="20509" name="Object 29"/>
          <p:cNvGraphicFramePr>
            <a:graphicFrameLocks noChangeAspect="1"/>
          </p:cNvGraphicFramePr>
          <p:nvPr/>
        </p:nvGraphicFramePr>
        <p:xfrm>
          <a:off x="6705600" y="142877"/>
          <a:ext cx="12954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5000" imgH="291960" progId="Equation.3">
                  <p:embed/>
                </p:oleObj>
              </mc:Choice>
              <mc:Fallback>
                <p:oleObj name="Equation" r:id="rId5" imgW="495000" imgH="2919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42877"/>
                        <a:ext cx="12954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Freeform 18"/>
          <p:cNvSpPr>
            <a:spLocks/>
          </p:cNvSpPr>
          <p:nvPr/>
        </p:nvSpPr>
        <p:spPr bwMode="auto">
          <a:xfrm>
            <a:off x="3838578" y="4478367"/>
            <a:ext cx="2060575" cy="974725"/>
          </a:xfrm>
          <a:custGeom>
            <a:avLst/>
            <a:gdLst>
              <a:gd name="T0" fmla="*/ 0 w 973"/>
              <a:gd name="T1" fmla="*/ 419 h 818"/>
              <a:gd name="T2" fmla="*/ 259 w 973"/>
              <a:gd name="T3" fmla="*/ 57 h 818"/>
              <a:gd name="T4" fmla="*/ 735 w 973"/>
              <a:gd name="T5" fmla="*/ 761 h 818"/>
              <a:gd name="T6" fmla="*/ 973 w 973"/>
              <a:gd name="T7" fmla="*/ 399 h 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73" h="818">
                <a:moveTo>
                  <a:pt x="0" y="419"/>
                </a:moveTo>
                <a:cubicBezTo>
                  <a:pt x="43" y="359"/>
                  <a:pt x="137" y="0"/>
                  <a:pt x="259" y="57"/>
                </a:cubicBezTo>
                <a:cubicBezTo>
                  <a:pt x="381" y="114"/>
                  <a:pt x="616" y="704"/>
                  <a:pt x="735" y="761"/>
                </a:cubicBezTo>
                <a:cubicBezTo>
                  <a:pt x="854" y="818"/>
                  <a:pt x="924" y="474"/>
                  <a:pt x="973" y="399"/>
                </a:cubicBezTo>
              </a:path>
            </a:pathLst>
          </a:custGeom>
          <a:noFill/>
          <a:ln w="28575" cmpd="sng">
            <a:solidFill>
              <a:srgbClr val="114FF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Freeform 19"/>
          <p:cNvSpPr>
            <a:spLocks/>
          </p:cNvSpPr>
          <p:nvPr/>
        </p:nvSpPr>
        <p:spPr bwMode="auto">
          <a:xfrm>
            <a:off x="1787527" y="4494241"/>
            <a:ext cx="2060575" cy="973137"/>
          </a:xfrm>
          <a:custGeom>
            <a:avLst/>
            <a:gdLst>
              <a:gd name="T0" fmla="*/ 0 w 973"/>
              <a:gd name="T1" fmla="*/ 419 h 818"/>
              <a:gd name="T2" fmla="*/ 259 w 973"/>
              <a:gd name="T3" fmla="*/ 57 h 818"/>
              <a:gd name="T4" fmla="*/ 735 w 973"/>
              <a:gd name="T5" fmla="*/ 761 h 818"/>
              <a:gd name="T6" fmla="*/ 973 w 973"/>
              <a:gd name="T7" fmla="*/ 399 h 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73" h="818">
                <a:moveTo>
                  <a:pt x="0" y="419"/>
                </a:moveTo>
                <a:cubicBezTo>
                  <a:pt x="43" y="359"/>
                  <a:pt x="137" y="0"/>
                  <a:pt x="259" y="57"/>
                </a:cubicBezTo>
                <a:cubicBezTo>
                  <a:pt x="381" y="114"/>
                  <a:pt x="616" y="704"/>
                  <a:pt x="735" y="761"/>
                </a:cubicBezTo>
                <a:cubicBezTo>
                  <a:pt x="854" y="818"/>
                  <a:pt x="924" y="474"/>
                  <a:pt x="973" y="399"/>
                </a:cubicBezTo>
              </a:path>
            </a:pathLst>
          </a:custGeom>
          <a:noFill/>
          <a:ln w="28575" cmpd="sng">
            <a:solidFill>
              <a:srgbClr val="114FF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0" name="Freeform 20"/>
          <p:cNvSpPr>
            <a:spLocks/>
          </p:cNvSpPr>
          <p:nvPr/>
        </p:nvSpPr>
        <p:spPr bwMode="auto">
          <a:xfrm>
            <a:off x="5864227" y="4472017"/>
            <a:ext cx="2060575" cy="974725"/>
          </a:xfrm>
          <a:custGeom>
            <a:avLst/>
            <a:gdLst>
              <a:gd name="T0" fmla="*/ 0 w 973"/>
              <a:gd name="T1" fmla="*/ 419 h 818"/>
              <a:gd name="T2" fmla="*/ 259 w 973"/>
              <a:gd name="T3" fmla="*/ 57 h 818"/>
              <a:gd name="T4" fmla="*/ 735 w 973"/>
              <a:gd name="T5" fmla="*/ 761 h 818"/>
              <a:gd name="T6" fmla="*/ 973 w 973"/>
              <a:gd name="T7" fmla="*/ 399 h 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73" h="818">
                <a:moveTo>
                  <a:pt x="0" y="419"/>
                </a:moveTo>
                <a:cubicBezTo>
                  <a:pt x="43" y="359"/>
                  <a:pt x="137" y="0"/>
                  <a:pt x="259" y="57"/>
                </a:cubicBezTo>
                <a:cubicBezTo>
                  <a:pt x="381" y="114"/>
                  <a:pt x="616" y="704"/>
                  <a:pt x="735" y="761"/>
                </a:cubicBezTo>
                <a:cubicBezTo>
                  <a:pt x="854" y="818"/>
                  <a:pt x="924" y="474"/>
                  <a:pt x="973" y="399"/>
                </a:cubicBezTo>
              </a:path>
            </a:pathLst>
          </a:custGeom>
          <a:noFill/>
          <a:ln w="28575" cmpd="sng">
            <a:solidFill>
              <a:srgbClr val="114FF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1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38370"/>
              </p:ext>
            </p:extLst>
          </p:nvPr>
        </p:nvGraphicFramePr>
        <p:xfrm>
          <a:off x="2627784" y="2204864"/>
          <a:ext cx="3456384" cy="1200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70000" imgH="723600" progId="Equation.3">
                  <p:embed/>
                </p:oleObj>
              </mc:Choice>
              <mc:Fallback>
                <p:oleObj name="Equation" r:id="rId7" imgW="2070000" imgH="723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204864"/>
                        <a:ext cx="3456384" cy="120056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2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2" name="Line 32"/>
          <p:cNvSpPr>
            <a:spLocks noChangeShapeType="1"/>
          </p:cNvSpPr>
          <p:nvPr/>
        </p:nvSpPr>
        <p:spPr bwMode="auto">
          <a:xfrm>
            <a:off x="6324600" y="4883177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4" name="Text Box 34"/>
          <p:cNvSpPr txBox="1">
            <a:spLocks noChangeArrowheads="1"/>
          </p:cNvSpPr>
          <p:nvPr/>
        </p:nvSpPr>
        <p:spPr bwMode="auto">
          <a:xfrm>
            <a:off x="5178427" y="5384829"/>
            <a:ext cx="54053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en-US" sz="2000">
                <a:solidFill>
                  <a:srgbClr val="FC0128"/>
                </a:solidFill>
                <a:latin typeface="Arial" charset="0"/>
                <a:sym typeface="Symbol" pitchFamily="18" charset="2"/>
              </a:rPr>
              <a:t>1/u</a:t>
            </a:r>
            <a:endParaRPr lang="en-US" altLang="en-US" sz="2000">
              <a:latin typeface="Arial" charset="0"/>
              <a:sym typeface="Symbol" pitchFamily="18" charset="2"/>
            </a:endParaRPr>
          </a:p>
        </p:txBody>
      </p:sp>
      <p:graphicFrame>
        <p:nvGraphicFramePr>
          <p:cNvPr id="20" name="Objec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7193192"/>
              </p:ext>
            </p:extLst>
          </p:nvPr>
        </p:nvGraphicFramePr>
        <p:xfrm>
          <a:off x="915640" y="1032867"/>
          <a:ext cx="58166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57320" imgH="330120" progId="Equation.3">
                  <p:embed/>
                </p:oleObj>
              </mc:Choice>
              <mc:Fallback>
                <p:oleObj name="Equation" r:id="rId9" imgW="2857320" imgH="3301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40" y="1032867"/>
                        <a:ext cx="5816600" cy="7016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5" grpId="0" animBg="1"/>
      <p:bldP spid="20496" grpId="0" animBg="1"/>
      <p:bldP spid="20497" grpId="0"/>
      <p:bldP spid="20502" grpId="0" animBg="1"/>
      <p:bldP spid="20504" grpId="0"/>
      <p:bldP spid="20505" grpId="0"/>
      <p:bldP spid="20506" grpId="0" animBg="1"/>
      <p:bldP spid="20498" grpId="0" animBg="1"/>
      <p:bldP spid="20499" grpId="0" animBg="1"/>
      <p:bldP spid="20500" grpId="0" animBg="1"/>
      <p:bldP spid="20512" grpId="0" animBg="1"/>
      <p:bldP spid="205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641" name="Group 1073"/>
          <p:cNvGrpSpPr>
            <a:grpSpLocks/>
          </p:cNvGrpSpPr>
          <p:nvPr/>
        </p:nvGrpSpPr>
        <p:grpSpPr bwMode="auto">
          <a:xfrm>
            <a:off x="827091" y="4437063"/>
            <a:ext cx="8066087" cy="595312"/>
            <a:chOff x="521" y="2284"/>
            <a:chExt cx="5081" cy="375"/>
          </a:xfrm>
        </p:grpSpPr>
        <p:graphicFrame>
          <p:nvGraphicFramePr>
            <p:cNvPr id="110636" name="Object 1068"/>
            <p:cNvGraphicFramePr>
              <a:graphicFrameLocks/>
            </p:cNvGraphicFramePr>
            <p:nvPr/>
          </p:nvGraphicFramePr>
          <p:xfrm>
            <a:off x="2719" y="2284"/>
            <a:ext cx="2883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משוואה" r:id="rId3" imgW="2247840" imgH="279360" progId="Equation.3">
                    <p:embed/>
                  </p:oleObj>
                </mc:Choice>
                <mc:Fallback>
                  <p:oleObj name="משוואה" r:id="rId3" imgW="2247840" imgH="279360" progId="Equation.3">
                    <p:embed/>
                    <p:pic>
                      <p:nvPicPr>
                        <p:cNvPr id="0" name="Object 106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9" y="2284"/>
                          <a:ext cx="2883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635" name="Rectangle 1067"/>
            <p:cNvSpPr>
              <a:spLocks noChangeArrowheads="1"/>
            </p:cNvSpPr>
            <p:nvPr/>
          </p:nvSpPr>
          <p:spPr bwMode="auto">
            <a:xfrm>
              <a:off x="521" y="2329"/>
              <a:ext cx="21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An orthonormal basis   </a:t>
              </a:r>
              <a:r>
                <a:rPr lang="en-US" altLang="en-US" dirty="0">
                  <a:sym typeface="Wingdings" pitchFamily="2" charset="2"/>
                </a:rPr>
                <a:t> </a:t>
              </a:r>
              <a:endParaRPr lang="en-US" alt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E440AD7-790D-1911-6C6D-6069518BEF5B}"/>
              </a:ext>
            </a:extLst>
          </p:cNvPr>
          <p:cNvSpPr txBox="1"/>
          <p:nvPr/>
        </p:nvSpPr>
        <p:spPr>
          <a:xfrm>
            <a:off x="4361210" y="4471344"/>
            <a:ext cx="1440160" cy="461665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r>
              <a:rPr lang="en-US" altLang="en-US" sz="2400" i="1" dirty="0"/>
              <a:t>Coefficient</a:t>
            </a:r>
            <a:endParaRPr lang="en-IL" i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01E117-626D-A841-038E-AE4E9F65BA68}"/>
              </a:ext>
            </a:extLst>
          </p:cNvPr>
          <p:cNvCxnSpPr/>
          <p:nvPr/>
        </p:nvCxnSpPr>
        <p:spPr bwMode="auto">
          <a:xfrm>
            <a:off x="8028384" y="4508500"/>
            <a:ext cx="64807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640" name="Rectangle 1072"/>
          <p:cNvSpPr>
            <a:spLocks noChangeArrowheads="1"/>
          </p:cNvSpPr>
          <p:nvPr/>
        </p:nvSpPr>
        <p:spPr bwMode="auto">
          <a:xfrm>
            <a:off x="3779839" y="4146550"/>
            <a:ext cx="5219700" cy="8651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10643" name="Rectangle 1075"/>
          <p:cNvSpPr>
            <a:spLocks noChangeArrowheads="1"/>
          </p:cNvSpPr>
          <p:nvPr/>
        </p:nvSpPr>
        <p:spPr bwMode="auto">
          <a:xfrm>
            <a:off x="900115" y="3259139"/>
            <a:ext cx="21579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2"/>
                </a:solidFill>
              </a:rPr>
              <a:t>Basis functions:</a:t>
            </a:r>
          </a:p>
        </p:txBody>
      </p:sp>
      <p:graphicFrame>
        <p:nvGraphicFramePr>
          <p:cNvPr id="110639" name="Object 1071"/>
          <p:cNvGraphicFramePr>
            <a:graphicFrameLocks/>
          </p:cNvGraphicFramePr>
          <p:nvPr/>
        </p:nvGraphicFramePr>
        <p:xfrm>
          <a:off x="900115" y="3643313"/>
          <a:ext cx="4535487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57320" imgH="330120" progId="Equation.3">
                  <p:embed/>
                </p:oleObj>
              </mc:Choice>
              <mc:Fallback>
                <p:oleObj name="Equation" r:id="rId5" imgW="2857320" imgH="330120" progId="Equation.3">
                  <p:embed/>
                  <p:pic>
                    <p:nvPicPr>
                      <p:cNvPr id="0" name="Object 107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5" y="3643313"/>
                        <a:ext cx="4535487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8" name="Object 1070"/>
          <p:cNvGraphicFramePr>
            <a:graphicFrameLocks/>
          </p:cNvGraphicFramePr>
          <p:nvPr/>
        </p:nvGraphicFramePr>
        <p:xfrm>
          <a:off x="822325" y="4967289"/>
          <a:ext cx="43688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82600" imgH="596880" progId="Equation.3">
                  <p:embed/>
                </p:oleObj>
              </mc:Choice>
              <mc:Fallback>
                <p:oleObj name="Equation" r:id="rId7" imgW="2082600" imgH="596880" progId="Equation.3">
                  <p:embed/>
                  <p:pic>
                    <p:nvPicPr>
                      <p:cNvPr id="0" name="Object 107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4967289"/>
                        <a:ext cx="4368800" cy="1270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642" name="Group 1074"/>
          <p:cNvGrpSpPr>
            <a:grpSpLocks/>
          </p:cNvGrpSpPr>
          <p:nvPr/>
        </p:nvGrpSpPr>
        <p:grpSpPr bwMode="auto">
          <a:xfrm>
            <a:off x="4992689" y="3033714"/>
            <a:ext cx="4316410" cy="1270000"/>
            <a:chOff x="3145" y="1911"/>
            <a:chExt cx="2719" cy="800"/>
          </a:xfrm>
        </p:grpSpPr>
        <p:graphicFrame>
          <p:nvGraphicFramePr>
            <p:cNvPr id="110629" name="Object 1061"/>
            <p:cNvGraphicFramePr>
              <a:graphicFrameLocks/>
            </p:cNvGraphicFramePr>
            <p:nvPr/>
          </p:nvGraphicFramePr>
          <p:xfrm>
            <a:off x="3145" y="1911"/>
            <a:ext cx="1580" cy="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231560" imgH="647640" progId="Equation.3">
                    <p:embed/>
                  </p:oleObj>
                </mc:Choice>
                <mc:Fallback>
                  <p:oleObj name="Equation" r:id="rId9" imgW="1231560" imgH="647640" progId="Equation.3">
                    <p:embed/>
                    <p:pic>
                      <p:nvPicPr>
                        <p:cNvPr id="0" name="Object 106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5" y="1911"/>
                          <a:ext cx="1580" cy="8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623" name="Rectangle 1055"/>
            <p:cNvSpPr>
              <a:spLocks noChangeArrowheads="1"/>
            </p:cNvSpPr>
            <p:nvPr/>
          </p:nvSpPr>
          <p:spPr bwMode="auto">
            <a:xfrm>
              <a:off x="4698" y="2052"/>
              <a:ext cx="1166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b="1">
                  <a:solidFill>
                    <a:srgbClr val="FF0000"/>
                  </a:solidFill>
                </a:rPr>
                <a:t>The Fourier </a:t>
              </a:r>
              <a:br>
                <a:rPr lang="en-US" altLang="en-US" b="1">
                  <a:solidFill>
                    <a:srgbClr val="FF0000"/>
                  </a:solidFill>
                </a:rPr>
              </a:br>
              <a:r>
                <a:rPr lang="en-US" altLang="en-US" b="1">
                  <a:solidFill>
                    <a:srgbClr val="FF0000"/>
                  </a:solidFill>
                </a:rPr>
                <a:t>Transform</a:t>
              </a:r>
            </a:p>
          </p:txBody>
        </p:sp>
      </p:grpSp>
      <p:graphicFrame>
        <p:nvGraphicFramePr>
          <p:cNvPr id="110613" name="Object 1045"/>
          <p:cNvGraphicFramePr>
            <a:graphicFrameLocks/>
          </p:cNvGraphicFramePr>
          <p:nvPr/>
        </p:nvGraphicFramePr>
        <p:xfrm>
          <a:off x="812800" y="3033714"/>
          <a:ext cx="43688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82600" imgH="596880" progId="Equation.3">
                  <p:embed/>
                </p:oleObj>
              </mc:Choice>
              <mc:Fallback>
                <p:oleObj name="Equation" r:id="rId7" imgW="2082600" imgH="596880" progId="Equation.3">
                  <p:embed/>
                  <p:pic>
                    <p:nvPicPr>
                      <p:cNvPr id="0" name="Object 104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3033714"/>
                        <a:ext cx="4368800" cy="1270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9" name="Rectangle 1031"/>
          <p:cNvSpPr>
            <a:spLocks noChangeArrowheads="1"/>
          </p:cNvSpPr>
          <p:nvPr/>
        </p:nvSpPr>
        <p:spPr bwMode="auto">
          <a:xfrm>
            <a:off x="685800" y="1408115"/>
            <a:ext cx="4826322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1D Continuous Fourier Transform:</a:t>
            </a:r>
          </a:p>
        </p:txBody>
      </p:sp>
      <p:grpSp>
        <p:nvGrpSpPr>
          <p:cNvPr id="110627" name="Group 1059"/>
          <p:cNvGrpSpPr>
            <a:grpSpLocks/>
          </p:cNvGrpSpPr>
          <p:nvPr/>
        </p:nvGrpSpPr>
        <p:grpSpPr bwMode="auto">
          <a:xfrm>
            <a:off x="4876803" y="1738315"/>
            <a:ext cx="4329113" cy="1397000"/>
            <a:chOff x="3072" y="672"/>
            <a:chExt cx="2727" cy="880"/>
          </a:xfrm>
        </p:grpSpPr>
        <p:graphicFrame>
          <p:nvGraphicFramePr>
            <p:cNvPr id="110621" name="Object 1053"/>
            <p:cNvGraphicFramePr>
              <a:graphicFrameLocks/>
            </p:cNvGraphicFramePr>
            <p:nvPr/>
          </p:nvGraphicFramePr>
          <p:xfrm>
            <a:off x="3072" y="752"/>
            <a:ext cx="1662" cy="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95280" imgH="647640" progId="Equation.3">
                    <p:embed/>
                  </p:oleObj>
                </mc:Choice>
                <mc:Fallback>
                  <p:oleObj name="Equation" r:id="rId11" imgW="1295280" imgH="647640" progId="Equation.3">
                    <p:embed/>
                    <p:pic>
                      <p:nvPicPr>
                        <p:cNvPr id="0" name="Object 105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752"/>
                          <a:ext cx="1662" cy="8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624" name="Rectangle 1056"/>
            <p:cNvSpPr>
              <a:spLocks noChangeArrowheads="1"/>
            </p:cNvSpPr>
            <p:nvPr/>
          </p:nvSpPr>
          <p:spPr bwMode="auto">
            <a:xfrm>
              <a:off x="4698" y="672"/>
              <a:ext cx="1101" cy="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b="1">
                  <a:solidFill>
                    <a:srgbClr val="FF0000"/>
                  </a:solidFill>
                </a:rPr>
                <a:t>The </a:t>
              </a:r>
              <a:r>
                <a:rPr lang="en-US" altLang="en-US" b="1" u="sng">
                  <a:solidFill>
                    <a:srgbClr val="FF0000"/>
                  </a:solidFill>
                </a:rPr>
                <a:t>Inverse</a:t>
              </a:r>
              <a:br>
                <a:rPr lang="en-US" altLang="en-US" b="1">
                  <a:solidFill>
                    <a:srgbClr val="FF0000"/>
                  </a:solidFill>
                </a:rPr>
              </a:br>
              <a:r>
                <a:rPr lang="en-US" altLang="en-US" b="1">
                  <a:solidFill>
                    <a:srgbClr val="FF0000"/>
                  </a:solidFill>
                </a:rPr>
                <a:t>Fourier </a:t>
              </a:r>
              <a:br>
                <a:rPr lang="en-US" altLang="en-US" b="1">
                  <a:solidFill>
                    <a:srgbClr val="FF0000"/>
                  </a:solidFill>
                </a:rPr>
              </a:br>
              <a:r>
                <a:rPr lang="en-US" altLang="en-US" b="1">
                  <a:solidFill>
                    <a:srgbClr val="FF0000"/>
                  </a:solidFill>
                </a:rPr>
                <a:t>Transform</a:t>
              </a:r>
            </a:p>
          </p:txBody>
        </p:sp>
      </p:grpSp>
      <p:sp>
        <p:nvSpPr>
          <p:cNvPr id="110603" name="Rectangle 1035"/>
          <p:cNvSpPr>
            <a:spLocks noChangeArrowheads="1"/>
          </p:cNvSpPr>
          <p:nvPr/>
        </p:nvSpPr>
        <p:spPr bwMode="auto">
          <a:xfrm>
            <a:off x="381003" y="-76200"/>
            <a:ext cx="8475663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4000"/>
              <a:t> The Continuous Fourier Transform</a:t>
            </a:r>
          </a:p>
        </p:txBody>
      </p:sp>
      <p:graphicFrame>
        <p:nvGraphicFramePr>
          <p:cNvPr id="110614" name="Object 1046"/>
          <p:cNvGraphicFramePr>
            <a:graphicFrameLocks/>
          </p:cNvGraphicFramePr>
          <p:nvPr/>
        </p:nvGraphicFramePr>
        <p:xfrm>
          <a:off x="812800" y="1865313"/>
          <a:ext cx="43688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45960" imgH="596880" progId="Equation.3">
                  <p:embed/>
                </p:oleObj>
              </mc:Choice>
              <mc:Fallback>
                <p:oleObj name="Equation" r:id="rId13" imgW="2145960" imgH="596880" progId="Equation.3">
                  <p:embed/>
                  <p:pic>
                    <p:nvPicPr>
                      <p:cNvPr id="0" name="Object 1046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1865313"/>
                        <a:ext cx="4368800" cy="1270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0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110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0.01226 L 0.00052 -0.28145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14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0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40" grpId="0" animBg="1"/>
      <p:bldP spid="11059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71450"/>
            <a:ext cx="7772400" cy="1143000"/>
          </a:xfrm>
        </p:spPr>
        <p:txBody>
          <a:bodyPr/>
          <a:lstStyle/>
          <a:p>
            <a:r>
              <a:rPr lang="en-US" altLang="en-US" b="1"/>
              <a:t>Some Fourier Transforms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2" y="1052513"/>
            <a:ext cx="1798639" cy="8001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b="1" u="sng"/>
              <a:t>Function </a:t>
            </a:r>
          </a:p>
        </p:txBody>
      </p:sp>
      <p:sp>
        <p:nvSpPr>
          <p:cNvPr id="234500" name="Rectangle 4"/>
          <p:cNvSpPr>
            <a:spLocks noChangeArrowheads="1"/>
          </p:cNvSpPr>
          <p:nvPr/>
        </p:nvSpPr>
        <p:spPr bwMode="auto">
          <a:xfrm>
            <a:off x="4572002" y="1060450"/>
            <a:ext cx="4176713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b="1" u="sng"/>
              <a:t>Fourier Transform</a:t>
            </a:r>
          </a:p>
        </p:txBody>
      </p:sp>
      <p:graphicFrame>
        <p:nvGraphicFramePr>
          <p:cNvPr id="234501" name="Object 5"/>
          <p:cNvGraphicFramePr>
            <a:graphicFrameLocks noChangeAspect="1"/>
          </p:cNvGraphicFramePr>
          <p:nvPr/>
        </p:nvGraphicFramePr>
        <p:xfrm>
          <a:off x="492127" y="1779590"/>
          <a:ext cx="386397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3" imgW="1942920" imgH="457200" progId="Equation.3">
                  <p:embed/>
                </p:oleObj>
              </mc:Choice>
              <mc:Fallback>
                <p:oleObj name="משוואה" r:id="rId3" imgW="194292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7" y="1779590"/>
                        <a:ext cx="3863975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2" name="Object 6"/>
          <p:cNvGraphicFramePr>
            <a:graphicFrameLocks noChangeAspect="1"/>
          </p:cNvGraphicFramePr>
          <p:nvPr/>
        </p:nvGraphicFramePr>
        <p:xfrm>
          <a:off x="5435601" y="2032002"/>
          <a:ext cx="2852739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5" imgW="1434960" imgH="203040" progId="Equation.3">
                  <p:embed/>
                </p:oleObj>
              </mc:Choice>
              <mc:Fallback>
                <p:oleObj name="משוואה" r:id="rId5" imgW="143496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1" y="2032002"/>
                        <a:ext cx="2852739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3" name="Object 7"/>
          <p:cNvGraphicFramePr>
            <a:graphicFrameLocks noChangeAspect="1"/>
          </p:cNvGraphicFramePr>
          <p:nvPr/>
        </p:nvGraphicFramePr>
        <p:xfrm>
          <a:off x="492127" y="2776539"/>
          <a:ext cx="149066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7" imgW="749160" imgH="203040" progId="Equation.3">
                  <p:embed/>
                </p:oleObj>
              </mc:Choice>
              <mc:Fallback>
                <p:oleObj name="משוואה" r:id="rId7" imgW="74916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7" y="2776539"/>
                        <a:ext cx="149066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4" name="Object 8"/>
          <p:cNvGraphicFramePr>
            <a:graphicFrameLocks noChangeAspect="1"/>
          </p:cNvGraphicFramePr>
          <p:nvPr/>
        </p:nvGraphicFramePr>
        <p:xfrm>
          <a:off x="5435601" y="2776539"/>
          <a:ext cx="1085851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9" imgW="545760" imgH="203040" progId="Equation.3">
                  <p:embed/>
                </p:oleObj>
              </mc:Choice>
              <mc:Fallback>
                <p:oleObj name="משוואה" r:id="rId9" imgW="54576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1" y="2776539"/>
                        <a:ext cx="1085851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5" name="Object 9"/>
          <p:cNvGraphicFramePr>
            <a:graphicFrameLocks noChangeAspect="1"/>
          </p:cNvGraphicFramePr>
          <p:nvPr/>
        </p:nvGraphicFramePr>
        <p:xfrm>
          <a:off x="5435600" y="3425825"/>
          <a:ext cx="19446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11" imgW="850680" imgH="228600" progId="Equation.3">
                  <p:embed/>
                </p:oleObj>
              </mc:Choice>
              <mc:Fallback>
                <p:oleObj name="משוואה" r:id="rId11" imgW="85068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425825"/>
                        <a:ext cx="19446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6" name="Object 10"/>
          <p:cNvGraphicFramePr>
            <a:graphicFrameLocks noChangeAspect="1"/>
          </p:cNvGraphicFramePr>
          <p:nvPr/>
        </p:nvGraphicFramePr>
        <p:xfrm>
          <a:off x="492127" y="3486152"/>
          <a:ext cx="19431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13" imgW="977760" imgH="203040" progId="Equation.3">
                  <p:embed/>
                </p:oleObj>
              </mc:Choice>
              <mc:Fallback>
                <p:oleObj name="משוואה" r:id="rId13" imgW="97776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7" y="3486152"/>
                        <a:ext cx="19431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756603"/>
              </p:ext>
            </p:extLst>
          </p:nvPr>
        </p:nvGraphicFramePr>
        <p:xfrm>
          <a:off x="492125" y="4149080"/>
          <a:ext cx="18938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15" imgW="952200" imgH="203040" progId="Equation.3">
                  <p:embed/>
                </p:oleObj>
              </mc:Choice>
              <mc:Fallback>
                <p:oleObj name="משוואה" r:id="rId15" imgW="95220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" y="4149080"/>
                        <a:ext cx="189388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363610"/>
              </p:ext>
            </p:extLst>
          </p:nvPr>
        </p:nvGraphicFramePr>
        <p:xfrm>
          <a:off x="4754563" y="4005064"/>
          <a:ext cx="42418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17" imgW="2133360" imgH="431640" progId="Equation.3">
                  <p:embed/>
                </p:oleObj>
              </mc:Choice>
              <mc:Fallback>
                <p:oleObj name="משוואה" r:id="rId17" imgW="2133360" imgH="431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563" y="4005064"/>
                        <a:ext cx="42418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9" name="Object 13"/>
          <p:cNvGraphicFramePr>
            <a:graphicFrameLocks noChangeAspect="1"/>
          </p:cNvGraphicFramePr>
          <p:nvPr/>
        </p:nvGraphicFramePr>
        <p:xfrm>
          <a:off x="492125" y="5221290"/>
          <a:ext cx="1843088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19" imgW="927000" imgH="203040" progId="Equation.3">
                  <p:embed/>
                </p:oleObj>
              </mc:Choice>
              <mc:Fallback>
                <p:oleObj name="משוואה" r:id="rId19" imgW="927000" imgH="203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" y="5221290"/>
                        <a:ext cx="1843088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0" name="Object 14"/>
          <p:cNvGraphicFramePr>
            <a:graphicFrameLocks noChangeAspect="1"/>
          </p:cNvGraphicFramePr>
          <p:nvPr/>
        </p:nvGraphicFramePr>
        <p:xfrm>
          <a:off x="4667252" y="5195890"/>
          <a:ext cx="44180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21" imgW="2222280" imgH="431640" progId="Equation.3">
                  <p:embed/>
                </p:oleObj>
              </mc:Choice>
              <mc:Fallback>
                <p:oleObj name="משוואה" r:id="rId21" imgW="2222280" imgH="431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2" y="5195890"/>
                        <a:ext cx="4418013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1" name="Object 15"/>
          <p:cNvGraphicFramePr>
            <a:graphicFrameLocks noChangeAspect="1"/>
          </p:cNvGraphicFramePr>
          <p:nvPr/>
        </p:nvGraphicFramePr>
        <p:xfrm>
          <a:off x="4787902" y="6113463"/>
          <a:ext cx="37449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23" imgW="1638000" imgH="253800" progId="Equation.3">
                  <p:embed/>
                </p:oleObj>
              </mc:Choice>
              <mc:Fallback>
                <p:oleObj name="משוואה" r:id="rId23" imgW="1638000" imgH="253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2" y="6113463"/>
                        <a:ext cx="3744913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256267"/>
              </p:ext>
            </p:extLst>
          </p:nvPr>
        </p:nvGraphicFramePr>
        <p:xfrm>
          <a:off x="404813" y="6113463"/>
          <a:ext cx="2871787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25" imgW="1257120" imgH="253800" progId="Equation.3">
                  <p:embed/>
                </p:oleObj>
              </mc:Choice>
              <mc:Fallback>
                <p:oleObj name="משוואה" r:id="rId25" imgW="1257120" imgH="253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6113463"/>
                        <a:ext cx="2871787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871863"/>
              </p:ext>
            </p:extLst>
          </p:nvPr>
        </p:nvGraphicFramePr>
        <p:xfrm>
          <a:off x="1475160" y="3192078"/>
          <a:ext cx="5712492" cy="3189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27" imgW="2527200" imgH="1409400" progId="Equation.3">
                  <p:embed/>
                </p:oleObj>
              </mc:Choice>
              <mc:Fallback>
                <p:oleObj name="משוואה" r:id="rId27" imgW="2527200" imgH="140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160" y="3192078"/>
                        <a:ext cx="5712492" cy="3189249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948640"/>
              </p:ext>
            </p:extLst>
          </p:nvPr>
        </p:nvGraphicFramePr>
        <p:xfrm>
          <a:off x="2237364" y="4461851"/>
          <a:ext cx="3702050" cy="176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29" imgW="1498320" imgH="711000" progId="Equation.3">
                  <p:embed/>
                </p:oleObj>
              </mc:Choice>
              <mc:Fallback>
                <p:oleObj name="משוואה" r:id="rId29" imgW="149832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7364" y="4461851"/>
                        <a:ext cx="3702050" cy="17605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 bwMode="auto">
          <a:xfrm>
            <a:off x="1979712" y="5558110"/>
            <a:ext cx="4320480" cy="111125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426516" y="4267201"/>
            <a:ext cx="6193184" cy="121841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1475160" y="5418928"/>
            <a:ext cx="6193184" cy="128826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79608"/>
              </p:ext>
            </p:extLst>
          </p:nvPr>
        </p:nvGraphicFramePr>
        <p:xfrm>
          <a:off x="2494882" y="4025049"/>
          <a:ext cx="5622925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משוואה" r:id="rId31" imgW="2400120" imgH="1015920" progId="Equation.3">
                  <p:embed/>
                </p:oleObj>
              </mc:Choice>
              <mc:Fallback>
                <p:oleObj name="משוואה" r:id="rId31" imgW="240012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882" y="4025049"/>
                        <a:ext cx="5622925" cy="23812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/>
          <p:cNvSpPr/>
          <p:nvPr/>
        </p:nvSpPr>
        <p:spPr bwMode="auto">
          <a:xfrm>
            <a:off x="1475160" y="4587815"/>
            <a:ext cx="7384553" cy="121841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1651447" y="5451911"/>
            <a:ext cx="7384553" cy="121841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3923453" y="6114429"/>
            <a:ext cx="3649195" cy="842963"/>
            <a:chOff x="3059853" y="5654749"/>
            <a:chExt cx="4392465" cy="810030"/>
          </a:xfrm>
        </p:grpSpPr>
        <p:sp>
          <p:nvSpPr>
            <p:cNvPr id="25" name="Right Brace 24"/>
            <p:cNvSpPr/>
            <p:nvPr/>
          </p:nvSpPr>
          <p:spPr bwMode="auto">
            <a:xfrm rot="5400000">
              <a:off x="5113835" y="3600767"/>
              <a:ext cx="284502" cy="4392465"/>
            </a:xfrm>
            <a:prstGeom prst="rightBrace">
              <a:avLst>
                <a:gd name="adj1" fmla="val 95598"/>
                <a:gd name="adj2" fmla="val 49691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aphicFrame>
          <p:nvGraphicFramePr>
            <p:cNvPr id="26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5608761"/>
                </p:ext>
              </p:extLst>
            </p:nvPr>
          </p:nvGraphicFramePr>
          <p:xfrm>
            <a:off x="4865238" y="5913137"/>
            <a:ext cx="930896" cy="551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משוואה" r:id="rId33" imgW="342720" imgH="203040" progId="Equation.3">
                    <p:embed/>
                  </p:oleObj>
                </mc:Choice>
                <mc:Fallback>
                  <p:oleObj name="משוואה" r:id="rId33" imgW="342720" imgH="20304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865238" y="5913137"/>
                          <a:ext cx="930896" cy="55164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Rectangle 28"/>
          <p:cNvSpPr/>
          <p:nvPr/>
        </p:nvSpPr>
        <p:spPr bwMode="auto">
          <a:xfrm>
            <a:off x="4653661" y="3167106"/>
            <a:ext cx="3590747" cy="111250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355976" y="4261103"/>
            <a:ext cx="3755530" cy="126453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5004048" y="5417282"/>
            <a:ext cx="3528392" cy="126453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3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3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3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3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21" grpId="0" animBg="1"/>
      <p:bldP spid="21" grpId="1" animBg="1"/>
      <p:bldP spid="22" grpId="1" animBg="1"/>
      <p:bldP spid="27" grpId="0" animBg="1"/>
      <p:bldP spid="27" grpId="1" animBg="1"/>
      <p:bldP spid="28" grpId="0" animBg="1"/>
      <p:bldP spid="28" grpId="1" animBg="1"/>
      <p:bldP spid="29" grpId="1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574" name="Group 6"/>
          <p:cNvGrpSpPr>
            <a:grpSpLocks/>
          </p:cNvGrpSpPr>
          <p:nvPr/>
        </p:nvGrpSpPr>
        <p:grpSpPr bwMode="auto">
          <a:xfrm>
            <a:off x="4992689" y="2387602"/>
            <a:ext cx="4316410" cy="1355725"/>
            <a:chOff x="3145" y="1504"/>
            <a:chExt cx="2719" cy="854"/>
          </a:xfrm>
        </p:grpSpPr>
        <p:sp>
          <p:nvSpPr>
            <p:cNvPr id="237575" name="Rectangle 7"/>
            <p:cNvSpPr>
              <a:spLocks noChangeArrowheads="1"/>
            </p:cNvSpPr>
            <p:nvPr/>
          </p:nvSpPr>
          <p:spPr bwMode="auto">
            <a:xfrm>
              <a:off x="4698" y="1836"/>
              <a:ext cx="1166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b="1">
                  <a:solidFill>
                    <a:srgbClr val="FF0000"/>
                  </a:solidFill>
                </a:rPr>
                <a:t>The Fourier </a:t>
              </a:r>
              <a:br>
                <a:rPr lang="en-US" altLang="en-US" b="1">
                  <a:solidFill>
                    <a:srgbClr val="FF0000"/>
                  </a:solidFill>
                </a:rPr>
              </a:br>
              <a:r>
                <a:rPr lang="en-US" altLang="en-US" b="1">
                  <a:solidFill>
                    <a:srgbClr val="FF0000"/>
                  </a:solidFill>
                </a:rPr>
                <a:t>Transform</a:t>
              </a:r>
            </a:p>
          </p:txBody>
        </p:sp>
        <p:graphicFrame>
          <p:nvGraphicFramePr>
            <p:cNvPr id="237576" name="Object 8"/>
            <p:cNvGraphicFramePr>
              <a:graphicFrameLocks/>
            </p:cNvGraphicFramePr>
            <p:nvPr/>
          </p:nvGraphicFramePr>
          <p:xfrm>
            <a:off x="3145" y="1504"/>
            <a:ext cx="1580" cy="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31560" imgH="647640" progId="Equation.3">
                    <p:embed/>
                  </p:oleObj>
                </mc:Choice>
                <mc:Fallback>
                  <p:oleObj name="Equation" r:id="rId3" imgW="1231560" imgH="647640" progId="Equation.3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5" y="1504"/>
                          <a:ext cx="1580" cy="8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7577" name="Object 9"/>
          <p:cNvGraphicFramePr>
            <a:graphicFrameLocks/>
          </p:cNvGraphicFramePr>
          <p:nvPr/>
        </p:nvGraphicFramePr>
        <p:xfrm>
          <a:off x="812800" y="2387601"/>
          <a:ext cx="43688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82600" imgH="596880" progId="Equation.3">
                  <p:embed/>
                </p:oleObj>
              </mc:Choice>
              <mc:Fallback>
                <p:oleObj name="Equation" r:id="rId5" imgW="2082600" imgH="59688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2387601"/>
                        <a:ext cx="4368800" cy="1270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8" name="Rectangle 10"/>
          <p:cNvSpPr>
            <a:spLocks noChangeArrowheads="1"/>
          </p:cNvSpPr>
          <p:nvPr/>
        </p:nvSpPr>
        <p:spPr bwMode="auto">
          <a:xfrm>
            <a:off x="685800" y="762002"/>
            <a:ext cx="4826322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b="1">
                <a:solidFill>
                  <a:srgbClr val="FF0000"/>
                </a:solidFill>
              </a:rPr>
              <a:t>1D Continuous Fourier Transform:</a:t>
            </a:r>
          </a:p>
        </p:txBody>
      </p:sp>
      <p:grpSp>
        <p:nvGrpSpPr>
          <p:cNvPr id="237579" name="Group 11"/>
          <p:cNvGrpSpPr>
            <a:grpSpLocks/>
          </p:cNvGrpSpPr>
          <p:nvPr/>
        </p:nvGrpSpPr>
        <p:grpSpPr bwMode="auto">
          <a:xfrm>
            <a:off x="4876803" y="1092202"/>
            <a:ext cx="4329113" cy="1397000"/>
            <a:chOff x="3072" y="672"/>
            <a:chExt cx="2727" cy="880"/>
          </a:xfrm>
        </p:grpSpPr>
        <p:graphicFrame>
          <p:nvGraphicFramePr>
            <p:cNvPr id="237580" name="Object 12"/>
            <p:cNvGraphicFramePr>
              <a:graphicFrameLocks/>
            </p:cNvGraphicFramePr>
            <p:nvPr/>
          </p:nvGraphicFramePr>
          <p:xfrm>
            <a:off x="3072" y="752"/>
            <a:ext cx="1662" cy="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95280" imgH="647640" progId="Equation.3">
                    <p:embed/>
                  </p:oleObj>
                </mc:Choice>
                <mc:Fallback>
                  <p:oleObj name="Equation" r:id="rId7" imgW="1295280" imgH="647640" progId="Equation.3">
                    <p:embed/>
                    <p:pic>
                      <p:nvPicPr>
                        <p:cNvPr id="0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752"/>
                          <a:ext cx="1662" cy="8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7581" name="Rectangle 13"/>
            <p:cNvSpPr>
              <a:spLocks noChangeArrowheads="1"/>
            </p:cNvSpPr>
            <p:nvPr/>
          </p:nvSpPr>
          <p:spPr bwMode="auto">
            <a:xfrm>
              <a:off x="4698" y="672"/>
              <a:ext cx="1101" cy="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b="1">
                  <a:solidFill>
                    <a:srgbClr val="FF0000"/>
                  </a:solidFill>
                </a:rPr>
                <a:t>The </a:t>
              </a:r>
              <a:r>
                <a:rPr lang="en-US" altLang="en-US" b="1" u="sng">
                  <a:solidFill>
                    <a:srgbClr val="FF0000"/>
                  </a:solidFill>
                </a:rPr>
                <a:t>Inverse</a:t>
              </a:r>
              <a:br>
                <a:rPr lang="en-US" altLang="en-US" b="1">
                  <a:solidFill>
                    <a:srgbClr val="FF0000"/>
                  </a:solidFill>
                </a:rPr>
              </a:br>
              <a:r>
                <a:rPr lang="en-US" altLang="en-US" b="1">
                  <a:solidFill>
                    <a:srgbClr val="FF0000"/>
                  </a:solidFill>
                </a:rPr>
                <a:t>Fourier </a:t>
              </a:r>
              <a:br>
                <a:rPr lang="en-US" altLang="en-US" b="1">
                  <a:solidFill>
                    <a:srgbClr val="FF0000"/>
                  </a:solidFill>
                </a:rPr>
              </a:br>
              <a:r>
                <a:rPr lang="en-US" altLang="en-US" b="1">
                  <a:solidFill>
                    <a:srgbClr val="FF0000"/>
                  </a:solidFill>
                </a:rPr>
                <a:t>Transform</a:t>
              </a:r>
            </a:p>
          </p:txBody>
        </p:sp>
      </p:grpSp>
      <p:sp>
        <p:nvSpPr>
          <p:cNvPr id="237582" name="Rectangle 14"/>
          <p:cNvSpPr>
            <a:spLocks noChangeArrowheads="1"/>
          </p:cNvSpPr>
          <p:nvPr/>
        </p:nvSpPr>
        <p:spPr bwMode="auto">
          <a:xfrm>
            <a:off x="381003" y="-76200"/>
            <a:ext cx="8475663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4000"/>
              <a:t> The Continuous Fourier Transform</a:t>
            </a:r>
          </a:p>
        </p:txBody>
      </p:sp>
      <p:graphicFrame>
        <p:nvGraphicFramePr>
          <p:cNvPr id="237587" name="Object 19"/>
          <p:cNvGraphicFramePr>
            <a:graphicFrameLocks/>
          </p:cNvGraphicFramePr>
          <p:nvPr/>
        </p:nvGraphicFramePr>
        <p:xfrm>
          <a:off x="812800" y="1219200"/>
          <a:ext cx="43688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45960" imgH="596880" progId="Equation.3">
                  <p:embed/>
                </p:oleObj>
              </mc:Choice>
              <mc:Fallback>
                <p:oleObj name="Equation" r:id="rId9" imgW="2145960" imgH="596880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1219200"/>
                        <a:ext cx="4368800" cy="1270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7590" name="Group 22"/>
          <p:cNvGrpSpPr>
            <a:grpSpLocks/>
          </p:cNvGrpSpPr>
          <p:nvPr/>
        </p:nvGrpSpPr>
        <p:grpSpPr bwMode="auto">
          <a:xfrm>
            <a:off x="685800" y="3810001"/>
            <a:ext cx="7696200" cy="2976563"/>
            <a:chOff x="432" y="2400"/>
            <a:chExt cx="4848" cy="1875"/>
          </a:xfrm>
        </p:grpSpPr>
        <p:grpSp>
          <p:nvGrpSpPr>
            <p:cNvPr id="237583" name="Group 15"/>
            <p:cNvGrpSpPr>
              <a:grpSpLocks/>
            </p:cNvGrpSpPr>
            <p:nvPr/>
          </p:nvGrpSpPr>
          <p:grpSpPr bwMode="auto">
            <a:xfrm>
              <a:off x="432" y="2400"/>
              <a:ext cx="4848" cy="1857"/>
              <a:chOff x="432" y="2400"/>
              <a:chExt cx="4848" cy="1857"/>
            </a:xfrm>
          </p:grpSpPr>
          <p:graphicFrame>
            <p:nvGraphicFramePr>
              <p:cNvPr id="237584" name="Object 16"/>
              <p:cNvGraphicFramePr>
                <a:graphicFrameLocks/>
              </p:cNvGraphicFramePr>
              <p:nvPr/>
            </p:nvGraphicFramePr>
            <p:xfrm>
              <a:off x="496" y="3408"/>
              <a:ext cx="4784" cy="8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3441600" imgH="634680" progId="Equation.3">
                      <p:embed/>
                    </p:oleObj>
                  </mc:Choice>
                  <mc:Fallback>
                    <p:oleObj name="Equation" r:id="rId11" imgW="3441600" imgH="634680" progId="Equation.3">
                      <p:embed/>
                      <p:pic>
                        <p:nvPicPr>
                          <p:cNvPr id="0" name="Object 1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6" y="3408"/>
                            <a:ext cx="4784" cy="849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7585" name="Rectangle 17"/>
              <p:cNvSpPr>
                <a:spLocks noChangeArrowheads="1"/>
              </p:cNvSpPr>
              <p:nvPr/>
            </p:nvSpPr>
            <p:spPr bwMode="auto">
              <a:xfrm>
                <a:off x="432" y="2400"/>
                <a:ext cx="3040" cy="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en-US" b="1">
                    <a:solidFill>
                      <a:srgbClr val="FF0000"/>
                    </a:solidFill>
                  </a:rPr>
                  <a:t>2D Continuous Fourier Transform:</a:t>
                </a:r>
              </a:p>
            </p:txBody>
          </p:sp>
          <p:graphicFrame>
            <p:nvGraphicFramePr>
              <p:cNvPr id="237586" name="Object 18"/>
              <p:cNvGraphicFramePr>
                <a:graphicFrameLocks/>
              </p:cNvGraphicFramePr>
              <p:nvPr/>
            </p:nvGraphicFramePr>
            <p:xfrm>
              <a:off x="480" y="2640"/>
              <a:ext cx="4800" cy="8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3517560" imgH="596880" progId="Equation.3">
                      <p:embed/>
                    </p:oleObj>
                  </mc:Choice>
                  <mc:Fallback>
                    <p:oleObj name="Equation" r:id="rId13" imgW="3517560" imgH="596880" progId="Equation.3">
                      <p:embed/>
                      <p:pic>
                        <p:nvPicPr>
                          <p:cNvPr id="0" name="Object 1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" y="2640"/>
                            <a:ext cx="4800" cy="846"/>
                          </a:xfrm>
                          <a:prstGeom prst="rect">
                            <a:avLst/>
                          </a:prstGeom>
                          <a:solidFill>
                            <a:srgbClr val="FFFF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7588" name="Rectangle 20"/>
            <p:cNvSpPr>
              <a:spLocks noChangeArrowheads="1"/>
            </p:cNvSpPr>
            <p:nvPr/>
          </p:nvSpPr>
          <p:spPr bwMode="auto">
            <a:xfrm>
              <a:off x="3230" y="3216"/>
              <a:ext cx="2036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r"/>
              <a:r>
                <a:rPr lang="en-US" altLang="en-US" b="1">
                  <a:solidFill>
                    <a:srgbClr val="FF0000"/>
                  </a:solidFill>
                </a:rPr>
                <a:t>The Inverse Transform</a:t>
              </a:r>
            </a:p>
          </p:txBody>
        </p:sp>
        <p:sp>
          <p:nvSpPr>
            <p:cNvPr id="237589" name="Rectangle 21"/>
            <p:cNvSpPr>
              <a:spLocks noChangeArrowheads="1"/>
            </p:cNvSpPr>
            <p:nvPr/>
          </p:nvSpPr>
          <p:spPr bwMode="auto">
            <a:xfrm>
              <a:off x="3892" y="3986"/>
              <a:ext cx="137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r"/>
              <a:r>
                <a:rPr lang="en-US" altLang="en-US" b="1">
                  <a:solidFill>
                    <a:srgbClr val="FF0000"/>
                  </a:solidFill>
                </a:rPr>
                <a:t>The Transform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38" name="Text Box 1082"/>
          <p:cNvSpPr txBox="1">
            <a:spLocks noChangeArrowheads="1"/>
          </p:cNvSpPr>
          <p:nvPr/>
        </p:nvSpPr>
        <p:spPr bwMode="auto">
          <a:xfrm>
            <a:off x="830265" y="6172200"/>
            <a:ext cx="7704417" cy="572464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en-US">
                <a:latin typeface="Arial" charset="0"/>
              </a:rPr>
              <a:t> The wavelength </a:t>
            </a:r>
            <a:r>
              <a:rPr lang="en-US" altLang="en-US">
                <a:latin typeface="Arial" charset="0"/>
                <a:sym typeface="Symbol" pitchFamily="18" charset="2"/>
              </a:rPr>
              <a:t>is                    .     The direction is </a:t>
            </a:r>
            <a:r>
              <a:rPr lang="en-US" altLang="en-US">
                <a:solidFill>
                  <a:srgbClr val="FC0128"/>
                </a:solidFill>
                <a:latin typeface="Arial" charset="0"/>
                <a:sym typeface="Symbol" pitchFamily="18" charset="2"/>
              </a:rPr>
              <a:t>u/v</a:t>
            </a:r>
            <a:r>
              <a:rPr lang="en-US" altLang="en-US">
                <a:latin typeface="Arial" charset="0"/>
                <a:sym typeface="Symbol" pitchFamily="18" charset="2"/>
              </a:rPr>
              <a:t> .</a:t>
            </a:r>
          </a:p>
        </p:txBody>
      </p:sp>
      <p:graphicFrame>
        <p:nvGraphicFramePr>
          <p:cNvPr id="46139" name="Object 1083"/>
          <p:cNvGraphicFramePr>
            <a:graphicFrameLocks noChangeAspect="1"/>
          </p:cNvGraphicFramePr>
          <p:nvPr/>
        </p:nvGraphicFramePr>
        <p:xfrm>
          <a:off x="3551240" y="6223002"/>
          <a:ext cx="16097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1120" imgH="330120" progId="Equation.3">
                  <p:embed/>
                </p:oleObj>
              </mc:Choice>
              <mc:Fallback>
                <p:oleObj name="Equation" r:id="rId3" imgW="1041120" imgH="330120" progId="Equation.3">
                  <p:embed/>
                  <p:pic>
                    <p:nvPicPr>
                      <p:cNvPr id="0" name="Object 10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240" y="6223002"/>
                        <a:ext cx="1609725" cy="5111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36" name="Rectangle 1080"/>
          <p:cNvSpPr>
            <a:spLocks noChangeArrowheads="1"/>
          </p:cNvSpPr>
          <p:nvPr/>
        </p:nvSpPr>
        <p:spPr bwMode="auto">
          <a:xfrm>
            <a:off x="-560386" y="185739"/>
            <a:ext cx="8408988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/>
              <a:t>The 2D Basis Functions</a:t>
            </a:r>
          </a:p>
        </p:txBody>
      </p:sp>
      <p:sp>
        <p:nvSpPr>
          <p:cNvPr id="46082" name="Line 1026"/>
          <p:cNvSpPr>
            <a:spLocks noChangeShapeType="1"/>
          </p:cNvSpPr>
          <p:nvPr/>
        </p:nvSpPr>
        <p:spPr bwMode="auto">
          <a:xfrm rot="5400000">
            <a:off x="4487863" y="-811212"/>
            <a:ext cx="7938" cy="8564563"/>
          </a:xfrm>
          <a:prstGeom prst="line">
            <a:avLst/>
          </a:prstGeom>
          <a:noFill/>
          <a:ln w="28575">
            <a:solidFill>
              <a:srgbClr val="FC012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3" name="Line 1027"/>
          <p:cNvSpPr>
            <a:spLocks noChangeShapeType="1"/>
          </p:cNvSpPr>
          <p:nvPr/>
        </p:nvSpPr>
        <p:spPr bwMode="auto">
          <a:xfrm>
            <a:off x="4400549" y="896938"/>
            <a:ext cx="19051" cy="5334000"/>
          </a:xfrm>
          <a:prstGeom prst="line">
            <a:avLst/>
          </a:prstGeom>
          <a:noFill/>
          <a:ln w="28575">
            <a:solidFill>
              <a:srgbClr val="FC012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6084" name="Picture 1028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788" y="3217865"/>
            <a:ext cx="7461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Text Box 1029"/>
          <p:cNvSpPr txBox="1">
            <a:spLocks noChangeArrowheads="1"/>
          </p:cNvSpPr>
          <p:nvPr/>
        </p:nvSpPr>
        <p:spPr bwMode="auto">
          <a:xfrm>
            <a:off x="4005266" y="3792540"/>
            <a:ext cx="7825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u=0, v=0</a:t>
            </a:r>
          </a:p>
        </p:txBody>
      </p:sp>
      <p:sp>
        <p:nvSpPr>
          <p:cNvPr id="46086" name="Text Box 1030"/>
          <p:cNvSpPr txBox="1">
            <a:spLocks noChangeArrowheads="1"/>
          </p:cNvSpPr>
          <p:nvPr/>
        </p:nvSpPr>
        <p:spPr bwMode="auto">
          <a:xfrm>
            <a:off x="5378454" y="3822701"/>
            <a:ext cx="7825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u=1, v=0</a:t>
            </a:r>
          </a:p>
        </p:txBody>
      </p:sp>
      <p:sp>
        <p:nvSpPr>
          <p:cNvPr id="46087" name="Text Box 1031"/>
          <p:cNvSpPr txBox="1">
            <a:spLocks noChangeArrowheads="1"/>
          </p:cNvSpPr>
          <p:nvPr/>
        </p:nvSpPr>
        <p:spPr bwMode="auto">
          <a:xfrm>
            <a:off x="6783392" y="3822701"/>
            <a:ext cx="7825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u=2, v=0</a:t>
            </a:r>
          </a:p>
        </p:txBody>
      </p:sp>
      <p:pic>
        <p:nvPicPr>
          <p:cNvPr id="46088" name="Picture 1032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3217865"/>
            <a:ext cx="7461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9" name="Text Box 1033"/>
          <p:cNvSpPr txBox="1">
            <a:spLocks noChangeArrowheads="1"/>
          </p:cNvSpPr>
          <p:nvPr/>
        </p:nvSpPr>
        <p:spPr bwMode="auto">
          <a:xfrm>
            <a:off x="1219202" y="3819527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u=-2, v=0</a:t>
            </a:r>
          </a:p>
        </p:txBody>
      </p:sp>
      <p:sp>
        <p:nvSpPr>
          <p:cNvPr id="46090" name="Text Box 1034"/>
          <p:cNvSpPr txBox="1">
            <a:spLocks noChangeArrowheads="1"/>
          </p:cNvSpPr>
          <p:nvPr/>
        </p:nvSpPr>
        <p:spPr bwMode="auto">
          <a:xfrm>
            <a:off x="2573341" y="3819527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u=-1, v=0</a:t>
            </a:r>
          </a:p>
        </p:txBody>
      </p:sp>
      <p:pic>
        <p:nvPicPr>
          <p:cNvPr id="46091" name="Picture 1035"/>
          <p:cNvPicPr preferRelativeResize="0"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2" y="3217865"/>
            <a:ext cx="7461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1036"/>
          <p:cNvPicPr preferRelativeResize="0"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40" y="3217865"/>
            <a:ext cx="7461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3" name="Text Box 1037"/>
          <p:cNvSpPr txBox="1">
            <a:spLocks noChangeArrowheads="1"/>
          </p:cNvSpPr>
          <p:nvPr/>
        </p:nvSpPr>
        <p:spPr bwMode="auto">
          <a:xfrm>
            <a:off x="4005266" y="2798765"/>
            <a:ext cx="7825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u=0, v=1</a:t>
            </a:r>
          </a:p>
        </p:txBody>
      </p:sp>
      <p:sp>
        <p:nvSpPr>
          <p:cNvPr id="46094" name="Text Box 1038"/>
          <p:cNvSpPr txBox="1">
            <a:spLocks noChangeArrowheads="1"/>
          </p:cNvSpPr>
          <p:nvPr/>
        </p:nvSpPr>
        <p:spPr bwMode="auto">
          <a:xfrm>
            <a:off x="5378454" y="2798765"/>
            <a:ext cx="7825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u=1, v=1</a:t>
            </a:r>
          </a:p>
        </p:txBody>
      </p:sp>
      <p:sp>
        <p:nvSpPr>
          <p:cNvPr id="46095" name="Text Box 1039"/>
          <p:cNvSpPr txBox="1">
            <a:spLocks noChangeArrowheads="1"/>
          </p:cNvSpPr>
          <p:nvPr/>
        </p:nvSpPr>
        <p:spPr bwMode="auto">
          <a:xfrm>
            <a:off x="6783392" y="2798765"/>
            <a:ext cx="7825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u=2, v=1</a:t>
            </a:r>
          </a:p>
        </p:txBody>
      </p:sp>
      <p:pic>
        <p:nvPicPr>
          <p:cNvPr id="46096" name="Picture 1040"/>
          <p:cNvPicPr preferRelativeResize="0"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16" y="2217740"/>
            <a:ext cx="744537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7" name="Picture 1041"/>
          <p:cNvPicPr preferRelativeResize="0"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788" y="2217740"/>
            <a:ext cx="7461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8" name="Picture 1042"/>
          <p:cNvPicPr preferRelativeResize="0"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2217740"/>
            <a:ext cx="7461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9" name="Text Box 1043"/>
          <p:cNvSpPr txBox="1">
            <a:spLocks noChangeArrowheads="1"/>
          </p:cNvSpPr>
          <p:nvPr/>
        </p:nvSpPr>
        <p:spPr bwMode="auto">
          <a:xfrm>
            <a:off x="1219202" y="2795590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u=-2, v=1</a:t>
            </a:r>
          </a:p>
        </p:txBody>
      </p:sp>
      <p:sp>
        <p:nvSpPr>
          <p:cNvPr id="46100" name="Text Box 1044"/>
          <p:cNvSpPr txBox="1">
            <a:spLocks noChangeArrowheads="1"/>
          </p:cNvSpPr>
          <p:nvPr/>
        </p:nvSpPr>
        <p:spPr bwMode="auto">
          <a:xfrm>
            <a:off x="2573341" y="2795590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u=-1, v=1</a:t>
            </a:r>
          </a:p>
        </p:txBody>
      </p:sp>
      <p:pic>
        <p:nvPicPr>
          <p:cNvPr id="46101" name="Picture 1045"/>
          <p:cNvPicPr preferRelativeResize="0"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40" y="2217740"/>
            <a:ext cx="7461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02" name="Picture 1046"/>
          <p:cNvPicPr preferRelativeResize="0"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2" y="2217740"/>
            <a:ext cx="7461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03" name="Text Box 1047"/>
          <p:cNvSpPr txBox="1">
            <a:spLocks noChangeArrowheads="1"/>
          </p:cNvSpPr>
          <p:nvPr/>
        </p:nvSpPr>
        <p:spPr bwMode="auto">
          <a:xfrm>
            <a:off x="4005266" y="1784351"/>
            <a:ext cx="7825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u=0, v=2</a:t>
            </a:r>
          </a:p>
        </p:txBody>
      </p:sp>
      <p:sp>
        <p:nvSpPr>
          <p:cNvPr id="46104" name="Text Box 1048"/>
          <p:cNvSpPr txBox="1">
            <a:spLocks noChangeArrowheads="1"/>
          </p:cNvSpPr>
          <p:nvPr/>
        </p:nvSpPr>
        <p:spPr bwMode="auto">
          <a:xfrm>
            <a:off x="5362578" y="1784351"/>
            <a:ext cx="7825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u=1, v=2</a:t>
            </a:r>
          </a:p>
        </p:txBody>
      </p:sp>
      <p:sp>
        <p:nvSpPr>
          <p:cNvPr id="46105" name="Text Box 1049"/>
          <p:cNvSpPr txBox="1">
            <a:spLocks noChangeArrowheads="1"/>
          </p:cNvSpPr>
          <p:nvPr/>
        </p:nvSpPr>
        <p:spPr bwMode="auto">
          <a:xfrm>
            <a:off x="6767516" y="1784351"/>
            <a:ext cx="7825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u=2, v=2</a:t>
            </a:r>
          </a:p>
        </p:txBody>
      </p:sp>
      <p:sp>
        <p:nvSpPr>
          <p:cNvPr id="46106" name="Text Box 1050"/>
          <p:cNvSpPr txBox="1">
            <a:spLocks noChangeArrowheads="1"/>
          </p:cNvSpPr>
          <p:nvPr/>
        </p:nvSpPr>
        <p:spPr bwMode="auto">
          <a:xfrm>
            <a:off x="1203327" y="1781177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u=-2, v=2</a:t>
            </a:r>
          </a:p>
        </p:txBody>
      </p:sp>
      <p:sp>
        <p:nvSpPr>
          <p:cNvPr id="46107" name="Text Box 1051"/>
          <p:cNvSpPr txBox="1">
            <a:spLocks noChangeArrowheads="1"/>
          </p:cNvSpPr>
          <p:nvPr/>
        </p:nvSpPr>
        <p:spPr bwMode="auto">
          <a:xfrm>
            <a:off x="2557466" y="1781177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u=-1, v=2</a:t>
            </a:r>
          </a:p>
        </p:txBody>
      </p:sp>
      <p:pic>
        <p:nvPicPr>
          <p:cNvPr id="46108" name="Picture 1052"/>
          <p:cNvPicPr preferRelativeResize="0"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40" y="1219200"/>
            <a:ext cx="746125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09" name="Picture 1053"/>
          <p:cNvPicPr preferRelativeResize="0"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2" y="1219200"/>
            <a:ext cx="746125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10" name="Picture 1054"/>
          <p:cNvPicPr preferRelativeResize="0">
            <a:picLocks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16" y="1219200"/>
            <a:ext cx="7445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11" name="Picture 1055"/>
          <p:cNvPicPr preferRelativeResize="0">
            <a:picLocks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788" y="1219200"/>
            <a:ext cx="746125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12" name="Picture 1056"/>
          <p:cNvPicPr preferRelativeResize="0">
            <a:picLocks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1219200"/>
            <a:ext cx="746125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13" name="Text Box 1057"/>
          <p:cNvSpPr txBox="1">
            <a:spLocks noChangeArrowheads="1"/>
          </p:cNvSpPr>
          <p:nvPr/>
        </p:nvSpPr>
        <p:spPr bwMode="auto">
          <a:xfrm>
            <a:off x="4005266" y="4813301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u=0, v=-1</a:t>
            </a:r>
          </a:p>
        </p:txBody>
      </p:sp>
      <p:sp>
        <p:nvSpPr>
          <p:cNvPr id="46114" name="Text Box 1058"/>
          <p:cNvSpPr txBox="1">
            <a:spLocks noChangeArrowheads="1"/>
          </p:cNvSpPr>
          <p:nvPr/>
        </p:nvSpPr>
        <p:spPr bwMode="auto">
          <a:xfrm>
            <a:off x="5378453" y="4813301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u=1, v=-1</a:t>
            </a:r>
          </a:p>
        </p:txBody>
      </p:sp>
      <p:sp>
        <p:nvSpPr>
          <p:cNvPr id="46115" name="Text Box 1059"/>
          <p:cNvSpPr txBox="1">
            <a:spLocks noChangeArrowheads="1"/>
          </p:cNvSpPr>
          <p:nvPr/>
        </p:nvSpPr>
        <p:spPr bwMode="auto">
          <a:xfrm>
            <a:off x="6783391" y="4813301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u=2, v=-1</a:t>
            </a:r>
          </a:p>
        </p:txBody>
      </p:sp>
      <p:sp>
        <p:nvSpPr>
          <p:cNvPr id="46116" name="Text Box 1060"/>
          <p:cNvSpPr txBox="1">
            <a:spLocks noChangeArrowheads="1"/>
          </p:cNvSpPr>
          <p:nvPr/>
        </p:nvSpPr>
        <p:spPr bwMode="auto">
          <a:xfrm>
            <a:off x="1219202" y="4810127"/>
            <a:ext cx="8851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u=-2, v=-1</a:t>
            </a:r>
          </a:p>
        </p:txBody>
      </p:sp>
      <p:sp>
        <p:nvSpPr>
          <p:cNvPr id="46117" name="Text Box 1061"/>
          <p:cNvSpPr txBox="1">
            <a:spLocks noChangeArrowheads="1"/>
          </p:cNvSpPr>
          <p:nvPr/>
        </p:nvSpPr>
        <p:spPr bwMode="auto">
          <a:xfrm>
            <a:off x="2573341" y="4810127"/>
            <a:ext cx="8851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u=-1, v=-1</a:t>
            </a:r>
          </a:p>
        </p:txBody>
      </p:sp>
      <p:pic>
        <p:nvPicPr>
          <p:cNvPr id="46118" name="Picture 1062"/>
          <p:cNvPicPr preferRelativeResize="0">
            <a:picLocks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16" y="4217988"/>
            <a:ext cx="7445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19" name="Picture 1063"/>
          <p:cNvPicPr preferRelativeResize="0">
            <a:picLocks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40" y="4217988"/>
            <a:ext cx="7461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20" name="Picture 1064"/>
          <p:cNvPicPr preferRelativeResize="0">
            <a:picLocks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2" y="4217988"/>
            <a:ext cx="7461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21" name="Picture 1065"/>
          <p:cNvPicPr preferRelativeResize="0">
            <a:picLocks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788" y="4217988"/>
            <a:ext cx="7461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22" name="Picture 1066"/>
          <p:cNvPicPr preferRelativeResize="0"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4217988"/>
            <a:ext cx="7461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23" name="Text Box 1067"/>
          <p:cNvSpPr txBox="1">
            <a:spLocks noChangeArrowheads="1"/>
          </p:cNvSpPr>
          <p:nvPr/>
        </p:nvSpPr>
        <p:spPr bwMode="auto">
          <a:xfrm>
            <a:off x="4005266" y="5803901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u=0, v=-2</a:t>
            </a:r>
          </a:p>
        </p:txBody>
      </p:sp>
      <p:sp>
        <p:nvSpPr>
          <p:cNvPr id="46124" name="Text Box 1068"/>
          <p:cNvSpPr txBox="1">
            <a:spLocks noChangeArrowheads="1"/>
          </p:cNvSpPr>
          <p:nvPr/>
        </p:nvSpPr>
        <p:spPr bwMode="auto">
          <a:xfrm>
            <a:off x="5387977" y="5803901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u=1, v=-2</a:t>
            </a:r>
          </a:p>
        </p:txBody>
      </p:sp>
      <p:sp>
        <p:nvSpPr>
          <p:cNvPr id="46125" name="Text Box 1069"/>
          <p:cNvSpPr txBox="1">
            <a:spLocks noChangeArrowheads="1"/>
          </p:cNvSpPr>
          <p:nvPr/>
        </p:nvSpPr>
        <p:spPr bwMode="auto">
          <a:xfrm>
            <a:off x="6792915" y="5803901"/>
            <a:ext cx="83388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u=2, v=-2</a:t>
            </a:r>
          </a:p>
        </p:txBody>
      </p:sp>
      <p:sp>
        <p:nvSpPr>
          <p:cNvPr id="46126" name="Text Box 1070"/>
          <p:cNvSpPr txBox="1">
            <a:spLocks noChangeArrowheads="1"/>
          </p:cNvSpPr>
          <p:nvPr/>
        </p:nvSpPr>
        <p:spPr bwMode="auto">
          <a:xfrm>
            <a:off x="1228727" y="5800727"/>
            <a:ext cx="8851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u=-2, v=-2</a:t>
            </a:r>
          </a:p>
        </p:txBody>
      </p:sp>
      <p:sp>
        <p:nvSpPr>
          <p:cNvPr id="46127" name="Text Box 1071"/>
          <p:cNvSpPr txBox="1">
            <a:spLocks noChangeArrowheads="1"/>
          </p:cNvSpPr>
          <p:nvPr/>
        </p:nvSpPr>
        <p:spPr bwMode="auto">
          <a:xfrm>
            <a:off x="2582866" y="5800727"/>
            <a:ext cx="8851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>
                <a:latin typeface="Arial" charset="0"/>
              </a:rPr>
              <a:t>u=-1, v=-2</a:t>
            </a:r>
          </a:p>
        </p:txBody>
      </p:sp>
      <p:pic>
        <p:nvPicPr>
          <p:cNvPr id="46128" name="Picture 1072"/>
          <p:cNvPicPr preferRelativeResize="0">
            <a:picLocks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2" y="5218113"/>
            <a:ext cx="7461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29" name="Picture 1073"/>
          <p:cNvPicPr preferRelativeResize="0">
            <a:picLocks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40" y="5218113"/>
            <a:ext cx="7461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30" name="Picture 1074"/>
          <p:cNvPicPr preferRelativeResize="0">
            <a:picLocks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16" y="5218113"/>
            <a:ext cx="7445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31" name="Picture 1075"/>
          <p:cNvPicPr preferRelativeResize="0">
            <a:picLocks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788" y="5218113"/>
            <a:ext cx="7461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32" name="Picture 1076"/>
          <p:cNvPicPr preferRelativeResize="0">
            <a:picLocks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5218113"/>
            <a:ext cx="7461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33" name="Text Box 1077"/>
          <p:cNvSpPr txBox="1">
            <a:spLocks noChangeArrowheads="1"/>
          </p:cNvSpPr>
          <p:nvPr/>
        </p:nvSpPr>
        <p:spPr bwMode="auto">
          <a:xfrm>
            <a:off x="8027988" y="3065464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>
                <a:solidFill>
                  <a:srgbClr val="FC0128"/>
                </a:solidFill>
                <a:latin typeface="Arial" charset="0"/>
              </a:rPr>
              <a:t>U</a:t>
            </a:r>
          </a:p>
        </p:txBody>
      </p:sp>
      <p:sp>
        <p:nvSpPr>
          <p:cNvPr id="46134" name="Text Box 1078"/>
          <p:cNvSpPr txBox="1">
            <a:spLocks noChangeArrowheads="1"/>
          </p:cNvSpPr>
          <p:nvPr/>
        </p:nvSpPr>
        <p:spPr bwMode="auto">
          <a:xfrm>
            <a:off x="4413248" y="762001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>
                <a:solidFill>
                  <a:srgbClr val="FC0128"/>
                </a:solidFill>
                <a:latin typeface="Arial" charset="0"/>
              </a:rPr>
              <a:t>V</a:t>
            </a:r>
          </a:p>
        </p:txBody>
      </p:sp>
      <p:sp>
        <p:nvSpPr>
          <p:cNvPr id="46135" name="Rectangle 1079"/>
          <p:cNvSpPr>
            <a:spLocks noChangeArrowheads="1"/>
          </p:cNvSpPr>
          <p:nvPr/>
        </p:nvSpPr>
        <p:spPr bwMode="auto">
          <a:xfrm>
            <a:off x="4011615" y="3208338"/>
            <a:ext cx="717551" cy="641350"/>
          </a:xfrm>
          <a:prstGeom prst="rect">
            <a:avLst/>
          </a:prstGeom>
          <a:solidFill>
            <a:srgbClr val="91919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6137" name="Object 1081"/>
          <p:cNvGraphicFramePr>
            <a:graphicFrameLocks noChangeAspect="1"/>
          </p:cNvGraphicFramePr>
          <p:nvPr/>
        </p:nvGraphicFramePr>
        <p:xfrm>
          <a:off x="6527802" y="2"/>
          <a:ext cx="226218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863280" imgH="291960" progId="Equation.3">
                  <p:embed/>
                </p:oleObj>
              </mc:Choice>
              <mc:Fallback>
                <p:oleObj name="Equation" r:id="rId29" imgW="863280" imgH="291960" progId="Equation.3">
                  <p:embed/>
                  <p:pic>
                    <p:nvPicPr>
                      <p:cNvPr id="0" name="Object 10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2" y="2"/>
                        <a:ext cx="226218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508002" y="171452"/>
            <a:ext cx="8072439" cy="766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altLang="en-US" sz="4400" b="1"/>
              <a:t>Discrete Functions</a:t>
            </a:r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830263" y="2757488"/>
            <a:ext cx="0" cy="140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>
            <a:off x="838203" y="4181475"/>
            <a:ext cx="30146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9702" name="Group 6"/>
          <p:cNvGrpSpPr>
            <a:grpSpLocks/>
          </p:cNvGrpSpPr>
          <p:nvPr/>
        </p:nvGrpSpPr>
        <p:grpSpPr bwMode="auto">
          <a:xfrm>
            <a:off x="830266" y="4186238"/>
            <a:ext cx="2522537" cy="47625"/>
            <a:chOff x="392" y="1916"/>
            <a:chExt cx="1192" cy="40"/>
          </a:xfrm>
        </p:grpSpPr>
        <p:sp>
          <p:nvSpPr>
            <p:cNvPr id="29703" name="Line 7"/>
            <p:cNvSpPr>
              <a:spLocks noChangeShapeType="1"/>
            </p:cNvSpPr>
            <p:nvPr/>
          </p:nvSpPr>
          <p:spPr bwMode="auto">
            <a:xfrm>
              <a:off x="392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>
              <a:off x="630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>
              <a:off x="869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6" name="Line 10"/>
            <p:cNvSpPr>
              <a:spLocks noChangeShapeType="1"/>
            </p:cNvSpPr>
            <p:nvPr/>
          </p:nvSpPr>
          <p:spPr bwMode="auto">
            <a:xfrm>
              <a:off x="1107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7" name="Line 11"/>
            <p:cNvSpPr>
              <a:spLocks noChangeShapeType="1"/>
            </p:cNvSpPr>
            <p:nvPr/>
          </p:nvSpPr>
          <p:spPr bwMode="auto">
            <a:xfrm>
              <a:off x="1346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Line 12"/>
            <p:cNvSpPr>
              <a:spLocks noChangeShapeType="1"/>
            </p:cNvSpPr>
            <p:nvPr/>
          </p:nvSpPr>
          <p:spPr bwMode="auto">
            <a:xfrm>
              <a:off x="1584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44" name="Freeform 48"/>
          <p:cNvSpPr>
            <a:spLocks/>
          </p:cNvSpPr>
          <p:nvPr/>
        </p:nvSpPr>
        <p:spPr bwMode="auto">
          <a:xfrm>
            <a:off x="830264" y="2927351"/>
            <a:ext cx="2660651" cy="760413"/>
          </a:xfrm>
          <a:custGeom>
            <a:avLst/>
            <a:gdLst>
              <a:gd name="T0" fmla="*/ 0 w 1257"/>
              <a:gd name="T1" fmla="*/ 525 h 638"/>
              <a:gd name="T2" fmla="*/ 40 w 1257"/>
              <a:gd name="T3" fmla="*/ 557 h 638"/>
              <a:gd name="T4" fmla="*/ 72 w 1257"/>
              <a:gd name="T5" fmla="*/ 581 h 638"/>
              <a:gd name="T6" fmla="*/ 136 w 1257"/>
              <a:gd name="T7" fmla="*/ 621 h 638"/>
              <a:gd name="T8" fmla="*/ 176 w 1257"/>
              <a:gd name="T9" fmla="*/ 629 h 638"/>
              <a:gd name="T10" fmla="*/ 248 w 1257"/>
              <a:gd name="T11" fmla="*/ 637 h 638"/>
              <a:gd name="T12" fmla="*/ 320 w 1257"/>
              <a:gd name="T13" fmla="*/ 629 h 638"/>
              <a:gd name="T14" fmla="*/ 408 w 1257"/>
              <a:gd name="T15" fmla="*/ 613 h 638"/>
              <a:gd name="T16" fmla="*/ 483 w 1257"/>
              <a:gd name="T17" fmla="*/ 565 h 638"/>
              <a:gd name="T18" fmla="*/ 712 w 1257"/>
              <a:gd name="T19" fmla="*/ 325 h 638"/>
              <a:gd name="T20" fmla="*/ 787 w 1257"/>
              <a:gd name="T21" fmla="*/ 256 h 638"/>
              <a:gd name="T22" fmla="*/ 851 w 1257"/>
              <a:gd name="T23" fmla="*/ 192 h 638"/>
              <a:gd name="T24" fmla="*/ 952 w 1257"/>
              <a:gd name="T25" fmla="*/ 85 h 638"/>
              <a:gd name="T26" fmla="*/ 1000 w 1257"/>
              <a:gd name="T27" fmla="*/ 37 h 638"/>
              <a:gd name="T28" fmla="*/ 1048 w 1257"/>
              <a:gd name="T29" fmla="*/ 13 h 638"/>
              <a:gd name="T30" fmla="*/ 1091 w 1257"/>
              <a:gd name="T31" fmla="*/ 0 h 638"/>
              <a:gd name="T32" fmla="*/ 1136 w 1257"/>
              <a:gd name="T33" fmla="*/ 13 h 638"/>
              <a:gd name="T34" fmla="*/ 1160 w 1257"/>
              <a:gd name="T35" fmla="*/ 37 h 638"/>
              <a:gd name="T36" fmla="*/ 1192 w 1257"/>
              <a:gd name="T37" fmla="*/ 85 h 638"/>
              <a:gd name="T38" fmla="*/ 1256 w 1257"/>
              <a:gd name="T39" fmla="*/ 213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57" h="638">
                <a:moveTo>
                  <a:pt x="0" y="525"/>
                </a:moveTo>
                <a:lnTo>
                  <a:pt x="40" y="557"/>
                </a:lnTo>
                <a:lnTo>
                  <a:pt x="72" y="581"/>
                </a:lnTo>
                <a:lnTo>
                  <a:pt x="136" y="621"/>
                </a:lnTo>
                <a:lnTo>
                  <a:pt x="176" y="629"/>
                </a:lnTo>
                <a:lnTo>
                  <a:pt x="248" y="637"/>
                </a:lnTo>
                <a:lnTo>
                  <a:pt x="320" y="629"/>
                </a:lnTo>
                <a:lnTo>
                  <a:pt x="408" y="613"/>
                </a:lnTo>
                <a:lnTo>
                  <a:pt x="483" y="565"/>
                </a:lnTo>
                <a:lnTo>
                  <a:pt x="712" y="325"/>
                </a:lnTo>
                <a:lnTo>
                  <a:pt x="787" y="256"/>
                </a:lnTo>
                <a:lnTo>
                  <a:pt x="851" y="192"/>
                </a:lnTo>
                <a:lnTo>
                  <a:pt x="952" y="85"/>
                </a:lnTo>
                <a:lnTo>
                  <a:pt x="1000" y="37"/>
                </a:lnTo>
                <a:lnTo>
                  <a:pt x="1048" y="13"/>
                </a:lnTo>
                <a:lnTo>
                  <a:pt x="1091" y="0"/>
                </a:lnTo>
                <a:lnTo>
                  <a:pt x="1136" y="13"/>
                </a:lnTo>
                <a:lnTo>
                  <a:pt x="1160" y="37"/>
                </a:lnTo>
                <a:lnTo>
                  <a:pt x="1192" y="85"/>
                </a:lnTo>
                <a:lnTo>
                  <a:pt x="1256" y="213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5" name="Rectangle 49"/>
          <p:cNvSpPr>
            <a:spLocks noChangeArrowheads="1"/>
          </p:cNvSpPr>
          <p:nvPr/>
        </p:nvSpPr>
        <p:spPr bwMode="auto">
          <a:xfrm>
            <a:off x="533401" y="2286002"/>
            <a:ext cx="62677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>
                <a:latin typeface="Arial" charset="0"/>
              </a:rPr>
              <a:t>f(x)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1F9B468-8E23-4C41-8072-A8D50FA81841}"/>
              </a:ext>
            </a:extLst>
          </p:cNvPr>
          <p:cNvGrpSpPr/>
          <p:nvPr/>
        </p:nvGrpSpPr>
        <p:grpSpPr>
          <a:xfrm>
            <a:off x="1404940" y="2743202"/>
            <a:ext cx="2839736" cy="976367"/>
            <a:chOff x="1404940" y="2743202"/>
            <a:chExt cx="2839736" cy="976367"/>
          </a:xfrm>
        </p:grpSpPr>
        <p:sp>
          <p:nvSpPr>
            <p:cNvPr id="29709" name="Oval 13"/>
            <p:cNvSpPr>
              <a:spLocks noChangeArrowheads="1"/>
            </p:cNvSpPr>
            <p:nvPr/>
          </p:nvSpPr>
          <p:spPr bwMode="auto">
            <a:xfrm>
              <a:off x="1820863" y="3586163"/>
              <a:ext cx="50800" cy="285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 spc="-150"/>
            </a:p>
          </p:txBody>
        </p:sp>
        <p:sp>
          <p:nvSpPr>
            <p:cNvPr id="29716" name="Oval 20"/>
            <p:cNvSpPr>
              <a:spLocks noChangeArrowheads="1"/>
            </p:cNvSpPr>
            <p:nvPr/>
          </p:nvSpPr>
          <p:spPr bwMode="auto">
            <a:xfrm>
              <a:off x="2311400" y="3300413"/>
              <a:ext cx="50800" cy="285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 spc="-150"/>
            </a:p>
          </p:txBody>
        </p:sp>
        <p:sp>
          <p:nvSpPr>
            <p:cNvPr id="29717" name="Oval 21"/>
            <p:cNvSpPr>
              <a:spLocks noChangeArrowheads="1"/>
            </p:cNvSpPr>
            <p:nvPr/>
          </p:nvSpPr>
          <p:spPr bwMode="auto">
            <a:xfrm>
              <a:off x="3327400" y="3014663"/>
              <a:ext cx="50800" cy="285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 spc="-150"/>
            </a:p>
          </p:txBody>
        </p:sp>
        <p:sp>
          <p:nvSpPr>
            <p:cNvPr id="29718" name="Oval 22"/>
            <p:cNvSpPr>
              <a:spLocks noChangeArrowheads="1"/>
            </p:cNvSpPr>
            <p:nvPr/>
          </p:nvSpPr>
          <p:spPr bwMode="auto">
            <a:xfrm>
              <a:off x="2819400" y="3014663"/>
              <a:ext cx="50800" cy="285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 spc="-150"/>
            </a:p>
          </p:txBody>
        </p:sp>
        <p:sp>
          <p:nvSpPr>
            <p:cNvPr id="29746" name="Rectangle 50"/>
            <p:cNvSpPr>
              <a:spLocks noChangeArrowheads="1"/>
            </p:cNvSpPr>
            <p:nvPr/>
          </p:nvSpPr>
          <p:spPr bwMode="auto">
            <a:xfrm>
              <a:off x="1404940" y="3352802"/>
              <a:ext cx="511359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 spc="-150">
                  <a:latin typeface="Arial" charset="0"/>
                </a:rPr>
                <a:t>f(x</a:t>
              </a:r>
              <a:r>
                <a:rPr lang="en-US" altLang="en-US" sz="1800" spc="-150" baseline="-25000">
                  <a:latin typeface="Arial" charset="0"/>
                </a:rPr>
                <a:t>0</a:t>
              </a:r>
              <a:r>
                <a:rPr lang="en-US" altLang="en-US" sz="1800" spc="-150">
                  <a:latin typeface="Arial" charset="0"/>
                </a:rPr>
                <a:t>)</a:t>
              </a:r>
            </a:p>
          </p:txBody>
        </p:sp>
        <p:sp>
          <p:nvSpPr>
            <p:cNvPr id="29747" name="Rectangle 51"/>
            <p:cNvSpPr>
              <a:spLocks noChangeArrowheads="1"/>
            </p:cNvSpPr>
            <p:nvPr/>
          </p:nvSpPr>
          <p:spPr bwMode="auto">
            <a:xfrm>
              <a:off x="1712913" y="3051176"/>
              <a:ext cx="844784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 spc="-150">
                  <a:latin typeface="Arial" charset="0"/>
                </a:rPr>
                <a:t>f(x</a:t>
              </a:r>
              <a:r>
                <a:rPr lang="en-US" altLang="en-US" sz="1800" spc="-150" baseline="-25000">
                  <a:latin typeface="Arial" charset="0"/>
                </a:rPr>
                <a:t>0</a:t>
              </a:r>
              <a:r>
                <a:rPr lang="en-US" altLang="en-US" sz="1800" spc="-150">
                  <a:latin typeface="Arial" charset="0"/>
                </a:rPr>
                <a:t>+</a:t>
              </a:r>
              <a:r>
                <a:rPr lang="en-US" altLang="en-US" sz="1800" spc="-150">
                  <a:latin typeface="Symbol" pitchFamily="18" charset="2"/>
                </a:rPr>
                <a:t>D</a:t>
              </a:r>
              <a:r>
                <a:rPr lang="en-US" altLang="en-US" sz="1800" spc="-150">
                  <a:latin typeface="Arial" charset="0"/>
                </a:rPr>
                <a:t>x)</a:t>
              </a:r>
            </a:p>
          </p:txBody>
        </p:sp>
        <p:sp>
          <p:nvSpPr>
            <p:cNvPr id="29748" name="Rectangle 52"/>
            <p:cNvSpPr>
              <a:spLocks noChangeArrowheads="1"/>
            </p:cNvSpPr>
            <p:nvPr/>
          </p:nvSpPr>
          <p:spPr bwMode="auto">
            <a:xfrm>
              <a:off x="2362200" y="2743202"/>
              <a:ext cx="953788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 spc="-150">
                  <a:latin typeface="Arial" charset="0"/>
                </a:rPr>
                <a:t>f(x</a:t>
              </a:r>
              <a:r>
                <a:rPr lang="en-US" altLang="en-US" sz="1800" spc="-150" baseline="-25000">
                  <a:latin typeface="Arial" charset="0"/>
                </a:rPr>
                <a:t>0</a:t>
              </a:r>
              <a:r>
                <a:rPr lang="en-US" altLang="en-US" sz="1800" spc="-150">
                  <a:latin typeface="Arial" charset="0"/>
                </a:rPr>
                <a:t>+2</a:t>
              </a:r>
              <a:r>
                <a:rPr lang="en-US" altLang="en-US" sz="1800" spc="-150">
                  <a:latin typeface="Symbol" pitchFamily="18" charset="2"/>
                </a:rPr>
                <a:t>D</a:t>
              </a:r>
              <a:r>
                <a:rPr lang="en-US" altLang="en-US" sz="1800" spc="-150">
                  <a:latin typeface="Arial" charset="0"/>
                </a:rPr>
                <a:t>x)</a:t>
              </a:r>
            </a:p>
          </p:txBody>
        </p:sp>
        <p:sp>
          <p:nvSpPr>
            <p:cNvPr id="29749" name="Rectangle 53"/>
            <p:cNvSpPr>
              <a:spLocks noChangeArrowheads="1"/>
            </p:cNvSpPr>
            <p:nvPr/>
          </p:nvSpPr>
          <p:spPr bwMode="auto">
            <a:xfrm>
              <a:off x="3290888" y="2822576"/>
              <a:ext cx="953788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 spc="-150">
                  <a:latin typeface="Arial" charset="0"/>
                </a:rPr>
                <a:t>f(x</a:t>
              </a:r>
              <a:r>
                <a:rPr lang="en-US" altLang="en-US" sz="1800" spc="-150" baseline="-25000">
                  <a:latin typeface="Arial" charset="0"/>
                </a:rPr>
                <a:t>0</a:t>
              </a:r>
              <a:r>
                <a:rPr lang="en-US" altLang="en-US" sz="1800" spc="-150">
                  <a:latin typeface="Arial" charset="0"/>
                </a:rPr>
                <a:t>+3</a:t>
              </a:r>
              <a:r>
                <a:rPr lang="en-US" altLang="en-US" sz="1800" spc="-150">
                  <a:latin typeface="Symbol" pitchFamily="18" charset="2"/>
                </a:rPr>
                <a:t>D</a:t>
              </a:r>
              <a:r>
                <a:rPr lang="en-US" altLang="en-US" sz="1800" spc="-150">
                  <a:latin typeface="Arial" charset="0"/>
                </a:rPr>
                <a:t>x)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739874D-BC77-4165-954B-4F73A3D8B0AC}"/>
              </a:ext>
            </a:extLst>
          </p:cNvPr>
          <p:cNvGrpSpPr/>
          <p:nvPr/>
        </p:nvGrpSpPr>
        <p:grpSpPr>
          <a:xfrm>
            <a:off x="5275263" y="2362202"/>
            <a:ext cx="3335337" cy="2278550"/>
            <a:chOff x="5275263" y="2362202"/>
            <a:chExt cx="3335337" cy="2278550"/>
          </a:xfrm>
        </p:grpSpPr>
        <p:sp>
          <p:nvSpPr>
            <p:cNvPr id="29720" name="Line 24"/>
            <p:cNvSpPr>
              <a:spLocks noChangeShapeType="1"/>
            </p:cNvSpPr>
            <p:nvPr/>
          </p:nvSpPr>
          <p:spPr bwMode="auto">
            <a:xfrm>
              <a:off x="5588000" y="2757488"/>
              <a:ext cx="0" cy="140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/>
            </a:p>
          </p:txBody>
        </p:sp>
        <p:sp>
          <p:nvSpPr>
            <p:cNvPr id="29721" name="Line 25"/>
            <p:cNvSpPr>
              <a:spLocks noChangeShapeType="1"/>
            </p:cNvSpPr>
            <p:nvPr/>
          </p:nvSpPr>
          <p:spPr bwMode="auto">
            <a:xfrm>
              <a:off x="5597525" y="4181475"/>
              <a:ext cx="30130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/>
            </a:p>
          </p:txBody>
        </p:sp>
        <p:grpSp>
          <p:nvGrpSpPr>
            <p:cNvPr id="29722" name="Group 26"/>
            <p:cNvGrpSpPr>
              <a:grpSpLocks/>
            </p:cNvGrpSpPr>
            <p:nvPr/>
          </p:nvGrpSpPr>
          <p:grpSpPr bwMode="auto">
            <a:xfrm>
              <a:off x="5588000" y="4186238"/>
              <a:ext cx="2524125" cy="47625"/>
              <a:chOff x="2416" y="1916"/>
              <a:chExt cx="1192" cy="40"/>
            </a:xfrm>
          </p:grpSpPr>
          <p:sp>
            <p:nvSpPr>
              <p:cNvPr id="29723" name="Line 27"/>
              <p:cNvSpPr>
                <a:spLocks noChangeShapeType="1"/>
              </p:cNvSpPr>
              <p:nvPr/>
            </p:nvSpPr>
            <p:spPr bwMode="auto">
              <a:xfrm>
                <a:off x="2416" y="1916"/>
                <a:ext cx="0" cy="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3200"/>
              </a:p>
            </p:txBody>
          </p:sp>
          <p:sp>
            <p:nvSpPr>
              <p:cNvPr id="29724" name="Line 28"/>
              <p:cNvSpPr>
                <a:spLocks noChangeShapeType="1"/>
              </p:cNvSpPr>
              <p:nvPr/>
            </p:nvSpPr>
            <p:spPr bwMode="auto">
              <a:xfrm>
                <a:off x="2654" y="1916"/>
                <a:ext cx="0" cy="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3200"/>
              </a:p>
            </p:txBody>
          </p:sp>
          <p:sp>
            <p:nvSpPr>
              <p:cNvPr id="29725" name="Line 29"/>
              <p:cNvSpPr>
                <a:spLocks noChangeShapeType="1"/>
              </p:cNvSpPr>
              <p:nvPr/>
            </p:nvSpPr>
            <p:spPr bwMode="auto">
              <a:xfrm>
                <a:off x="2893" y="1916"/>
                <a:ext cx="0" cy="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3200"/>
              </a:p>
            </p:txBody>
          </p:sp>
          <p:sp>
            <p:nvSpPr>
              <p:cNvPr id="29726" name="Line 30"/>
              <p:cNvSpPr>
                <a:spLocks noChangeShapeType="1"/>
              </p:cNvSpPr>
              <p:nvPr/>
            </p:nvSpPr>
            <p:spPr bwMode="auto">
              <a:xfrm>
                <a:off x="3131" y="1916"/>
                <a:ext cx="0" cy="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3200"/>
              </a:p>
            </p:txBody>
          </p:sp>
          <p:sp>
            <p:nvSpPr>
              <p:cNvPr id="29727" name="Line 31"/>
              <p:cNvSpPr>
                <a:spLocks noChangeShapeType="1"/>
              </p:cNvSpPr>
              <p:nvPr/>
            </p:nvSpPr>
            <p:spPr bwMode="auto">
              <a:xfrm>
                <a:off x="3370" y="1916"/>
                <a:ext cx="0" cy="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3200"/>
              </a:p>
            </p:txBody>
          </p:sp>
          <p:sp>
            <p:nvSpPr>
              <p:cNvPr id="29728" name="Line 32"/>
              <p:cNvSpPr>
                <a:spLocks noChangeShapeType="1"/>
              </p:cNvSpPr>
              <p:nvPr/>
            </p:nvSpPr>
            <p:spPr bwMode="auto">
              <a:xfrm>
                <a:off x="3608" y="1916"/>
                <a:ext cx="0" cy="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3200"/>
              </a:p>
            </p:txBody>
          </p:sp>
        </p:grpSp>
        <p:sp>
          <p:nvSpPr>
            <p:cNvPr id="29735" name="Oval 39"/>
            <p:cNvSpPr>
              <a:spLocks noChangeArrowheads="1"/>
            </p:cNvSpPr>
            <p:nvPr/>
          </p:nvSpPr>
          <p:spPr bwMode="auto">
            <a:xfrm>
              <a:off x="5562600" y="3586163"/>
              <a:ext cx="50800" cy="285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/>
            </a:p>
          </p:txBody>
        </p:sp>
        <p:sp>
          <p:nvSpPr>
            <p:cNvPr id="29736" name="Oval 40"/>
            <p:cNvSpPr>
              <a:spLocks noChangeArrowheads="1"/>
            </p:cNvSpPr>
            <p:nvPr/>
          </p:nvSpPr>
          <p:spPr bwMode="auto">
            <a:xfrm>
              <a:off x="6070600" y="3300413"/>
              <a:ext cx="50800" cy="285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/>
            </a:p>
          </p:txBody>
        </p:sp>
        <p:sp>
          <p:nvSpPr>
            <p:cNvPr id="29737" name="Oval 41"/>
            <p:cNvSpPr>
              <a:spLocks noChangeArrowheads="1"/>
            </p:cNvSpPr>
            <p:nvPr/>
          </p:nvSpPr>
          <p:spPr bwMode="auto">
            <a:xfrm>
              <a:off x="7070725" y="3014663"/>
              <a:ext cx="50800" cy="285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/>
            </a:p>
          </p:txBody>
        </p:sp>
        <p:sp>
          <p:nvSpPr>
            <p:cNvPr id="29738" name="Oval 42"/>
            <p:cNvSpPr>
              <a:spLocks noChangeArrowheads="1"/>
            </p:cNvSpPr>
            <p:nvPr/>
          </p:nvSpPr>
          <p:spPr bwMode="auto">
            <a:xfrm>
              <a:off x="6578600" y="3014663"/>
              <a:ext cx="50800" cy="285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/>
            </a:p>
          </p:txBody>
        </p:sp>
        <p:sp>
          <p:nvSpPr>
            <p:cNvPr id="29740" name="Rectangle 44"/>
            <p:cNvSpPr>
              <a:spLocks noChangeArrowheads="1"/>
            </p:cNvSpPr>
            <p:nvPr/>
          </p:nvSpPr>
          <p:spPr bwMode="auto">
            <a:xfrm>
              <a:off x="5516564" y="4077072"/>
              <a:ext cx="2981586" cy="5636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80000"/>
                </a:lnSpc>
              </a:pPr>
              <a:r>
                <a:rPr lang="en-US" altLang="en-US" sz="2000" spc="-150" dirty="0">
                  <a:latin typeface="Arial" charset="0"/>
                </a:rPr>
                <a:t>0      1       2        3        ...     N-1</a:t>
              </a:r>
            </a:p>
          </p:txBody>
        </p:sp>
        <p:sp>
          <p:nvSpPr>
            <p:cNvPr id="29741" name="Line 45"/>
            <p:cNvSpPr>
              <a:spLocks noChangeShapeType="1"/>
            </p:cNvSpPr>
            <p:nvPr/>
          </p:nvSpPr>
          <p:spPr bwMode="auto">
            <a:xfrm>
              <a:off x="6096000" y="3328988"/>
              <a:ext cx="0" cy="8477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/>
            </a:p>
          </p:txBody>
        </p:sp>
        <p:sp>
          <p:nvSpPr>
            <p:cNvPr id="29742" name="Line 46"/>
            <p:cNvSpPr>
              <a:spLocks noChangeShapeType="1"/>
            </p:cNvSpPr>
            <p:nvPr/>
          </p:nvSpPr>
          <p:spPr bwMode="auto">
            <a:xfrm>
              <a:off x="6604000" y="3043238"/>
              <a:ext cx="0" cy="11239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/>
            </a:p>
          </p:txBody>
        </p:sp>
        <p:sp>
          <p:nvSpPr>
            <p:cNvPr id="29743" name="Line 47"/>
            <p:cNvSpPr>
              <a:spLocks noChangeShapeType="1"/>
            </p:cNvSpPr>
            <p:nvPr/>
          </p:nvSpPr>
          <p:spPr bwMode="auto">
            <a:xfrm>
              <a:off x="7096125" y="3033713"/>
              <a:ext cx="0" cy="11334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/>
            </a:p>
          </p:txBody>
        </p:sp>
        <p:sp>
          <p:nvSpPr>
            <p:cNvPr id="29754" name="Rectangle 58"/>
            <p:cNvSpPr>
              <a:spLocks noChangeArrowheads="1"/>
            </p:cNvSpPr>
            <p:nvPr/>
          </p:nvSpPr>
          <p:spPr bwMode="auto">
            <a:xfrm>
              <a:off x="5275263" y="2362202"/>
              <a:ext cx="2414123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dirty="0">
                  <a:latin typeface="Arial" charset="0"/>
                </a:rPr>
                <a:t>f(n) = f(x</a:t>
              </a:r>
              <a:r>
                <a:rPr lang="en-US" altLang="en-US" baseline="-25000" dirty="0">
                  <a:latin typeface="Arial" charset="0"/>
                </a:rPr>
                <a:t>0</a:t>
              </a:r>
              <a:r>
                <a:rPr lang="en-US" altLang="en-US" dirty="0">
                  <a:latin typeface="Arial" charset="0"/>
                </a:rPr>
                <a:t> + </a:t>
              </a:r>
              <a:r>
                <a:rPr lang="en-US" altLang="en-US" dirty="0" err="1">
                  <a:latin typeface="Arial" charset="0"/>
                </a:rPr>
                <a:t>n</a:t>
              </a:r>
              <a:r>
                <a:rPr lang="en-US" altLang="en-US" dirty="0" err="1">
                  <a:latin typeface="Symbol" pitchFamily="18" charset="2"/>
                </a:rPr>
                <a:t>D</a:t>
              </a:r>
              <a:r>
                <a:rPr lang="en-US" altLang="en-US" dirty="0" err="1">
                  <a:latin typeface="Arial" charset="0"/>
                </a:rPr>
                <a:t>x</a:t>
              </a:r>
              <a:r>
                <a:rPr lang="en-US" altLang="en-US" dirty="0">
                  <a:latin typeface="Arial" charset="0"/>
                </a:rPr>
                <a:t>)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3A7BEF4-3231-4138-BAAB-9860B7FB7C69}"/>
              </a:ext>
            </a:extLst>
          </p:cNvPr>
          <p:cNvGrpSpPr/>
          <p:nvPr/>
        </p:nvGrpSpPr>
        <p:grpSpPr>
          <a:xfrm>
            <a:off x="1633539" y="3014663"/>
            <a:ext cx="2465125" cy="1546280"/>
            <a:chOff x="1633539" y="3014663"/>
            <a:chExt cx="2465125" cy="1546280"/>
          </a:xfrm>
        </p:grpSpPr>
        <p:sp>
          <p:nvSpPr>
            <p:cNvPr id="29750" name="Line 54"/>
            <p:cNvSpPr>
              <a:spLocks noChangeShapeType="1"/>
            </p:cNvSpPr>
            <p:nvPr/>
          </p:nvSpPr>
          <p:spPr bwMode="auto">
            <a:xfrm>
              <a:off x="2336800" y="3309938"/>
              <a:ext cx="0" cy="8477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 spc="-150"/>
            </a:p>
          </p:txBody>
        </p:sp>
        <p:sp>
          <p:nvSpPr>
            <p:cNvPr id="29751" name="Line 55"/>
            <p:cNvSpPr>
              <a:spLocks noChangeShapeType="1"/>
            </p:cNvSpPr>
            <p:nvPr/>
          </p:nvSpPr>
          <p:spPr bwMode="auto">
            <a:xfrm>
              <a:off x="2844800" y="3024188"/>
              <a:ext cx="0" cy="11239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 spc="-150"/>
            </a:p>
          </p:txBody>
        </p:sp>
        <p:sp>
          <p:nvSpPr>
            <p:cNvPr id="29752" name="Line 56"/>
            <p:cNvSpPr>
              <a:spLocks noChangeShapeType="1"/>
            </p:cNvSpPr>
            <p:nvPr/>
          </p:nvSpPr>
          <p:spPr bwMode="auto">
            <a:xfrm>
              <a:off x="3352800" y="3014663"/>
              <a:ext cx="0" cy="11334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 spc="-150"/>
            </a:p>
          </p:txBody>
        </p:sp>
        <p:sp>
          <p:nvSpPr>
            <p:cNvPr id="29753" name="Line 57"/>
            <p:cNvSpPr>
              <a:spLocks noChangeShapeType="1"/>
            </p:cNvSpPr>
            <p:nvPr/>
          </p:nvSpPr>
          <p:spPr bwMode="auto">
            <a:xfrm>
              <a:off x="1846263" y="3605213"/>
              <a:ext cx="0" cy="552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 spc="-150"/>
            </a:p>
          </p:txBody>
        </p:sp>
        <p:sp>
          <p:nvSpPr>
            <p:cNvPr id="29787" name="Rectangle 91"/>
            <p:cNvSpPr>
              <a:spLocks noChangeArrowheads="1"/>
            </p:cNvSpPr>
            <p:nvPr/>
          </p:nvSpPr>
          <p:spPr bwMode="auto">
            <a:xfrm>
              <a:off x="1633539" y="4194176"/>
              <a:ext cx="351059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 spc="-150">
                  <a:latin typeface="Arial" charset="0"/>
                </a:rPr>
                <a:t>x</a:t>
              </a:r>
              <a:r>
                <a:rPr lang="en-US" altLang="en-US" sz="1800" spc="-150" baseline="-25000">
                  <a:latin typeface="Arial" charset="0"/>
                </a:rPr>
                <a:t>0</a:t>
              </a:r>
              <a:endParaRPr lang="en-US" altLang="en-US" sz="1800" spc="-150">
                <a:latin typeface="Arial" charset="0"/>
              </a:endParaRPr>
            </a:p>
          </p:txBody>
        </p:sp>
        <p:sp>
          <p:nvSpPr>
            <p:cNvPr id="29789" name="Rectangle 93"/>
            <p:cNvSpPr>
              <a:spLocks noChangeArrowheads="1"/>
            </p:cNvSpPr>
            <p:nvPr/>
          </p:nvSpPr>
          <p:spPr bwMode="auto">
            <a:xfrm>
              <a:off x="1981200" y="4194176"/>
              <a:ext cx="684484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 spc="-150">
                  <a:latin typeface="Arial" charset="0"/>
                </a:rPr>
                <a:t>x</a:t>
              </a:r>
              <a:r>
                <a:rPr lang="en-US" altLang="en-US" sz="1800" spc="-150" baseline="-25000">
                  <a:latin typeface="Arial" charset="0"/>
                </a:rPr>
                <a:t>0</a:t>
              </a:r>
              <a:r>
                <a:rPr lang="en-US" altLang="en-US" sz="1800" spc="-150">
                  <a:latin typeface="Arial" charset="0"/>
                </a:rPr>
                <a:t>+</a:t>
              </a:r>
              <a:r>
                <a:rPr lang="en-US" altLang="en-US" sz="1800" spc="-150">
                  <a:latin typeface="Symbol" pitchFamily="18" charset="2"/>
                </a:rPr>
                <a:t>D</a:t>
              </a:r>
              <a:r>
                <a:rPr lang="en-US" altLang="en-US" sz="1800" spc="-150">
                  <a:latin typeface="Arial" charset="0"/>
                </a:rPr>
                <a:t>x</a:t>
              </a:r>
            </a:p>
          </p:txBody>
        </p:sp>
        <p:sp>
          <p:nvSpPr>
            <p:cNvPr id="29790" name="Rectangle 94"/>
            <p:cNvSpPr>
              <a:spLocks noChangeArrowheads="1"/>
            </p:cNvSpPr>
            <p:nvPr/>
          </p:nvSpPr>
          <p:spPr bwMode="auto">
            <a:xfrm>
              <a:off x="2590800" y="4191002"/>
              <a:ext cx="793488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 spc="-150" dirty="0">
                  <a:latin typeface="Arial" charset="0"/>
                </a:rPr>
                <a:t>x</a:t>
              </a:r>
              <a:r>
                <a:rPr lang="en-US" altLang="en-US" sz="1800" spc="-150" baseline="-25000" dirty="0">
                  <a:latin typeface="Arial" charset="0"/>
                </a:rPr>
                <a:t>0</a:t>
              </a:r>
              <a:r>
                <a:rPr lang="en-US" altLang="en-US" sz="1800" spc="-150" dirty="0">
                  <a:latin typeface="Arial" charset="0"/>
                </a:rPr>
                <a:t>+2</a:t>
              </a:r>
              <a:r>
                <a:rPr lang="en-US" altLang="en-US" sz="1800" spc="-150" dirty="0">
                  <a:latin typeface="Symbol" pitchFamily="18" charset="2"/>
                </a:rPr>
                <a:t>D</a:t>
              </a:r>
              <a:r>
                <a:rPr lang="en-US" altLang="en-US" sz="1800" spc="-150" dirty="0">
                  <a:latin typeface="Arial" charset="0"/>
                </a:rPr>
                <a:t>x</a:t>
              </a:r>
            </a:p>
          </p:txBody>
        </p:sp>
        <p:sp>
          <p:nvSpPr>
            <p:cNvPr id="29791" name="Rectangle 95"/>
            <p:cNvSpPr>
              <a:spLocks noChangeArrowheads="1"/>
            </p:cNvSpPr>
            <p:nvPr/>
          </p:nvSpPr>
          <p:spPr bwMode="auto">
            <a:xfrm>
              <a:off x="3305176" y="4191002"/>
              <a:ext cx="793488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 spc="-150">
                  <a:latin typeface="Arial" charset="0"/>
                </a:rPr>
                <a:t>x</a:t>
              </a:r>
              <a:r>
                <a:rPr lang="en-US" altLang="en-US" sz="1800" spc="-150" baseline="-25000">
                  <a:latin typeface="Arial" charset="0"/>
                </a:rPr>
                <a:t>0</a:t>
              </a:r>
              <a:r>
                <a:rPr lang="en-US" altLang="en-US" sz="1800" spc="-150">
                  <a:latin typeface="Arial" charset="0"/>
                </a:rPr>
                <a:t>+3</a:t>
              </a:r>
              <a:r>
                <a:rPr lang="en-US" altLang="en-US" sz="1800" spc="-150">
                  <a:latin typeface="Symbol" pitchFamily="18" charset="2"/>
                </a:rPr>
                <a:t>D</a:t>
              </a:r>
              <a:r>
                <a:rPr lang="en-US" altLang="en-US" sz="1800" spc="-150">
                  <a:latin typeface="Arial" charset="0"/>
                </a:rPr>
                <a:t>x</a:t>
              </a:r>
            </a:p>
          </p:txBody>
        </p:sp>
      </p:grpSp>
      <p:sp>
        <p:nvSpPr>
          <p:cNvPr id="29792" name="Rectangle 96"/>
          <p:cNvSpPr>
            <a:spLocks noChangeArrowheads="1"/>
          </p:cNvSpPr>
          <p:nvPr/>
        </p:nvSpPr>
        <p:spPr bwMode="auto">
          <a:xfrm>
            <a:off x="4516574" y="4935164"/>
            <a:ext cx="4163000" cy="1129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b="1" u="sng" dirty="0">
                <a:latin typeface="Arial" charset="0"/>
              </a:rPr>
              <a:t>The discrete 1D function f:</a:t>
            </a:r>
            <a:endParaRPr lang="en-US" altLang="en-US" b="1" i="1" u="sng" dirty="0">
              <a:latin typeface="Arial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US" b="1" dirty="0">
                <a:latin typeface="Arial" charset="0"/>
              </a:rPr>
              <a:t>{ f(0),  f(1),  f(2), … ,  f(N-1) }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859843B-73C7-416F-9A49-56541F617DA4}"/>
              </a:ext>
            </a:extLst>
          </p:cNvPr>
          <p:cNvSpPr/>
          <p:nvPr/>
        </p:nvSpPr>
        <p:spPr bwMode="auto">
          <a:xfrm>
            <a:off x="4427983" y="3300413"/>
            <a:ext cx="730507" cy="63264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9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2" grpId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1618" name="Object 2">
                <a:hlinkClick r:id="" action="ppaction://ole?verb=0"/>
              </p:cNvPr>
              <p:cNvSpPr txBox="1"/>
              <p:nvPr/>
            </p:nvSpPr>
            <p:spPr bwMode="auto">
              <a:xfrm>
                <a:off x="762000" y="2582863"/>
                <a:ext cx="5140326" cy="115093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A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A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A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A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A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𝑖𝑢𝑥</m:t>
                                  </m:r>
                                </m:num>
                                <m:den>
                                  <m:r>
                                    <a:rPr lang="en-A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</m:oMath>
                  </m:oMathPara>
                </a14:m>
                <a:endParaRPr lang="en-AT" dirty="0"/>
              </a:p>
            </p:txBody>
          </p:sp>
        </mc:Choice>
        <mc:Fallback xmlns="">
          <p:sp>
            <p:nvSpPr>
              <p:cNvPr id="111618" name="Object 2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" y="2582863"/>
                <a:ext cx="5140326" cy="11509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620" name="Object 4">
                <a:hlinkClick r:id="" action="ppaction://ole?verb=0"/>
              </p:cNvPr>
              <p:cNvSpPr txBox="1"/>
              <p:nvPr/>
            </p:nvSpPr>
            <p:spPr bwMode="auto">
              <a:xfrm>
                <a:off x="761999" y="1143000"/>
                <a:ext cx="5140327" cy="12715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A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A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A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A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A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A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𝑖𝑢𝑥</m:t>
                                  </m:r>
                                </m:num>
                                <m:den>
                                  <m:r>
                                    <a:rPr lang="en-A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</m:oMath>
                  </m:oMathPara>
                </a14:m>
                <a:endParaRPr lang="en-AT" dirty="0"/>
              </a:p>
            </p:txBody>
          </p:sp>
        </mc:Choice>
        <mc:Fallback xmlns="">
          <p:sp>
            <p:nvSpPr>
              <p:cNvPr id="111620" name="Object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1999" y="1143000"/>
                <a:ext cx="5140327" cy="12715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619" name="Rectangle 3"/>
          <p:cNvSpPr>
            <a:spLocks noChangeArrowheads="1"/>
          </p:cNvSpPr>
          <p:nvPr/>
        </p:nvSpPr>
        <p:spPr bwMode="auto">
          <a:xfrm>
            <a:off x="4038600" y="1988840"/>
            <a:ext cx="1764908" cy="3975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2000" dirty="0">
                <a:solidFill>
                  <a:srgbClr val="FF0000"/>
                </a:solidFill>
                <a:latin typeface="Arial" charset="0"/>
              </a:rPr>
              <a:t>(u = 0,..., N-1)</a:t>
            </a:r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4054476" y="3360440"/>
            <a:ext cx="1750480" cy="39754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  <a:latin typeface="Arial" charset="0"/>
              </a:rPr>
              <a:t>(x = 0,..., N-1)</a:t>
            </a:r>
          </a:p>
        </p:txBody>
      </p:sp>
      <p:sp>
        <p:nvSpPr>
          <p:cNvPr id="111622" name="Rectangle 6"/>
          <p:cNvSpPr>
            <a:spLocks noChangeArrowheads="1"/>
          </p:cNvSpPr>
          <p:nvPr/>
        </p:nvSpPr>
        <p:spPr bwMode="auto">
          <a:xfrm>
            <a:off x="685800" y="762002"/>
            <a:ext cx="521668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b="1">
                <a:solidFill>
                  <a:srgbClr val="FF0000"/>
                </a:solidFill>
              </a:rPr>
              <a:t>1D Finite Discrete Fourier Transform:</a:t>
            </a:r>
          </a:p>
        </p:txBody>
      </p:sp>
      <p:sp>
        <p:nvSpPr>
          <p:cNvPr id="111623" name="Rectangle 7"/>
          <p:cNvSpPr>
            <a:spLocks noChangeArrowheads="1"/>
          </p:cNvSpPr>
          <p:nvPr/>
        </p:nvSpPr>
        <p:spPr bwMode="auto">
          <a:xfrm>
            <a:off x="381003" y="-76200"/>
            <a:ext cx="8475663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4000"/>
              <a:t> The Finite Discrete Fourier Transform</a:t>
            </a:r>
          </a:p>
        </p:txBody>
      </p:sp>
      <p:grpSp>
        <p:nvGrpSpPr>
          <p:cNvPr id="111629" name="Group 13"/>
          <p:cNvGrpSpPr>
            <a:grpSpLocks/>
          </p:cNvGrpSpPr>
          <p:nvPr/>
        </p:nvGrpSpPr>
        <p:grpSpPr bwMode="auto">
          <a:xfrm>
            <a:off x="685802" y="3906093"/>
            <a:ext cx="7391400" cy="2835274"/>
            <a:chOff x="432" y="2344"/>
            <a:chExt cx="4656" cy="17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624" name="Object 8">
                  <a:hlinkClick r:id="" action="ppaction://ole?verb=0"/>
                </p:cNvPr>
                <p:cNvSpPr txBox="1"/>
                <p:nvPr/>
              </p:nvSpPr>
              <p:spPr bwMode="auto">
                <a:xfrm>
                  <a:off x="476" y="2576"/>
                  <a:ext cx="4581" cy="82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f>
                          <m:fPr>
                            <m:ctrlP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  <m:e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𝑢𝑥</m:t>
                                        </m:r>
                                      </m:num>
                                      <m:den>
                                        <m: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𝑣𝑦</m:t>
                                        </m:r>
                                      </m:num>
                                      <m:den>
                                        <m: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den>
                                    </m:f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oMath>
                    </m:oMathPara>
                  </a14:m>
                  <a:endParaRPr lang="en-AT" dirty="0"/>
                </a:p>
              </p:txBody>
            </p:sp>
          </mc:Choice>
          <mc:Fallback xmlns="">
            <p:sp>
              <p:nvSpPr>
                <p:cNvPr id="111624" name="Object 8">
                  <a:hlinkClick r:id="" action="ppaction://ole?verb=0"/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6" y="2576"/>
                  <a:ext cx="4581" cy="82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A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625" name="Rectangle 9"/>
            <p:cNvSpPr>
              <a:spLocks noChangeArrowheads="1"/>
            </p:cNvSpPr>
            <p:nvPr/>
          </p:nvSpPr>
          <p:spPr bwMode="auto">
            <a:xfrm>
              <a:off x="432" y="2344"/>
              <a:ext cx="3286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2D Finite Discrete Fourier Transform: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626" name="Object 10">
                  <a:hlinkClick r:id="" action="ppaction://ole?verb=0"/>
                </p:cNvPr>
                <p:cNvSpPr txBox="1"/>
                <p:nvPr/>
              </p:nvSpPr>
              <p:spPr bwMode="auto">
                <a:xfrm>
                  <a:off x="462" y="3460"/>
                  <a:ext cx="4626" cy="67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nary>
                          <m:naryPr>
                            <m:chr m:val="∑"/>
                            <m:ctrlP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A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  <m:e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A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𝑢𝑥</m:t>
                                        </m:r>
                                      </m:num>
                                      <m:den>
                                        <m: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𝑣𝑦</m:t>
                                        </m:r>
                                      </m:num>
                                      <m:den>
                                        <m:r>
                                          <a:rPr lang="en-AT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den>
                                    </m:f>
                                    <m:r>
                                      <a:rPr lang="en-A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oMath>
                    </m:oMathPara>
                  </a14:m>
                  <a:endParaRPr lang="en-AT" dirty="0"/>
                </a:p>
              </p:txBody>
            </p:sp>
          </mc:Choice>
          <mc:Fallback xmlns="">
            <p:sp>
              <p:nvSpPr>
                <p:cNvPr id="111626" name="Object 10">
                  <a:hlinkClick r:id="" action="ppaction://ole?verb=0"/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2" y="3460"/>
                  <a:ext cx="4626" cy="670"/>
                </a:xfrm>
                <a:prstGeom prst="rect">
                  <a:avLst/>
                </a:prstGeom>
                <a:blipFill>
                  <a:blip r:embed="rId6"/>
                  <a:stretch>
                    <a:fillRect b="-114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A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627" name="Rectangle 11"/>
            <p:cNvSpPr>
              <a:spLocks noChangeArrowheads="1"/>
            </p:cNvSpPr>
            <p:nvPr/>
          </p:nvSpPr>
          <p:spPr bwMode="auto">
            <a:xfrm>
              <a:off x="3068" y="3880"/>
              <a:ext cx="2002" cy="25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(x = 0,..., N-1;  y = 0,…,M-1)</a:t>
              </a:r>
            </a:p>
          </p:txBody>
        </p:sp>
        <p:sp>
          <p:nvSpPr>
            <p:cNvPr id="111628" name="Rectangle 12"/>
            <p:cNvSpPr>
              <a:spLocks noChangeArrowheads="1"/>
            </p:cNvSpPr>
            <p:nvPr/>
          </p:nvSpPr>
          <p:spPr bwMode="auto">
            <a:xfrm>
              <a:off x="3016" y="3152"/>
              <a:ext cx="2013" cy="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2000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(u = 0,..., N-1;  v = 0,…,M-1)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32388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8DA68A-72C6-A4DC-E4C2-EE399A5BDD63}"/>
              </a:ext>
            </a:extLst>
          </p:cNvPr>
          <p:cNvSpPr/>
          <p:nvPr/>
        </p:nvSpPr>
        <p:spPr bwMode="auto">
          <a:xfrm>
            <a:off x="3563888" y="1988840"/>
            <a:ext cx="2448272" cy="11521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99392"/>
            <a:ext cx="9144000" cy="1143000"/>
          </a:xfrm>
        </p:spPr>
        <p:txBody>
          <a:bodyPr/>
          <a:lstStyle/>
          <a:p>
            <a:r>
              <a:rPr lang="en-US" altLang="en-US" b="1" dirty="0"/>
              <a:t>About the Discrete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7504" y="1043608"/>
                <a:ext cx="9036496" cy="5675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ts val="2300"/>
                  </a:lnSpc>
                  <a:buFont typeface="+mj-lt"/>
                  <a:buAutoNum type="arabicPeriod"/>
                </a:pPr>
                <a:r>
                  <a:rPr lang="en-US" altLang="en-US" b="1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0" dirty="0"/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en-US" i="0" dirty="0"/>
                          <m:t>f</m:t>
                        </m:r>
                      </m:e>
                      <m:sub>
                        <m:r>
                          <a:rPr lang="en-US" altLang="en-US" b="0" i="1" smtClean="0">
                            <a:latin typeface="Cambria Math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en-US" b="1" dirty="0"/>
                  <a:t>  </a:t>
                </a:r>
                <a:r>
                  <a:rPr lang="en-US" altLang="en-US" dirty="0"/>
                  <a:t>is a discrete sampling of the continuous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i="0" dirty="0"/>
                      <m:t>f</m:t>
                    </m:r>
                  </m:oMath>
                </a14:m>
                <a:r>
                  <a:rPr lang="en-US" altLang="en-US" i="1" dirty="0"/>
                  <a:t>(x)</a:t>
                </a:r>
                <a:r>
                  <a:rPr lang="en-US" altLang="en-US" dirty="0"/>
                  <a:t> at gaps </a:t>
                </a:r>
                <a:r>
                  <a:rPr lang="el-GR" altLang="en-US" dirty="0"/>
                  <a:t>Δ</a:t>
                </a:r>
                <a:r>
                  <a:rPr lang="en-US" altLang="en-US" i="1" dirty="0"/>
                  <a:t>x</a:t>
                </a:r>
                <a:br>
                  <a:rPr lang="en-US" altLang="en-US" i="1" dirty="0"/>
                </a:br>
                <a:r>
                  <a:rPr lang="en-US" altLang="en-US" i="1" dirty="0"/>
                  <a:t>                                 </a:t>
                </a:r>
                <a:r>
                  <a:rPr lang="en-US" altLang="en-US" b="1" dirty="0"/>
                  <a:t>⇕</a:t>
                </a:r>
                <a:br>
                  <a:rPr lang="en-US" altLang="en-US" i="1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0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en-US" b="0" i="0" smtClean="0">
                            <a:latin typeface="Cambria Math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altLang="en-US" b="0" i="0" dirty="0" smtClean="0"/>
                          <m:t>F</m:t>
                        </m:r>
                      </m:e>
                      <m:sub>
                        <m:r>
                          <a:rPr lang="en-US" altLang="en-US" i="1">
                            <a:latin typeface="Cambria Math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en-US" b="1" dirty="0"/>
                  <a:t> </a:t>
                </a:r>
                <a:r>
                  <a:rPr lang="en-US" altLang="en-US" dirty="0"/>
                  <a:t>is a discrete sampling of the continuous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b="0" i="0" dirty="0" smtClean="0"/>
                      <m:t>F</m:t>
                    </m:r>
                  </m:oMath>
                </a14:m>
                <a:r>
                  <a:rPr lang="en-US" altLang="en-US" i="1" dirty="0"/>
                  <a:t>(u)</a:t>
                </a:r>
                <a:r>
                  <a:rPr lang="en-US" altLang="en-US" dirty="0"/>
                  <a:t> at gaps </a:t>
                </a:r>
                <a:r>
                  <a:rPr lang="el-GR" altLang="en-US" dirty="0"/>
                  <a:t>Δ</a:t>
                </a:r>
                <a:r>
                  <a:rPr lang="en-US" altLang="en-US" i="1" dirty="0"/>
                  <a:t>u=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en-US" sz="2000" b="0" i="1" smtClean="0">
                            <a:latin typeface="Cambria Math"/>
                          </a:rPr>
                          <m:t>𝑁</m:t>
                        </m:r>
                        <m:r>
                          <m:rPr>
                            <m:nor/>
                          </m:rPr>
                          <a:rPr lang="el-GR" altLang="en-US" sz="2000" i="0" dirty="0"/>
                          <m:t>Δ</m:t>
                        </m:r>
                        <m:r>
                          <m:rPr>
                            <m:nor/>
                          </m:rPr>
                          <a:rPr lang="en-US" altLang="en-US" sz="2000" i="0" dirty="0"/>
                          <m:t>x</m:t>
                        </m:r>
                      </m:den>
                    </m:f>
                  </m:oMath>
                </a14:m>
                <a:endParaRPr lang="en-US" altLang="en-US" sz="2000" i="1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i="0" dirty="0"/>
                      <m:t>f</m:t>
                    </m:r>
                  </m:oMath>
                </a14:m>
                <a:r>
                  <a:rPr lang="en-US" altLang="en-US" i="1" dirty="0"/>
                  <a:t>(x) ↔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i="0" dirty="0"/>
                      <m:t>F</m:t>
                    </m:r>
                  </m:oMath>
                </a14:m>
                <a:r>
                  <a:rPr lang="en-US" altLang="en-US" i="1" dirty="0"/>
                  <a:t>(u)</a:t>
                </a:r>
                <a:br>
                  <a:rPr lang="en-US" altLang="en-US" i="1" dirty="0"/>
                </a:br>
                <a:r>
                  <a:rPr lang="en-US" altLang="en-US" i="1" dirty="0"/>
                  <a:t>       </a:t>
                </a:r>
                <a:r>
                  <a:rPr lang="en-US" altLang="en-US" b="1" dirty="0">
                    <a:solidFill>
                      <a:srgbClr val="FF0000"/>
                    </a:solidFill>
                  </a:rPr>
                  <a:t>↓</a:t>
                </a:r>
                <a:r>
                  <a:rPr lang="el-GR" altLang="en-US" sz="2000" dirty="0">
                    <a:solidFill>
                      <a:srgbClr val="FF0000"/>
                    </a:solidFill>
                  </a:rPr>
                  <a:t>Δ</a:t>
                </a:r>
                <a:r>
                  <a:rPr lang="en-US" altLang="en-US" sz="2000" i="1" dirty="0">
                    <a:solidFill>
                      <a:srgbClr val="FF0000"/>
                    </a:solidFill>
                  </a:rPr>
                  <a:t>x       </a:t>
                </a:r>
                <a:r>
                  <a:rPr lang="en-US" altLang="en-US" b="1" dirty="0">
                    <a:solidFill>
                      <a:srgbClr val="FF0000"/>
                    </a:solidFill>
                  </a:rPr>
                  <a:t>↓</a:t>
                </a:r>
                <a:r>
                  <a:rPr lang="el-GR" altLang="en-US" sz="2000" dirty="0"/>
                  <a:t> </a:t>
                </a:r>
                <a:r>
                  <a:rPr lang="el-GR" altLang="en-US" sz="2000" dirty="0">
                    <a:solidFill>
                      <a:srgbClr val="FF0000"/>
                    </a:solidFill>
                  </a:rPr>
                  <a:t>Δ</a:t>
                </a:r>
                <a:r>
                  <a:rPr lang="en-US" altLang="en-US" sz="2000" i="1" dirty="0">
                    <a:solidFill>
                      <a:srgbClr val="FF0000"/>
                    </a:solidFill>
                  </a:rPr>
                  <a:t>u=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en-US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en-US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𝑁</m:t>
                        </m:r>
                        <m:r>
                          <m:rPr>
                            <m:nor/>
                          </m:rPr>
                          <a:rPr lang="el-GR" altLang="en-US" sz="1800" i="0" dirty="0">
                            <a:solidFill>
                              <a:srgbClr val="FF0000"/>
                            </a:solidFill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altLang="en-US" sz="1800" i="0" dirty="0">
                            <a:solidFill>
                              <a:srgbClr val="FF0000"/>
                            </a:solidFill>
                          </a:rPr>
                          <m:t>x</m:t>
                        </m:r>
                      </m:den>
                    </m:f>
                  </m:oMath>
                </a14:m>
                <a:br>
                  <a:rPr lang="en-US" altLang="en-US" i="1" dirty="0">
                    <a:solidFill>
                      <a:srgbClr val="FF0000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0" dirty="0"/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en-US" i="0" dirty="0"/>
                          <m:t>f</m:t>
                        </m:r>
                      </m:e>
                      <m:sub>
                        <m:r>
                          <a:rPr lang="en-US" altLang="en-US" i="1">
                            <a:latin typeface="Cambria Math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en-US" i="1" dirty="0"/>
                  <a:t>(i)↔</a:t>
                </a:r>
                <a:r>
                  <a:rPr lang="en-US" alt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0" dirty="0"/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en-US" i="0" dirty="0"/>
                          <m:t>F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m:rPr>
                        <m:nor/>
                      </m:rPr>
                      <a:rPr lang="en-US" altLang="en-US" i="0" dirty="0"/>
                      <m:t>(</m:t>
                    </m:r>
                    <m:r>
                      <m:rPr>
                        <m:nor/>
                      </m:rPr>
                      <a:rPr lang="en-US" altLang="en-US" b="0" i="0" dirty="0" smtClean="0"/>
                      <m:t>j</m:t>
                    </m:r>
                    <m:r>
                      <m:rPr>
                        <m:nor/>
                      </m:rPr>
                      <a:rPr lang="en-US" altLang="en-US" i="0" dirty="0"/>
                      <m:t>)</m:t>
                    </m:r>
                  </m:oMath>
                </a14:m>
                <a:br>
                  <a:rPr lang="en-US" altLang="en-US" dirty="0"/>
                </a:br>
                <a14:m>
                  <m:oMathPara xmlns:m="http://schemas.openxmlformats.org/officeDocument/2006/math">
                    <m:oMath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altLang="en-US" b="1" dirty="0"/>
                  <a:t>Periodicity of the discrete transform (both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i="0" dirty="0"/>
                      <m:t>f(x)</m:t>
                    </m:r>
                  </m:oMath>
                </a14:m>
                <a:r>
                  <a:rPr lang="en-US" altLang="en-US" b="1" dirty="0"/>
                  <a:t> and </a:t>
                </a:r>
                <a:r>
                  <a:rPr lang="en-US" altLang="en-US" i="1" dirty="0"/>
                  <a:t>F(u)</a:t>
                </a:r>
                <a:r>
                  <a:rPr lang="en-US" altLang="en-US" b="1" dirty="0"/>
                  <a:t>):</a:t>
                </a:r>
              </a:p>
              <a:p>
                <a:r>
                  <a:rPr lang="en-US" altLang="en-US" i="1" dirty="0"/>
                  <a:t>       F(</a:t>
                </a:r>
                <a:r>
                  <a:rPr lang="en-US" altLang="en-US" i="1" dirty="0" err="1"/>
                  <a:t>u+N</a:t>
                </a:r>
                <a:r>
                  <a:rPr lang="en-US" altLang="en-US" i="1" dirty="0"/>
                  <a:t>) = F(u)    </a:t>
                </a:r>
                <a:br>
                  <a:rPr lang="en-US" altLang="en-US" dirty="0"/>
                </a:br>
                <a14:m>
                  <m:oMath xmlns:m="http://schemas.openxmlformats.org/officeDocument/2006/math">
                    <m:r>
                      <a:rPr lang="en-US" altLang="en-US" b="0" i="0" dirty="0" smtClean="0">
                        <a:latin typeface="Cambria Math"/>
                      </a:rPr>
                      <m:t>         </m:t>
                    </m:r>
                    <m:r>
                      <m:rPr>
                        <m:nor/>
                      </m:rPr>
                      <a:rPr lang="en-US" altLang="en-US" i="0" dirty="0"/>
                      <m:t>f(x+N)  =  f(x)</m:t>
                    </m:r>
                  </m:oMath>
                </a14:m>
                <a:r>
                  <a:rPr lang="en-US" b="1" dirty="0"/>
                  <a:t> </a:t>
                </a:r>
                <a:endParaRPr lang="en-US" altLang="en-US" i="1" dirty="0"/>
              </a:p>
              <a:p>
                <a:r>
                  <a:rPr lang="en-US" altLang="en-US" i="1" dirty="0"/>
                  <a:t>       </a:t>
                </a:r>
                <a:r>
                  <a:rPr lang="en-US" altLang="en-US" i="1" dirty="0">
                    <a:solidFill>
                      <a:srgbClr val="FF0000"/>
                    </a:solidFill>
                  </a:rPr>
                  <a:t>F(</a:t>
                </a:r>
                <a:r>
                  <a:rPr lang="en-US" altLang="en-US" i="1" dirty="0" err="1">
                    <a:solidFill>
                      <a:srgbClr val="FF0000"/>
                    </a:solidFill>
                  </a:rPr>
                  <a:t>u+N</a:t>
                </a:r>
                <a:r>
                  <a:rPr lang="en-US" altLang="en-US" i="1" dirty="0">
                    <a:solidFill>
                      <a:srgbClr val="FF0000"/>
                    </a:solidFill>
                  </a:rPr>
                  <a:t>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𝑁</m:t>
                        </m:r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−1</m:t>
                        </m:r>
                      </m:sup>
                      <m:e>
                        <m:r>
                          <m:rPr>
                            <m:nor/>
                          </m:rPr>
                          <a:rPr lang="en-US" altLang="en-US" i="0" dirty="0">
                            <a:solidFill>
                              <a:srgbClr val="FF0000"/>
                            </a:solidFill>
                          </a:rPr>
                          <m:t>f(x)</m:t>
                        </m:r>
                      </m:e>
                    </m:nary>
                    <m:sSup>
                      <m:sSupPr>
                        <m:ctrlP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𝜋</m:t>
                            </m:r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𝑖𝑥</m:t>
                            </m:r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𝑢</m:t>
                            </m:r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𝑁</m:t>
                            </m:r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𝑁</m:t>
                            </m:r>
                          </m:den>
                        </m:f>
                      </m:sup>
                    </m:sSup>
                  </m:oMath>
                </a14:m>
                <a:endParaRPr lang="en-US" altLang="en-US" i="1" dirty="0">
                  <a:solidFill>
                    <a:srgbClr val="FF0000"/>
                  </a:solidFill>
                </a:endParaRPr>
              </a:p>
              <a:p>
                <a:r>
                  <a:rPr lang="en-US" altLang="en-US" i="1" dirty="0">
                    <a:solidFill>
                      <a:srgbClr val="FF0000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i="0" dirty="0">
                        <a:solidFill>
                          <a:srgbClr val="FF0000"/>
                        </a:solidFill>
                      </a:rPr>
                      <m:t>f(x</m:t>
                    </m:r>
                    <m:r>
                      <m:rPr>
                        <m:nor/>
                      </m:rPr>
                      <a:rPr lang="en-US" altLang="en-US" b="0" i="0" dirty="0" smtClean="0">
                        <a:solidFill>
                          <a:srgbClr val="FF0000"/>
                        </a:solidFill>
                      </a:rPr>
                      <m:t>+N</m:t>
                    </m:r>
                    <m:r>
                      <m:rPr>
                        <m:nor/>
                      </m:rPr>
                      <a:rPr lang="en-US" altLang="en-US" i="0" dirty="0">
                        <a:solidFill>
                          <a:srgbClr val="FF0000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n-US" altLang="en-US" b="0" i="0" dirty="0" smtClean="0">
                        <a:solidFill>
                          <a:srgbClr val="FF0000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en-US" altLang="en-US" i="0" dirty="0">
                        <a:solidFill>
                          <a:srgbClr val="FF0000"/>
                        </a:solidFill>
                      </a:rPr>
                      <m:t>f(x)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 </a:t>
                </a:r>
                <a:r>
                  <a:rPr lang="en-US" i="1" dirty="0">
                    <a:solidFill>
                      <a:srgbClr val="FF0000"/>
                    </a:solidFill>
                  </a:rPr>
                  <a:t>  can be shown using the inverse transform</a:t>
                </a:r>
                <a:br>
                  <a:rPr lang="en-US" i="1" dirty="0">
                    <a:solidFill>
                      <a:srgbClr val="FF0000"/>
                    </a:solidFill>
                  </a:rPr>
                </a:br>
                <a:endParaRPr lang="en-US" i="1" dirty="0">
                  <a:solidFill>
                    <a:srgbClr val="FF0000"/>
                  </a:solidFill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b="1" dirty="0"/>
                  <a:t>Computational complexity:</a:t>
                </a:r>
                <a:r>
                  <a:rPr lang="en-US" dirty="0"/>
                  <a:t> O(</a:t>
                </a:r>
                <a:r>
                  <a:rPr lang="en-US" i="1" dirty="0" err="1"/>
                  <a:t>N·</a:t>
                </a:r>
                <a:r>
                  <a:rPr lang="en-US" dirty="0" err="1"/>
                  <a:t>log</a:t>
                </a:r>
                <a:r>
                  <a:rPr lang="en-US" i="1" dirty="0" err="1"/>
                  <a:t>N</a:t>
                </a:r>
                <a:r>
                  <a:rPr lang="en-US" dirty="0"/>
                  <a:t>) </a:t>
                </a:r>
                <a:br>
                  <a:rPr lang="en-US" dirty="0"/>
                </a:br>
                <a:r>
                  <a:rPr lang="en-US" dirty="0"/>
                  <a:t>(with FFT – the Fast Fourier Transform)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043608"/>
                <a:ext cx="9036496" cy="5675913"/>
              </a:xfrm>
              <a:prstGeom prst="rect">
                <a:avLst/>
              </a:prstGeom>
              <a:blipFill>
                <a:blip r:embed="rId3"/>
                <a:stretch>
                  <a:fillRect l="-945" t="-2148" b="-150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7591977" y="5105284"/>
            <a:ext cx="864096" cy="457980"/>
            <a:chOff x="8028384" y="4671138"/>
            <a:chExt cx="864096" cy="457980"/>
          </a:xfrm>
        </p:grpSpPr>
        <p:sp>
          <p:nvSpPr>
            <p:cNvPr id="6" name="Right Brace 5"/>
            <p:cNvSpPr/>
            <p:nvPr/>
          </p:nvSpPr>
          <p:spPr bwMode="auto">
            <a:xfrm rot="5400000">
              <a:off x="8370422" y="4329100"/>
              <a:ext cx="180020" cy="864096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8308667" y="4759786"/>
              <a:ext cx="4892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800" b="1" i="1" dirty="0">
                  <a:solidFill>
                    <a:srgbClr val="FF0000"/>
                  </a:solidFill>
                </a:rPr>
                <a:t>= </a:t>
              </a:r>
              <a:r>
                <a:rPr lang="en-US" altLang="en-US" sz="1800" b="1" dirty="0">
                  <a:solidFill>
                    <a:srgbClr val="FF0000"/>
                  </a:solidFill>
                </a:rPr>
                <a:t>1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487795" y="4670438"/>
                <a:ext cx="1103186" cy="47359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−2</m:t>
                          </m:r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𝜋</m:t>
                          </m:r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𝑖𝑥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795" y="4670438"/>
                <a:ext cx="1103186" cy="4735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932040" y="4581128"/>
                <a:ext cx="2840586" cy="6201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i="1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altLang="en-US" i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𝑁</m:t>
                        </m:r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−1</m:t>
                        </m:r>
                      </m:sup>
                      <m:e>
                        <m:r>
                          <m:rPr>
                            <m:nor/>
                          </m:rPr>
                          <a:rPr lang="en-US" altLang="en-US" i="0" dirty="0">
                            <a:solidFill>
                              <a:srgbClr val="FF0000"/>
                            </a:solidFill>
                          </a:rPr>
                          <m:t>f(x)</m:t>
                        </m:r>
                      </m:e>
                    </m:nary>
                    <m:sSup>
                      <m:sSupPr>
                        <m:ctrlP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𝜋</m:t>
                            </m:r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𝑖𝑥𝑢</m:t>
                            </m:r>
                          </m:num>
                          <m:den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𝑁</m:t>
                            </m:r>
                          </m:den>
                        </m:f>
                      </m:sup>
                    </m:sSup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4581128"/>
                <a:ext cx="2840586" cy="620106"/>
              </a:xfrm>
              <a:prstGeom prst="rect">
                <a:avLst/>
              </a:prstGeom>
              <a:blipFill>
                <a:blip r:embed="rId5"/>
                <a:stretch>
                  <a:fillRect l="-3219" b="-1176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7666079" y="4669551"/>
            <a:ext cx="111786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en-US" i="1" dirty="0">
                <a:solidFill>
                  <a:srgbClr val="FF0000"/>
                </a:solidFill>
              </a:rPr>
              <a:t> = F(u)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49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4" grpId="1" animBg="1"/>
      <p:bldP spid="4" grpId="0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6" name="Picture 8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2" y="2667000"/>
            <a:ext cx="25527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5292080" y="2276872"/>
            <a:ext cx="18210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1800" dirty="0">
                <a:latin typeface="Arial" charset="0"/>
              </a:rPr>
              <a:t>log(1 + |F(</a:t>
            </a:r>
            <a:r>
              <a:rPr lang="en-US" altLang="en-US" sz="1800" dirty="0" err="1">
                <a:latin typeface="Arial" charset="0"/>
              </a:rPr>
              <a:t>u,v</a:t>
            </a:r>
            <a:r>
              <a:rPr lang="en-US" altLang="en-US" sz="1800" dirty="0">
                <a:latin typeface="Arial" charset="0"/>
              </a:rPr>
              <a:t>)|) </a:t>
            </a: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2120903" y="1988840"/>
            <a:ext cx="952185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1800" dirty="0">
                <a:latin typeface="Arial" charset="0"/>
              </a:rPr>
              <a:t>Image f</a:t>
            </a: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609602" y="552452"/>
            <a:ext cx="8267700" cy="766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altLang="en-US" sz="4400" b="1">
                <a:solidFill>
                  <a:srgbClr val="114FFB"/>
                </a:solidFill>
              </a:rPr>
              <a:t>The Fourier Image</a:t>
            </a:r>
          </a:p>
        </p:txBody>
      </p:sp>
      <p:pic>
        <p:nvPicPr>
          <p:cNvPr id="94215" name="Picture 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2667000"/>
            <a:ext cx="25527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4217" name="Picture 9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2" y="2667001"/>
            <a:ext cx="2425701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516733" y="1988840"/>
            <a:ext cx="322203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1800" dirty="0">
                <a:latin typeface="Arial" charset="0"/>
              </a:rPr>
              <a:t>Fourier spectrum (magnitude)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80112" y="2286299"/>
            <a:ext cx="970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800" dirty="0">
                <a:solidFill>
                  <a:srgbClr val="000000"/>
                </a:solidFill>
                <a:latin typeface="Arial" charset="0"/>
              </a:rPr>
              <a:t> |F(</a:t>
            </a:r>
            <a:r>
              <a:rPr lang="en-US" altLang="en-US" sz="1800" dirty="0" err="1">
                <a:solidFill>
                  <a:srgbClr val="000000"/>
                </a:solidFill>
                <a:latin typeface="Arial" charset="0"/>
              </a:rPr>
              <a:t>u,v</a:t>
            </a:r>
            <a:r>
              <a:rPr lang="en-US" altLang="en-US" sz="1800" dirty="0">
                <a:solidFill>
                  <a:srgbClr val="000000"/>
                </a:solidFill>
                <a:latin typeface="Arial" charset="0"/>
              </a:rPr>
              <a:t>)|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3" grpId="0" autoUpdateAnimBg="0"/>
      <p:bldP spid="10" grpId="0"/>
      <p:bldP spid="3" grpId="0"/>
      <p:bldP spid="3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56FD39-7E68-2DD9-7EBD-4CD503754C38}"/>
              </a:ext>
            </a:extLst>
          </p:cNvPr>
          <p:cNvGrpSpPr/>
          <p:nvPr/>
        </p:nvGrpSpPr>
        <p:grpSpPr>
          <a:xfrm>
            <a:off x="6274671" y="5314950"/>
            <a:ext cx="2590990" cy="1557238"/>
            <a:chOff x="6274671" y="5314950"/>
            <a:chExt cx="2590990" cy="15572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E9F9E5E-B3BB-6B5C-6C26-CAE169C17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74671" y="5314950"/>
              <a:ext cx="2590990" cy="155723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131E41-F1DA-D5A4-2282-2345B95A7CC9}"/>
                </a:ext>
              </a:extLst>
            </p:cNvPr>
            <p:cNvSpPr/>
            <p:nvPr/>
          </p:nvSpPr>
          <p:spPr bwMode="auto">
            <a:xfrm>
              <a:off x="7489105" y="5445224"/>
              <a:ext cx="1376556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latin typeface="Times New Roman" pitchFamily="18" charset="0"/>
                </a:rPr>
                <a:t>Low-Pass Filtering:</a:t>
              </a:r>
              <a:endParaRPr kumimoji="0" lang="en-IL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pic>
        <p:nvPicPr>
          <p:cNvPr id="64514" name="Picture 2" descr="freqBands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1987552"/>
            <a:ext cx="2722563" cy="263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15" name="Picture 3" descr="freqBands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3" y="1987552"/>
            <a:ext cx="2703513" cy="263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2274888" y="403225"/>
            <a:ext cx="473551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/>
              <a:t>Frequency Bands</a:t>
            </a: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105873" y="4714785"/>
            <a:ext cx="893225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latin typeface="Arial" charset="0"/>
              </a:rPr>
              <a:t>Percentage of image power enclosed in circles (small to large) : </a:t>
            </a:r>
          </a:p>
          <a:p>
            <a:endParaRPr lang="en-US" altLang="en-US" dirty="0">
              <a:latin typeface="Arial" charset="0"/>
            </a:endParaRPr>
          </a:p>
          <a:p>
            <a:r>
              <a:rPr lang="en-US" altLang="en-US" dirty="0">
                <a:latin typeface="Arial" charset="0"/>
              </a:rPr>
              <a:t>	     90%, 95%, 98%, 99%, 99.5%, 99.9%</a:t>
            </a:r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1828802" y="1543050"/>
            <a:ext cx="8258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>
                <a:latin typeface="Arial" charset="0"/>
              </a:rPr>
              <a:t>Image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5283202" y="1543050"/>
            <a:ext cx="19672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>
                <a:latin typeface="Arial" charset="0"/>
              </a:rPr>
              <a:t>Fourier Spectrum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bluring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39" y="755651"/>
            <a:ext cx="3802063" cy="589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422400" y="76201"/>
            <a:ext cx="599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/>
              <a:t>Low pass Filtering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2044702" y="2209801"/>
            <a:ext cx="512961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000">
                <a:latin typeface="Arial" charset="0"/>
              </a:rPr>
              <a:t>90%</a:t>
            </a: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6559553" y="2219326"/>
            <a:ext cx="512961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000">
                <a:latin typeface="Arial" charset="0"/>
              </a:rPr>
              <a:t>95%</a:t>
            </a:r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2044702" y="4232276"/>
            <a:ext cx="512961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000">
                <a:latin typeface="Arial" charset="0"/>
              </a:rPr>
              <a:t>98%</a:t>
            </a:r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6513515" y="4267201"/>
            <a:ext cx="583493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000">
                <a:latin typeface="Arial" charset="0"/>
              </a:rPr>
              <a:t> 99%</a:t>
            </a:r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1905002" y="6324601"/>
            <a:ext cx="726161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000">
                <a:latin typeface="Arial" charset="0"/>
              </a:rPr>
              <a:t>99.5%</a:t>
            </a:r>
          </a:p>
        </p:txBody>
      </p:sp>
      <p:sp>
        <p:nvSpPr>
          <p:cNvPr id="66569" name="Rectangle 9"/>
          <p:cNvSpPr>
            <a:spLocks noChangeArrowheads="1"/>
          </p:cNvSpPr>
          <p:nvPr/>
        </p:nvSpPr>
        <p:spPr bwMode="auto">
          <a:xfrm>
            <a:off x="6526216" y="6324601"/>
            <a:ext cx="796693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000">
                <a:latin typeface="Arial" charset="0"/>
              </a:rPr>
              <a:t> 99.9%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blu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72" y="488156"/>
            <a:ext cx="3951220" cy="57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8227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Blur Illus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72" y="486966"/>
            <a:ext cx="3951220" cy="57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0103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 descr="local_filtering1a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066800"/>
            <a:ext cx="2468563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1998663" y="277814"/>
            <a:ext cx="49149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/>
              <a:t>Noise Removal</a:t>
            </a:r>
          </a:p>
        </p:txBody>
      </p:sp>
      <p:sp>
        <p:nvSpPr>
          <p:cNvPr id="88070" name="Text Box 6"/>
          <p:cNvSpPr txBox="1">
            <a:spLocks noChangeArrowheads="1"/>
          </p:cNvSpPr>
          <p:nvPr/>
        </p:nvSpPr>
        <p:spPr bwMode="auto">
          <a:xfrm>
            <a:off x="3725864" y="3489325"/>
            <a:ext cx="15969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Noisy image</a:t>
            </a:r>
          </a:p>
        </p:txBody>
      </p:sp>
      <p:grpSp>
        <p:nvGrpSpPr>
          <p:cNvPr id="88073" name="Group 9"/>
          <p:cNvGrpSpPr>
            <a:grpSpLocks/>
          </p:cNvGrpSpPr>
          <p:nvPr/>
        </p:nvGrpSpPr>
        <p:grpSpPr bwMode="auto">
          <a:xfrm>
            <a:off x="250825" y="3733799"/>
            <a:ext cx="3602039" cy="2898774"/>
            <a:chOff x="158" y="2352"/>
            <a:chExt cx="2269" cy="1826"/>
          </a:xfrm>
        </p:grpSpPr>
        <p:pic>
          <p:nvPicPr>
            <p:cNvPr id="88067" name="Picture 3" descr="local_filtering1b"/>
            <p:cNvPicPr>
              <a:picLocks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2352"/>
              <a:ext cx="1555" cy="1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071" name="Text Box 7"/>
            <p:cNvSpPr txBox="1">
              <a:spLocks noChangeArrowheads="1"/>
            </p:cNvSpPr>
            <p:nvPr/>
          </p:nvSpPr>
          <p:spPr bwMode="auto">
            <a:xfrm>
              <a:off x="158" y="3926"/>
              <a:ext cx="226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dirty="0">
                  <a:latin typeface="Arial" charset="0"/>
                </a:rPr>
                <a:t>Fourier Spectrum (magnitude)</a:t>
              </a:r>
            </a:p>
          </p:txBody>
        </p:sp>
      </p:grpSp>
      <p:grpSp>
        <p:nvGrpSpPr>
          <p:cNvPr id="88074" name="Group 10"/>
          <p:cNvGrpSpPr>
            <a:grpSpLocks/>
          </p:cNvGrpSpPr>
          <p:nvPr/>
        </p:nvGrpSpPr>
        <p:grpSpPr bwMode="auto">
          <a:xfrm>
            <a:off x="6172202" y="3657605"/>
            <a:ext cx="2678113" cy="2914651"/>
            <a:chOff x="3888" y="2304"/>
            <a:chExt cx="1687" cy="1836"/>
          </a:xfrm>
        </p:grpSpPr>
        <p:pic>
          <p:nvPicPr>
            <p:cNvPr id="88068" name="Picture 4" descr="local_filtering1c"/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" y="2304"/>
              <a:ext cx="1555" cy="1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072" name="Text Box 8"/>
            <p:cNvSpPr txBox="1">
              <a:spLocks noChangeArrowheads="1"/>
            </p:cNvSpPr>
            <p:nvPr/>
          </p:nvSpPr>
          <p:spPr bwMode="auto">
            <a:xfrm>
              <a:off x="3940" y="3888"/>
              <a:ext cx="163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Arial" charset="0"/>
                </a:rPr>
                <a:t>Noise-cleaned image</a:t>
              </a:r>
            </a:p>
          </p:txBody>
        </p:sp>
      </p:grpSp>
      <p:sp>
        <p:nvSpPr>
          <p:cNvPr id="88075" name="Oval 11"/>
          <p:cNvSpPr>
            <a:spLocks noChangeArrowheads="1"/>
          </p:cNvSpPr>
          <p:nvPr/>
        </p:nvSpPr>
        <p:spPr bwMode="auto">
          <a:xfrm>
            <a:off x="1028700" y="3989390"/>
            <a:ext cx="288925" cy="28892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76" name="Oval 12"/>
          <p:cNvSpPr>
            <a:spLocks noChangeArrowheads="1"/>
          </p:cNvSpPr>
          <p:nvPr/>
        </p:nvSpPr>
        <p:spPr bwMode="auto">
          <a:xfrm>
            <a:off x="2554288" y="5372102"/>
            <a:ext cx="288925" cy="28892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ight Arrow 1">
                <a:extLst>
                  <a:ext uri="{FF2B5EF4-FFF2-40B4-BE49-F238E27FC236}">
                    <a16:creationId xmlns:a16="http://schemas.microsoft.com/office/drawing/2014/main" id="{894F6F7B-0AB2-4D59-9EA7-39824E1A592A}"/>
                  </a:ext>
                </a:extLst>
              </p:cNvPr>
              <p:cNvSpPr/>
              <p:nvPr/>
            </p:nvSpPr>
            <p:spPr bwMode="auto">
              <a:xfrm>
                <a:off x="3429001" y="4278315"/>
                <a:ext cx="2743201" cy="1512885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:r>
                  <a:rPr kumimoji="0" lang="en-US" sz="2400" b="1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Inverse Fourier</a:t>
                </a:r>
                <a:br>
                  <a:rPr kumimoji="0" lang="en-US" sz="2400" b="1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𝐹𝐹𝑇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14" name="Right Arrow 1">
                <a:extLst>
                  <a:ext uri="{FF2B5EF4-FFF2-40B4-BE49-F238E27FC236}">
                    <a16:creationId xmlns:a16="http://schemas.microsoft.com/office/drawing/2014/main" id="{894F6F7B-0AB2-4D59-9EA7-39824E1A59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9001" y="4278315"/>
                <a:ext cx="2743201" cy="1512885"/>
              </a:xfrm>
              <a:prstGeom prst="rightArrow">
                <a:avLst/>
              </a:prstGeom>
              <a:blipFill>
                <a:blip r:embed="rId7"/>
                <a:stretch>
                  <a:fillRect l="-3311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1">
            <a:extLst>
              <a:ext uri="{FF2B5EF4-FFF2-40B4-BE49-F238E27FC236}">
                <a16:creationId xmlns:a16="http://schemas.microsoft.com/office/drawing/2014/main" id="{F5B39642-6652-E1FF-85FC-3AB70945A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989611"/>
            <a:ext cx="288925" cy="288925"/>
          </a:xfrm>
          <a:prstGeom prst="ellips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FFFF00"/>
              </a:solidFill>
            </a:endParaRPr>
          </a:p>
        </p:txBody>
      </p:sp>
      <p:sp>
        <p:nvSpPr>
          <p:cNvPr id="3" name="Oval 12">
            <a:extLst>
              <a:ext uri="{FF2B5EF4-FFF2-40B4-BE49-F238E27FC236}">
                <a16:creationId xmlns:a16="http://schemas.microsoft.com/office/drawing/2014/main" id="{4D327459-B42F-A967-FCB0-CAA1C2E7A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883" y="5373216"/>
            <a:ext cx="288925" cy="288925"/>
          </a:xfrm>
          <a:prstGeom prst="ellips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emph" presetSubtype="0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5" presetClass="emph" presetSubtype="0" repeatCount="3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5" grpId="0" animBg="1"/>
      <p:bldP spid="88076" grpId="0" animBg="1"/>
      <p:bldP spid="14" grpId="0" animBg="1"/>
      <p:bldP spid="2" grpId="0" animBg="1"/>
      <p:bldP spid="2" grpId="2" animBg="1"/>
      <p:bldP spid="2" grpId="3" animBg="1"/>
      <p:bldP spid="3" grpId="0" animBg="1"/>
      <p:bldP spid="3" grpId="2" animBg="1"/>
      <p:bldP spid="3" grpId="3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691" name="Picture 3" descr="highpas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353" y="2085975"/>
            <a:ext cx="3071813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2692" name="Text Box 4"/>
          <p:cNvSpPr txBox="1">
            <a:spLocks noChangeArrowheads="1"/>
          </p:cNvSpPr>
          <p:nvPr/>
        </p:nvSpPr>
        <p:spPr bwMode="auto">
          <a:xfrm>
            <a:off x="1752602" y="444501"/>
            <a:ext cx="527843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/>
              <a:t>High Pass Filtering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>
            <a:off x="1331640" y="1736724"/>
            <a:ext cx="10695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Original</a:t>
            </a:r>
          </a:p>
        </p:txBody>
      </p:sp>
      <p:sp>
        <p:nvSpPr>
          <p:cNvPr id="242694" name="Text Box 6"/>
          <p:cNvSpPr txBox="1">
            <a:spLocks noChangeArrowheads="1"/>
          </p:cNvSpPr>
          <p:nvPr/>
        </p:nvSpPr>
        <p:spPr bwMode="auto">
          <a:xfrm>
            <a:off x="5173390" y="1736724"/>
            <a:ext cx="23519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High Pass Filtered </a:t>
            </a:r>
          </a:p>
        </p:txBody>
      </p:sp>
      <p:pic>
        <p:nvPicPr>
          <p:cNvPr id="242695" name="Picture 7" descr="high_emphasis3"/>
          <p:cNvPicPr>
            <a:picLocks noChangeAspect="1" noChangeArrowheads="1"/>
          </p:cNvPicPr>
          <p:nvPr/>
        </p:nvPicPr>
        <p:blipFill>
          <a:blip r:embed="rId4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40" y="2082802"/>
            <a:ext cx="3043238" cy="287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2F07A45-974F-CAF4-C190-59BB883CD892}"/>
              </a:ext>
            </a:extLst>
          </p:cNvPr>
          <p:cNvGrpSpPr/>
          <p:nvPr/>
        </p:nvGrpSpPr>
        <p:grpSpPr>
          <a:xfrm>
            <a:off x="827584" y="5066143"/>
            <a:ext cx="2771800" cy="2155635"/>
            <a:chOff x="827584" y="5093554"/>
            <a:chExt cx="2771800" cy="17057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D284159-B650-2E3C-560E-273D5127D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EFF"/>
                </a:clrFrom>
                <a:clrTo>
                  <a:srgbClr val="FFFE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27584" y="5093554"/>
              <a:ext cx="2771800" cy="170572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026099A-99D1-4AA2-E654-861775187E88}"/>
                </a:ext>
              </a:extLst>
            </p:cNvPr>
            <p:cNvSpPr/>
            <p:nvPr/>
          </p:nvSpPr>
          <p:spPr bwMode="auto">
            <a:xfrm>
              <a:off x="2123728" y="5229200"/>
              <a:ext cx="1296144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latin typeface="Times New Roman" pitchFamily="18" charset="0"/>
                </a:rPr>
                <a:t>High-Pass Filtering:</a:t>
              </a:r>
              <a:endParaRPr kumimoji="0" lang="en-IL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ight Arrow 1">
                <a:extLst>
                  <a:ext uri="{FF2B5EF4-FFF2-40B4-BE49-F238E27FC236}">
                    <a16:creationId xmlns:a16="http://schemas.microsoft.com/office/drawing/2014/main" id="{4F2D5EA4-9749-05ED-D413-E0E3401C0274}"/>
                  </a:ext>
                </a:extLst>
              </p:cNvPr>
              <p:cNvSpPr/>
              <p:nvPr/>
            </p:nvSpPr>
            <p:spPr bwMode="auto">
              <a:xfrm rot="20001920">
                <a:off x="3720661" y="5058666"/>
                <a:ext cx="2743201" cy="1512885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:r>
                  <a:rPr kumimoji="0" lang="en-US" sz="2400" b="1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Inverse Fourier</a:t>
                </a:r>
                <a:br>
                  <a:rPr kumimoji="0" lang="en-US" sz="2400" b="1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𝐹𝐹𝑇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Right Arrow 1">
                <a:extLst>
                  <a:ext uri="{FF2B5EF4-FFF2-40B4-BE49-F238E27FC236}">
                    <a16:creationId xmlns:a16="http://schemas.microsoft.com/office/drawing/2014/main" id="{4F2D5EA4-9749-05ED-D413-E0E3401C02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20001920">
                <a:off x="3720661" y="5058666"/>
                <a:ext cx="2743201" cy="1512885"/>
              </a:xfrm>
              <a:prstGeom prst="rightArrow">
                <a:avLst/>
              </a:prstGeom>
              <a:blipFill>
                <a:blip r:embed="rId6"/>
                <a:stretch>
                  <a:fillRect l="-3695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Arrow: Down 7">
                <a:extLst>
                  <a:ext uri="{FF2B5EF4-FFF2-40B4-BE49-F238E27FC236}">
                    <a16:creationId xmlns:a16="http://schemas.microsoft.com/office/drawing/2014/main" id="{DA9BC737-167D-70DA-81E3-C1E06AA770D0}"/>
                  </a:ext>
                </a:extLst>
              </p:cNvPr>
              <p:cNvSpPr/>
              <p:nvPr/>
            </p:nvSpPr>
            <p:spPr bwMode="auto">
              <a:xfrm>
                <a:off x="778223" y="5036443"/>
                <a:ext cx="1243511" cy="778666"/>
              </a:xfrm>
              <a:prstGeom prst="downArrow">
                <a:avLst>
                  <a:gd name="adj1" fmla="val 53300"/>
                  <a:gd name="adj2" fmla="val 50000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𝐹𝐹𝑇</m:t>
                      </m:r>
                    </m:oMath>
                  </m:oMathPara>
                </a14:m>
                <a:endParaRPr kumimoji="0" lang="en-IL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Arrow: Down 7">
                <a:extLst>
                  <a:ext uri="{FF2B5EF4-FFF2-40B4-BE49-F238E27FC236}">
                    <a16:creationId xmlns:a16="http://schemas.microsoft.com/office/drawing/2014/main" id="{DA9BC737-167D-70DA-81E3-C1E06AA77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8223" y="5036443"/>
                <a:ext cx="1243511" cy="778666"/>
              </a:xfrm>
              <a:prstGeom prst="downArrow">
                <a:avLst>
                  <a:gd name="adj1" fmla="val 53300"/>
                  <a:gd name="adj2" fmla="val 50000"/>
                </a:avLst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4" grpId="0"/>
      <p:bldP spid="7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1295400" y="381001"/>
            <a:ext cx="6477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 dirty="0"/>
              <a:t>High Frequency Emphasis</a:t>
            </a:r>
          </a:p>
        </p:txBody>
      </p:sp>
      <p:sp>
        <p:nvSpPr>
          <p:cNvPr id="99335" name="Rectangle 7"/>
          <p:cNvSpPr>
            <a:spLocks noChangeArrowheads="1"/>
          </p:cNvSpPr>
          <p:nvPr/>
        </p:nvSpPr>
        <p:spPr bwMode="auto">
          <a:xfrm>
            <a:off x="3871548" y="1412875"/>
            <a:ext cx="484428" cy="707886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000" dirty="0">
                <a:latin typeface="Arial" charset="0"/>
              </a:rPr>
              <a:t>+</a:t>
            </a:r>
          </a:p>
        </p:txBody>
      </p:sp>
      <p:sp>
        <p:nvSpPr>
          <p:cNvPr id="99336" name="Text Box 8"/>
          <p:cNvSpPr txBox="1">
            <a:spLocks noChangeArrowheads="1"/>
          </p:cNvSpPr>
          <p:nvPr/>
        </p:nvSpPr>
        <p:spPr bwMode="auto">
          <a:xfrm>
            <a:off x="1331640" y="1736724"/>
            <a:ext cx="10695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Original</a:t>
            </a:r>
          </a:p>
        </p:txBody>
      </p:sp>
      <p:sp>
        <p:nvSpPr>
          <p:cNvPr id="99337" name="Text Box 9"/>
          <p:cNvSpPr txBox="1">
            <a:spLocks noChangeArrowheads="1"/>
          </p:cNvSpPr>
          <p:nvPr/>
        </p:nvSpPr>
        <p:spPr bwMode="auto">
          <a:xfrm>
            <a:off x="5173390" y="1736724"/>
            <a:ext cx="23519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High Pass Filtered </a:t>
            </a:r>
          </a:p>
        </p:txBody>
      </p:sp>
      <p:pic>
        <p:nvPicPr>
          <p:cNvPr id="99340" name="Picture 12" descr="highpas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353" y="2085975"/>
            <a:ext cx="3071813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341" name="Picture 13" descr="high_emphasis3"/>
          <p:cNvPicPr>
            <a:picLocks noChangeAspect="1" noChangeArrowheads="1"/>
          </p:cNvPicPr>
          <p:nvPr/>
        </p:nvPicPr>
        <p:blipFill>
          <a:blip r:embed="rId4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40" y="2082802"/>
            <a:ext cx="3043238" cy="287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/>
      <p:bldP spid="993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1331640" y="1732746"/>
            <a:ext cx="10695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Original</a:t>
            </a: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4022454" y="1732746"/>
            <a:ext cx="4749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000">
                <a:latin typeface="Arial" charset="0"/>
              </a:rPr>
              <a:t>High Frequency Emphasis</a:t>
            </a:r>
          </a:p>
        </p:txBody>
      </p:sp>
      <p:pic>
        <p:nvPicPr>
          <p:cNvPr id="118791" name="Picture 7" descr="high_emphasis3"/>
          <p:cNvPicPr>
            <a:picLocks noChangeAspect="1" noChangeArrowheads="1"/>
          </p:cNvPicPr>
          <p:nvPr/>
        </p:nvPicPr>
        <p:blipFill>
          <a:blip r:embed="rId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40" y="2082802"/>
            <a:ext cx="3043238" cy="287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792" name="Picture 8" descr="high_emphasis4"/>
          <p:cNvPicPr>
            <a:picLocks noChangeAspect="1" noChangeArrowheads="1"/>
          </p:cNvPicPr>
          <p:nvPr/>
        </p:nvPicPr>
        <p:blipFill>
          <a:blip r:embed="rId4">
            <a:lum bright="1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713" y="2082802"/>
            <a:ext cx="3043238" cy="287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4">
            <a:extLst>
              <a:ext uri="{FF2B5EF4-FFF2-40B4-BE49-F238E27FC236}">
                <a16:creationId xmlns:a16="http://schemas.microsoft.com/office/drawing/2014/main" id="{EB40AA34-5609-D113-ADE8-D7CBE5D55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81001"/>
            <a:ext cx="6477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 dirty="0"/>
              <a:t>High Frequency Emphasis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igh frequency emphasis">
            <a:extLst>
              <a:ext uri="{FF2B5EF4-FFF2-40B4-BE49-F238E27FC236}">
                <a16:creationId xmlns:a16="http://schemas.microsoft.com/office/drawing/2014/main" id="{704AA4B1-C81A-B3C7-8E1C-5C086B21B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5792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925515" y="309564"/>
            <a:ext cx="750252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/>
              <a:t>High Frequency Emphasis</a:t>
            </a: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1331640" y="1804754"/>
            <a:ext cx="10695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Original</a:t>
            </a: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4022454" y="1804754"/>
            <a:ext cx="4749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000">
                <a:latin typeface="Arial" charset="0"/>
              </a:rPr>
              <a:t>High Frequency Emphasis</a:t>
            </a:r>
          </a:p>
        </p:txBody>
      </p:sp>
      <p:pic>
        <p:nvPicPr>
          <p:cNvPr id="9" name="Picture 3" descr="xray_enhancement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199963"/>
            <a:ext cx="2983230" cy="270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 descr="xray_enhancement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362" y="2203496"/>
            <a:ext cx="2983230" cy="270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2359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925515" y="309564"/>
            <a:ext cx="750252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/>
              <a:t>High Frequency Emphasis</a:t>
            </a: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1657349" y="1592263"/>
            <a:ext cx="10695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Arial" charset="0"/>
              </a:rPr>
              <a:t>Original</a:t>
            </a: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4348163" y="1592263"/>
            <a:ext cx="4749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000">
                <a:latin typeface="Arial" charset="0"/>
              </a:rPr>
              <a:t>High Frequency Emphasis</a:t>
            </a:r>
          </a:p>
        </p:txBody>
      </p:sp>
      <p:pic>
        <p:nvPicPr>
          <p:cNvPr id="7" name="Picture 6" descr="http://www.cs.ru.nl/~ths/rt2/col/h4/retin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77" y="1988840"/>
            <a:ext cx="3413760" cy="341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http://www.cs.ru.nl/~ths/rt2/col/h4/retina-sharp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664" y="1988840"/>
            <a:ext cx="3413760" cy="341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860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46451" y="246460"/>
            <a:ext cx="8230005" cy="686990"/>
          </a:xfrm>
        </p:spPr>
        <p:txBody>
          <a:bodyPr/>
          <a:lstStyle/>
          <a:p>
            <a:r>
              <a:rPr lang="en-US" sz="4000" b="1" dirty="0">
                <a:latin typeface="+mn-lt"/>
              </a:rPr>
              <a:t>Importance of Phase vs. Magnitude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7140" name="Rectangle 4"/>
              <p:cNvSpPr>
                <a:spLocks noChangeArrowheads="1"/>
              </p:cNvSpPr>
              <p:nvPr/>
            </p:nvSpPr>
            <p:spPr bwMode="auto">
              <a:xfrm>
                <a:off x="35496" y="1624608"/>
                <a:ext cx="9073007" cy="35325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lnSpc>
                    <a:spcPct val="90000"/>
                  </a:lnSpc>
                  <a:spcBef>
                    <a:spcPct val="20000"/>
                  </a:spcBef>
                  <a:buSzPct val="100000"/>
                  <a:buFontTx/>
                  <a:buChar char="•"/>
                </a:pPr>
                <a:r>
                  <a:rPr lang="en-US" sz="2800" b="1" dirty="0">
                    <a:solidFill>
                      <a:srgbClr val="000000"/>
                    </a:solidFill>
                  </a:rPr>
                  <a:t>Curious fact:</a:t>
                </a:r>
              </a:p>
              <a:p>
                <a:pPr lvl="1">
                  <a:lnSpc>
                    <a:spcPct val="90000"/>
                  </a:lnSpc>
                  <a:spcBef>
                    <a:spcPct val="20000"/>
                  </a:spcBef>
                  <a:buSzPct val="100000"/>
                </a:pPr>
                <a:r>
                  <a:rPr lang="en-US" dirty="0">
                    <a:solidFill>
                      <a:srgbClr val="000000"/>
                    </a:solidFill>
                  </a:rPr>
                  <a:t>All natural images have approximately the same Fourier magnitude;</a:t>
                </a:r>
              </a:p>
              <a:p>
                <a:pPr lvl="1">
                  <a:lnSpc>
                    <a:spcPct val="90000"/>
                  </a:lnSpc>
                  <a:spcBef>
                    <a:spcPct val="20000"/>
                  </a:spcBef>
                  <a:buSzPct val="100000"/>
                </a:pPr>
                <a:r>
                  <a:rPr lang="en-US" dirty="0">
                    <a:solidFill>
                      <a:srgbClr val="000000"/>
                    </a:solidFill>
                  </a:rPr>
                  <a:t>but images look very different from one another…</a:t>
                </a:r>
              </a:p>
              <a:p>
                <a:pPr lvl="1">
                  <a:lnSpc>
                    <a:spcPct val="90000"/>
                  </a:lnSpc>
                  <a:spcBef>
                    <a:spcPct val="20000"/>
                  </a:spcBef>
                  <a:buSzPct val="100000"/>
                </a:pPr>
                <a:r>
                  <a:rPr lang="en-US" dirty="0">
                    <a:solidFill>
                      <a:srgbClr val="000000"/>
                    </a:solidFill>
                  </a:rPr>
                  <a:t>How come….?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endParaRPr lang="en-US" dirty="0">
                  <a:solidFill>
                    <a:srgbClr val="000000"/>
                  </a:solidFill>
                </a:endParaRPr>
              </a:p>
              <a:p>
                <a:pPr lvl="1">
                  <a:lnSpc>
                    <a:spcPct val="90000"/>
                  </a:lnSpc>
                  <a:spcBef>
                    <a:spcPct val="20000"/>
                  </a:spcBef>
                  <a:buSzPct val="100000"/>
                </a:pPr>
                <a:r>
                  <a:rPr lang="en-US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              </a:t>
                </a:r>
                <a:r>
                  <a:rPr lang="en-US" dirty="0">
                    <a:solidFill>
                      <a:srgbClr val="000000"/>
                    </a:solidFill>
                  </a:rPr>
                  <a:t> phase seems to matter more than magnitude.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br>
                  <a:rPr lang="en-US" dirty="0">
                    <a:solidFill>
                      <a:srgbClr val="000000"/>
                    </a:solidFill>
                  </a:rPr>
                </a:br>
                <a:endParaRPr lang="en-US" dirty="0">
                  <a:solidFill>
                    <a:srgbClr val="000000"/>
                  </a:solidFill>
                </a:endParaRPr>
              </a:p>
              <a:p>
                <a:pPr marL="342900" indent="-342900">
                  <a:lnSpc>
                    <a:spcPct val="90000"/>
                  </a:lnSpc>
                  <a:spcBef>
                    <a:spcPct val="20000"/>
                  </a:spcBef>
                  <a:buSzPct val="100000"/>
                  <a:buFontTx/>
                  <a:buChar char="•"/>
                </a:pPr>
                <a:r>
                  <a:rPr lang="en-US" sz="2800" b="1" dirty="0">
                    <a:solidFill>
                      <a:srgbClr val="000000"/>
                    </a:solidFill>
                  </a:rPr>
                  <a:t>Demonstration:</a:t>
                </a:r>
              </a:p>
              <a:p>
                <a:pPr lvl="1">
                  <a:lnSpc>
                    <a:spcPct val="90000"/>
                  </a:lnSpc>
                  <a:spcBef>
                    <a:spcPct val="20000"/>
                  </a:spcBef>
                  <a:buSzPct val="100000"/>
                </a:pPr>
                <a:r>
                  <a:rPr lang="en-US" dirty="0">
                    <a:solidFill>
                      <a:srgbClr val="000000"/>
                    </a:solidFill>
                  </a:rPr>
                  <a:t>Take two pictures </a:t>
                </a:r>
                <a:r>
                  <a:rPr lang="en-US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 FFT </a:t>
                </a:r>
                <a:r>
                  <a:rPr lang="en-US" dirty="0">
                    <a:solidFill>
                      <a:srgbClr val="000000"/>
                    </a:solidFill>
                  </a:rPr>
                  <a:t> swap their phase transforms </a:t>
                </a:r>
                <a:r>
                  <a:rPr lang="en-US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0" dirty="0">
                            <a:solidFill>
                              <a:srgbClr val="000000"/>
                            </a:solidFill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i="0" dirty="0">
                            <a:solidFill>
                              <a:srgbClr val="000000"/>
                            </a:solidFill>
                            <a:sym typeface="Wingdings" panose="05000000000000000000" pitchFamily="2" charset="2"/>
                          </a:rPr>
                          <m:t>FFT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</m:oMath>
                </a14:m>
                <a:br>
                  <a:rPr lang="en-US" dirty="0">
                    <a:solidFill>
                      <a:srgbClr val="000000"/>
                    </a:solidFill>
                  </a:rPr>
                </a:br>
                <a:endParaRPr lang="en-US" dirty="0">
                  <a:solidFill>
                    <a:srgbClr val="000000"/>
                  </a:solidFill>
                </a:endParaRPr>
              </a:p>
              <a:p>
                <a:pPr lvl="1">
                  <a:lnSpc>
                    <a:spcPct val="90000"/>
                  </a:lnSpc>
                  <a:spcBef>
                    <a:spcPct val="20000"/>
                  </a:spcBef>
                  <a:buSzPct val="100000"/>
                </a:pPr>
                <a:r>
                  <a:rPr lang="en-US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               </a:t>
                </a:r>
                <a:r>
                  <a:rPr lang="en-US" dirty="0">
                    <a:solidFill>
                      <a:srgbClr val="000000"/>
                    </a:solidFill>
                  </a:rPr>
                  <a:t>what does the result look like…?</a:t>
                </a:r>
              </a:p>
              <a:p>
                <a:pPr marL="742950" lvl="1" indent="-285750">
                  <a:lnSpc>
                    <a:spcPct val="90000"/>
                  </a:lnSpc>
                  <a:spcBef>
                    <a:spcPct val="20000"/>
                  </a:spcBef>
                  <a:buSzPct val="100000"/>
                  <a:buFontTx/>
                  <a:buChar char="–"/>
                </a:pPr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47140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96" y="1624608"/>
                <a:ext cx="9073007" cy="3532584"/>
              </a:xfrm>
              <a:prstGeom prst="rect">
                <a:avLst/>
              </a:prstGeom>
              <a:blipFill rotWithShape="1">
                <a:blip r:embed="rId2"/>
                <a:stretch>
                  <a:fillRect l="-1210" t="-2936" b="-3644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01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7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7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7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7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7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7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7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7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40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548680"/>
            <a:ext cx="5976664" cy="4877990"/>
          </a:xfrm>
          <a:prstGeom prst="rect">
            <a:avLst/>
          </a:prstGeom>
          <a:noFill/>
        </p:spPr>
      </p:pic>
      <p:sp>
        <p:nvSpPr>
          <p:cNvPr id="348166" name="Text Box 6"/>
          <p:cNvSpPr txBox="1">
            <a:spLocks noChangeArrowheads="1"/>
          </p:cNvSpPr>
          <p:nvPr/>
        </p:nvSpPr>
        <p:spPr bwMode="auto">
          <a:xfrm>
            <a:off x="289990" y="6199585"/>
            <a:ext cx="27879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Slide: Freeman &amp; Durand</a:t>
            </a:r>
          </a:p>
        </p:txBody>
      </p:sp>
    </p:spTree>
    <p:extLst>
      <p:ext uri="{BB962C8B-B14F-4D97-AF65-F5344CB8AC3E}">
        <p14:creationId xmlns:p14="http://schemas.microsoft.com/office/powerpoint/2010/main" val="24224117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18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495226"/>
            <a:ext cx="6082173" cy="4877990"/>
          </a:xfrm>
          <a:prstGeom prst="rect">
            <a:avLst/>
          </a:prstGeom>
          <a:noFill/>
        </p:spPr>
      </p:pic>
      <p:sp>
        <p:nvSpPr>
          <p:cNvPr id="349189" name="Text Box 5"/>
          <p:cNvSpPr txBox="1">
            <a:spLocks noChangeArrowheads="1"/>
          </p:cNvSpPr>
          <p:nvPr/>
        </p:nvSpPr>
        <p:spPr bwMode="auto">
          <a:xfrm>
            <a:off x="677333" y="5373292"/>
            <a:ext cx="80115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This is the magnitude transform of the cheetah pic</a:t>
            </a:r>
          </a:p>
        </p:txBody>
      </p:sp>
      <p:sp>
        <p:nvSpPr>
          <p:cNvPr id="349190" name="Text Box 6"/>
          <p:cNvSpPr txBox="1">
            <a:spLocks noChangeArrowheads="1"/>
          </p:cNvSpPr>
          <p:nvPr/>
        </p:nvSpPr>
        <p:spPr bwMode="auto">
          <a:xfrm>
            <a:off x="289990" y="6199585"/>
            <a:ext cx="27879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Slide: Freeman &amp; Durand</a:t>
            </a:r>
          </a:p>
        </p:txBody>
      </p:sp>
    </p:spTree>
    <p:extLst>
      <p:ext uri="{BB962C8B-B14F-4D97-AF65-F5344CB8AC3E}">
        <p14:creationId xmlns:p14="http://schemas.microsoft.com/office/powerpoint/2010/main" val="2371094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1" name="Text Box 3"/>
          <p:cNvSpPr txBox="1">
            <a:spLocks noChangeArrowheads="1"/>
          </p:cNvSpPr>
          <p:nvPr/>
        </p:nvSpPr>
        <p:spPr bwMode="auto">
          <a:xfrm>
            <a:off x="1407585" y="5373292"/>
            <a:ext cx="71458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Arial" pitchFamily="34" charset="0"/>
              </a:rPr>
              <a:t>This is the phase transform of the cheetah pic</a:t>
            </a:r>
          </a:p>
        </p:txBody>
      </p:sp>
      <p:pic>
        <p:nvPicPr>
          <p:cNvPr id="35021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495226"/>
            <a:ext cx="6317252" cy="4877990"/>
          </a:xfrm>
          <a:prstGeom prst="rect">
            <a:avLst/>
          </a:prstGeom>
          <a:noFill/>
        </p:spPr>
      </p:pic>
      <p:sp>
        <p:nvSpPr>
          <p:cNvPr id="350213" name="Text Box 5"/>
          <p:cNvSpPr txBox="1">
            <a:spLocks noChangeArrowheads="1"/>
          </p:cNvSpPr>
          <p:nvPr/>
        </p:nvSpPr>
        <p:spPr bwMode="auto">
          <a:xfrm>
            <a:off x="289990" y="6199585"/>
            <a:ext cx="27879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Slide: Freeman &amp; Durand</a:t>
            </a:r>
          </a:p>
        </p:txBody>
      </p:sp>
    </p:spTree>
    <p:extLst>
      <p:ext uri="{BB962C8B-B14F-4D97-AF65-F5344CB8AC3E}">
        <p14:creationId xmlns:p14="http://schemas.microsoft.com/office/powerpoint/2010/main" val="3278115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23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476672"/>
            <a:ext cx="6552728" cy="4877990"/>
          </a:xfrm>
          <a:prstGeom prst="rect">
            <a:avLst/>
          </a:prstGeom>
          <a:noFill/>
        </p:spPr>
      </p:pic>
      <p:sp>
        <p:nvSpPr>
          <p:cNvPr id="351237" name="Text Box 5"/>
          <p:cNvSpPr txBox="1">
            <a:spLocks noChangeArrowheads="1"/>
          </p:cNvSpPr>
          <p:nvPr/>
        </p:nvSpPr>
        <p:spPr bwMode="auto">
          <a:xfrm>
            <a:off x="289990" y="6199585"/>
            <a:ext cx="27879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Slide: Freeman &amp; Durand</a:t>
            </a:r>
          </a:p>
        </p:txBody>
      </p:sp>
    </p:spTree>
    <p:extLst>
      <p:ext uri="{BB962C8B-B14F-4D97-AF65-F5344CB8AC3E}">
        <p14:creationId xmlns:p14="http://schemas.microsoft.com/office/powerpoint/2010/main" val="2111458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Text Box 2"/>
          <p:cNvSpPr txBox="1">
            <a:spLocks noChangeArrowheads="1"/>
          </p:cNvSpPr>
          <p:nvPr/>
        </p:nvSpPr>
        <p:spPr bwMode="auto">
          <a:xfrm>
            <a:off x="948267" y="5373292"/>
            <a:ext cx="76051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Arial" pitchFamily="34" charset="0"/>
              </a:rPr>
              <a:t>This is the magnitude transform of the zebra pic</a:t>
            </a:r>
          </a:p>
        </p:txBody>
      </p:sp>
      <p:pic>
        <p:nvPicPr>
          <p:cNvPr id="35328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7189" y="495226"/>
            <a:ext cx="6387179" cy="4877990"/>
          </a:xfrm>
          <a:prstGeom prst="rect">
            <a:avLst/>
          </a:prstGeom>
          <a:noFill/>
        </p:spPr>
      </p:pic>
      <p:sp>
        <p:nvSpPr>
          <p:cNvPr id="353285" name="Text Box 5"/>
          <p:cNvSpPr txBox="1">
            <a:spLocks noChangeArrowheads="1"/>
          </p:cNvSpPr>
          <p:nvPr/>
        </p:nvSpPr>
        <p:spPr bwMode="auto">
          <a:xfrm>
            <a:off x="289990" y="6199585"/>
            <a:ext cx="27879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Slide: Freeman &amp; Durand</a:t>
            </a:r>
          </a:p>
        </p:txBody>
      </p:sp>
    </p:spTree>
    <p:extLst>
      <p:ext uri="{BB962C8B-B14F-4D97-AF65-F5344CB8AC3E}">
        <p14:creationId xmlns:p14="http://schemas.microsoft.com/office/powerpoint/2010/main" val="19410667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Text Box 2"/>
          <p:cNvSpPr txBox="1">
            <a:spLocks noChangeArrowheads="1"/>
          </p:cNvSpPr>
          <p:nvPr/>
        </p:nvSpPr>
        <p:spPr bwMode="auto">
          <a:xfrm>
            <a:off x="948267" y="5373292"/>
            <a:ext cx="76051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Arial" pitchFamily="34" charset="0"/>
              </a:rPr>
              <a:t>This is the phase transform of the zebra pic</a:t>
            </a:r>
          </a:p>
        </p:txBody>
      </p:sp>
      <p:pic>
        <p:nvPicPr>
          <p:cNvPr id="3543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495226"/>
            <a:ext cx="6408712" cy="4877990"/>
          </a:xfrm>
          <a:prstGeom prst="rect">
            <a:avLst/>
          </a:prstGeom>
          <a:noFill/>
        </p:spPr>
      </p:pic>
      <p:sp>
        <p:nvSpPr>
          <p:cNvPr id="354309" name="Text Box 5"/>
          <p:cNvSpPr txBox="1">
            <a:spLocks noChangeArrowheads="1"/>
          </p:cNvSpPr>
          <p:nvPr/>
        </p:nvSpPr>
        <p:spPr bwMode="auto">
          <a:xfrm>
            <a:off x="289990" y="6199585"/>
            <a:ext cx="27879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Slide: Freeman &amp; Durand</a:t>
            </a:r>
          </a:p>
        </p:txBody>
      </p:sp>
    </p:spTree>
    <p:extLst>
      <p:ext uri="{BB962C8B-B14F-4D97-AF65-F5344CB8AC3E}">
        <p14:creationId xmlns:p14="http://schemas.microsoft.com/office/powerpoint/2010/main" val="39203532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Text Box 2"/>
          <p:cNvSpPr txBox="1">
            <a:spLocks noChangeArrowheads="1"/>
          </p:cNvSpPr>
          <p:nvPr/>
        </p:nvSpPr>
        <p:spPr bwMode="auto">
          <a:xfrm>
            <a:off x="349255" y="5404248"/>
            <a:ext cx="851958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Arial" pitchFamily="34" charset="0"/>
              </a:rPr>
              <a:t>Reconstruction with zebra phase, cheetah magnitude</a:t>
            </a:r>
          </a:p>
        </p:txBody>
      </p:sp>
      <p:pic>
        <p:nvPicPr>
          <p:cNvPr id="3553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495227"/>
            <a:ext cx="6558715" cy="4877991"/>
          </a:xfrm>
          <a:prstGeom prst="rect">
            <a:avLst/>
          </a:prstGeom>
          <a:noFill/>
        </p:spPr>
      </p:pic>
      <p:sp>
        <p:nvSpPr>
          <p:cNvPr id="355333" name="Text Box 5"/>
          <p:cNvSpPr txBox="1">
            <a:spLocks noChangeArrowheads="1"/>
          </p:cNvSpPr>
          <p:nvPr/>
        </p:nvSpPr>
        <p:spPr bwMode="auto">
          <a:xfrm>
            <a:off x="289990" y="6199585"/>
            <a:ext cx="27879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Slide: Freeman &amp; Durand</a:t>
            </a:r>
          </a:p>
        </p:txBody>
      </p:sp>
    </p:spTree>
    <p:extLst>
      <p:ext uri="{BB962C8B-B14F-4D97-AF65-F5344CB8AC3E}">
        <p14:creationId xmlns:p14="http://schemas.microsoft.com/office/powerpoint/2010/main" val="27476080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Text Box 2"/>
          <p:cNvSpPr txBox="1">
            <a:spLocks noChangeArrowheads="1"/>
          </p:cNvSpPr>
          <p:nvPr/>
        </p:nvSpPr>
        <p:spPr bwMode="auto">
          <a:xfrm>
            <a:off x="349255" y="5404248"/>
            <a:ext cx="851958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Arial" pitchFamily="34" charset="0"/>
              </a:rPr>
              <a:t>Reconstruction with cheetah phase, zebra magnitude</a:t>
            </a:r>
          </a:p>
        </p:txBody>
      </p:sp>
      <p:pic>
        <p:nvPicPr>
          <p:cNvPr id="35635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495227"/>
            <a:ext cx="6552728" cy="4877991"/>
          </a:xfrm>
          <a:prstGeom prst="rect">
            <a:avLst/>
          </a:prstGeom>
          <a:noFill/>
        </p:spPr>
      </p:pic>
      <p:sp>
        <p:nvSpPr>
          <p:cNvPr id="356357" name="Text Box 5"/>
          <p:cNvSpPr txBox="1">
            <a:spLocks noChangeArrowheads="1"/>
          </p:cNvSpPr>
          <p:nvPr/>
        </p:nvSpPr>
        <p:spPr bwMode="auto">
          <a:xfrm>
            <a:off x="289990" y="6199585"/>
            <a:ext cx="27879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Slide: Freeman &amp; Durand</a:t>
            </a:r>
          </a:p>
        </p:txBody>
      </p:sp>
    </p:spTree>
    <p:extLst>
      <p:ext uri="{BB962C8B-B14F-4D97-AF65-F5344CB8AC3E}">
        <p14:creationId xmlns:p14="http://schemas.microsoft.com/office/powerpoint/2010/main" val="13738264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15416"/>
            <a:ext cx="9144000" cy="1143000"/>
          </a:xfrm>
        </p:spPr>
        <p:txBody>
          <a:bodyPr/>
          <a:lstStyle/>
          <a:p>
            <a:r>
              <a:rPr lang="en-US" altLang="en-US" b="1" dirty="0"/>
              <a:t>Fourier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7504" y="868548"/>
                <a:ext cx="9036496" cy="6304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altLang="en-US" b="1" dirty="0"/>
                  <a:t>Separability of the 2D transform:</a:t>
                </a:r>
              </a:p>
              <a:p>
                <a:r>
                  <a:rPr lang="en-US" altLang="en-US" i="1" dirty="0"/>
                  <a:t>      2D Transform  </a:t>
                </a:r>
                <a:r>
                  <a:rPr lang="en-US" altLang="en-US" sz="32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=</a:t>
                </a:r>
                <a:r>
                  <a:rPr lang="en-US" altLang="en-US" i="1" dirty="0"/>
                  <a:t>  successive applications of 1D transforms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altLang="en-US" b="1" dirty="0"/>
                  <a:t>Linearity:                       </a:t>
                </a:r>
                <a:r>
                  <a:rPr lang="en-US" altLang="en-US" i="1" dirty="0" err="1"/>
                  <a:t>f+g</a:t>
                </a:r>
                <a:r>
                  <a:rPr lang="en-US" altLang="en-US" i="1" dirty="0"/>
                  <a:t> </a:t>
                </a:r>
                <a14:m>
                  <m:oMath xmlns:m="http://schemas.openxmlformats.org/officeDocument/2006/math">
                    <m:r>
                      <a:rPr lang="en-US" altLang="en-US" i="1" smtClean="0">
                        <a:latin typeface="Cambria Math"/>
                        <a:ea typeface="Cambria Math"/>
                      </a:rPr>
                      <m:t>↔</m:t>
                    </m:r>
                  </m:oMath>
                </a14:m>
                <a:r>
                  <a:rPr lang="en-US" altLang="en-US" i="1" dirty="0"/>
                  <a:t> F+G    </a:t>
                </a:r>
                <a:br>
                  <a:rPr lang="en-US" altLang="en-US" i="1" dirty="0"/>
                </a:br>
                <a:r>
                  <a:rPr lang="en-US" altLang="en-US" i="1" dirty="0"/>
                  <a:t>                                           </a:t>
                </a:r>
                <a:r>
                  <a:rPr lang="en-US" altLang="en-US" i="1" dirty="0" err="1"/>
                  <a:t>af</a:t>
                </a:r>
                <a:r>
                  <a:rPr lang="en-US" altLang="en-US" i="1" dirty="0"/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/>
                        <a:ea typeface="Cambria Math"/>
                      </a:rPr>
                      <m:t>↔</m:t>
                    </m:r>
                  </m:oMath>
                </a14:m>
                <a:r>
                  <a:rPr lang="en-US" altLang="en-US" i="1" dirty="0"/>
                  <a:t> aF</a:t>
                </a:r>
                <a:br>
                  <a:rPr lang="en-US" altLang="en-US" i="1" dirty="0"/>
                </a:br>
                <a:endParaRPr lang="en-US" altLang="en-US" i="1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altLang="en-US" b="1" dirty="0"/>
                  <a:t>Image average:             </a:t>
                </a:r>
                <a:r>
                  <a:rPr lang="en-US" altLang="en-US" i="1" dirty="0"/>
                  <a:t>F(0,0) = </a:t>
                </a:r>
                <a:r>
                  <a:rPr lang="en-US" altLang="en-US" i="1" dirty="0" err="1"/>
                  <a:t>avg</a:t>
                </a:r>
                <a:r>
                  <a:rPr lang="en-US" altLang="en-US" i="1" dirty="0"/>
                  <a:t>( f(</a:t>
                </a:r>
                <a:r>
                  <a:rPr lang="en-US" altLang="en-US" i="1" dirty="0" err="1"/>
                  <a:t>x,y</a:t>
                </a:r>
                <a:r>
                  <a:rPr lang="en-US" altLang="en-US" i="1" dirty="0"/>
                  <a:t>) )</a:t>
                </a:r>
                <a:br>
                  <a:rPr lang="en-US" altLang="en-US" b="1" dirty="0"/>
                </a:br>
                <a:endParaRPr lang="en-US" altLang="en-US" b="1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altLang="en-US" b="1" dirty="0"/>
                  <a:t>Shift </a:t>
                </a:r>
                <a:r>
                  <a:rPr lang="en-US" altLang="en-US" b="1" dirty="0">
                    <a:sym typeface="Wingdings" pitchFamily="2" charset="2"/>
                  </a:rPr>
                  <a:t> phase-change:   </a:t>
                </a:r>
                <a:r>
                  <a:rPr lang="en-US" altLang="en-US" i="1" dirty="0"/>
                  <a:t>g(x)=f(</a:t>
                </a:r>
                <a:r>
                  <a:rPr lang="en-US" altLang="en-US" i="1" dirty="0" err="1"/>
                  <a:t>x+a</a:t>
                </a:r>
                <a:r>
                  <a:rPr lang="en-US" altLang="en-US" i="1" dirty="0"/>
                  <a:t>) </a:t>
                </a:r>
                <a:r>
                  <a:rPr lang="en-US" alt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/>
                        <a:ea typeface="Cambria Math"/>
                      </a:rPr>
                      <m:t>↔</m:t>
                    </m:r>
                  </m:oMath>
                </a14:m>
                <a:r>
                  <a:rPr lang="en-US" altLang="en-US" i="1" dirty="0"/>
                  <a:t> G(u)=F(u)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en-US" i="1">
                            <a:latin typeface="Cambria Math"/>
                          </a:rPr>
                          <m:t>2</m:t>
                        </m:r>
                        <m:r>
                          <a:rPr lang="en-US" altLang="en-US" i="1">
                            <a:latin typeface="Cambria Math"/>
                          </a:rPr>
                          <m:t>𝜋</m:t>
                        </m:r>
                        <m:r>
                          <a:rPr lang="en-US" altLang="en-US" i="1">
                            <a:latin typeface="Cambria Math"/>
                          </a:rPr>
                          <m:t>𝑖𝑢𝑎</m:t>
                        </m:r>
                      </m:sup>
                    </m:sSup>
                    <m:r>
                      <m:rPr>
                        <m:nor/>
                      </m:rPr>
                      <a:rPr lang="en-US" altLang="en-US" i="0" smtClean="0"/>
                      <m:t> </m:t>
                    </m:r>
                  </m:oMath>
                </a14:m>
                <a:br>
                  <a:rPr lang="en-US" altLang="en-US" i="1" dirty="0"/>
                </a:br>
                <a:br>
                  <a:rPr lang="en-US" altLang="en-US" i="1" dirty="0"/>
                </a:br>
                <a:r>
                  <a:rPr lang="en-US" altLang="en-US" i="1" dirty="0"/>
                  <a:t>                                                                    G(u)=F(u)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en-US" i="1">
                            <a:latin typeface="Cambria Math"/>
                          </a:rPr>
                          <m:t>2</m:t>
                        </m:r>
                        <m:r>
                          <a:rPr lang="en-US" altLang="en-US" i="1">
                            <a:latin typeface="Cambria Math"/>
                          </a:rPr>
                          <m:t>𝜋</m:t>
                        </m:r>
                        <m:r>
                          <a:rPr lang="en-US" altLang="en-US" i="1">
                            <a:latin typeface="Cambria Math"/>
                          </a:rPr>
                          <m:t>𝑖𝑢𝑎</m:t>
                        </m:r>
                        <m:r>
                          <a:rPr lang="en-US" altLang="en-US" b="0" i="1" smtClean="0">
                            <a:latin typeface="Cambria Math"/>
                          </a:rPr>
                          <m:t>/</m:t>
                        </m:r>
                        <m:r>
                          <a:rPr lang="en-US" altLang="en-US" b="0" i="1" smtClean="0">
                            <a:latin typeface="Cambria Math"/>
                          </a:rPr>
                          <m:t>𝑁</m:t>
                        </m:r>
                      </m:sup>
                    </m:sSup>
                  </m:oMath>
                </a14:m>
                <a:br>
                  <a:rPr lang="en-US" altLang="en-US" i="1" dirty="0"/>
                </a:br>
                <a:r>
                  <a:rPr lang="en-US" altLang="en-US" i="1" dirty="0"/>
                  <a:t>                                                                 </a:t>
                </a:r>
              </a:p>
              <a:p>
                <a:r>
                  <a:rPr lang="en-US" altLang="en-US" i="1" dirty="0">
                    <a:solidFill>
                      <a:srgbClr val="FF0000"/>
                    </a:solidFill>
                  </a:rPr>
                  <a:t>* Same magnitude; only phase shift.</a:t>
                </a:r>
              </a:p>
              <a:p>
                <a:r>
                  <a:rPr lang="en-US" altLang="en-US" i="1" dirty="0">
                    <a:solidFill>
                      <a:srgbClr val="FF0000"/>
                    </a:solidFill>
                  </a:rPr>
                  <a:t>* Can be used to recover shift (</a:t>
                </a:r>
                <a:r>
                  <a:rPr lang="en-US" altLang="en-US" i="1" dirty="0" err="1">
                    <a:solidFill>
                      <a:srgbClr val="FF0000"/>
                    </a:solidFill>
                  </a:rPr>
                  <a:t>a,b</a:t>
                </a:r>
                <a:r>
                  <a:rPr lang="en-US" altLang="en-US" i="1" dirty="0">
                    <a:solidFill>
                      <a:srgbClr val="FF0000"/>
                    </a:solidFill>
                  </a:rPr>
                  <a:t>) between two images f(</a:t>
                </a:r>
                <a:r>
                  <a:rPr lang="en-US" altLang="en-US" i="1" dirty="0" err="1">
                    <a:solidFill>
                      <a:srgbClr val="FF0000"/>
                    </a:solidFill>
                  </a:rPr>
                  <a:t>x,y</a:t>
                </a:r>
                <a:r>
                  <a:rPr lang="en-US" altLang="en-US" i="1" dirty="0">
                    <a:solidFill>
                      <a:srgbClr val="FF0000"/>
                    </a:solidFill>
                  </a:rPr>
                  <a:t>) &amp; g(</a:t>
                </a:r>
                <a:r>
                  <a:rPr lang="en-US" altLang="en-US" i="1" dirty="0" err="1">
                    <a:solidFill>
                      <a:srgbClr val="FF0000"/>
                    </a:solidFill>
                  </a:rPr>
                  <a:t>x,y</a:t>
                </a:r>
                <a:r>
                  <a:rPr lang="en-US" altLang="en-US" i="1" dirty="0">
                    <a:solidFill>
                      <a:srgbClr val="FF0000"/>
                    </a:solidFill>
                  </a:rPr>
                  <a:t>):   </a:t>
                </a:r>
              </a:p>
              <a:p>
                <a:r>
                  <a:rPr lang="en-US" altLang="en-US" i="1" dirty="0">
                    <a:solidFill>
                      <a:srgbClr val="FF0000"/>
                    </a:solidFill>
                  </a:rPr>
                  <a:t>     G(</a:t>
                </a:r>
                <a:r>
                  <a:rPr lang="en-US" altLang="en-US" i="1" dirty="0" err="1">
                    <a:solidFill>
                      <a:srgbClr val="FF0000"/>
                    </a:solidFill>
                  </a:rPr>
                  <a:t>u,v</a:t>
                </a:r>
                <a:r>
                  <a:rPr lang="en-US" altLang="en-US" i="1" dirty="0">
                    <a:solidFill>
                      <a:srgbClr val="FF0000"/>
                    </a:solidFill>
                  </a:rPr>
                  <a:t>)/F(u,v)=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𝜋</m:t>
                        </m:r>
                        <m:r>
                          <a:rPr lang="en-US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𝑢</m:t>
                            </m:r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𝑁</m:t>
                            </m:r>
                          </m:den>
                        </m:f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𝑣𝑏</m:t>
                            </m:r>
                          </m:num>
                          <m:den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𝑀</m:t>
                            </m:r>
                          </m:den>
                        </m:f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en-US" i="1" dirty="0">
                    <a:solidFill>
                      <a:srgbClr val="FF0000"/>
                    </a:solidFill>
                  </a:rPr>
                  <a:t> </a:t>
                </a:r>
                <a:br>
                  <a:rPr lang="en-US" altLang="en-US" i="1" dirty="0">
                    <a:solidFill>
                      <a:srgbClr val="FF0000"/>
                    </a:solidFill>
                  </a:rPr>
                </a:br>
                <a:endParaRPr lang="en-US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868548"/>
                <a:ext cx="9036496" cy="6304868"/>
              </a:xfrm>
              <a:prstGeom prst="rect">
                <a:avLst/>
              </a:prstGeom>
              <a:blipFill rotWithShape="1">
                <a:blip r:embed="rId3"/>
                <a:stretch>
                  <a:fillRect l="-1080" t="-773" r="-2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7210714" y="3573016"/>
            <a:ext cx="2473854" cy="1728192"/>
            <a:chOff x="7210714" y="3573016"/>
            <a:chExt cx="2473854" cy="17281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/>
                <p:cNvSpPr/>
                <p:nvPr/>
              </p:nvSpPr>
              <p:spPr>
                <a:xfrm>
                  <a:off x="7210714" y="3573016"/>
                  <a:ext cx="2286000" cy="461665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nor/>
                          </m:rPr>
                          <a:rPr lang="en-US" altLang="en-US" i="0" dirty="0" smtClean="0">
                            <a:solidFill>
                              <a:srgbClr val="FF0000"/>
                            </a:solidFill>
                          </a:rPr>
                          <m:t>(continuous)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Rectangle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0714" y="3573016"/>
                  <a:ext cx="2286000" cy="46166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7398568" y="4839543"/>
                  <a:ext cx="2286000" cy="461665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nor/>
                          </m:rPr>
                          <a:rPr lang="en-US" altLang="en-US" i="0" dirty="0" smtClean="0">
                            <a:solidFill>
                              <a:srgbClr val="FF000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en-US" b="0" i="0" dirty="0" smtClean="0">
                            <a:solidFill>
                              <a:srgbClr val="FF0000"/>
                            </a:solidFill>
                          </a:rPr>
                          <m:t>discrete</m:t>
                        </m:r>
                        <m:r>
                          <m:rPr>
                            <m:nor/>
                          </m:rPr>
                          <a:rPr lang="en-US" altLang="en-US" i="0" dirty="0" smtClean="0">
                            <a:solidFill>
                              <a:srgbClr val="FF0000"/>
                            </a:solidFill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8568" y="4839543"/>
                  <a:ext cx="2286000" cy="46166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/>
          <p:cNvGrpSpPr/>
          <p:nvPr/>
        </p:nvGrpSpPr>
        <p:grpSpPr>
          <a:xfrm>
            <a:off x="5580112" y="5239264"/>
            <a:ext cx="1988108" cy="590873"/>
            <a:chOff x="5479987" y="4854351"/>
            <a:chExt cx="1988108" cy="590873"/>
          </a:xfrm>
        </p:grpSpPr>
        <p:sp>
          <p:nvSpPr>
            <p:cNvPr id="4" name="Down Arrow 3"/>
            <p:cNvSpPr/>
            <p:nvPr/>
          </p:nvSpPr>
          <p:spPr bwMode="auto">
            <a:xfrm>
              <a:off x="6344083" y="4854351"/>
              <a:ext cx="288032" cy="230833"/>
            </a:xfrm>
            <a:prstGeom prst="down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5479987" y="4983559"/>
                  <a:ext cx="198810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en-US" i="0" dirty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en-US" i="0" dirty="0"/>
                            <m:t>G(</m:t>
                          </m:r>
                          <m:r>
                            <m:rPr>
                              <m:nor/>
                            </m:rPr>
                            <a:rPr lang="en-US" altLang="en-US" b="0" i="0" dirty="0" smtClean="0"/>
                            <m:t>u</m:t>
                          </m:r>
                          <m:r>
                            <m:rPr>
                              <m:nor/>
                            </m:rPr>
                            <a:rPr lang="en-US" altLang="en-US" i="0" dirty="0"/>
                            <m:t>)</m:t>
                          </m:r>
                        </m:e>
                      </m:d>
                    </m:oMath>
                  </a14:m>
                  <a:r>
                    <a:rPr lang="en-US" altLang="en-US" i="1" dirty="0"/>
                    <a:t>=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en-US" i="0" dirty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en-US" i="0" dirty="0"/>
                            <m:t>F(</m:t>
                          </m:r>
                          <m:r>
                            <m:rPr>
                              <m:nor/>
                            </m:rPr>
                            <a:rPr lang="en-US" altLang="en-US" b="0" i="0" dirty="0" smtClean="0"/>
                            <m:t>u</m:t>
                          </m:r>
                          <m:r>
                            <m:rPr>
                              <m:nor/>
                            </m:rPr>
                            <a:rPr lang="en-US" altLang="en-US" i="0" dirty="0"/>
                            <m:t>)</m:t>
                          </m:r>
                        </m:e>
                      </m:d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987" y="4983559"/>
                  <a:ext cx="1988108" cy="46166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10667" b="-3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Rectangle 6"/>
          <p:cNvSpPr/>
          <p:nvPr/>
        </p:nvSpPr>
        <p:spPr>
          <a:xfrm>
            <a:off x="5364088" y="6237312"/>
            <a:ext cx="1683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en-US" i="1" dirty="0">
                <a:solidFill>
                  <a:srgbClr val="FF0000"/>
                </a:solidFill>
              </a:rPr>
              <a:t>δ</a:t>
            </a:r>
            <a:r>
              <a:rPr lang="en-US" altLang="en-US" i="1" dirty="0">
                <a:solidFill>
                  <a:srgbClr val="FF0000"/>
                </a:solidFill>
              </a:rPr>
              <a:t>(</a:t>
            </a:r>
            <a:r>
              <a:rPr lang="en-US" altLang="en-US" i="1" dirty="0" err="1">
                <a:solidFill>
                  <a:srgbClr val="FF0000"/>
                </a:solidFill>
              </a:rPr>
              <a:t>x+a,y+b</a:t>
            </a:r>
            <a:r>
              <a:rPr lang="en-US" altLang="en-US" i="1" dirty="0">
                <a:solidFill>
                  <a:srgbClr val="FF0000"/>
                </a:solidFill>
              </a:rPr>
              <a:t>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ight Arrow 8"/>
              <p:cNvSpPr/>
              <p:nvPr/>
            </p:nvSpPr>
            <p:spPr bwMode="auto">
              <a:xfrm>
                <a:off x="4185498" y="6165304"/>
                <a:ext cx="1106582" cy="560566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ts val="23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𝐹𝐹𝑇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9" name="Right Arrow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85498" y="6165304"/>
                <a:ext cx="1106582" cy="560566"/>
              </a:xfrm>
              <a:prstGeom prst="rightArrow">
                <a:avLst/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1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15416"/>
            <a:ext cx="9144000" cy="1143000"/>
          </a:xfrm>
        </p:spPr>
        <p:txBody>
          <a:bodyPr/>
          <a:lstStyle/>
          <a:p>
            <a:r>
              <a:rPr lang="en-US" altLang="en-US" b="1" dirty="0"/>
              <a:t>Fourier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7504" y="1450799"/>
                <a:ext cx="9036496" cy="52464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altLang="en-US" b="1" dirty="0"/>
                  <a:t>Scaling/Shrinking:       </a:t>
                </a:r>
                <a:r>
                  <a:rPr lang="en-US" altLang="en-US" i="1" dirty="0"/>
                  <a:t>f(ax)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/>
                      </a:rPr>
                      <m:t>↔</m:t>
                    </m:r>
                  </m:oMath>
                </a14:m>
                <a:r>
                  <a:rPr lang="en-US" altLang="en-US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en-US" i="0" dirty="0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en-US" i="0" dirty="0"/>
                              <m:t>a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en-US" i="1" dirty="0"/>
                  <a:t> 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b="0" i="0" dirty="0" smtClean="0"/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altLang="en-US" b="0" i="0" dirty="0" smtClean="0"/>
                              <m:t>u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altLang="en-US" i="0" dirty="0"/>
                              <m:t>a</m:t>
                            </m:r>
                          </m:den>
                        </m:f>
                      </m:e>
                    </m:d>
                  </m:oMath>
                </a14:m>
                <a:br>
                  <a:rPr lang="en-US" altLang="en-US" i="1" dirty="0"/>
                </a:br>
                <a:endParaRPr lang="en-US" altLang="en-US" b="1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altLang="en-US" b="1" dirty="0"/>
                  <a:t>Derivative:</a:t>
                </a:r>
                <a:r>
                  <a:rPr lang="en-US" altLang="en-US" dirty="0"/>
                  <a:t>   </a:t>
                </a:r>
                <a:r>
                  <a:rPr lang="en-US" altLang="en-US" i="1" dirty="0"/>
                  <a:t>g(x)=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en-US" i="1" smtClean="0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altLang="en-US" i="1" smtClean="0">
                            <a:latin typeface="Cambria Math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altLang="en-US" i="1" dirty="0"/>
                  <a:t> f(x) </a:t>
                </a:r>
                <a:r>
                  <a:rPr lang="en-US" alt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/>
                        <a:ea typeface="Cambria Math"/>
                      </a:rPr>
                      <m:t>↔</m:t>
                    </m:r>
                  </m:oMath>
                </a14:m>
                <a:r>
                  <a:rPr lang="en-US" altLang="en-US" i="1" dirty="0"/>
                  <a:t> G(u)=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/>
                      </a:rPr>
                      <m:t> </m:t>
                    </m:r>
                    <m:r>
                      <a:rPr lang="en-US" altLang="en-US" i="1">
                        <a:latin typeface="Cambria Math"/>
                      </a:rPr>
                      <m:t>2</m:t>
                    </m:r>
                    <m:r>
                      <a:rPr lang="en-US" altLang="en-US" i="1">
                        <a:latin typeface="Cambria Math"/>
                      </a:rPr>
                      <m:t>𝜋</m:t>
                    </m:r>
                    <m:r>
                      <a:rPr lang="en-US" altLang="en-US" i="1">
                        <a:latin typeface="Cambria Math"/>
                      </a:rPr>
                      <m:t>𝑖</m:t>
                    </m:r>
                    <m:r>
                      <a:rPr lang="en-US" alt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en-US" i="1" dirty="0"/>
                  <a:t>u</a:t>
                </a:r>
                <a:r>
                  <a:rPr lang="el-GR" altLang="en-US" i="1" dirty="0"/>
                  <a:t> </a:t>
                </a:r>
                <a:r>
                  <a:rPr lang="en-US" altLang="en-US" i="1" dirty="0"/>
                  <a:t>F(u)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i="0"/>
                      <m:t> </m:t>
                    </m:r>
                  </m:oMath>
                </a14:m>
                <a:endParaRPr lang="en-US" altLang="en-US" i="1" dirty="0"/>
              </a:p>
              <a:p>
                <a:r>
                  <a:rPr lang="en-US" altLang="en-US" i="1" dirty="0">
                    <a:solidFill>
                      <a:srgbClr val="FF0000"/>
                    </a:solidFill>
                  </a:rPr>
                  <a:t>      * G(0)=0.</a:t>
                </a:r>
              </a:p>
              <a:p>
                <a:r>
                  <a:rPr lang="en-US" altLang="en-US" i="1" dirty="0">
                    <a:solidFill>
                      <a:srgbClr val="FF0000"/>
                    </a:solidFill>
                  </a:rPr>
                  <a:t>      * Taking the derivative increases high frequencies (noise, edges)</a:t>
                </a:r>
                <a:endParaRPr lang="en-US" altLang="en-US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r>
                  <a:rPr lang="en-US" altLang="en-US" i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     * Behaves like a high-pass filter (HPF).</a:t>
                </a:r>
                <a:br>
                  <a:rPr lang="en-US" altLang="en-US" dirty="0"/>
                </a:br>
                <a:endParaRPr lang="en-US" altLang="en-US" b="1" dirty="0"/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altLang="en-US" b="1" dirty="0">
                    <a:sym typeface="Wingdings" pitchFamily="2" charset="2"/>
                  </a:rPr>
                  <a:t>Rotation:     </a:t>
                </a:r>
                <a:r>
                  <a:rPr lang="en-US" altLang="en-US" i="1" dirty="0">
                    <a:sym typeface="Wingdings" pitchFamily="2" charset="2"/>
                  </a:rPr>
                  <a:t>rotation of  </a:t>
                </a:r>
                <a:r>
                  <a:rPr lang="en-US" altLang="en-US" i="1" dirty="0"/>
                  <a:t>f(</a:t>
                </a:r>
                <a:r>
                  <a:rPr lang="en-US" altLang="en-US" i="1" dirty="0" err="1"/>
                  <a:t>x,y</a:t>
                </a:r>
                <a:r>
                  <a:rPr lang="en-US" altLang="en-US" i="1" dirty="0"/>
                  <a:t>) by </a:t>
                </a:r>
                <a:r>
                  <a:rPr lang="el-GR" altLang="en-US" i="1" dirty="0"/>
                  <a:t>θ</a:t>
                </a:r>
                <a:r>
                  <a:rPr lang="en-US" altLang="en-US" i="1" dirty="0"/>
                  <a:t>  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/>
                        <a:ea typeface="Cambria Math"/>
                      </a:rPr>
                      <m:t>↔</m:t>
                    </m:r>
                  </m:oMath>
                </a14:m>
                <a:r>
                  <a:rPr lang="en-US" altLang="en-US" i="1" dirty="0"/>
                  <a:t>   </a:t>
                </a:r>
                <a:r>
                  <a:rPr lang="en-US" altLang="en-US" i="1" dirty="0">
                    <a:sym typeface="Wingdings" pitchFamily="2" charset="2"/>
                  </a:rPr>
                  <a:t>rotation of  </a:t>
                </a:r>
                <a:r>
                  <a:rPr lang="en-US" altLang="en-US" i="1" dirty="0"/>
                  <a:t>F(</a:t>
                </a:r>
                <a:r>
                  <a:rPr lang="en-US" altLang="en-US" i="1" dirty="0" err="1"/>
                  <a:t>u,v</a:t>
                </a:r>
                <a:r>
                  <a:rPr lang="en-US" altLang="en-US" i="1" dirty="0"/>
                  <a:t>) by </a:t>
                </a:r>
                <a:r>
                  <a:rPr lang="el-GR" altLang="en-US" i="1" dirty="0"/>
                  <a:t>θ</a:t>
                </a:r>
                <a:r>
                  <a:rPr lang="en-US" altLang="en-US" i="1" dirty="0"/>
                  <a:t> </a:t>
                </a:r>
                <a:br>
                  <a:rPr lang="en-US" altLang="en-US" i="1" dirty="0"/>
                </a:br>
                <a:r>
                  <a:rPr lang="en-US" altLang="en-US" i="1" dirty="0"/>
                  <a:t>                     (can be shown using polar coordinates)</a:t>
                </a:r>
                <a:br>
                  <a:rPr lang="en-US" altLang="en-US" b="1" dirty="0">
                    <a:sym typeface="Wingdings" pitchFamily="2" charset="2"/>
                  </a:rPr>
                </a:br>
                <a:endParaRPr lang="en-US" altLang="en-US" b="1" dirty="0">
                  <a:sym typeface="Wingdings" pitchFamily="2" charset="2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b="1" dirty="0"/>
                  <a:t>Principle of Uncertainty: </a:t>
                </a:r>
                <a:r>
                  <a:rPr lang="en-US" dirty="0"/>
                  <a:t>No meaning to “</a:t>
                </a:r>
                <a:r>
                  <a:rPr lang="en-US" i="1" dirty="0"/>
                  <a:t>a frequency at a point” </a:t>
                </a:r>
                <a:r>
                  <a:rPr lang="en-US" dirty="0"/>
                  <a:t>!</a:t>
                </a:r>
                <a:endParaRPr lang="en-US" b="1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altLang="en-US" i="1" dirty="0"/>
                  <a:t>every value f(x) contributes to all frequencies F(u)</a:t>
                </a:r>
                <a:endParaRPr lang="en-US" altLang="en-US" b="1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altLang="en-US" i="1" dirty="0"/>
                  <a:t>every frequency F(u) contributes to all values f(x)</a:t>
                </a:r>
                <a:endParaRPr lang="en-US" altLang="en-US" b="1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450799"/>
                <a:ext cx="9036496" cy="5246436"/>
              </a:xfrm>
              <a:prstGeom prst="rect">
                <a:avLst/>
              </a:prstGeom>
              <a:blipFill rotWithShape="1">
                <a:blip r:embed="rId3"/>
                <a:stretch>
                  <a:fillRect l="-945" r="-540" b="-1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7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5" name="Rectangle 3"/>
          <p:cNvSpPr>
            <a:spLocks noChangeArrowheads="1"/>
          </p:cNvSpPr>
          <p:nvPr/>
        </p:nvSpPr>
        <p:spPr bwMode="auto">
          <a:xfrm>
            <a:off x="935319" y="44624"/>
            <a:ext cx="759712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Fast Fourier Transform - FFT</a:t>
            </a:r>
          </a:p>
        </p:txBody>
      </p:sp>
      <p:grpSp>
        <p:nvGrpSpPr>
          <p:cNvPr id="269316" name="Group 4"/>
          <p:cNvGrpSpPr>
            <a:grpSpLocks/>
          </p:cNvGrpSpPr>
          <p:nvPr/>
        </p:nvGrpSpPr>
        <p:grpSpPr bwMode="auto">
          <a:xfrm>
            <a:off x="971600" y="908264"/>
            <a:ext cx="5564981" cy="640556"/>
            <a:chOff x="292" y="842"/>
            <a:chExt cx="3077" cy="538"/>
          </a:xfrm>
        </p:grpSpPr>
        <p:sp>
          <p:nvSpPr>
            <p:cNvPr id="269319" name="Rectangle 7"/>
            <p:cNvSpPr>
              <a:spLocks noChangeArrowheads="1"/>
            </p:cNvSpPr>
            <p:nvPr/>
          </p:nvSpPr>
          <p:spPr bwMode="auto">
            <a:xfrm>
              <a:off x="292" y="846"/>
              <a:ext cx="3077" cy="53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69317" name="Rectangle 5"/>
            <p:cNvSpPr>
              <a:spLocks noChangeArrowheads="1"/>
            </p:cNvSpPr>
            <p:nvPr/>
          </p:nvSpPr>
          <p:spPr bwMode="auto">
            <a:xfrm>
              <a:off x="2243" y="994"/>
              <a:ext cx="1126" cy="3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dirty="0">
                  <a:solidFill>
                    <a:srgbClr val="000000"/>
                  </a:solidFill>
                  <a:latin typeface="Arial" pitchFamily="34" charset="0"/>
                </a:rPr>
                <a:t>u = 0, 1, 2, ..., N-1</a:t>
              </a:r>
            </a:p>
          </p:txBody>
        </p:sp>
        <p:graphicFrame>
          <p:nvGraphicFramePr>
            <p:cNvPr id="269318" name="Object 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13" y="842"/>
            <a:ext cx="1471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349360" imgH="863280" progId="Equation.3">
                    <p:embed/>
                  </p:oleObj>
                </mc:Choice>
                <mc:Fallback>
                  <p:oleObj name="Equation" r:id="rId3" imgW="2349360" imgH="86328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" y="842"/>
                          <a:ext cx="1471" cy="5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9320" name="Rectangle 8"/>
          <p:cNvSpPr>
            <a:spLocks noChangeArrowheads="1"/>
          </p:cNvSpPr>
          <p:nvPr/>
        </p:nvSpPr>
        <p:spPr bwMode="auto">
          <a:xfrm>
            <a:off x="6588224" y="913026"/>
            <a:ext cx="2267744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Arial" pitchFamily="34" charset="0"/>
              </a:rPr>
              <a:t>O(N</a:t>
            </a:r>
            <a:r>
              <a:rPr lang="en-US" sz="1800" baseline="30000" dirty="0">
                <a:solidFill>
                  <a:srgbClr val="000000"/>
                </a:solidFill>
                <a:latin typeface="Arial" pitchFamily="34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</a:rPr>
              <a:t>)  operations, </a:t>
            </a:r>
            <a:br>
              <a:rPr lang="en-US" sz="1800" dirty="0">
                <a:solidFill>
                  <a:srgbClr val="000000"/>
                </a:solidFill>
                <a:latin typeface="Arial" pitchFamily="34" charset="0"/>
              </a:rPr>
            </a:br>
            <a:r>
              <a:rPr lang="en-US" sz="1800" dirty="0">
                <a:solidFill>
                  <a:srgbClr val="000000"/>
                </a:solidFill>
                <a:latin typeface="Arial" pitchFamily="34" charset="0"/>
              </a:rPr>
              <a:t>if performed as is</a:t>
            </a:r>
          </a:p>
        </p:txBody>
      </p:sp>
      <p:graphicFrame>
        <p:nvGraphicFramePr>
          <p:cNvPr id="269321" name="Object 9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1039516"/>
              </p:ext>
            </p:extLst>
          </p:nvPr>
        </p:nvGraphicFramePr>
        <p:xfrm>
          <a:off x="971789" y="2162249"/>
          <a:ext cx="7366000" cy="58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37160" imgH="799920" progId="Equation.3">
                  <p:embed/>
                </p:oleObj>
              </mc:Choice>
              <mc:Fallback>
                <p:oleObj name="Equation" r:id="rId5" imgW="5537160" imgH="7999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789" y="2162249"/>
                        <a:ext cx="7366000" cy="58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2" name="Rectangle 10"/>
          <p:cNvSpPr>
            <a:spLocks noChangeArrowheads="1"/>
          </p:cNvSpPr>
          <p:nvPr/>
        </p:nvSpPr>
        <p:spPr bwMode="auto">
          <a:xfrm>
            <a:off x="628972" y="4725144"/>
            <a:ext cx="8191500" cy="14747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Arial" pitchFamily="34" charset="0"/>
              </a:rPr>
              <a:t>The Fourier transform of N inputs, can be performed as 2 Fourier Transforms of N/2 inputs each + one complex multiplication and addition for each value.</a:t>
            </a:r>
          </a:p>
          <a:p>
            <a:r>
              <a:rPr lang="en-US" sz="1800" dirty="0">
                <a:solidFill>
                  <a:srgbClr val="000000"/>
                </a:solidFill>
                <a:latin typeface="Arial" pitchFamily="34" charset="0"/>
              </a:rPr>
              <a:t>Thus, if F(N) is the  computation complexity of FFT:</a:t>
            </a:r>
          </a:p>
          <a:p>
            <a:endParaRPr lang="en-US" sz="1800" dirty="0">
              <a:solidFill>
                <a:srgbClr val="000000"/>
              </a:solidFill>
              <a:latin typeface="Arial" pitchFamily="34" charset="0"/>
            </a:endParaRPr>
          </a:p>
          <a:p>
            <a:pPr algn="ctr"/>
            <a:r>
              <a:rPr lang="en-US" sz="1800" dirty="0">
                <a:solidFill>
                  <a:srgbClr val="000000"/>
                </a:solidFill>
                <a:latin typeface="Arial" pitchFamily="34" charset="0"/>
              </a:rPr>
              <a:t>F(N)=F(N/2)+F(N/2)+O(N) 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sym typeface="Symbol" pitchFamily="18" charset="2"/>
              </a:rPr>
              <a:t> F(N)=N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sym typeface="Symbol" pitchFamily="18" charset="2"/>
              </a:rPr>
              <a:t>logN</a:t>
            </a:r>
            <a:endParaRPr lang="en-US" sz="1800" dirty="0">
              <a:solidFill>
                <a:srgbClr val="000000"/>
              </a:solidFill>
              <a:latin typeface="Arial" pitchFamily="34" charset="0"/>
              <a:sym typeface="Symbol" pitchFamily="18" charset="2"/>
            </a:endParaRPr>
          </a:p>
        </p:txBody>
      </p:sp>
      <p:sp>
        <p:nvSpPr>
          <p:cNvPr id="269323" name="Rectangle 11"/>
          <p:cNvSpPr>
            <a:spLocks noChangeArrowheads="1"/>
          </p:cNvSpPr>
          <p:nvPr/>
        </p:nvSpPr>
        <p:spPr bwMode="auto">
          <a:xfrm>
            <a:off x="2364556" y="2875434"/>
            <a:ext cx="712054" cy="307777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pitchFamily="34" charset="0"/>
              </a:rPr>
              <a:t>even x</a:t>
            </a:r>
          </a:p>
        </p:txBody>
      </p:sp>
      <p:sp>
        <p:nvSpPr>
          <p:cNvPr id="269324" name="Rectangle 12"/>
          <p:cNvSpPr>
            <a:spLocks noChangeArrowheads="1"/>
          </p:cNvSpPr>
          <p:nvPr/>
        </p:nvSpPr>
        <p:spPr bwMode="auto">
          <a:xfrm>
            <a:off x="5704656" y="2875434"/>
            <a:ext cx="622286" cy="307777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pitchFamily="34" charset="0"/>
              </a:rPr>
              <a:t>odd x</a:t>
            </a:r>
          </a:p>
        </p:txBody>
      </p:sp>
      <p:sp>
        <p:nvSpPr>
          <p:cNvPr id="269325" name="AutoShape 13"/>
          <p:cNvSpPr>
            <a:spLocks/>
          </p:cNvSpPr>
          <p:nvPr/>
        </p:nvSpPr>
        <p:spPr bwMode="auto">
          <a:xfrm rot="5400000">
            <a:off x="6051128" y="2014213"/>
            <a:ext cx="107156" cy="1727200"/>
          </a:xfrm>
          <a:prstGeom prst="rightBrace">
            <a:avLst>
              <a:gd name="adj1" fmla="val 75556"/>
              <a:gd name="adj2" fmla="val 50000"/>
            </a:avLst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69326" name="AutoShape 14"/>
          <p:cNvSpPr>
            <a:spLocks/>
          </p:cNvSpPr>
          <p:nvPr/>
        </p:nvSpPr>
        <p:spPr bwMode="auto">
          <a:xfrm rot="5400000">
            <a:off x="2736428" y="2014213"/>
            <a:ext cx="107156" cy="1727200"/>
          </a:xfrm>
          <a:prstGeom prst="rightBrace">
            <a:avLst>
              <a:gd name="adj1" fmla="val 75556"/>
              <a:gd name="adj2" fmla="val 50000"/>
            </a:avLst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graphicFrame>
        <p:nvGraphicFramePr>
          <p:cNvPr id="269327" name="Object 15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1887877"/>
              </p:ext>
            </p:extLst>
          </p:nvPr>
        </p:nvGraphicFramePr>
        <p:xfrm>
          <a:off x="940040" y="3069507"/>
          <a:ext cx="7736416" cy="645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816520" imgH="876240" progId="Equation.3">
                  <p:embed/>
                </p:oleObj>
              </mc:Choice>
              <mc:Fallback>
                <p:oleObj name="Equation" r:id="rId7" imgW="5816520" imgH="8762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040" y="3069507"/>
                        <a:ext cx="7736416" cy="645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8" name="AutoShape 16"/>
          <p:cNvSpPr>
            <a:spLocks/>
          </p:cNvSpPr>
          <p:nvPr/>
        </p:nvSpPr>
        <p:spPr bwMode="auto">
          <a:xfrm rot="5400000">
            <a:off x="2798146" y="2556941"/>
            <a:ext cx="148829" cy="2400300"/>
          </a:xfrm>
          <a:prstGeom prst="rightBrace">
            <a:avLst>
              <a:gd name="adj1" fmla="val 75600"/>
              <a:gd name="adj2" fmla="val 50000"/>
            </a:avLst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69329" name="AutoShape 17"/>
          <p:cNvSpPr>
            <a:spLocks/>
          </p:cNvSpPr>
          <p:nvPr/>
        </p:nvSpPr>
        <p:spPr bwMode="auto">
          <a:xfrm rot="5400000">
            <a:off x="6684347" y="2556941"/>
            <a:ext cx="148829" cy="2400300"/>
          </a:xfrm>
          <a:prstGeom prst="rightBrace">
            <a:avLst>
              <a:gd name="adj1" fmla="val 75600"/>
              <a:gd name="adj2" fmla="val 50000"/>
            </a:avLst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69330" name="Rectangle 18"/>
          <p:cNvSpPr>
            <a:spLocks noChangeArrowheads="1"/>
          </p:cNvSpPr>
          <p:nvPr/>
        </p:nvSpPr>
        <p:spPr bwMode="auto">
          <a:xfrm>
            <a:off x="2199467" y="3906517"/>
            <a:ext cx="1803378" cy="458587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</a:rPr>
              <a:t>Fourier Transform of</a:t>
            </a: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</a:rPr>
              <a:t>of N/2 even points</a:t>
            </a:r>
            <a:endParaRPr lang="en-US" sz="1800" baseline="-250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69331" name="Rectangle 19"/>
          <p:cNvSpPr>
            <a:spLocks noChangeArrowheads="1"/>
          </p:cNvSpPr>
          <p:nvPr/>
        </p:nvSpPr>
        <p:spPr bwMode="auto">
          <a:xfrm>
            <a:off x="5954437" y="3870797"/>
            <a:ext cx="1803378" cy="458587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>
                <a:solidFill>
                  <a:srgbClr val="000000"/>
                </a:solidFill>
                <a:latin typeface="Arial" pitchFamily="34" charset="0"/>
              </a:rPr>
              <a:t>Fourier Transform of</a:t>
            </a:r>
          </a:p>
          <a:p>
            <a:pPr algn="ctr">
              <a:lnSpc>
                <a:spcPct val="85000"/>
              </a:lnSpc>
            </a:pPr>
            <a:r>
              <a:rPr lang="en-US" sz="1400">
                <a:solidFill>
                  <a:srgbClr val="000000"/>
                </a:solidFill>
                <a:latin typeface="Arial" pitchFamily="34" charset="0"/>
              </a:rPr>
              <a:t>of N/2 odd points</a:t>
            </a:r>
            <a:endParaRPr lang="en-US" sz="1800" baseline="-25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10721" y="1822373"/>
            <a:ext cx="8158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u="sng" dirty="0">
                <a:solidFill>
                  <a:srgbClr val="000000"/>
                </a:solidFill>
                <a:latin typeface="Arial" pitchFamily="34" charset="0"/>
              </a:rPr>
              <a:t>FFT:</a:t>
            </a:r>
          </a:p>
        </p:txBody>
      </p:sp>
    </p:spTree>
    <p:extLst>
      <p:ext uri="{BB962C8B-B14F-4D97-AF65-F5344CB8AC3E}">
        <p14:creationId xmlns:p14="http://schemas.microsoft.com/office/powerpoint/2010/main" val="382604155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ChangeArrowheads="1"/>
          </p:cNvSpPr>
          <p:nvPr/>
        </p:nvSpPr>
        <p:spPr bwMode="auto">
          <a:xfrm>
            <a:off x="1401238" y="346475"/>
            <a:ext cx="453008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F(0)  F(1)  F(2)  F(3)  F(4)  F(5)  F(6)  F(7) </a:t>
            </a:r>
          </a:p>
        </p:txBody>
      </p:sp>
      <p:sp>
        <p:nvSpPr>
          <p:cNvPr id="271363" name="Line 3"/>
          <p:cNvSpPr>
            <a:spLocks noChangeShapeType="1"/>
          </p:cNvSpPr>
          <p:nvPr/>
        </p:nvSpPr>
        <p:spPr bwMode="auto">
          <a:xfrm flipH="1">
            <a:off x="2732619" y="703661"/>
            <a:ext cx="87630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71364" name="Line 4"/>
          <p:cNvSpPr>
            <a:spLocks noChangeShapeType="1"/>
          </p:cNvSpPr>
          <p:nvPr/>
        </p:nvSpPr>
        <p:spPr bwMode="auto">
          <a:xfrm>
            <a:off x="5166789" y="703661"/>
            <a:ext cx="842433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71365" name="Rectangle 5"/>
          <p:cNvSpPr>
            <a:spLocks noChangeArrowheads="1"/>
          </p:cNvSpPr>
          <p:nvPr/>
        </p:nvSpPr>
        <p:spPr bwMode="auto">
          <a:xfrm>
            <a:off x="1109138" y="1323978"/>
            <a:ext cx="2260235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F(0)  F(2)  F(4)  F(6)</a:t>
            </a:r>
          </a:p>
        </p:txBody>
      </p:sp>
      <p:sp>
        <p:nvSpPr>
          <p:cNvPr id="271366" name="Rectangle 6"/>
          <p:cNvSpPr>
            <a:spLocks noChangeArrowheads="1"/>
          </p:cNvSpPr>
          <p:nvPr/>
        </p:nvSpPr>
        <p:spPr bwMode="auto">
          <a:xfrm>
            <a:off x="4790022" y="1323978"/>
            <a:ext cx="2260235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F(1)  F(3)  F(5)  F(7)</a:t>
            </a:r>
          </a:p>
        </p:txBody>
      </p:sp>
      <p:sp>
        <p:nvSpPr>
          <p:cNvPr id="271367" name="Rectangle 7"/>
          <p:cNvSpPr>
            <a:spLocks noChangeArrowheads="1"/>
          </p:cNvSpPr>
          <p:nvPr/>
        </p:nvSpPr>
        <p:spPr bwMode="auto">
          <a:xfrm>
            <a:off x="857255" y="2272907"/>
            <a:ext cx="1157369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F(0)  F(4)</a:t>
            </a:r>
          </a:p>
        </p:txBody>
      </p:sp>
      <p:sp>
        <p:nvSpPr>
          <p:cNvPr id="271368" name="Rectangle 8"/>
          <p:cNvSpPr>
            <a:spLocks noChangeArrowheads="1"/>
          </p:cNvSpPr>
          <p:nvPr/>
        </p:nvSpPr>
        <p:spPr bwMode="auto">
          <a:xfrm>
            <a:off x="2732622" y="2272907"/>
            <a:ext cx="1157369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F(2)  F(6)</a:t>
            </a:r>
          </a:p>
        </p:txBody>
      </p:sp>
      <p:sp>
        <p:nvSpPr>
          <p:cNvPr id="271369" name="Rectangle 9"/>
          <p:cNvSpPr>
            <a:spLocks noChangeArrowheads="1"/>
          </p:cNvSpPr>
          <p:nvPr/>
        </p:nvSpPr>
        <p:spPr bwMode="auto">
          <a:xfrm>
            <a:off x="4673605" y="2272907"/>
            <a:ext cx="1157369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F(1)  F(5)</a:t>
            </a:r>
          </a:p>
        </p:txBody>
      </p:sp>
      <p:sp>
        <p:nvSpPr>
          <p:cNvPr id="271370" name="Line 10"/>
          <p:cNvSpPr>
            <a:spLocks noChangeShapeType="1"/>
          </p:cNvSpPr>
          <p:nvPr/>
        </p:nvSpPr>
        <p:spPr bwMode="auto">
          <a:xfrm flipH="1">
            <a:off x="5236635" y="1731170"/>
            <a:ext cx="87630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71371" name="Line 11"/>
          <p:cNvSpPr>
            <a:spLocks noChangeShapeType="1"/>
          </p:cNvSpPr>
          <p:nvPr/>
        </p:nvSpPr>
        <p:spPr bwMode="auto">
          <a:xfrm>
            <a:off x="6360589" y="1731170"/>
            <a:ext cx="842433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71372" name="Rectangle 12"/>
          <p:cNvSpPr>
            <a:spLocks noChangeArrowheads="1"/>
          </p:cNvSpPr>
          <p:nvPr/>
        </p:nvSpPr>
        <p:spPr bwMode="auto">
          <a:xfrm>
            <a:off x="6502405" y="2272907"/>
            <a:ext cx="1157369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F(3)  F(7)</a:t>
            </a:r>
          </a:p>
        </p:txBody>
      </p:sp>
      <p:sp>
        <p:nvSpPr>
          <p:cNvPr id="271373" name="Line 13"/>
          <p:cNvSpPr>
            <a:spLocks noChangeShapeType="1"/>
          </p:cNvSpPr>
          <p:nvPr/>
        </p:nvSpPr>
        <p:spPr bwMode="auto">
          <a:xfrm flipH="1">
            <a:off x="1579035" y="1731170"/>
            <a:ext cx="87630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71374" name="Line 14"/>
          <p:cNvSpPr>
            <a:spLocks noChangeShapeType="1"/>
          </p:cNvSpPr>
          <p:nvPr/>
        </p:nvSpPr>
        <p:spPr bwMode="auto">
          <a:xfrm>
            <a:off x="2702989" y="1731170"/>
            <a:ext cx="842433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71375" name="Rectangle 15"/>
          <p:cNvSpPr>
            <a:spLocks noChangeArrowheads="1"/>
          </p:cNvSpPr>
          <p:nvPr/>
        </p:nvSpPr>
        <p:spPr bwMode="auto">
          <a:xfrm>
            <a:off x="1583271" y="2950372"/>
            <a:ext cx="453008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F(0)  F(1)  F(2)  F(3)  F(4)  F(5)  F(6)  F(7) </a:t>
            </a:r>
          </a:p>
        </p:txBody>
      </p:sp>
      <p:grpSp>
        <p:nvGrpSpPr>
          <p:cNvPr id="271376" name="Group 16"/>
          <p:cNvGrpSpPr>
            <a:grpSpLocks/>
          </p:cNvGrpSpPr>
          <p:nvPr/>
        </p:nvGrpSpPr>
        <p:grpSpPr bwMode="auto">
          <a:xfrm>
            <a:off x="1985438" y="3286128"/>
            <a:ext cx="5024967" cy="1398985"/>
            <a:chOff x="938" y="2760"/>
            <a:chExt cx="2374" cy="1175"/>
          </a:xfrm>
        </p:grpSpPr>
        <p:sp>
          <p:nvSpPr>
            <p:cNvPr id="271377" name="Line 17"/>
            <p:cNvSpPr>
              <a:spLocks noChangeShapeType="1"/>
            </p:cNvSpPr>
            <p:nvPr/>
          </p:nvSpPr>
          <p:spPr bwMode="auto">
            <a:xfrm>
              <a:off x="938" y="2760"/>
              <a:ext cx="1183" cy="1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71378" name="Line 18"/>
            <p:cNvSpPr>
              <a:spLocks noChangeShapeType="1"/>
            </p:cNvSpPr>
            <p:nvPr/>
          </p:nvSpPr>
          <p:spPr bwMode="auto">
            <a:xfrm flipH="1">
              <a:off x="2113" y="2760"/>
              <a:ext cx="1199" cy="1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71379" name="Line 19"/>
            <p:cNvSpPr>
              <a:spLocks noChangeShapeType="1"/>
            </p:cNvSpPr>
            <p:nvPr/>
          </p:nvSpPr>
          <p:spPr bwMode="auto">
            <a:xfrm flipH="1">
              <a:off x="1092" y="2760"/>
              <a:ext cx="161" cy="1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71380" name="Line 20"/>
            <p:cNvSpPr>
              <a:spLocks noChangeShapeType="1"/>
            </p:cNvSpPr>
            <p:nvPr/>
          </p:nvSpPr>
          <p:spPr bwMode="auto">
            <a:xfrm flipH="1">
              <a:off x="1420" y="2760"/>
              <a:ext cx="505" cy="4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71381" name="Line 21"/>
            <p:cNvSpPr>
              <a:spLocks noChangeShapeType="1"/>
            </p:cNvSpPr>
            <p:nvPr/>
          </p:nvSpPr>
          <p:spPr bwMode="auto">
            <a:xfrm>
              <a:off x="1578" y="2760"/>
              <a:ext cx="165" cy="1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71382" name="Line 22"/>
            <p:cNvSpPr>
              <a:spLocks noChangeShapeType="1"/>
            </p:cNvSpPr>
            <p:nvPr/>
          </p:nvSpPr>
          <p:spPr bwMode="auto">
            <a:xfrm>
              <a:off x="2272" y="2760"/>
              <a:ext cx="516" cy="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71383" name="Line 23"/>
            <p:cNvSpPr>
              <a:spLocks noChangeShapeType="1"/>
            </p:cNvSpPr>
            <p:nvPr/>
          </p:nvSpPr>
          <p:spPr bwMode="auto">
            <a:xfrm flipH="1">
              <a:off x="2452" y="2760"/>
              <a:ext cx="189" cy="1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71384" name="Line 24"/>
            <p:cNvSpPr>
              <a:spLocks noChangeShapeType="1"/>
            </p:cNvSpPr>
            <p:nvPr/>
          </p:nvSpPr>
          <p:spPr bwMode="auto">
            <a:xfrm>
              <a:off x="2943" y="2760"/>
              <a:ext cx="174" cy="1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>
                <a:solidFill>
                  <a:srgbClr val="000000"/>
                </a:solidFill>
                <a:latin typeface="Arial" pitchFamily="34" charset="0"/>
              </a:endParaRPr>
            </a:p>
          </p:txBody>
        </p:sp>
      </p:grpSp>
      <p:sp>
        <p:nvSpPr>
          <p:cNvPr id="271385" name="Line 25"/>
          <p:cNvSpPr>
            <a:spLocks noChangeShapeType="1"/>
          </p:cNvSpPr>
          <p:nvPr/>
        </p:nvSpPr>
        <p:spPr bwMode="auto">
          <a:xfrm>
            <a:off x="1261533" y="3486150"/>
            <a:ext cx="628226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71386" name="Rectangle 26"/>
          <p:cNvSpPr>
            <a:spLocks noChangeArrowheads="1"/>
          </p:cNvSpPr>
          <p:nvPr/>
        </p:nvSpPr>
        <p:spPr bwMode="auto">
          <a:xfrm>
            <a:off x="7770285" y="3284938"/>
            <a:ext cx="937758" cy="5206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pitchFamily="34" charset="0"/>
              </a:rPr>
              <a:t>2-point</a:t>
            </a:r>
          </a:p>
          <a:p>
            <a:r>
              <a:rPr lang="en-US" sz="1400">
                <a:solidFill>
                  <a:srgbClr val="000000"/>
                </a:solidFill>
                <a:latin typeface="Arial" pitchFamily="34" charset="0"/>
              </a:rPr>
              <a:t>transform</a:t>
            </a:r>
          </a:p>
        </p:txBody>
      </p:sp>
      <p:sp>
        <p:nvSpPr>
          <p:cNvPr id="271387" name="Line 27"/>
          <p:cNvSpPr>
            <a:spLocks noChangeShapeType="1"/>
          </p:cNvSpPr>
          <p:nvPr/>
        </p:nvSpPr>
        <p:spPr bwMode="auto">
          <a:xfrm>
            <a:off x="1261533" y="3886200"/>
            <a:ext cx="628226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71388" name="Rectangle 28"/>
          <p:cNvSpPr>
            <a:spLocks noChangeArrowheads="1"/>
          </p:cNvSpPr>
          <p:nvPr/>
        </p:nvSpPr>
        <p:spPr bwMode="auto">
          <a:xfrm>
            <a:off x="7770285" y="3684988"/>
            <a:ext cx="937758" cy="5206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pitchFamily="34" charset="0"/>
              </a:rPr>
              <a:t>4-point</a:t>
            </a:r>
          </a:p>
          <a:p>
            <a:r>
              <a:rPr lang="en-US" sz="1400">
                <a:solidFill>
                  <a:srgbClr val="000000"/>
                </a:solidFill>
                <a:latin typeface="Arial" pitchFamily="34" charset="0"/>
              </a:rPr>
              <a:t>transform</a:t>
            </a:r>
          </a:p>
        </p:txBody>
      </p:sp>
      <p:sp>
        <p:nvSpPr>
          <p:cNvPr id="271389" name="Line 29"/>
          <p:cNvSpPr>
            <a:spLocks noChangeShapeType="1"/>
          </p:cNvSpPr>
          <p:nvPr/>
        </p:nvSpPr>
        <p:spPr bwMode="auto">
          <a:xfrm>
            <a:off x="4487333" y="4691063"/>
            <a:ext cx="0" cy="295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20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71390" name="Rectangle 30"/>
          <p:cNvSpPr>
            <a:spLocks noChangeArrowheads="1"/>
          </p:cNvSpPr>
          <p:nvPr/>
        </p:nvSpPr>
        <p:spPr bwMode="auto">
          <a:xfrm>
            <a:off x="4163485" y="5003009"/>
            <a:ext cx="605936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FFT</a:t>
            </a:r>
          </a:p>
        </p:txBody>
      </p:sp>
      <p:grpSp>
        <p:nvGrpSpPr>
          <p:cNvPr id="271391" name="Group 31"/>
          <p:cNvGrpSpPr>
            <a:grpSpLocks/>
          </p:cNvGrpSpPr>
          <p:nvPr/>
        </p:nvGrpSpPr>
        <p:grpSpPr bwMode="auto">
          <a:xfrm>
            <a:off x="2733678" y="5589240"/>
            <a:ext cx="3511554" cy="366713"/>
            <a:chOff x="1143" y="4594"/>
            <a:chExt cx="1659" cy="308"/>
          </a:xfrm>
        </p:grpSpPr>
        <p:sp>
          <p:nvSpPr>
            <p:cNvPr id="271394" name="Rectangle 34"/>
            <p:cNvSpPr>
              <a:spLocks noChangeArrowheads="1"/>
            </p:cNvSpPr>
            <p:nvPr/>
          </p:nvSpPr>
          <p:spPr bwMode="auto">
            <a:xfrm>
              <a:off x="1143" y="4618"/>
              <a:ext cx="1659" cy="27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71392" name="Rectangle 32"/>
            <p:cNvSpPr>
              <a:spLocks noChangeArrowheads="1"/>
            </p:cNvSpPr>
            <p:nvPr/>
          </p:nvSpPr>
          <p:spPr bwMode="auto">
            <a:xfrm>
              <a:off x="1143" y="4594"/>
              <a:ext cx="405" cy="3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dirty="0">
                  <a:solidFill>
                    <a:srgbClr val="000000"/>
                  </a:solidFill>
                  <a:latin typeface="Arial" pitchFamily="34" charset="0"/>
                </a:rPr>
                <a:t>FFT :  </a:t>
              </a:r>
            </a:p>
          </p:txBody>
        </p:sp>
        <p:sp>
          <p:nvSpPr>
            <p:cNvPr id="271393" name="Rectangle 33"/>
            <p:cNvSpPr>
              <a:spLocks noChangeArrowheads="1"/>
            </p:cNvSpPr>
            <p:nvPr/>
          </p:nvSpPr>
          <p:spPr bwMode="auto">
            <a:xfrm>
              <a:off x="1575" y="4594"/>
              <a:ext cx="1219" cy="3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solidFill>
                    <a:srgbClr val="000000"/>
                  </a:solidFill>
                  <a:latin typeface="Arial" pitchFamily="34" charset="0"/>
                </a:rPr>
                <a:t>O(N log(N))  operations</a:t>
              </a:r>
            </a:p>
          </p:txBody>
        </p:sp>
      </p:grpSp>
      <p:sp>
        <p:nvSpPr>
          <p:cNvPr id="271395" name="Rectangle 35"/>
          <p:cNvSpPr>
            <a:spLocks noChangeArrowheads="1"/>
          </p:cNvSpPr>
          <p:nvPr/>
        </p:nvSpPr>
        <p:spPr bwMode="auto">
          <a:xfrm>
            <a:off x="1779723" y="6184795"/>
            <a:ext cx="5373460" cy="39754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pitchFamily="34" charset="0"/>
              </a:rPr>
              <a:t>FFT of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</a:rPr>
              <a:t>NxN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</a:rPr>
              <a:t> Image:   O(N</a:t>
            </a:r>
            <a:r>
              <a:rPr lang="en-US" sz="2000" baseline="30000" dirty="0">
                <a:solidFill>
                  <a:srgbClr val="000000"/>
                </a:solidFill>
                <a:latin typeface="Arial" pitchFamily="34" charset="0"/>
              </a:rPr>
              <a:t>2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</a:rPr>
              <a:t>log(N))  operations </a:t>
            </a:r>
          </a:p>
        </p:txBody>
      </p:sp>
    </p:spTree>
    <p:extLst>
      <p:ext uri="{BB962C8B-B14F-4D97-AF65-F5344CB8AC3E}">
        <p14:creationId xmlns:p14="http://schemas.microsoft.com/office/powerpoint/2010/main" val="51026262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Blank Presentation.pot">
  <a:themeElements>
    <a:clrScheme name="Blank Presentation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ank Presentation">
  <a:themeElements>
    <a:clrScheme name="Blank Presentation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Comic Sans MS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D:\programfilesnt\Microsoft Office\Templates\Blank Presentation.pot</Template>
  <TotalTime>31326</TotalTime>
  <Words>2246</Words>
  <Application>Microsoft Office PowerPoint</Application>
  <PresentationFormat>On-screen Show (4:3)</PresentationFormat>
  <Paragraphs>361</Paragraphs>
  <Slides>48</Slides>
  <Notes>36</Notes>
  <HiddenSlides>4</HiddenSlides>
  <MMClips>4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1" baseType="lpstr">
      <vt:lpstr>Arial</vt:lpstr>
      <vt:lpstr>Calibri</vt:lpstr>
      <vt:lpstr>Cambria Math</vt:lpstr>
      <vt:lpstr>Comic Sans MS</vt:lpstr>
      <vt:lpstr>Symbol</vt:lpstr>
      <vt:lpstr>Times New Roman</vt:lpstr>
      <vt:lpstr>Wingdings</vt:lpstr>
      <vt:lpstr>Blank Presentation.pot</vt:lpstr>
      <vt:lpstr>Blank Presentation</vt:lpstr>
      <vt:lpstr>Default Design</vt:lpstr>
      <vt:lpstr>1_Default Design</vt:lpstr>
      <vt:lpstr>Equation</vt:lpstr>
      <vt:lpstr>משוואה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Panoramic Mosaic Image</vt:lpstr>
      <vt:lpstr>PowerPoint Presentation</vt:lpstr>
      <vt:lpstr>Segmentation and Boundaries</vt:lpstr>
      <vt:lpstr>PowerPoint Presentation</vt:lpstr>
      <vt:lpstr>The Fourier Transform</vt:lpstr>
      <vt:lpstr>PowerPoint Presentation</vt:lpstr>
      <vt:lpstr>PowerPoint Presentation</vt:lpstr>
      <vt:lpstr>PowerPoint Presentation</vt:lpstr>
      <vt:lpstr>PowerPoint Presentation</vt:lpstr>
      <vt:lpstr>Complex Numbers  </vt:lpstr>
      <vt:lpstr>The 1D Basis Functions</vt:lpstr>
      <vt:lpstr>PowerPoint Presentation</vt:lpstr>
      <vt:lpstr>Some Fourier Transforms</vt:lpstr>
      <vt:lpstr>PowerPoint Presentation</vt:lpstr>
      <vt:lpstr>PowerPoint Presentation</vt:lpstr>
      <vt:lpstr>PowerPoint Presentation</vt:lpstr>
      <vt:lpstr>PowerPoint Presentation</vt:lpstr>
      <vt:lpstr>About the Discrete Transform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Phase vs. Magnitude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Fourier Properties</vt:lpstr>
      <vt:lpstr>Fourier Properties</vt:lpstr>
      <vt:lpstr>PowerPoint Presentation</vt:lpstr>
      <vt:lpstr>PowerPoint Presentation</vt:lpstr>
    </vt:vector>
  </TitlesOfParts>
  <Company>The Weizmann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Michal Irani</dc:creator>
  <cp:lastModifiedBy>Michal Irani</cp:lastModifiedBy>
  <cp:revision>206</cp:revision>
  <dcterms:created xsi:type="dcterms:W3CDTF">2002-10-31T07:24:32Z</dcterms:created>
  <dcterms:modified xsi:type="dcterms:W3CDTF">2026-10-18T13:49:21Z</dcterms:modified>
</cp:coreProperties>
</file>